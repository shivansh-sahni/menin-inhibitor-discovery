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e961707dd784e1b" /><Relationship Type="http://schemas.openxmlformats.org/officeDocument/2006/relationships/extended-properties" Target="/docProps/app.xml" Id="R22dd2acc3bf04703" /><Relationship Type="http://schemas.openxmlformats.org/officeDocument/2006/relationships/officeDocument" Target="/ppt/presentation.xml" Id="Rfebce1b5b6434ed1" /></Relationships>
</file>

<file path=ppt/presentation.xml><?xml version="1.0" encoding="utf-8"?>
<p:presentation xmlns:p="http://schemas.openxmlformats.org/presentationml/2006/main">
  <p:sldMasterIdLst>
    <p:sldMasterId xmlns:r="http://schemas.openxmlformats.org/officeDocument/2006/relationships" id="2147483648" r:id="Rb13a774fb7564914"/>
  </p:sldMasterIdLst>
  <p:notesMasterIdLst>
    <p:notesMasterId xmlns:r="http://schemas.openxmlformats.org/officeDocument/2006/relationships" r:id="R12a99f5408294fe2"/>
  </p:notesMasterIdLst>
  <p:sldIdLst>
    <p:sldId xmlns:r="http://schemas.openxmlformats.org/officeDocument/2006/relationships" id="256" r:id="Rcbefdab6e0a64316"/>
    <p:sldId xmlns:r="http://schemas.openxmlformats.org/officeDocument/2006/relationships" id="257" r:id="Rfc8435647c974ac7"/>
    <p:sldId xmlns:r="http://schemas.openxmlformats.org/officeDocument/2006/relationships" id="258" r:id="Rf98d62df88eb4683"/>
    <p:sldId xmlns:r="http://schemas.openxmlformats.org/officeDocument/2006/relationships" id="259" r:id="Ra86c40682b944115"/>
    <p:sldId xmlns:r="http://schemas.openxmlformats.org/officeDocument/2006/relationships" id="260" r:id="R1f75e92741934c78"/>
    <p:sldId xmlns:r="http://schemas.openxmlformats.org/officeDocument/2006/relationships" id="261" r:id="Rda2700d12a834202"/>
    <p:sldId xmlns:r="http://schemas.openxmlformats.org/officeDocument/2006/relationships" id="262" r:id="R3378a5ede0a34f4d"/>
    <p:sldId xmlns:r="http://schemas.openxmlformats.org/officeDocument/2006/relationships" id="263" r:id="R40aa1c68ca424719"/>
    <p:sldId xmlns:r="http://schemas.openxmlformats.org/officeDocument/2006/relationships" id="264" r:id="Re727501efa8d4120"/>
    <p:sldId xmlns:r="http://schemas.openxmlformats.org/officeDocument/2006/relationships" id="265" r:id="R036261889f8b48f0"/>
    <p:sldId xmlns:r="http://schemas.openxmlformats.org/officeDocument/2006/relationships" id="266" r:id="R0fed313e3542470f"/>
    <p:sldId xmlns:r="http://schemas.openxmlformats.org/officeDocument/2006/relationships" id="267" r:id="Rdd148a6ec5f8493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53d37f7d67a4a0c" /><Relationship Type="http://schemas.openxmlformats.org/officeDocument/2006/relationships/slideMaster" Target="/ppt/slideMasters/slideMaster1.xml" Id="Rb13a774fb7564914" /><Relationship Type="http://schemas.openxmlformats.org/officeDocument/2006/relationships/notesMaster" Target="/ppt/notesMasters/notesMaster1.xml" Id="R12a99f5408294fe2" /><Relationship Type="http://schemas.openxmlformats.org/officeDocument/2006/relationships/presProps" Target="/ppt/presProps.xml" Id="R047c0c94300a4464" /><Relationship Type="http://schemas.openxmlformats.org/officeDocument/2006/relationships/tableStyles" Target="/ppt/tableStyles.xml" Id="Raa5a4358f60b4598" /><Relationship Type="http://schemas.openxmlformats.org/officeDocument/2006/relationships/slide" Target="/ppt/slides/slide1.xml" Id="Rcbefdab6e0a64316" /><Relationship Type="http://schemas.openxmlformats.org/officeDocument/2006/relationships/slide" Target="/ppt/slides/slide2.xml" Id="Rfc8435647c974ac7" /><Relationship Type="http://schemas.openxmlformats.org/officeDocument/2006/relationships/slide" Target="/ppt/slides/slide3.xml" Id="Rf98d62df88eb4683" /><Relationship Type="http://schemas.openxmlformats.org/officeDocument/2006/relationships/slide" Target="/ppt/slides/slide4.xml" Id="Ra86c40682b944115" /><Relationship Type="http://schemas.openxmlformats.org/officeDocument/2006/relationships/slide" Target="/ppt/slides/slide5.xml" Id="R1f75e92741934c78" /><Relationship Type="http://schemas.openxmlformats.org/officeDocument/2006/relationships/slide" Target="/ppt/slides/slide6.xml" Id="Rda2700d12a834202" /><Relationship Type="http://schemas.openxmlformats.org/officeDocument/2006/relationships/slide" Target="/ppt/slides/slide7.xml" Id="R3378a5ede0a34f4d" /><Relationship Type="http://schemas.openxmlformats.org/officeDocument/2006/relationships/slide" Target="/ppt/slides/slide8.xml" Id="R40aa1c68ca424719" /><Relationship Type="http://schemas.openxmlformats.org/officeDocument/2006/relationships/slide" Target="/ppt/slides/slide9.xml" Id="Re727501efa8d4120" /><Relationship Type="http://schemas.openxmlformats.org/officeDocument/2006/relationships/slide" Target="/ppt/slides/slide10.xml" Id="R036261889f8b48f0" /><Relationship Type="http://schemas.openxmlformats.org/officeDocument/2006/relationships/slide" Target="/ppt/slides/slide11.xml" Id="R0fed313e3542470f" /><Relationship Type="http://schemas.openxmlformats.org/officeDocument/2006/relationships/slide" Target="/ppt/slides/slide12.xml" Id="Rdd148a6ec5f8493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d9876dadca44df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18e9954ab924656" /><Relationship Type="http://schemas.openxmlformats.org/officeDocument/2006/relationships/notesMaster" Target="/ppt/notesMasters/notesMaster1.xml" Id="Rc82ca2597c24493e" /></Relationships>
</file>

<file path=ppt/notesSlides/_rels/notesSlide2.xml.rels>&#65279;<?xml version="1.0" encoding="utf-8"?><Relationships xmlns="http://schemas.openxmlformats.org/package/2006/relationships"><Relationship Type="http://schemas.openxmlformats.org/officeDocument/2006/relationships/slide" Target="/ppt/slides/slide2.xml" Id="R599d1d8188e04324" /><Relationship Type="http://schemas.openxmlformats.org/officeDocument/2006/relationships/notesMaster" Target="/ppt/notesMasters/notesMaster1.xml" Id="R0cb678f5017e4517" /></Relationships>
</file>

<file path=ppt/notesSlides/_rels/notesSlide3.xml.rels>&#65279;<?xml version="1.0" encoding="utf-8"?><Relationships xmlns="http://schemas.openxmlformats.org/package/2006/relationships"><Relationship Type="http://schemas.openxmlformats.org/officeDocument/2006/relationships/slide" Target="/ppt/slides/slide3.xml" Id="Rbdc7130460b84552" /><Relationship Type="http://schemas.openxmlformats.org/officeDocument/2006/relationships/notesMaster" Target="/ppt/notesMasters/notesMaster1.xml" Id="Re32d721b00884e60" /></Relationships>
</file>

<file path=ppt/notesSlides/_rels/notesSlide4.xml.rels>&#65279;<?xml version="1.0" encoding="utf-8"?><Relationships xmlns="http://schemas.openxmlformats.org/package/2006/relationships"><Relationship Type="http://schemas.openxmlformats.org/officeDocument/2006/relationships/slide" Target="/ppt/slides/slide4.xml" Id="R6cd09a1510914f13" /><Relationship Type="http://schemas.openxmlformats.org/officeDocument/2006/relationships/notesMaster" Target="/ppt/notesMasters/notesMaster1.xml" Id="R5379a29497214b8a" /></Relationships>
</file>

<file path=ppt/notesSlides/_rels/notesSlide5.xml.rels>&#65279;<?xml version="1.0" encoding="utf-8"?><Relationships xmlns="http://schemas.openxmlformats.org/package/2006/relationships"><Relationship Type="http://schemas.openxmlformats.org/officeDocument/2006/relationships/slide" Target="/ppt/slides/slide5.xml" Id="Redc28f47ee86414c" /><Relationship Type="http://schemas.openxmlformats.org/officeDocument/2006/relationships/notesMaster" Target="/ppt/notesMasters/notesMaster1.xml" Id="R546e7001d7614961" /></Relationships>
</file>

<file path=ppt/notesSlides/_rels/notesSlide6.xml.rels>&#65279;<?xml version="1.0" encoding="utf-8"?><Relationships xmlns="http://schemas.openxmlformats.org/package/2006/relationships"><Relationship Type="http://schemas.openxmlformats.org/officeDocument/2006/relationships/slide" Target="/ppt/slides/slide6.xml" Id="Ra07b59b6764d442c" /><Relationship Type="http://schemas.openxmlformats.org/officeDocument/2006/relationships/notesMaster" Target="/ppt/notesMasters/notesMaster1.xml" Id="R5d5b740bff9649c2" /></Relationships>
</file>

<file path=ppt/notesSlides/_rels/notesSlide7.xml.rels>&#65279;<?xml version="1.0" encoding="utf-8"?><Relationships xmlns="http://schemas.openxmlformats.org/package/2006/relationships"><Relationship Type="http://schemas.openxmlformats.org/officeDocument/2006/relationships/slide" Target="/ppt/slides/slide7.xml" Id="Rf3a3447ddca64877" /><Relationship Type="http://schemas.openxmlformats.org/officeDocument/2006/relationships/notesMaster" Target="/ppt/notesMasters/notesMaster1.xml" Id="R854812d3f85f4269" /></Relationships>
</file>

<file path=ppt/notesSlides/_rels/notesSlide8.xml.rels>&#65279;<?xml version="1.0" encoding="utf-8"?><Relationships xmlns="http://schemas.openxmlformats.org/package/2006/relationships"><Relationship Type="http://schemas.openxmlformats.org/officeDocument/2006/relationships/slide" Target="/ppt/slides/slide8.xml" Id="Rb70f4fbb205d4b2e" /><Relationship Type="http://schemas.openxmlformats.org/officeDocument/2006/relationships/notesMaster" Target="/ppt/notesMasters/notesMaster1.xml" Id="Rfa9c1264ba934439" /></Relationships>
</file>

<file path=ppt/notesSlides/_rels/notesSlide9.xml.rels>&#65279;<?xml version="1.0" encoding="utf-8"?><Relationships xmlns="http://schemas.openxmlformats.org/package/2006/relationships"><Relationship Type="http://schemas.openxmlformats.org/officeDocument/2006/relationships/slide" Target="/ppt/slides/slide9.xml" Id="Re99573cf9bf6449f" /><Relationship Type="http://schemas.openxmlformats.org/officeDocument/2006/relationships/notesMaster" Target="/ppt/notesMasters/notesMaster1.xml" Id="Rb8ccce397519451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6eb952a0ce44089" /><Relationship Type="http://schemas.openxmlformats.org/officeDocument/2006/relationships/notesMaster" Target="/ppt/notesMasters/notesMaster1.xml" Id="R5e0a3c9a311d413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fe02e21b67a444b" /><Relationship Type="http://schemas.openxmlformats.org/officeDocument/2006/relationships/notesMaster" Target="/ppt/notesMasters/notesMaster1.xml" Id="Rc227b2b0b69d4a1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3e36e324ee74cce" /><Relationship Type="http://schemas.openxmlformats.org/officeDocument/2006/relationships/notesMaster" Target="/ppt/notesMasters/notesMaster1.xml" Id="Rc11be1681eed4cb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development arc: the work moved from data governance and 2D baselines through physics, measurement modeling, exhaustive feature combinations, and domain specialists. The core contribution is an honest broad prediction platform with clearly measured limits.</a:t>
            </a:r>
          </a:p>
          <a:p xmlns:a="http://schemas.openxmlformats.org/drawingml/2006/main">
            <a:r>
              <a:t/>
            </a:r>
          </a:p>
          <a:p xmlns:a="http://schemas.openxmlformats.org/drawingml/2006/main">
            <a:r>
              <a:t>[Sources]</a:t>
            </a:r>
          </a:p>
          <a:p xmlns:a="http://schemas.openxmlformats.org/drawingml/2006/main">
            <a:r>
              <a:t>- /Users/shivanshsahni/Downloads/Personal/Wang/Menin/research/reports/platform/herg_meeting_2026_08_18/MEETING_BRIEF.md</a:t>
            </a:r>
          </a:p>
          <a:p xmlns:a="http://schemas.openxmlformats.org/drawingml/2006/main">
            <a:r>
              <a:t>- /Users/shivanshsahni/Downloads/Personal/Wang/Menin/research/reports/platform/herg_meeting_2026_08_18/figures/06_graphical_summary.png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as the narrative spine for the meeting. V1 to V3 established the governed baseline. V4 to V6 tested ligand-only physics and feature causality. V7 to V9 focused on measurement heterogeneity, exhaustive combinations, domain specialists, and local evidence.</a:t>
            </a:r>
          </a:p>
          <a:p xmlns:a="http://schemas.openxmlformats.org/drawingml/2006/main">
            <a:r>
              <a:t/>
            </a:r>
          </a:p>
          <a:p xmlns:a="http://schemas.openxmlformats.org/drawingml/2006/main">
            <a:r>
              <a:t>[Sources]</a:t>
            </a:r>
          </a:p>
          <a:p xmlns:a="http://schemas.openxmlformats.org/drawingml/2006/main">
            <a:r>
              <a:t>- /Users/shivanshsahni/Downloads/Personal/Wang/Menin/research/reports/platform/herg_meeting_2026_08_18/MEETING_BRIEF.md</a:t>
            </a:r>
          </a:p>
          <a:p xmlns:a="http://schemas.openxmlformats.org/drawingml/2006/main">
            <a:r>
              <a:t>- /Users/shivanshsahni/Downloads/Personal/Wang/Menin/research/local_runs/herg_feature_lattice_analysis_v81_superseded_cross_fold_mmp/ANALYSIS.md</a:t>
            </a:r>
          </a:p>
          <a:p xmlns:a="http://schemas.openxmlformats.org/drawingml/2006/main">
            <a:r>
              <a:t>- /Users/shivanshsahni/Downloads/Personal/Wang/Menin/research/local_runs/herg_honest_measurement_campaign_v7_1/analysis.json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nested stack is the strongest unbiased internal evidence. The frozen deployable molecular model is a single XGBoost artifact and is slightly weaker. Do not present the stack as an external or prospective result.</a:t>
            </a:r>
          </a:p>
          <a:p xmlns:a="http://schemas.openxmlformats.org/drawingml/2006/main">
            <a:r>
              <a:t/>
            </a:r>
          </a:p>
          <a:p xmlns:a="http://schemas.openxmlformats.org/drawingml/2006/main">
            <a:r>
              <a:t>[Sources]</a:t>
            </a:r>
          </a:p>
          <a:p xmlns:a="http://schemas.openxmlformats.org/drawingml/2006/main">
            <a:r>
              <a:t>- /Users/shivanshsahni/Downloads/Personal/Wang/Menin/research/reports/platform/herg_meeting_2026_08_18/MEETING_BRIEF.md</a:t>
            </a:r>
          </a:p>
          <a:p xmlns:a="http://schemas.openxmlformats.org/drawingml/2006/main">
            <a:r>
              <a:t>- /Users/shivanshsahni/Downloads/Personal/Wang/Menin/research/reports/platform/herg_meeting_2026_08_18/RESULT_TRACEABILITY.csv</a:t>
            </a:r>
          </a:p>
          <a:p xmlns:a="http://schemas.openxmlformats.org/drawingml/2006/main">
            <a:r>
              <a:t>- /Users/shivanshsahni/Downloads/Personal/Wang/Menin/research/reports/platform/herg_meeting_2026_08_18/figures/01_model_progress.png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design deliberately produces harder and more transferable estimates than random splitting. It prevents replicated measurements and close scaffold relatives from appearing as independent evidence.</a:t>
            </a:r>
          </a:p>
          <a:p xmlns:a="http://schemas.openxmlformats.org/drawingml/2006/main">
            <a:r>
              <a:t/>
            </a:r>
          </a:p>
          <a:p xmlns:a="http://schemas.openxmlformats.org/drawingml/2006/main">
            <a:r>
              <a:t>[Sources]</a:t>
            </a:r>
          </a:p>
          <a:p xmlns:a="http://schemas.openxmlformats.org/drawingml/2006/main">
            <a:r>
              <a:t>- /Users/shivanshsahni/Downloads/Personal/Wang/Menin/research/reports/platform/herg_meeting_2026_08_18/TECHNICAL_QA.md</a:t>
            </a:r>
          </a:p>
          <a:p xmlns:a="http://schemas.openxmlformats.org/drawingml/2006/main">
            <a:r>
              <a:t>- /Users/shivanshsahni/Downloads/Personal/Wang/Menin/research/reports/platform/herg_meeting_2026_08_18/MEETING_BRIEF.md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Positive MAE change means prediction worsened when an included block was removed or improved when an omitted block was added, depending on the named test. The decisive positive evidence is RDKit2D and Morgan. The generic 3D and physics blocks did not show broad independent value.</a:t>
            </a:r>
          </a:p>
          <a:p xmlns:a="http://schemas.openxmlformats.org/drawingml/2006/main">
            <a:r>
              <a:t/>
            </a:r>
          </a:p>
          <a:p xmlns:a="http://schemas.openxmlformats.org/drawingml/2006/main">
            <a:r>
              <a:t>[Sources]</a:t>
            </a:r>
          </a:p>
          <a:p xmlns:a="http://schemas.openxmlformats.org/drawingml/2006/main">
            <a:r>
              <a:t>- /Users/shivanshsahni/Downloads/Personal/Wang/Menin/research/reports/platform/herg_meeting_2026_08_18/tables/feature_family_effects.csv</a:t>
            </a:r>
          </a:p>
          <a:p xmlns:a="http://schemas.openxmlformats.org/drawingml/2006/main">
            <a:r>
              <a:t>- /Users/shivanshsahni/Downloads/Personal/Wang/Menin/research/reports/platform/herg_meeting_2026_08_18/MEETING_BRIEF.md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not evidence that physics is unimportant. It is evidence that generic ligand-only conformer summaries do not add stable global information after strong 2D representations. Receptor-aware and microstate-aware physics remain untested because preparation and environment contracts were not yet satisfied.</a:t>
            </a:r>
          </a:p>
          <a:p xmlns:a="http://schemas.openxmlformats.org/drawingml/2006/main">
            <a:r>
              <a:t/>
            </a:r>
          </a:p>
          <a:p xmlns:a="http://schemas.openxmlformats.org/drawingml/2006/main">
            <a:r>
              <a:t>[Sources]</a:t>
            </a:r>
          </a:p>
          <a:p xmlns:a="http://schemas.openxmlformats.org/drawingml/2006/main">
            <a:r>
              <a:t>- /Users/shivanshsahni/Downloads/Personal/Wang/Menin/research/reports/platform/herg_meeting_2026_08_18/MEETING_BRIEF.md</a:t>
            </a:r>
          </a:p>
          <a:p xmlns:a="http://schemas.openxmlformats.org/drawingml/2006/main">
            <a:r>
              <a:t>- /Users/shivanshsahni/Downloads/Personal/Wang/Menin/research/reports/platform/herg_meeting_2026_08_18/tables/feature_family_effects.csv</a:t>
            </a:r>
          </a:p>
          <a:p xmlns:a="http://schemas.openxmlformats.org/drawingml/2006/main">
            <a:r>
              <a:t>- /Users/shivanshsahni/Downloads/Personal/Wang/Menin/research/local_runs/herg_quantitative_24conformer_v4/manifest.json</a:t>
            </a:r>
          </a:p>
          <a:p xmlns:a="http://schemas.openxmlformats.org/drawingml/2006/main">
            <a:r>
              <a:t>- /Users/shivanshsahni/Downloads/Personal/Wang/Menin/research/reports/platform/herg_meeting_2026_08_18/figures/02_feature_family_effects.png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domain flag is label blind and operationally meaningful. It identifies a 0.181 MAE gap between supported and extrapolative predictions. Global interval coverage is calibrated, but interval width alone does not rank errors well.</a:t>
            </a:r>
          </a:p>
          <a:p xmlns:a="http://schemas.openxmlformats.org/drawingml/2006/main">
            <a:r>
              <a:t/>
            </a:r>
          </a:p>
          <a:p xmlns:a="http://schemas.openxmlformats.org/drawingml/2006/main">
            <a:r>
              <a:t>[Sources]</a:t>
            </a:r>
          </a:p>
          <a:p xmlns:a="http://schemas.openxmlformats.org/drawingml/2006/main">
            <a:r>
              <a:t>- /Users/shivanshsahni/Downloads/Personal/Wang/Menin/research/reports/platform/herg_meeting_2026_08_18/tables/domain_flag_performance.csv</a:t>
            </a:r>
          </a:p>
          <a:p xmlns:a="http://schemas.openxmlformats.org/drawingml/2006/main">
            <a:r>
              <a:t>- /Users/shivanshsahni/Downloads/Personal/Wang/Menin/research/reports/platform/herg_meeting_2026_08_18/tables/risk_coverage.csv</a:t>
            </a:r>
          </a:p>
          <a:p xmlns:a="http://schemas.openxmlformats.org/drawingml/2006/main">
            <a:r>
              <a:t>- /Users/shivanshsahni/Downloads/Personal/Wang/Menin/research/reports/platform/herg_meeting_2026_08_18/figures/03_risk_coverage.png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largest errors are not random. Label disagreement, potency extremes, lower similarity, flexibility, and the very heavy tail dominate. Performance through 500 to 700 Da remains credible; the 700 Da and higher subgroup is small and should be reported with uncertainty.</a:t>
            </a:r>
          </a:p>
          <a:p xmlns:a="http://schemas.openxmlformats.org/drawingml/2006/main">
            <a:r>
              <a:t/>
            </a:r>
          </a:p>
          <a:p xmlns:a="http://schemas.openxmlformats.org/drawingml/2006/main">
            <a:r>
              <a:t>[Sources]</a:t>
            </a:r>
          </a:p>
          <a:p xmlns:a="http://schemas.openxmlformats.org/drawingml/2006/main">
            <a:r>
              <a:t>- /Users/shivanshsahni/Downloads/Personal/Wang/Menin/research/reports/platform/herg_meeting_2026_08_18/tables/label_disagreement_summary.csv</a:t>
            </a:r>
          </a:p>
          <a:p xmlns:a="http://schemas.openxmlformats.org/drawingml/2006/main">
            <a:r>
              <a:t>- /Users/shivanshsahni/Downloads/Personal/Wang/Menin/research/reports/platform/herg_meeting_2026_08_18/tables/subgroup_sensitivity.csv</a:t>
            </a:r>
          </a:p>
          <a:p xmlns:a="http://schemas.openxmlformats.org/drawingml/2006/main">
            <a:r>
              <a:t>- /Users/shivanshsahni/Downloads/Personal/Wang/Menin/research/local_runs/herg_heavy_compound_sidecar_v9/HEAVY_COMPOUND_REPORT.md</a:t>
            </a:r>
          </a:p>
          <a:p xmlns:a="http://schemas.openxmlformats.org/drawingml/2006/main">
            <a:r>
              <a:t>- /Users/shivanshsahni/Downloads/Personal/Wang/Menin/research/reports/platform/herg_meeting_2026_08_18/figures/04_failure_modes.png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Analog support produces a useful local prediction improvement, but only on 41.7 percent of the structures. The remaining transformation-direction results are not strong enough for causal medicinal chemistry rules.</a:t>
            </a:r>
          </a:p>
          <a:p xmlns:a="http://schemas.openxmlformats.org/drawingml/2006/main">
            <a:r>
              <a:t/>
            </a:r>
          </a:p>
          <a:p xmlns:a="http://schemas.openxmlformats.org/drawingml/2006/main">
            <a:r>
              <a:t>[Sources]</a:t>
            </a:r>
          </a:p>
          <a:p xmlns:a="http://schemas.openxmlformats.org/drawingml/2006/main">
            <a:r>
              <a:t>- /Users/shivanshsahni/Downloads/Personal/Wang/Menin/research/reports/platform/herg_meeting_2026_08_18/tables/mmp_covered_structure_performance.csv</a:t>
            </a:r>
          </a:p>
          <a:p xmlns:a="http://schemas.openxmlformats.org/drawingml/2006/main">
            <a:r>
              <a:t>- /Users/shivanshsahni/Downloads/Personal/Wang/Menin/research/reports/platform/herg_meeting_2026_08_18/figures/05_mmp_analog_assistance.png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Benchmark tailoring is a neutral description of how much the reported result depends on curation, split choice, thresholding, selective coverage, or class construction. It is not an accusation of misconduct. Use the exact published task beside every number.</a:t>
            </a:r>
          </a:p>
          <a:p xmlns:a="http://schemas.openxmlformats.org/drawingml/2006/main">
            <a:r>
              <a:t/>
            </a:r>
          </a:p>
          <a:p xmlns:a="http://schemas.openxmlformats.org/drawingml/2006/main">
            <a:r>
              <a:t>[Sources]</a:t>
            </a:r>
          </a:p>
          <a:p xmlns:a="http://schemas.openxmlformats.org/drawingml/2006/main">
            <a:r>
              <a:t>- /Users/shivanshsahni/Downloads/Personal/Wang/Menin/research/reports/platform/herg_meeting_2026_08_18/LITERATURE_COMPARABILITY.md</a:t>
            </a:r>
          </a:p>
          <a:p xmlns:a="http://schemas.openxmlformats.org/drawingml/2006/main">
            <a:r>
              <a:t>- /Users/shivanshsahni/Downloads/Personal/Wang/Menin/research/reports/platform/herg_paper/model_landscape_v2/model_comparison_matrix.csv</a:t>
            </a:r>
          </a:p>
          <a:p xmlns:a="http://schemas.openxmlformats.org/drawingml/2006/main">
            <a:r>
              <a:t>- https://pmc.ncbi.nlm.nih.gov/articles/PMC11187631/</a:t>
            </a:r>
          </a:p>
          <a:p xmlns:a="http://schemas.openxmlformats.org/drawingml/2006/main">
            <a:r>
              <a:t>- https://doi.org/10.1016/j.compbiomed.2024.109416</a:t>
            </a:r>
          </a:p>
          <a:p xmlns:a="http://schemas.openxmlformats.org/drawingml/2006/main">
            <a:r>
              <a:t>- https://doi.org/10.1186/s13321-025-01063-8</a:t>
            </a:r>
          </a:p>
          <a:p xmlns:a="http://schemas.openxmlformats.org/drawingml/2006/main">
            <a:r>
              <a:t>- https://doi.org/10.1038/s41598-025-99766-3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safety-selected objective improves the potency tails but pays a statistically supported global cost. The defensible product design is two transparent modes rather than one hidden objective.</a:t>
            </a:r>
          </a:p>
          <a:p xmlns:a="http://schemas.openxmlformats.org/drawingml/2006/main">
            <a:r>
              <a:t/>
            </a:r>
          </a:p>
          <a:p xmlns:a="http://schemas.openxmlformats.org/drawingml/2006/main">
            <a:r>
              <a:t>[Sources]</a:t>
            </a:r>
          </a:p>
          <a:p xmlns:a="http://schemas.openxmlformats.org/drawingml/2006/main">
            <a:r>
              <a:t>- /Users/shivanshsahni/Downloads/Personal/Wang/Menin/research/reports/platform/herg_meeting_2026_08_18/tables/safety_objective_tradeoff.csv</a:t>
            </a:r>
          </a:p>
          <a:p xmlns:a="http://schemas.openxmlformats.org/drawingml/2006/main">
            <a:r>
              <a:t>- /Users/shivanshsahni/Downloads/Personal/Wang/Menin/research/reports/platform/herg_meeting_2026_08_18/MEETING_BRIEF.md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an explicit decision request. The first two experiments address the largest evidence gaps. Activity-cliff modeling builds on the successful local-analog signal. Receptor physics should start only after receptor, microstate, membrane, and environment preparation is complete.</a:t>
            </a:r>
          </a:p>
          <a:p xmlns:a="http://schemas.openxmlformats.org/drawingml/2006/main">
            <a:r>
              <a:t/>
            </a:r>
          </a:p>
          <a:p xmlns:a="http://schemas.openxmlformats.org/drawingml/2006/main">
            <a:r>
              <a:t>[Sources]</a:t>
            </a:r>
          </a:p>
          <a:p xmlns:a="http://schemas.openxmlformats.org/drawingml/2006/main">
            <a:r>
              <a:t>- /Users/shivanshsahni/Downloads/Personal/Wang/Menin/research/reports/platform/herg_meeting_2026_08_18/MEETING_BRIEF.md</a:t>
            </a:r>
          </a:p>
          <a:p xmlns:a="http://schemas.openxmlformats.org/drawingml/2006/main">
            <a:r>
              <a:t>- /Users/shivanshsahni/Downloads/Personal/Wang/Menin/research/reports/platform/herg_meeting_2026_08_18/TECHNICAL_QA.md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e777873c12c48d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084e523350c4862" /><Relationship Type="http://schemas.openxmlformats.org/officeDocument/2006/relationships/slideLayout" Target="/ppt/slideLayouts/slideLayout1.xml" Id="R87cc63ca9467441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7cc63ca9467441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8a9eb08c3294929" /><Relationship Type="http://schemas.openxmlformats.org/officeDocument/2006/relationships/image" Target="/ppt/media/image.png" Id="R061af1cd03384e56" /><Relationship Type="http://schemas.openxmlformats.org/officeDocument/2006/relationships/notesSlide" Target="/ppt/notesSlides/notesSlide1.xml" Id="R5b7da9c10b42443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72b1089e17d4fd2" /><Relationship Type="http://schemas.openxmlformats.org/officeDocument/2006/relationships/notesSlide" Target="/ppt/notesSlides/notesSlide2.xml" Id="Rddee45f6a3144f4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abd3badbd9d4ed6" /><Relationship Type="http://schemas.openxmlformats.org/officeDocument/2006/relationships/image" Target="/ppt/media/image2.png" Id="R3684c2a7bab94529" /><Relationship Type="http://schemas.openxmlformats.org/officeDocument/2006/relationships/notesSlide" Target="/ppt/notesSlides/notesSlide3.xml" Id="R34294f71b28d487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2ccdd01e0cf464e" /><Relationship Type="http://schemas.openxmlformats.org/officeDocument/2006/relationships/notesSlide" Target="/ppt/notesSlides/notesSlide4.xml" Id="R902d0784173e4c6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425c82995af474b" /><Relationship Type="http://schemas.openxmlformats.org/officeDocument/2006/relationships/notesSlide" Target="/ppt/notesSlides/notesSlide5.xml" Id="Ra09f897f832048e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d8d44b955b44448" /><Relationship Type="http://schemas.openxmlformats.org/officeDocument/2006/relationships/image" Target="/ppt/media/image3.png" Id="R7264511e0472453d" /><Relationship Type="http://schemas.openxmlformats.org/officeDocument/2006/relationships/notesSlide" Target="/ppt/notesSlides/notesSlide6.xml" Id="Redbce7a52974489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31f5ae7595c4b83" /><Relationship Type="http://schemas.openxmlformats.org/officeDocument/2006/relationships/image" Target="/ppt/media/image4.png" Id="R0ba7888a7d3e4cca" /><Relationship Type="http://schemas.openxmlformats.org/officeDocument/2006/relationships/notesSlide" Target="/ppt/notesSlides/notesSlide7.xml" Id="Rec0744ba7aeb4ff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e7e28bebe7a4036" /><Relationship Type="http://schemas.openxmlformats.org/officeDocument/2006/relationships/image" Target="/ppt/media/image5.png" Id="R65679b6109bf4c5b" /><Relationship Type="http://schemas.openxmlformats.org/officeDocument/2006/relationships/notesSlide" Target="/ppt/notesSlides/notesSlide8.xml" Id="Rbf7eb27c68d644c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9a756dfcb9f4ab6" /><Relationship Type="http://schemas.openxmlformats.org/officeDocument/2006/relationships/image" Target="/ppt/media/image6.png" Id="R573a796cab1840e5" /><Relationship Type="http://schemas.openxmlformats.org/officeDocument/2006/relationships/notesSlide" Target="/ppt/notesSlides/notesSlide9.xml" Id="R7f9886ef9718480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b669b67eb004ebe" /><Relationship Type="http://schemas.openxmlformats.org/officeDocument/2006/relationships/notesSlide" Target="/ppt/notesSlides/notesSlide10.xml" Id="Rdf5547e6cc20484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e85ad60ae84442e" /><Relationship Type="http://schemas.openxmlformats.org/officeDocument/2006/relationships/notesSlide" Target="/ppt/notesSlides/notesSlide11.xml" Id="R5e7dd4a2d26641d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42c7975f20d44ca" /><Relationship Type="http://schemas.openxmlformats.org/officeDocument/2006/relationships/notesSlide" Target="/ppt/notesSlides/notesSlide12.xml" Id="R747ac28a2f3c49d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2B3D60D-D983-474B-9B56-CC7ABAC451F8}"/>
              </a:ext>
            </a:extLst>
          </p:cNvPr>
          <p:cNvSpPr>
            <a:spLocks xmlns:a="http://schemas.openxmlformats.org/drawingml/2006/main" noGrp="1"/>
          </p:cNvSpPr>
          <p:nvPr/>
        </p:nvSpPr>
        <p:spPr>
          <a:xfrm xmlns:a="http://schemas.openxmlformats.org/drawingml/2006/main">
            <a:off x="457200" y="800100"/>
            <a:ext cx="5143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4350" b="1" i="0">
                <a:solidFill>
                  <a:srgbClr val="0B0F14"/>
                </a:solidFill>
                <a:latin typeface="Helvetica Neue"/>
                <a:ea typeface="Helvetica Neue"/>
                <a:cs typeface="Helvetica Neue"/>
              </a:defRPr>
            </a:pPr>
            <a:r>
              <a:rPr sz="4350" b="1" i="0">
                <a:solidFill>
                  <a:srgbClr val="0B0F14"/>
                </a:solidFill>
                <a:latin typeface="Helvetica Neue"/>
                <a:ea typeface="Helvetica Neue"/>
                <a:cs typeface="Helvetica Neue"/>
              </a:rPr>
              <a:t>hERG Prediction Platform</a:t>
            </a:r>
          </a:p>
        </p:txBody>
      </p:sp>
      <p:sp>
        <p:nvSpPr>
          <p:cNvPr id="2" name="">
            <a:extLst xmlns:a="http://schemas.openxmlformats.org/drawingml/2006/main">
              <a:ext uri="{FF2B5EF4-FFF2-40B4-BE49-F238E27FC236}">
                <a16:creationId xmlns:a16="http://schemas.microsoft.com/office/drawing/2014/main" id="{17466AF0-0F4C-4895-9171-9659DAEB2893}"/>
              </a:ext>
            </a:extLst>
          </p:cNvPr>
          <p:cNvSpPr>
            <a:spLocks xmlns:a="http://schemas.openxmlformats.org/drawingml/2006/main" noGrp="1"/>
          </p:cNvSpPr>
          <p:nvPr/>
        </p:nvSpPr>
        <p:spPr>
          <a:xfrm xmlns:a="http://schemas.openxmlformats.org/drawingml/2006/main">
            <a:off x="457200" y="2247900"/>
            <a:ext cx="5143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5722"/>
          </a:bodyPr>
          <a:lstStyle xmlns:a="http://schemas.openxmlformats.org/drawingml/2006/main"/>
          <a:p xmlns:a="http://schemas.openxmlformats.org/drawingml/2006/main">
            <a:pPr algn="l">
              <a:defRPr sz="2175" b="1" i="0">
                <a:solidFill>
                  <a:srgbClr val="1E63D5"/>
                </a:solidFill>
                <a:latin typeface="Helvetica Neue"/>
                <a:ea typeface="Helvetica Neue"/>
                <a:cs typeface="Helvetica Neue"/>
              </a:defRPr>
            </a:pPr>
            <a:r>
              <a:rPr sz="2175" b="1" i="0">
                <a:solidFill>
                  <a:srgbClr val="1E63D5"/>
                </a:solidFill>
                <a:latin typeface="Helvetica Neue"/>
                <a:ea typeface="Helvetica Neue"/>
                <a:cs typeface="Helvetica Neue"/>
              </a:rPr>
              <a:t>Nine Iterations of Honest Model Development</a:t>
            </a:r>
          </a:p>
        </p:txBody>
      </p:sp>
      <p:sp>
        <p:nvSpPr>
          <p:cNvPr id="3" name="">
            <a:extLst xmlns:a="http://schemas.openxmlformats.org/drawingml/2006/main">
              <a:ext uri="{FF2B5EF4-FFF2-40B4-BE49-F238E27FC236}">
                <a16:creationId xmlns:a16="http://schemas.microsoft.com/office/drawing/2014/main" id="{D972F885-20C5-4653-9FE1-15B5DCA38F62}"/>
              </a:ext>
            </a:extLst>
          </p:cNvPr>
          <p:cNvSpPr>
            <a:spLocks xmlns:a="http://schemas.openxmlformats.org/drawingml/2006/main" noGrp="1"/>
          </p:cNvSpPr>
          <p:nvPr/>
        </p:nvSpPr>
        <p:spPr>
          <a:xfrm xmlns:a="http://schemas.openxmlformats.org/drawingml/2006/main">
            <a:off x="457200" y="3028950"/>
            <a:ext cx="4953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i="0">
                <a:solidFill>
                  <a:srgbClr val="59616D"/>
                </a:solidFill>
                <a:latin typeface="Helvetica Neue"/>
                <a:ea typeface="Helvetica Neue"/>
                <a:cs typeface="Helvetica Neue"/>
              </a:defRPr>
            </a:pPr>
            <a:r>
              <a:rPr sz="1875" b="0" i="0">
                <a:solidFill>
                  <a:srgbClr val="59616D"/>
                </a:solidFill>
                <a:latin typeface="Helvetica Neue"/>
                <a:ea typeface="Helvetica Neue"/>
                <a:cs typeface="Helvetica Neue"/>
              </a:rPr>
              <a:t>Continuous potency prediction, transparent failure domains, and a clear experimental path</a:t>
            </a:r>
          </a:p>
        </p:txBody>
      </p:sp>
      <p:sp>
        <p:nvSpPr>
          <p:cNvPr id="4" name="">
            <a:extLst xmlns:a="http://schemas.openxmlformats.org/drawingml/2006/main">
              <a:ext uri="{FF2B5EF4-FFF2-40B4-BE49-F238E27FC236}">
                <a16:creationId xmlns:a16="http://schemas.microsoft.com/office/drawing/2014/main" id="{D159216C-4C34-4066-A122-F23BD071C0AC}"/>
              </a:ext>
            </a:extLst>
          </p:cNvPr>
          <p:cNvSpPr>
            <a:spLocks xmlns:a="http://schemas.openxmlformats.org/drawingml/2006/main" noGrp="1"/>
          </p:cNvSpPr>
          <p:nvPr/>
        </p:nvSpPr>
        <p:spPr>
          <a:xfrm xmlns:a="http://schemas.openxmlformats.org/drawingml/2006/main">
            <a:off x="457200" y="46482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i="0">
                <a:solidFill>
                  <a:srgbClr val="1E63D5"/>
                </a:solidFill>
                <a:latin typeface="Helvetica Neue"/>
                <a:ea typeface="Helvetica Neue"/>
                <a:cs typeface="Helvetica Neue"/>
              </a:defRPr>
            </a:pPr>
            <a:r>
              <a:rPr sz="1575" b="1" i="0">
                <a:solidFill>
                  <a:srgbClr val="1E63D5"/>
                </a:solidFill>
                <a:latin typeface="Helvetica Neue"/>
                <a:ea typeface="Helvetica Neue"/>
                <a:cs typeface="Helvetica Neue"/>
              </a:rPr>
              <a:t>18,801 Structures</a:t>
            </a:r>
          </a:p>
        </p:txBody>
      </p:sp>
      <p:sp>
        <p:nvSpPr>
          <p:cNvPr id="5" name="">
            <a:extLst xmlns:a="http://schemas.openxmlformats.org/drawingml/2006/main">
              <a:ext uri="{FF2B5EF4-FFF2-40B4-BE49-F238E27FC236}">
                <a16:creationId xmlns:a16="http://schemas.microsoft.com/office/drawing/2014/main" id="{8A0BDA97-EF2E-425A-91AC-4CECB5E1B2AF}"/>
              </a:ext>
            </a:extLst>
          </p:cNvPr>
          <p:cNvSpPr>
            <a:spLocks xmlns:a="http://schemas.openxmlformats.org/drawingml/2006/main" noGrp="1"/>
          </p:cNvSpPr>
          <p:nvPr/>
        </p:nvSpPr>
        <p:spPr>
          <a:xfrm xmlns:a="http://schemas.openxmlformats.org/drawingml/2006/main">
            <a:off x="2571750" y="46482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i="0">
                <a:solidFill>
                  <a:srgbClr val="16805A"/>
                </a:solidFill>
                <a:latin typeface="Helvetica Neue"/>
                <a:ea typeface="Helvetica Neue"/>
                <a:cs typeface="Helvetica Neue"/>
              </a:defRPr>
            </a:pPr>
            <a:r>
              <a:rPr sz="1575" b="1" i="0">
                <a:solidFill>
                  <a:srgbClr val="16805A"/>
                </a:solidFill>
                <a:latin typeface="Helvetica Neue"/>
                <a:ea typeface="Helvetica Neue"/>
                <a:cs typeface="Helvetica Neue"/>
              </a:rPr>
              <a:t>8,455 Scaffolds</a:t>
            </a:r>
          </a:p>
        </p:txBody>
      </p:sp>
      <p:sp>
        <p:nvSpPr>
          <p:cNvPr id="6" name="">
            <a:extLst xmlns:a="http://schemas.openxmlformats.org/drawingml/2006/main">
              <a:ext uri="{FF2B5EF4-FFF2-40B4-BE49-F238E27FC236}">
                <a16:creationId xmlns:a16="http://schemas.microsoft.com/office/drawing/2014/main" id="{562CC80A-5E52-4E79-9422-92269AAE2618}"/>
              </a:ext>
            </a:extLst>
          </p:cNvPr>
          <p:cNvSpPr>
            <a:spLocks xmlns:a="http://schemas.openxmlformats.org/drawingml/2006/main" noGrp="1"/>
          </p:cNvSpPr>
          <p:nvPr/>
        </p:nvSpPr>
        <p:spPr>
          <a:xfrm xmlns:a="http://schemas.openxmlformats.org/drawingml/2006/main">
            <a:off x="457200" y="51054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i="0">
                <a:solidFill>
                  <a:srgbClr val="C96A18"/>
                </a:solidFill>
                <a:latin typeface="Helvetica Neue"/>
                <a:ea typeface="Helvetica Neue"/>
                <a:cs typeface="Helvetica Neue"/>
              </a:defRPr>
            </a:pPr>
            <a:r>
              <a:rPr sz="1575" b="1" i="0">
                <a:solidFill>
                  <a:srgbClr val="C96A18"/>
                </a:solidFill>
                <a:latin typeface="Helvetica Neue"/>
                <a:ea typeface="Helvetica Neue"/>
                <a:cs typeface="Helvetica Neue"/>
              </a:rPr>
              <a:t>5 Nested Folds</a:t>
            </a:r>
          </a:p>
        </p:txBody>
      </p:sp>
      <p:sp>
        <p:nvSpPr>
          <p:cNvPr id="7" name="">
            <a:extLst xmlns:a="http://schemas.openxmlformats.org/drawingml/2006/main">
              <a:ext uri="{FF2B5EF4-FFF2-40B4-BE49-F238E27FC236}">
                <a16:creationId xmlns:a16="http://schemas.microsoft.com/office/drawing/2014/main" id="{2071DBFD-87D7-4E54-A18E-A85018587BE1}"/>
              </a:ext>
            </a:extLst>
          </p:cNvPr>
          <p:cNvSpPr>
            <a:spLocks xmlns:a="http://schemas.openxmlformats.org/drawingml/2006/main" noGrp="1"/>
          </p:cNvSpPr>
          <p:nvPr/>
        </p:nvSpPr>
        <p:spPr>
          <a:xfrm xmlns:a="http://schemas.openxmlformats.org/drawingml/2006/main">
            <a:off x="5905500" y="400050"/>
            <a:ext cx="5848350" cy="5829300"/>
          </a:xfrm>
          <a:prstGeom xmlns:a="http://schemas.openxmlformats.org/drawingml/2006/main" prst="roundRect">
            <a:avLst>
              <a:gd name="adj" fmla="val 2614"/>
            </a:avLst>
          </a:prstGeom>
          <a:solidFill xmlns:a="http://schemas.openxmlformats.org/drawingml/2006/main">
            <a:srgbClr val="F2F4F7"/>
          </a:solidFill>
          <a:ln xmlns:a="http://schemas.openxmlformats.org/drawingml/2006/main" w="9525">
            <a:solidFill>
              <a:srgbClr val="D6DAE0"/>
            </a:solidFill>
            <a:prstDash val="solid"/>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061af1cd03384e56"/>
          <a:stretch xmlns:a="http://schemas.openxmlformats.org/drawingml/2006/main"/>
        </p:blipFill>
        <p:spPr>
          <a:xfrm xmlns:a="http://schemas.openxmlformats.org/drawingml/2006/main">
            <a:off x="6096000" y="1379054"/>
            <a:ext cx="5467350" cy="3871291"/>
          </a:xfrm>
          <a:prstGeom xmlns:a="http://schemas.openxmlformats.org/drawingml/2006/main" prst="rect">
            <a:avLst/>
          </a:prstGeom>
        </p:spPr>
      </p:pic>
    </p:spTree>
    <p:extLst>
      <p:ext uri="{BB962C8B-B14F-4D97-AF65-F5344CB8AC3E}">
        <p14:creationId xmlns:p14="http://schemas.microsoft.com/office/powerpoint/2010/main" val="77257562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763188DE-97F2-4673-93FF-93C64C972E49}"/>
              </a:ext>
            </a:extLst>
          </p:cNvPr>
          <p:cNvSpPr>
            <a:spLocks xmlns:a="http://schemas.openxmlformats.org/drawingml/2006/main" noGrp="1"/>
          </p:cNvSpPr>
          <p:nvPr/>
        </p:nvSpPr>
        <p:spPr>
          <a:xfrm xmlns:a="http://schemas.openxmlformats.org/drawingml/2006/main">
            <a:off x="438150" y="323850"/>
            <a:ext cx="113157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25" b="1" i="0">
                <a:solidFill>
                  <a:srgbClr val="0B0F14"/>
                </a:solidFill>
                <a:latin typeface="Helvetica Neue"/>
                <a:ea typeface="Helvetica Neue"/>
                <a:cs typeface="Helvetica Neue"/>
              </a:defRPr>
            </a:pPr>
            <a:r>
              <a:rPr sz="2925" b="1" i="0">
                <a:solidFill>
                  <a:srgbClr val="0B0F14"/>
                </a:solidFill>
                <a:latin typeface="Helvetica Neue"/>
                <a:ea typeface="Helvetica Neue"/>
                <a:cs typeface="Helvetica Neue"/>
              </a:rPr>
              <a:t>Nine Iterations of Model Development</a:t>
            </a:r>
          </a:p>
        </p:txBody>
      </p:sp>
      <p:cxnSp>
        <p:nvCxnSpPr>
          <p:cNvPr id="40" name=""/>
          <p:cNvCxnSpPr/>
          <p:nvPr/>
        </p:nvCxnSpPr>
        <p:spPr>
          <a:xfrm xmlns:a="http://schemas.openxmlformats.org/drawingml/2006/main">
            <a:off x="438150" y="1028700"/>
            <a:ext cx="11315700" cy="0"/>
          </a:xfrm>
          <a:prstGeom xmlns:a="http://schemas.openxmlformats.org/drawingml/2006/main" prst="straightConnector1">
            <a:avLst/>
          </a:prstGeom>
          <a:ln xmlns:a="http://schemas.openxmlformats.org/drawingml/2006/main" w="9525">
            <a:solidFill>
              <a:srgbClr val="D6DAE0"/>
            </a:solidFill>
            <a:prstDash val="solid"/>
          </a:ln>
        </p:spPr>
      </p:cxnSp>
      <p:sp>
        <p:nvSpPr>
          <p:cNvPr id="3" name="">
            <a:extLst xmlns:a="http://schemas.openxmlformats.org/drawingml/2006/main">
              <a:ext uri="{FF2B5EF4-FFF2-40B4-BE49-F238E27FC236}">
                <a16:creationId xmlns:a16="http://schemas.microsoft.com/office/drawing/2014/main" id="{A5EBB8AD-46D1-4144-9017-42D5BD1F872C}"/>
              </a:ext>
            </a:extLst>
          </p:cNvPr>
          <p:cNvSpPr>
            <a:spLocks xmlns:a="http://schemas.openxmlformats.org/drawingml/2006/main" noGrp="1"/>
          </p:cNvSpPr>
          <p:nvPr/>
        </p:nvSpPr>
        <p:spPr>
          <a:xfrm xmlns:a="http://schemas.openxmlformats.org/drawingml/2006/main">
            <a:off x="438150" y="1257300"/>
            <a:ext cx="3543300" cy="1485900"/>
          </a:xfrm>
          <a:prstGeom xmlns:a="http://schemas.openxmlformats.org/drawingml/2006/main" prst="roundRect">
            <a:avLst>
              <a:gd name="adj" fmla="val 7692"/>
            </a:avLst>
          </a:prstGeom>
          <a:solidFill xmlns:a="http://schemas.openxmlformats.org/drawingml/2006/main">
            <a:srgbClr val="EAF2FF"/>
          </a:solidFill>
          <a:ln xmlns:a="http://schemas.openxmlformats.org/drawingml/2006/main" w="9525">
            <a:solidFill>
              <a:srgbClr val="EAF2FF"/>
            </a:solidFill>
            <a:prstDash val="solid"/>
          </a:ln>
        </p:spPr>
      </p:sp>
      <p:sp>
        <p:nvSpPr>
          <p:cNvPr id="4" name="">
            <a:extLst xmlns:a="http://schemas.openxmlformats.org/drawingml/2006/main">
              <a:ext uri="{FF2B5EF4-FFF2-40B4-BE49-F238E27FC236}">
                <a16:creationId xmlns:a16="http://schemas.microsoft.com/office/drawing/2014/main" id="{1039150E-CF6E-4EF9-BC20-1FFDBBB79AEB}"/>
              </a:ext>
            </a:extLst>
          </p:cNvPr>
          <p:cNvSpPr>
            <a:spLocks xmlns:a="http://schemas.openxmlformats.org/drawingml/2006/main" noGrp="1"/>
          </p:cNvSpPr>
          <p:nvPr/>
        </p:nvSpPr>
        <p:spPr>
          <a:xfrm xmlns:a="http://schemas.openxmlformats.org/drawingml/2006/main">
            <a:off x="609600" y="14097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i="0">
                <a:solidFill>
                  <a:srgbClr val="1E63D5"/>
                </a:solidFill>
                <a:latin typeface="Helvetica Neue"/>
                <a:ea typeface="Helvetica Neue"/>
                <a:cs typeface="Helvetica Neue"/>
              </a:defRPr>
            </a:pPr>
            <a:r>
              <a:rPr sz="1800" b="1" i="0">
                <a:solidFill>
                  <a:srgbClr val="1E63D5"/>
                </a:solidFill>
                <a:latin typeface="Helvetica Neue"/>
                <a:ea typeface="Helvetica Neue"/>
                <a:cs typeface="Helvetica Neue"/>
              </a:rPr>
              <a:t>V1</a:t>
            </a:r>
          </a:p>
        </p:txBody>
      </p:sp>
      <p:sp>
        <p:nvSpPr>
          <p:cNvPr id="5" name="">
            <a:extLst xmlns:a="http://schemas.openxmlformats.org/drawingml/2006/main">
              <a:ext uri="{FF2B5EF4-FFF2-40B4-BE49-F238E27FC236}">
                <a16:creationId xmlns:a16="http://schemas.microsoft.com/office/drawing/2014/main" id="{72A1FA7F-5635-4489-8419-2F399ECB0790}"/>
              </a:ext>
            </a:extLst>
          </p:cNvPr>
          <p:cNvSpPr>
            <a:spLocks xmlns:a="http://schemas.openxmlformats.org/drawingml/2006/main" noGrp="1"/>
          </p:cNvSpPr>
          <p:nvPr/>
        </p:nvSpPr>
        <p:spPr>
          <a:xfrm xmlns:a="http://schemas.openxmlformats.org/drawingml/2006/main">
            <a:off x="1162050" y="140970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i="0">
                <a:solidFill>
                  <a:srgbClr val="0B0F14"/>
                </a:solidFill>
                <a:latin typeface="Helvetica Neue"/>
                <a:ea typeface="Helvetica Neue"/>
                <a:cs typeface="Helvetica Neue"/>
              </a:defRPr>
            </a:pPr>
            <a:r>
              <a:rPr sz="1575" b="1" i="0">
                <a:solidFill>
                  <a:srgbClr val="0B0F14"/>
                </a:solidFill>
                <a:latin typeface="Helvetica Neue"/>
                <a:ea typeface="Helvetica Neue"/>
                <a:cs typeface="Helvetica Neue"/>
              </a:rPr>
              <a:t>Dataset Governance</a:t>
            </a:r>
          </a:p>
        </p:txBody>
      </p:sp>
      <p:sp>
        <p:nvSpPr>
          <p:cNvPr id="6" name="">
            <a:extLst xmlns:a="http://schemas.openxmlformats.org/drawingml/2006/main">
              <a:ext uri="{FF2B5EF4-FFF2-40B4-BE49-F238E27FC236}">
                <a16:creationId xmlns:a16="http://schemas.microsoft.com/office/drawing/2014/main" id="{0AA3628E-B7C9-4AE2-9007-A92777D5B441}"/>
              </a:ext>
            </a:extLst>
          </p:cNvPr>
          <p:cNvSpPr>
            <a:spLocks xmlns:a="http://schemas.openxmlformats.org/drawingml/2006/main" noGrp="1"/>
          </p:cNvSpPr>
          <p:nvPr/>
        </p:nvSpPr>
        <p:spPr>
          <a:xfrm xmlns:a="http://schemas.openxmlformats.org/drawingml/2006/main">
            <a:off x="609600" y="1828800"/>
            <a:ext cx="320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i="0">
                <a:solidFill>
                  <a:srgbClr val="59616D"/>
                </a:solidFill>
                <a:latin typeface="Helvetica Neue"/>
                <a:ea typeface="Helvetica Neue"/>
                <a:cs typeface="Helvetica Neue"/>
              </a:defRPr>
            </a:pPr>
            <a:r>
              <a:rPr sz="1275" b="0" i="0">
                <a:solidFill>
                  <a:srgbClr val="59616D"/>
                </a:solidFill>
                <a:latin typeface="Helvetica Neue"/>
                <a:ea typeface="Helvetica Neue"/>
                <a:cs typeface="Helvetica Neue"/>
              </a:rPr>
              <a:t>Structure identities, provenance, frozen splits, and leakage controls.</a:t>
            </a:r>
          </a:p>
        </p:txBody>
      </p:sp>
      <p:sp>
        <p:nvSpPr>
          <p:cNvPr id="7" name="">
            <a:extLst xmlns:a="http://schemas.openxmlformats.org/drawingml/2006/main">
              <a:ext uri="{FF2B5EF4-FFF2-40B4-BE49-F238E27FC236}">
                <a16:creationId xmlns:a16="http://schemas.microsoft.com/office/drawing/2014/main" id="{461AD611-A401-471A-A4B2-7CD9EFF09934}"/>
              </a:ext>
            </a:extLst>
          </p:cNvPr>
          <p:cNvSpPr>
            <a:spLocks xmlns:a="http://schemas.openxmlformats.org/drawingml/2006/main" noGrp="1"/>
          </p:cNvSpPr>
          <p:nvPr/>
        </p:nvSpPr>
        <p:spPr>
          <a:xfrm xmlns:a="http://schemas.openxmlformats.org/drawingml/2006/main">
            <a:off x="4248150" y="1257300"/>
            <a:ext cx="3543300" cy="1485900"/>
          </a:xfrm>
          <a:prstGeom xmlns:a="http://schemas.openxmlformats.org/drawingml/2006/main" prst="roundRect">
            <a:avLst>
              <a:gd name="adj" fmla="val 7692"/>
            </a:avLst>
          </a:prstGeom>
          <a:solidFill xmlns:a="http://schemas.openxmlformats.org/drawingml/2006/main">
            <a:srgbClr val="EAF2FF"/>
          </a:solidFill>
          <a:ln xmlns:a="http://schemas.openxmlformats.org/drawingml/2006/main" w="9525">
            <a:solidFill>
              <a:srgbClr val="EAF2FF"/>
            </a:solidFill>
            <a:prstDash val="solid"/>
          </a:ln>
        </p:spPr>
      </p:sp>
      <p:sp>
        <p:nvSpPr>
          <p:cNvPr id="8" name="">
            <a:extLst xmlns:a="http://schemas.openxmlformats.org/drawingml/2006/main">
              <a:ext uri="{FF2B5EF4-FFF2-40B4-BE49-F238E27FC236}">
                <a16:creationId xmlns:a16="http://schemas.microsoft.com/office/drawing/2014/main" id="{825E5E0A-404D-4D9B-9E7B-83D8A0C89DF1}"/>
              </a:ext>
            </a:extLst>
          </p:cNvPr>
          <p:cNvSpPr>
            <a:spLocks xmlns:a="http://schemas.openxmlformats.org/drawingml/2006/main" noGrp="1"/>
          </p:cNvSpPr>
          <p:nvPr/>
        </p:nvSpPr>
        <p:spPr>
          <a:xfrm xmlns:a="http://schemas.openxmlformats.org/drawingml/2006/main">
            <a:off x="4419600" y="14097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i="0">
                <a:solidFill>
                  <a:srgbClr val="1E63D5"/>
                </a:solidFill>
                <a:latin typeface="Helvetica Neue"/>
                <a:ea typeface="Helvetica Neue"/>
                <a:cs typeface="Helvetica Neue"/>
              </a:defRPr>
            </a:pPr>
            <a:r>
              <a:rPr sz="1800" b="1" i="0">
                <a:solidFill>
                  <a:srgbClr val="1E63D5"/>
                </a:solidFill>
                <a:latin typeface="Helvetica Neue"/>
                <a:ea typeface="Helvetica Neue"/>
                <a:cs typeface="Helvetica Neue"/>
              </a:rPr>
              <a:t>V2</a:t>
            </a:r>
          </a:p>
        </p:txBody>
      </p:sp>
      <p:sp>
        <p:nvSpPr>
          <p:cNvPr id="9" name="">
            <a:extLst xmlns:a="http://schemas.openxmlformats.org/drawingml/2006/main">
              <a:ext uri="{FF2B5EF4-FFF2-40B4-BE49-F238E27FC236}">
                <a16:creationId xmlns:a16="http://schemas.microsoft.com/office/drawing/2014/main" id="{F3692B3B-0494-46C0-9864-C0866587F034}"/>
              </a:ext>
            </a:extLst>
          </p:cNvPr>
          <p:cNvSpPr>
            <a:spLocks xmlns:a="http://schemas.openxmlformats.org/drawingml/2006/main" noGrp="1"/>
          </p:cNvSpPr>
          <p:nvPr/>
        </p:nvSpPr>
        <p:spPr>
          <a:xfrm xmlns:a="http://schemas.openxmlformats.org/drawingml/2006/main">
            <a:off x="4972050" y="140970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i="0">
                <a:solidFill>
                  <a:srgbClr val="0B0F14"/>
                </a:solidFill>
                <a:latin typeface="Helvetica Neue"/>
                <a:ea typeface="Helvetica Neue"/>
                <a:cs typeface="Helvetica Neue"/>
              </a:defRPr>
            </a:pPr>
            <a:r>
              <a:rPr sz="1575" b="1" i="0">
                <a:solidFill>
                  <a:srgbClr val="0B0F14"/>
                </a:solidFill>
                <a:latin typeface="Helvetica Neue"/>
                <a:ea typeface="Helvetica Neue"/>
                <a:cs typeface="Helvetica Neue"/>
              </a:rPr>
              <a:t>Tuned 2D XGBoost</a:t>
            </a:r>
          </a:p>
        </p:txBody>
      </p:sp>
      <p:sp>
        <p:nvSpPr>
          <p:cNvPr id="10" name="">
            <a:extLst xmlns:a="http://schemas.openxmlformats.org/drawingml/2006/main">
              <a:ext uri="{FF2B5EF4-FFF2-40B4-BE49-F238E27FC236}">
                <a16:creationId xmlns:a16="http://schemas.microsoft.com/office/drawing/2014/main" id="{E0AAE8B5-1E65-414B-8F41-1F20AD1191B0}"/>
              </a:ext>
            </a:extLst>
          </p:cNvPr>
          <p:cNvSpPr>
            <a:spLocks xmlns:a="http://schemas.openxmlformats.org/drawingml/2006/main" noGrp="1"/>
          </p:cNvSpPr>
          <p:nvPr/>
        </p:nvSpPr>
        <p:spPr>
          <a:xfrm xmlns:a="http://schemas.openxmlformats.org/drawingml/2006/main">
            <a:off x="4419600" y="1828800"/>
            <a:ext cx="320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i="0">
                <a:solidFill>
                  <a:srgbClr val="59616D"/>
                </a:solidFill>
                <a:latin typeface="Helvetica Neue"/>
                <a:ea typeface="Helvetica Neue"/>
                <a:cs typeface="Helvetica Neue"/>
              </a:defRPr>
            </a:pPr>
            <a:r>
              <a:rPr sz="1275" b="0" i="0">
                <a:solidFill>
                  <a:srgbClr val="59616D"/>
                </a:solidFill>
                <a:latin typeface="Helvetica Neue"/>
                <a:ea typeface="Helvetica Neue"/>
                <a:cs typeface="Helvetica Neue"/>
              </a:rPr>
              <a:t>First strong scaffold anchor at approximately 0.446 MAE.</a:t>
            </a:r>
          </a:p>
        </p:txBody>
      </p:sp>
      <p:sp>
        <p:nvSpPr>
          <p:cNvPr id="11" name="">
            <a:extLst xmlns:a="http://schemas.openxmlformats.org/drawingml/2006/main">
              <a:ext uri="{FF2B5EF4-FFF2-40B4-BE49-F238E27FC236}">
                <a16:creationId xmlns:a16="http://schemas.microsoft.com/office/drawing/2014/main" id="{BE2FE71D-8151-4129-ACBB-FEA510FE2142}"/>
              </a:ext>
            </a:extLst>
          </p:cNvPr>
          <p:cNvSpPr>
            <a:spLocks xmlns:a="http://schemas.openxmlformats.org/drawingml/2006/main" noGrp="1"/>
          </p:cNvSpPr>
          <p:nvPr/>
        </p:nvSpPr>
        <p:spPr>
          <a:xfrm xmlns:a="http://schemas.openxmlformats.org/drawingml/2006/main">
            <a:off x="8058150" y="1257300"/>
            <a:ext cx="3543300" cy="1485900"/>
          </a:xfrm>
          <a:prstGeom xmlns:a="http://schemas.openxmlformats.org/drawingml/2006/main" prst="roundRect">
            <a:avLst>
              <a:gd name="adj" fmla="val 7692"/>
            </a:avLst>
          </a:prstGeom>
          <a:solidFill xmlns:a="http://schemas.openxmlformats.org/drawingml/2006/main">
            <a:srgbClr val="EAF2FF"/>
          </a:solidFill>
          <a:ln xmlns:a="http://schemas.openxmlformats.org/drawingml/2006/main" w="9525">
            <a:solidFill>
              <a:srgbClr val="EAF2FF"/>
            </a:solidFill>
            <a:prstDash val="solid"/>
          </a:ln>
        </p:spPr>
      </p:sp>
      <p:sp>
        <p:nvSpPr>
          <p:cNvPr id="12" name="">
            <a:extLst xmlns:a="http://schemas.openxmlformats.org/drawingml/2006/main">
              <a:ext uri="{FF2B5EF4-FFF2-40B4-BE49-F238E27FC236}">
                <a16:creationId xmlns:a16="http://schemas.microsoft.com/office/drawing/2014/main" id="{9AD5FC49-DD8E-4E84-9A9A-8C976A53965B}"/>
              </a:ext>
            </a:extLst>
          </p:cNvPr>
          <p:cNvSpPr>
            <a:spLocks xmlns:a="http://schemas.openxmlformats.org/drawingml/2006/main" noGrp="1"/>
          </p:cNvSpPr>
          <p:nvPr/>
        </p:nvSpPr>
        <p:spPr>
          <a:xfrm xmlns:a="http://schemas.openxmlformats.org/drawingml/2006/main">
            <a:off x="8229600" y="14097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i="0">
                <a:solidFill>
                  <a:srgbClr val="1E63D5"/>
                </a:solidFill>
                <a:latin typeface="Helvetica Neue"/>
                <a:ea typeface="Helvetica Neue"/>
                <a:cs typeface="Helvetica Neue"/>
              </a:defRPr>
            </a:pPr>
            <a:r>
              <a:rPr sz="1800" b="1" i="0">
                <a:solidFill>
                  <a:srgbClr val="1E63D5"/>
                </a:solidFill>
                <a:latin typeface="Helvetica Neue"/>
                <a:ea typeface="Helvetica Neue"/>
                <a:cs typeface="Helvetica Neue"/>
              </a:rPr>
              <a:t>V3</a:t>
            </a:r>
          </a:p>
        </p:txBody>
      </p:sp>
      <p:sp>
        <p:nvSpPr>
          <p:cNvPr id="13" name="">
            <a:extLst xmlns:a="http://schemas.openxmlformats.org/drawingml/2006/main">
              <a:ext uri="{FF2B5EF4-FFF2-40B4-BE49-F238E27FC236}">
                <a16:creationId xmlns:a16="http://schemas.microsoft.com/office/drawing/2014/main" id="{B45ADC39-8739-4937-8691-61301F6DB11D}"/>
              </a:ext>
            </a:extLst>
          </p:cNvPr>
          <p:cNvSpPr>
            <a:spLocks xmlns:a="http://schemas.openxmlformats.org/drawingml/2006/main" noGrp="1"/>
          </p:cNvSpPr>
          <p:nvPr/>
        </p:nvSpPr>
        <p:spPr>
          <a:xfrm xmlns:a="http://schemas.openxmlformats.org/drawingml/2006/main">
            <a:off x="8782050" y="140970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i="0">
                <a:solidFill>
                  <a:srgbClr val="0B0F14"/>
                </a:solidFill>
                <a:latin typeface="Helvetica Neue"/>
                <a:ea typeface="Helvetica Neue"/>
                <a:cs typeface="Helvetica Neue"/>
              </a:defRPr>
            </a:pPr>
            <a:r>
              <a:rPr sz="1575" b="1" i="0">
                <a:solidFill>
                  <a:srgbClr val="0B0F14"/>
                </a:solidFill>
                <a:latin typeface="Helvetica Neue"/>
                <a:ea typeface="Helvetica Neue"/>
                <a:cs typeface="Helvetica Neue"/>
              </a:rPr>
              <a:t>Broader Model Search</a:t>
            </a:r>
          </a:p>
        </p:txBody>
      </p:sp>
      <p:sp>
        <p:nvSpPr>
          <p:cNvPr id="14" name="">
            <a:extLst xmlns:a="http://schemas.openxmlformats.org/drawingml/2006/main">
              <a:ext uri="{FF2B5EF4-FFF2-40B4-BE49-F238E27FC236}">
                <a16:creationId xmlns:a16="http://schemas.microsoft.com/office/drawing/2014/main" id="{B1A5AEFB-45A5-4179-8DB0-D9134A5A7719}"/>
              </a:ext>
            </a:extLst>
          </p:cNvPr>
          <p:cNvSpPr>
            <a:spLocks xmlns:a="http://schemas.openxmlformats.org/drawingml/2006/main" noGrp="1"/>
          </p:cNvSpPr>
          <p:nvPr/>
        </p:nvSpPr>
        <p:spPr>
          <a:xfrm xmlns:a="http://schemas.openxmlformats.org/drawingml/2006/main">
            <a:off x="8229600" y="1828800"/>
            <a:ext cx="320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i="0">
                <a:solidFill>
                  <a:srgbClr val="59616D"/>
                </a:solidFill>
                <a:latin typeface="Helvetica Neue"/>
                <a:ea typeface="Helvetica Neue"/>
                <a:cs typeface="Helvetica Neue"/>
              </a:defRPr>
            </a:pPr>
            <a:r>
              <a:rPr sz="1275" b="0" i="0">
                <a:solidFill>
                  <a:srgbClr val="59616D"/>
                </a:solidFill>
                <a:latin typeface="Helvetica Neue"/>
                <a:ea typeface="Helvetica Neue"/>
                <a:cs typeface="Helvetica Neue"/>
              </a:rPr>
              <a:t>More model families and features did not improve the honest anchor.</a:t>
            </a:r>
          </a:p>
        </p:txBody>
      </p:sp>
      <p:sp>
        <p:nvSpPr>
          <p:cNvPr id="15" name="">
            <a:extLst xmlns:a="http://schemas.openxmlformats.org/drawingml/2006/main">
              <a:ext uri="{FF2B5EF4-FFF2-40B4-BE49-F238E27FC236}">
                <a16:creationId xmlns:a16="http://schemas.microsoft.com/office/drawing/2014/main" id="{234E24D0-D5F0-465E-9E53-97CA8AFE9D01}"/>
              </a:ext>
            </a:extLst>
          </p:cNvPr>
          <p:cNvSpPr>
            <a:spLocks xmlns:a="http://schemas.openxmlformats.org/drawingml/2006/main" noGrp="1"/>
          </p:cNvSpPr>
          <p:nvPr/>
        </p:nvSpPr>
        <p:spPr>
          <a:xfrm xmlns:a="http://schemas.openxmlformats.org/drawingml/2006/main">
            <a:off x="438150" y="3009900"/>
            <a:ext cx="3543300" cy="1485900"/>
          </a:xfrm>
          <a:prstGeom xmlns:a="http://schemas.openxmlformats.org/drawingml/2006/main" prst="roundRect">
            <a:avLst>
              <a:gd name="adj" fmla="val 7692"/>
            </a:avLst>
          </a:prstGeom>
          <a:solidFill xmlns:a="http://schemas.openxmlformats.org/drawingml/2006/main">
            <a:srgbClr val="F1EDFF"/>
          </a:solidFill>
          <a:ln xmlns:a="http://schemas.openxmlformats.org/drawingml/2006/main" w="9525">
            <a:solidFill>
              <a:srgbClr val="F1EDFF"/>
            </a:solidFill>
            <a:prstDash val="solid"/>
          </a:ln>
        </p:spPr>
      </p:sp>
      <p:sp>
        <p:nvSpPr>
          <p:cNvPr id="16" name="">
            <a:extLst xmlns:a="http://schemas.openxmlformats.org/drawingml/2006/main">
              <a:ext uri="{FF2B5EF4-FFF2-40B4-BE49-F238E27FC236}">
                <a16:creationId xmlns:a16="http://schemas.microsoft.com/office/drawing/2014/main" id="{7F647348-10CC-4CD6-A288-DA470336B7F8}"/>
              </a:ext>
            </a:extLst>
          </p:cNvPr>
          <p:cNvSpPr>
            <a:spLocks xmlns:a="http://schemas.openxmlformats.org/drawingml/2006/main" noGrp="1"/>
          </p:cNvSpPr>
          <p:nvPr/>
        </p:nvSpPr>
        <p:spPr>
          <a:xfrm xmlns:a="http://schemas.openxmlformats.org/drawingml/2006/main">
            <a:off x="609600" y="31623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i="0">
                <a:solidFill>
                  <a:srgbClr val="7057C7"/>
                </a:solidFill>
                <a:latin typeface="Helvetica Neue"/>
                <a:ea typeface="Helvetica Neue"/>
                <a:cs typeface="Helvetica Neue"/>
              </a:defRPr>
            </a:pPr>
            <a:r>
              <a:rPr sz="1800" b="1" i="0">
                <a:solidFill>
                  <a:srgbClr val="7057C7"/>
                </a:solidFill>
                <a:latin typeface="Helvetica Neue"/>
                <a:ea typeface="Helvetica Neue"/>
                <a:cs typeface="Helvetica Neue"/>
              </a:rPr>
              <a:t>V4</a:t>
            </a:r>
          </a:p>
        </p:txBody>
      </p:sp>
      <p:sp>
        <p:nvSpPr>
          <p:cNvPr id="17" name="">
            <a:extLst xmlns:a="http://schemas.openxmlformats.org/drawingml/2006/main">
              <a:ext uri="{FF2B5EF4-FFF2-40B4-BE49-F238E27FC236}">
                <a16:creationId xmlns:a16="http://schemas.microsoft.com/office/drawing/2014/main" id="{6D483ED5-1A12-47A7-80CC-82458624D8FE}"/>
              </a:ext>
            </a:extLst>
          </p:cNvPr>
          <p:cNvSpPr>
            <a:spLocks xmlns:a="http://schemas.openxmlformats.org/drawingml/2006/main" noGrp="1"/>
          </p:cNvSpPr>
          <p:nvPr/>
        </p:nvSpPr>
        <p:spPr>
          <a:xfrm xmlns:a="http://schemas.openxmlformats.org/drawingml/2006/main">
            <a:off x="1162050" y="316230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i="0">
                <a:solidFill>
                  <a:srgbClr val="0B0F14"/>
                </a:solidFill>
                <a:latin typeface="Helvetica Neue"/>
                <a:ea typeface="Helvetica Neue"/>
                <a:cs typeface="Helvetica Neue"/>
              </a:defRPr>
            </a:pPr>
            <a:r>
              <a:rPr sz="1575" b="1" i="0">
                <a:solidFill>
                  <a:srgbClr val="0B0F14"/>
                </a:solidFill>
                <a:latin typeface="Helvetica Neue"/>
                <a:ea typeface="Helvetica Neue"/>
                <a:cs typeface="Helvetica Neue"/>
              </a:rPr>
              <a:t>24-Conformer Surface</a:t>
            </a:r>
          </a:p>
        </p:txBody>
      </p:sp>
      <p:sp>
        <p:nvSpPr>
          <p:cNvPr id="18" name="">
            <a:extLst xmlns:a="http://schemas.openxmlformats.org/drawingml/2006/main">
              <a:ext uri="{FF2B5EF4-FFF2-40B4-BE49-F238E27FC236}">
                <a16:creationId xmlns:a16="http://schemas.microsoft.com/office/drawing/2014/main" id="{5CEB6385-5323-41D3-8D6D-04B21A270ACE}"/>
              </a:ext>
            </a:extLst>
          </p:cNvPr>
          <p:cNvSpPr>
            <a:spLocks xmlns:a="http://schemas.openxmlformats.org/drawingml/2006/main" noGrp="1"/>
          </p:cNvSpPr>
          <p:nvPr/>
        </p:nvSpPr>
        <p:spPr>
          <a:xfrm xmlns:a="http://schemas.openxmlformats.org/drawingml/2006/main">
            <a:off x="609600" y="3581400"/>
            <a:ext cx="320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i="0">
                <a:solidFill>
                  <a:srgbClr val="59616D"/>
                </a:solidFill>
                <a:latin typeface="Helvetica Neue"/>
                <a:ea typeface="Helvetica Neue"/>
                <a:cs typeface="Helvetica Neue"/>
              </a:defRPr>
            </a:pPr>
            <a:r>
              <a:rPr sz="1275" b="0" i="0">
                <a:solidFill>
                  <a:srgbClr val="59616D"/>
                </a:solidFill>
                <a:latin typeface="Helvetica Neue"/>
                <a:ea typeface="Helvetica Neue"/>
                <a:cs typeface="Helvetica Neue"/>
              </a:rPr>
              <a:t>Fresh ligand 3D features generated across 24,901 quantitative structures.</a:t>
            </a:r>
          </a:p>
        </p:txBody>
      </p:sp>
      <p:sp>
        <p:nvSpPr>
          <p:cNvPr id="19" name="">
            <a:extLst xmlns:a="http://schemas.openxmlformats.org/drawingml/2006/main">
              <a:ext uri="{FF2B5EF4-FFF2-40B4-BE49-F238E27FC236}">
                <a16:creationId xmlns:a16="http://schemas.microsoft.com/office/drawing/2014/main" id="{0925A3CB-84E8-4276-A074-B90CA4AE12AE}"/>
              </a:ext>
            </a:extLst>
          </p:cNvPr>
          <p:cNvSpPr>
            <a:spLocks xmlns:a="http://schemas.openxmlformats.org/drawingml/2006/main" noGrp="1"/>
          </p:cNvSpPr>
          <p:nvPr/>
        </p:nvSpPr>
        <p:spPr>
          <a:xfrm xmlns:a="http://schemas.openxmlformats.org/drawingml/2006/main">
            <a:off x="4248150" y="3009900"/>
            <a:ext cx="3543300" cy="1485900"/>
          </a:xfrm>
          <a:prstGeom xmlns:a="http://schemas.openxmlformats.org/drawingml/2006/main" prst="roundRect">
            <a:avLst>
              <a:gd name="adj" fmla="val 7692"/>
            </a:avLst>
          </a:prstGeom>
          <a:solidFill xmlns:a="http://schemas.openxmlformats.org/drawingml/2006/main">
            <a:srgbClr val="F1EDFF"/>
          </a:solidFill>
          <a:ln xmlns:a="http://schemas.openxmlformats.org/drawingml/2006/main" w="9525">
            <a:solidFill>
              <a:srgbClr val="F1EDFF"/>
            </a:solidFill>
            <a:prstDash val="solid"/>
          </a:ln>
        </p:spPr>
      </p:sp>
      <p:sp>
        <p:nvSpPr>
          <p:cNvPr id="20" name="">
            <a:extLst xmlns:a="http://schemas.openxmlformats.org/drawingml/2006/main">
              <a:ext uri="{FF2B5EF4-FFF2-40B4-BE49-F238E27FC236}">
                <a16:creationId xmlns:a16="http://schemas.microsoft.com/office/drawing/2014/main" id="{BEF1021A-ED1D-4F11-97D8-1E9FB44B40F7}"/>
              </a:ext>
            </a:extLst>
          </p:cNvPr>
          <p:cNvSpPr>
            <a:spLocks xmlns:a="http://schemas.openxmlformats.org/drawingml/2006/main" noGrp="1"/>
          </p:cNvSpPr>
          <p:nvPr/>
        </p:nvSpPr>
        <p:spPr>
          <a:xfrm xmlns:a="http://schemas.openxmlformats.org/drawingml/2006/main">
            <a:off x="4419600" y="31623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i="0">
                <a:solidFill>
                  <a:srgbClr val="7057C7"/>
                </a:solidFill>
                <a:latin typeface="Helvetica Neue"/>
                <a:ea typeface="Helvetica Neue"/>
                <a:cs typeface="Helvetica Neue"/>
              </a:defRPr>
            </a:pPr>
            <a:r>
              <a:rPr sz="1800" b="1" i="0">
                <a:solidFill>
                  <a:srgbClr val="7057C7"/>
                </a:solidFill>
                <a:latin typeface="Helvetica Neue"/>
                <a:ea typeface="Helvetica Neue"/>
                <a:cs typeface="Helvetica Neue"/>
              </a:rPr>
              <a:t>V5</a:t>
            </a:r>
          </a:p>
        </p:txBody>
      </p:sp>
      <p:sp>
        <p:nvSpPr>
          <p:cNvPr id="21" name="">
            <a:extLst xmlns:a="http://schemas.openxmlformats.org/drawingml/2006/main">
              <a:ext uri="{FF2B5EF4-FFF2-40B4-BE49-F238E27FC236}">
                <a16:creationId xmlns:a16="http://schemas.microsoft.com/office/drawing/2014/main" id="{F05829AF-2A82-4BF0-8D98-03ECDCE6D917}"/>
              </a:ext>
            </a:extLst>
          </p:cNvPr>
          <p:cNvSpPr>
            <a:spLocks xmlns:a="http://schemas.openxmlformats.org/drawingml/2006/main" noGrp="1"/>
          </p:cNvSpPr>
          <p:nvPr/>
        </p:nvSpPr>
        <p:spPr>
          <a:xfrm xmlns:a="http://schemas.openxmlformats.org/drawingml/2006/main">
            <a:off x="4972050" y="316230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i="0">
                <a:solidFill>
                  <a:srgbClr val="0B0F14"/>
                </a:solidFill>
                <a:latin typeface="Helvetica Neue"/>
                <a:ea typeface="Helvetica Neue"/>
                <a:cs typeface="Helvetica Neue"/>
              </a:defRPr>
            </a:pPr>
            <a:r>
              <a:rPr sz="1575" b="1" i="0">
                <a:solidFill>
                  <a:srgbClr val="0B0F14"/>
                </a:solidFill>
                <a:latin typeface="Helvetica Neue"/>
                <a:ea typeface="Helvetica Neue"/>
                <a:cs typeface="Helvetica Neue"/>
              </a:rPr>
              <a:t>Feature Attribution</a:t>
            </a:r>
          </a:p>
        </p:txBody>
      </p:sp>
      <p:sp>
        <p:nvSpPr>
          <p:cNvPr id="22" name="">
            <a:extLst xmlns:a="http://schemas.openxmlformats.org/drawingml/2006/main">
              <a:ext uri="{FF2B5EF4-FFF2-40B4-BE49-F238E27FC236}">
                <a16:creationId xmlns:a16="http://schemas.microsoft.com/office/drawing/2014/main" id="{9791DC50-0FD0-43BA-B7D5-9C7F4FD20923}"/>
              </a:ext>
            </a:extLst>
          </p:cNvPr>
          <p:cNvSpPr>
            <a:spLocks xmlns:a="http://schemas.openxmlformats.org/drawingml/2006/main" noGrp="1"/>
          </p:cNvSpPr>
          <p:nvPr/>
        </p:nvSpPr>
        <p:spPr>
          <a:xfrm xmlns:a="http://schemas.openxmlformats.org/drawingml/2006/main">
            <a:off x="4419600" y="3581400"/>
            <a:ext cx="320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i="0">
                <a:solidFill>
                  <a:srgbClr val="59616D"/>
                </a:solidFill>
                <a:latin typeface="Helvetica Neue"/>
                <a:ea typeface="Helvetica Neue"/>
                <a:cs typeface="Helvetica Neue"/>
              </a:defRPr>
            </a:pPr>
            <a:r>
              <a:rPr sz="1275" b="0" i="0">
                <a:solidFill>
                  <a:srgbClr val="59616D"/>
                </a:solidFill>
                <a:latin typeface="Helvetica Neue"/>
                <a:ea typeface="Helvetica Neue"/>
                <a:cs typeface="Helvetica Neue"/>
              </a:rPr>
              <a:t>Held-out ablations isolated the unique contribution of each block.</a:t>
            </a:r>
          </a:p>
        </p:txBody>
      </p:sp>
      <p:sp>
        <p:nvSpPr>
          <p:cNvPr id="23" name="">
            <a:extLst xmlns:a="http://schemas.openxmlformats.org/drawingml/2006/main">
              <a:ext uri="{FF2B5EF4-FFF2-40B4-BE49-F238E27FC236}">
                <a16:creationId xmlns:a16="http://schemas.microsoft.com/office/drawing/2014/main" id="{60CD7841-2275-4C5E-A901-2D73C8CE9A06}"/>
              </a:ext>
            </a:extLst>
          </p:cNvPr>
          <p:cNvSpPr>
            <a:spLocks xmlns:a="http://schemas.openxmlformats.org/drawingml/2006/main" noGrp="1"/>
          </p:cNvSpPr>
          <p:nvPr/>
        </p:nvSpPr>
        <p:spPr>
          <a:xfrm xmlns:a="http://schemas.openxmlformats.org/drawingml/2006/main">
            <a:off x="8058150" y="3009900"/>
            <a:ext cx="3543300" cy="1485900"/>
          </a:xfrm>
          <a:prstGeom xmlns:a="http://schemas.openxmlformats.org/drawingml/2006/main" prst="roundRect">
            <a:avLst>
              <a:gd name="adj" fmla="val 7692"/>
            </a:avLst>
          </a:prstGeom>
          <a:solidFill xmlns:a="http://schemas.openxmlformats.org/drawingml/2006/main">
            <a:srgbClr val="F1EDFF"/>
          </a:solidFill>
          <a:ln xmlns:a="http://schemas.openxmlformats.org/drawingml/2006/main" w="9525">
            <a:solidFill>
              <a:srgbClr val="F1EDFF"/>
            </a:solidFill>
            <a:prstDash val="solid"/>
          </a:ln>
        </p:spPr>
      </p:sp>
      <p:sp>
        <p:nvSpPr>
          <p:cNvPr id="24" name="">
            <a:extLst xmlns:a="http://schemas.openxmlformats.org/drawingml/2006/main">
              <a:ext uri="{FF2B5EF4-FFF2-40B4-BE49-F238E27FC236}">
                <a16:creationId xmlns:a16="http://schemas.microsoft.com/office/drawing/2014/main" id="{4CA43827-EE90-4070-A852-6A9670F69E01}"/>
              </a:ext>
            </a:extLst>
          </p:cNvPr>
          <p:cNvSpPr>
            <a:spLocks xmlns:a="http://schemas.openxmlformats.org/drawingml/2006/main" noGrp="1"/>
          </p:cNvSpPr>
          <p:nvPr/>
        </p:nvSpPr>
        <p:spPr>
          <a:xfrm xmlns:a="http://schemas.openxmlformats.org/drawingml/2006/main">
            <a:off x="8229600" y="31623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i="0">
                <a:solidFill>
                  <a:srgbClr val="7057C7"/>
                </a:solidFill>
                <a:latin typeface="Helvetica Neue"/>
                <a:ea typeface="Helvetica Neue"/>
                <a:cs typeface="Helvetica Neue"/>
              </a:defRPr>
            </a:pPr>
            <a:r>
              <a:rPr sz="1800" b="1" i="0">
                <a:solidFill>
                  <a:srgbClr val="7057C7"/>
                </a:solidFill>
                <a:latin typeface="Helvetica Neue"/>
                <a:ea typeface="Helvetica Neue"/>
                <a:cs typeface="Helvetica Neue"/>
              </a:rPr>
              <a:t>V6</a:t>
            </a:r>
          </a:p>
        </p:txBody>
      </p:sp>
      <p:sp>
        <p:nvSpPr>
          <p:cNvPr id="25" name="">
            <a:extLst xmlns:a="http://schemas.openxmlformats.org/drawingml/2006/main">
              <a:ext uri="{FF2B5EF4-FFF2-40B4-BE49-F238E27FC236}">
                <a16:creationId xmlns:a16="http://schemas.microsoft.com/office/drawing/2014/main" id="{1CC98BD0-6AF7-40E6-BA44-998E4A53C816}"/>
              </a:ext>
            </a:extLst>
          </p:cNvPr>
          <p:cNvSpPr>
            <a:spLocks xmlns:a="http://schemas.openxmlformats.org/drawingml/2006/main" noGrp="1"/>
          </p:cNvSpPr>
          <p:nvPr/>
        </p:nvSpPr>
        <p:spPr>
          <a:xfrm xmlns:a="http://schemas.openxmlformats.org/drawingml/2006/main">
            <a:off x="8782050" y="316230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i="0">
                <a:solidFill>
                  <a:srgbClr val="0B0F14"/>
                </a:solidFill>
                <a:latin typeface="Helvetica Neue"/>
                <a:ea typeface="Helvetica Neue"/>
                <a:cs typeface="Helvetica Neue"/>
              </a:defRPr>
            </a:pPr>
            <a:r>
              <a:rPr sz="1575" b="1" i="0">
                <a:solidFill>
                  <a:srgbClr val="0B0F14"/>
                </a:solidFill>
                <a:latin typeface="Helvetica Neue"/>
                <a:ea typeface="Helvetica Neue"/>
                <a:cs typeface="Helvetica Neue"/>
              </a:rPr>
              <a:t>Fundamental Optimization</a:t>
            </a:r>
          </a:p>
        </p:txBody>
      </p:sp>
      <p:sp>
        <p:nvSpPr>
          <p:cNvPr id="26" name="">
            <a:extLst xmlns:a="http://schemas.openxmlformats.org/drawingml/2006/main">
              <a:ext uri="{FF2B5EF4-FFF2-40B4-BE49-F238E27FC236}">
                <a16:creationId xmlns:a16="http://schemas.microsoft.com/office/drawing/2014/main" id="{F3CD99C8-78FD-49E7-A064-065577A6310C}"/>
              </a:ext>
            </a:extLst>
          </p:cNvPr>
          <p:cNvSpPr>
            <a:spLocks xmlns:a="http://schemas.openxmlformats.org/drawingml/2006/main" noGrp="1"/>
          </p:cNvSpPr>
          <p:nvPr/>
        </p:nvSpPr>
        <p:spPr>
          <a:xfrm xmlns:a="http://schemas.openxmlformats.org/drawingml/2006/main">
            <a:off x="8229600" y="3581400"/>
            <a:ext cx="320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i="0">
                <a:solidFill>
                  <a:srgbClr val="59616D"/>
                </a:solidFill>
                <a:latin typeface="Helvetica Neue"/>
                <a:ea typeface="Helvetica Neue"/>
                <a:cs typeface="Helvetica Neue"/>
              </a:defRPr>
            </a:pPr>
            <a:r>
              <a:rPr sz="1275" b="0" i="0">
                <a:solidFill>
                  <a:srgbClr val="59616D"/>
                </a:solidFill>
                <a:latin typeface="Helvetica Neue"/>
                <a:ea typeface="Helvetica Neue"/>
                <a:cs typeface="Helvetica Neue"/>
              </a:rPr>
              <a:t>Physics-focused combinations tested redundancy and failure modes.</a:t>
            </a:r>
          </a:p>
        </p:txBody>
      </p:sp>
      <p:sp>
        <p:nvSpPr>
          <p:cNvPr id="27" name="">
            <a:extLst xmlns:a="http://schemas.openxmlformats.org/drawingml/2006/main">
              <a:ext uri="{FF2B5EF4-FFF2-40B4-BE49-F238E27FC236}">
                <a16:creationId xmlns:a16="http://schemas.microsoft.com/office/drawing/2014/main" id="{EA531643-CBB9-40C8-B8D8-D1B292786A48}"/>
              </a:ext>
            </a:extLst>
          </p:cNvPr>
          <p:cNvSpPr>
            <a:spLocks xmlns:a="http://schemas.openxmlformats.org/drawingml/2006/main" noGrp="1"/>
          </p:cNvSpPr>
          <p:nvPr/>
        </p:nvSpPr>
        <p:spPr>
          <a:xfrm xmlns:a="http://schemas.openxmlformats.org/drawingml/2006/main">
            <a:off x="438150" y="4762500"/>
            <a:ext cx="3543300" cy="1485900"/>
          </a:xfrm>
          <a:prstGeom xmlns:a="http://schemas.openxmlformats.org/drawingml/2006/main" prst="roundRect">
            <a:avLst>
              <a:gd name="adj" fmla="val 7692"/>
            </a:avLst>
          </a:prstGeom>
          <a:solidFill xmlns:a="http://schemas.openxmlformats.org/drawingml/2006/main">
            <a:srgbClr val="E9F7F1"/>
          </a:solidFill>
          <a:ln xmlns:a="http://schemas.openxmlformats.org/drawingml/2006/main" w="9525">
            <a:solidFill>
              <a:srgbClr val="E9F7F1"/>
            </a:solidFill>
            <a:prstDash val="solid"/>
          </a:ln>
        </p:spPr>
      </p:sp>
      <p:sp>
        <p:nvSpPr>
          <p:cNvPr id="28" name="">
            <a:extLst xmlns:a="http://schemas.openxmlformats.org/drawingml/2006/main">
              <a:ext uri="{FF2B5EF4-FFF2-40B4-BE49-F238E27FC236}">
                <a16:creationId xmlns:a16="http://schemas.microsoft.com/office/drawing/2014/main" id="{970F4EE4-95E4-462F-A79D-A73D3F5B69AB}"/>
              </a:ext>
            </a:extLst>
          </p:cNvPr>
          <p:cNvSpPr>
            <a:spLocks xmlns:a="http://schemas.openxmlformats.org/drawingml/2006/main" noGrp="1"/>
          </p:cNvSpPr>
          <p:nvPr/>
        </p:nvSpPr>
        <p:spPr>
          <a:xfrm xmlns:a="http://schemas.openxmlformats.org/drawingml/2006/main">
            <a:off x="609600" y="49149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i="0">
                <a:solidFill>
                  <a:srgbClr val="16805A"/>
                </a:solidFill>
                <a:latin typeface="Helvetica Neue"/>
                <a:ea typeface="Helvetica Neue"/>
                <a:cs typeface="Helvetica Neue"/>
              </a:defRPr>
            </a:pPr>
            <a:r>
              <a:rPr sz="1800" b="1" i="0">
                <a:solidFill>
                  <a:srgbClr val="16805A"/>
                </a:solidFill>
                <a:latin typeface="Helvetica Neue"/>
                <a:ea typeface="Helvetica Neue"/>
                <a:cs typeface="Helvetica Neue"/>
              </a:rPr>
              <a:t>V7</a:t>
            </a:r>
          </a:p>
        </p:txBody>
      </p:sp>
      <p:sp>
        <p:nvSpPr>
          <p:cNvPr id="29" name="">
            <a:extLst xmlns:a="http://schemas.openxmlformats.org/drawingml/2006/main">
              <a:ext uri="{FF2B5EF4-FFF2-40B4-BE49-F238E27FC236}">
                <a16:creationId xmlns:a16="http://schemas.microsoft.com/office/drawing/2014/main" id="{E1735089-8147-4350-AC7B-8BF2864571FD}"/>
              </a:ext>
            </a:extLst>
          </p:cNvPr>
          <p:cNvSpPr>
            <a:spLocks xmlns:a="http://schemas.openxmlformats.org/drawingml/2006/main" noGrp="1"/>
          </p:cNvSpPr>
          <p:nvPr/>
        </p:nvSpPr>
        <p:spPr>
          <a:xfrm xmlns:a="http://schemas.openxmlformats.org/drawingml/2006/main">
            <a:off x="1162050" y="491490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i="0">
                <a:solidFill>
                  <a:srgbClr val="0B0F14"/>
                </a:solidFill>
                <a:latin typeface="Helvetica Neue"/>
                <a:ea typeface="Helvetica Neue"/>
                <a:cs typeface="Helvetica Neue"/>
              </a:defRPr>
            </a:pPr>
            <a:r>
              <a:rPr sz="1575" b="1" i="0">
                <a:solidFill>
                  <a:srgbClr val="0B0F14"/>
                </a:solidFill>
                <a:latin typeface="Helvetica Neue"/>
                <a:ea typeface="Helvetica Neue"/>
                <a:cs typeface="Helvetica Neue"/>
              </a:rPr>
              <a:t>Measurement Objectives</a:t>
            </a:r>
          </a:p>
        </p:txBody>
      </p:sp>
      <p:sp>
        <p:nvSpPr>
          <p:cNvPr id="30" name="">
            <a:extLst xmlns:a="http://schemas.openxmlformats.org/drawingml/2006/main">
              <a:ext uri="{FF2B5EF4-FFF2-40B4-BE49-F238E27FC236}">
                <a16:creationId xmlns:a16="http://schemas.microsoft.com/office/drawing/2014/main" id="{8B441ED9-F3FB-463B-9B08-5CBCA5945B05}"/>
              </a:ext>
            </a:extLst>
          </p:cNvPr>
          <p:cNvSpPr>
            <a:spLocks xmlns:a="http://schemas.openxmlformats.org/drawingml/2006/main" noGrp="1"/>
          </p:cNvSpPr>
          <p:nvPr/>
        </p:nvSpPr>
        <p:spPr>
          <a:xfrm xmlns:a="http://schemas.openxmlformats.org/drawingml/2006/main">
            <a:off x="609600" y="5334000"/>
            <a:ext cx="320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i="0">
                <a:solidFill>
                  <a:srgbClr val="59616D"/>
                </a:solidFill>
                <a:latin typeface="Helvetica Neue"/>
                <a:ea typeface="Helvetica Neue"/>
                <a:cs typeface="Helvetica Neue"/>
              </a:defRPr>
            </a:pPr>
            <a:r>
              <a:rPr sz="1275" b="0" i="0">
                <a:solidFill>
                  <a:srgbClr val="59616D"/>
                </a:solidFill>
                <a:latin typeface="Helvetica Neue"/>
                <a:ea typeface="Helvetica Neue"/>
                <a:cs typeface="Helvetica Neue"/>
              </a:rPr>
              <a:t>Accuracy and safety-tail objectives separated instead of hidden.</a:t>
            </a:r>
          </a:p>
        </p:txBody>
      </p:sp>
      <p:sp>
        <p:nvSpPr>
          <p:cNvPr id="31" name="">
            <a:extLst xmlns:a="http://schemas.openxmlformats.org/drawingml/2006/main">
              <a:ext uri="{FF2B5EF4-FFF2-40B4-BE49-F238E27FC236}">
                <a16:creationId xmlns:a16="http://schemas.microsoft.com/office/drawing/2014/main" id="{7FDC6AF5-EE25-420A-B6BF-E78A053D78C9}"/>
              </a:ext>
            </a:extLst>
          </p:cNvPr>
          <p:cNvSpPr>
            <a:spLocks xmlns:a="http://schemas.openxmlformats.org/drawingml/2006/main" noGrp="1"/>
          </p:cNvSpPr>
          <p:nvPr/>
        </p:nvSpPr>
        <p:spPr>
          <a:xfrm xmlns:a="http://schemas.openxmlformats.org/drawingml/2006/main">
            <a:off x="4248150" y="4762500"/>
            <a:ext cx="3543300" cy="1485900"/>
          </a:xfrm>
          <a:prstGeom xmlns:a="http://schemas.openxmlformats.org/drawingml/2006/main" prst="roundRect">
            <a:avLst>
              <a:gd name="adj" fmla="val 7692"/>
            </a:avLst>
          </a:prstGeom>
          <a:solidFill xmlns:a="http://schemas.openxmlformats.org/drawingml/2006/main">
            <a:srgbClr val="E9F7F1"/>
          </a:solidFill>
          <a:ln xmlns:a="http://schemas.openxmlformats.org/drawingml/2006/main" w="9525">
            <a:solidFill>
              <a:srgbClr val="E9F7F1"/>
            </a:solidFill>
            <a:prstDash val="solid"/>
          </a:ln>
        </p:spPr>
      </p:sp>
      <p:sp>
        <p:nvSpPr>
          <p:cNvPr id="32" name="">
            <a:extLst xmlns:a="http://schemas.openxmlformats.org/drawingml/2006/main">
              <a:ext uri="{FF2B5EF4-FFF2-40B4-BE49-F238E27FC236}">
                <a16:creationId xmlns:a16="http://schemas.microsoft.com/office/drawing/2014/main" id="{21B4E138-26CD-44E3-9F7D-3F465EF7DE97}"/>
              </a:ext>
            </a:extLst>
          </p:cNvPr>
          <p:cNvSpPr>
            <a:spLocks xmlns:a="http://schemas.openxmlformats.org/drawingml/2006/main" noGrp="1"/>
          </p:cNvSpPr>
          <p:nvPr/>
        </p:nvSpPr>
        <p:spPr>
          <a:xfrm xmlns:a="http://schemas.openxmlformats.org/drawingml/2006/main">
            <a:off x="4419600" y="49149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i="0">
                <a:solidFill>
                  <a:srgbClr val="16805A"/>
                </a:solidFill>
                <a:latin typeface="Helvetica Neue"/>
                <a:ea typeface="Helvetica Neue"/>
                <a:cs typeface="Helvetica Neue"/>
              </a:defRPr>
            </a:pPr>
            <a:r>
              <a:rPr sz="1800" b="1" i="0">
                <a:solidFill>
                  <a:srgbClr val="16805A"/>
                </a:solidFill>
                <a:latin typeface="Helvetica Neue"/>
                <a:ea typeface="Helvetica Neue"/>
                <a:cs typeface="Helvetica Neue"/>
              </a:rPr>
              <a:t>V8</a:t>
            </a:r>
          </a:p>
        </p:txBody>
      </p:sp>
      <p:sp>
        <p:nvSpPr>
          <p:cNvPr id="33" name="">
            <a:extLst xmlns:a="http://schemas.openxmlformats.org/drawingml/2006/main">
              <a:ext uri="{FF2B5EF4-FFF2-40B4-BE49-F238E27FC236}">
                <a16:creationId xmlns:a16="http://schemas.microsoft.com/office/drawing/2014/main" id="{750DA158-F93E-4815-94A3-C41E5436799E}"/>
              </a:ext>
            </a:extLst>
          </p:cNvPr>
          <p:cNvSpPr>
            <a:spLocks xmlns:a="http://schemas.openxmlformats.org/drawingml/2006/main" noGrp="1"/>
          </p:cNvSpPr>
          <p:nvPr/>
        </p:nvSpPr>
        <p:spPr>
          <a:xfrm xmlns:a="http://schemas.openxmlformats.org/drawingml/2006/main">
            <a:off x="4972050" y="491490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i="0">
                <a:solidFill>
                  <a:srgbClr val="0B0F14"/>
                </a:solidFill>
                <a:latin typeface="Helvetica Neue"/>
                <a:ea typeface="Helvetica Neue"/>
                <a:cs typeface="Helvetica Neue"/>
              </a:defRPr>
            </a:pPr>
            <a:r>
              <a:rPr sz="1575" b="1" i="0">
                <a:solidFill>
                  <a:srgbClr val="0B0F14"/>
                </a:solidFill>
                <a:latin typeface="Helvetica Neue"/>
                <a:ea typeface="Helvetica Neue"/>
                <a:cs typeface="Helvetica Neue"/>
              </a:rPr>
              <a:t>Feature Lattice</a:t>
            </a:r>
          </a:p>
        </p:txBody>
      </p:sp>
      <p:sp>
        <p:nvSpPr>
          <p:cNvPr id="34" name="">
            <a:extLst xmlns:a="http://schemas.openxmlformats.org/drawingml/2006/main">
              <a:ext uri="{FF2B5EF4-FFF2-40B4-BE49-F238E27FC236}">
                <a16:creationId xmlns:a16="http://schemas.microsoft.com/office/drawing/2014/main" id="{8152B748-9C24-471E-B912-F578D5557291}"/>
              </a:ext>
            </a:extLst>
          </p:cNvPr>
          <p:cNvSpPr>
            <a:spLocks xmlns:a="http://schemas.openxmlformats.org/drawingml/2006/main" noGrp="1"/>
          </p:cNvSpPr>
          <p:nvPr/>
        </p:nvSpPr>
        <p:spPr>
          <a:xfrm xmlns:a="http://schemas.openxmlformats.org/drawingml/2006/main">
            <a:off x="4419600" y="5334000"/>
            <a:ext cx="320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i="0">
                <a:solidFill>
                  <a:srgbClr val="59616D"/>
                </a:solidFill>
                <a:latin typeface="Helvetica Neue"/>
                <a:ea typeface="Helvetica Neue"/>
                <a:cs typeface="Helvetica Neue"/>
              </a:defRPr>
            </a:pPr>
            <a:r>
              <a:rPr sz="1275" b="0" i="0">
                <a:solidFill>
                  <a:srgbClr val="59616D"/>
                </a:solidFill>
                <a:latin typeface="Helvetica Neue"/>
                <a:ea typeface="Helvetica Neue"/>
                <a:cs typeface="Helvetica Neue"/>
              </a:rPr>
              <a:t>2,048 coalitions mapped what works, what fails, and for whom.</a:t>
            </a:r>
          </a:p>
        </p:txBody>
      </p:sp>
      <p:sp>
        <p:nvSpPr>
          <p:cNvPr id="35" name="">
            <a:extLst xmlns:a="http://schemas.openxmlformats.org/drawingml/2006/main">
              <a:ext uri="{FF2B5EF4-FFF2-40B4-BE49-F238E27FC236}">
                <a16:creationId xmlns:a16="http://schemas.microsoft.com/office/drawing/2014/main" id="{D3DEE637-A9E6-4FEA-B5D1-ECAF42F45ECE}"/>
              </a:ext>
            </a:extLst>
          </p:cNvPr>
          <p:cNvSpPr>
            <a:spLocks xmlns:a="http://schemas.openxmlformats.org/drawingml/2006/main" noGrp="1"/>
          </p:cNvSpPr>
          <p:nvPr/>
        </p:nvSpPr>
        <p:spPr>
          <a:xfrm xmlns:a="http://schemas.openxmlformats.org/drawingml/2006/main">
            <a:off x="8058150" y="4762500"/>
            <a:ext cx="3543300" cy="1485900"/>
          </a:xfrm>
          <a:prstGeom xmlns:a="http://schemas.openxmlformats.org/drawingml/2006/main" prst="roundRect">
            <a:avLst>
              <a:gd name="adj" fmla="val 7692"/>
            </a:avLst>
          </a:prstGeom>
          <a:solidFill xmlns:a="http://schemas.openxmlformats.org/drawingml/2006/main">
            <a:srgbClr val="E9F7F1"/>
          </a:solidFill>
          <a:ln xmlns:a="http://schemas.openxmlformats.org/drawingml/2006/main" w="9525">
            <a:solidFill>
              <a:srgbClr val="E9F7F1"/>
            </a:solidFill>
            <a:prstDash val="solid"/>
          </a:ln>
        </p:spPr>
      </p:sp>
      <p:sp>
        <p:nvSpPr>
          <p:cNvPr id="36" name="">
            <a:extLst xmlns:a="http://schemas.openxmlformats.org/drawingml/2006/main">
              <a:ext uri="{FF2B5EF4-FFF2-40B4-BE49-F238E27FC236}">
                <a16:creationId xmlns:a16="http://schemas.microsoft.com/office/drawing/2014/main" id="{A88AA334-4815-490A-B86F-C0878F78AB91}"/>
              </a:ext>
            </a:extLst>
          </p:cNvPr>
          <p:cNvSpPr>
            <a:spLocks xmlns:a="http://schemas.openxmlformats.org/drawingml/2006/main" noGrp="1"/>
          </p:cNvSpPr>
          <p:nvPr/>
        </p:nvSpPr>
        <p:spPr>
          <a:xfrm xmlns:a="http://schemas.openxmlformats.org/drawingml/2006/main">
            <a:off x="8229600" y="49149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i="0">
                <a:solidFill>
                  <a:srgbClr val="16805A"/>
                </a:solidFill>
                <a:latin typeface="Helvetica Neue"/>
                <a:ea typeface="Helvetica Neue"/>
                <a:cs typeface="Helvetica Neue"/>
              </a:defRPr>
            </a:pPr>
            <a:r>
              <a:rPr sz="1800" b="1" i="0">
                <a:solidFill>
                  <a:srgbClr val="16805A"/>
                </a:solidFill>
                <a:latin typeface="Helvetica Neue"/>
                <a:ea typeface="Helvetica Neue"/>
                <a:cs typeface="Helvetica Neue"/>
              </a:rPr>
              <a:t>V9</a:t>
            </a:r>
          </a:p>
        </p:txBody>
      </p:sp>
      <p:sp>
        <p:nvSpPr>
          <p:cNvPr id="37" name="">
            <a:extLst xmlns:a="http://schemas.openxmlformats.org/drawingml/2006/main">
              <a:ext uri="{FF2B5EF4-FFF2-40B4-BE49-F238E27FC236}">
                <a16:creationId xmlns:a16="http://schemas.microsoft.com/office/drawing/2014/main" id="{02CD9F9A-08E3-40AE-A6CF-033490967524}"/>
              </a:ext>
            </a:extLst>
          </p:cNvPr>
          <p:cNvSpPr>
            <a:spLocks xmlns:a="http://schemas.openxmlformats.org/drawingml/2006/main" noGrp="1"/>
          </p:cNvSpPr>
          <p:nvPr/>
        </p:nvSpPr>
        <p:spPr>
          <a:xfrm xmlns:a="http://schemas.openxmlformats.org/drawingml/2006/main">
            <a:off x="8782050" y="491490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i="0">
                <a:solidFill>
                  <a:srgbClr val="0B0F14"/>
                </a:solidFill>
                <a:latin typeface="Helvetica Neue"/>
                <a:ea typeface="Helvetica Neue"/>
                <a:cs typeface="Helvetica Neue"/>
              </a:defRPr>
            </a:pPr>
            <a:r>
              <a:rPr sz="1575" b="1" i="0">
                <a:solidFill>
                  <a:srgbClr val="0B0F14"/>
                </a:solidFill>
                <a:latin typeface="Helvetica Neue"/>
                <a:ea typeface="Helvetica Neue"/>
                <a:cs typeface="Helvetica Neue"/>
              </a:rPr>
              <a:t>Domain Mixture</a:t>
            </a:r>
          </a:p>
        </p:txBody>
      </p:sp>
      <p:sp>
        <p:nvSpPr>
          <p:cNvPr id="38" name="">
            <a:extLst xmlns:a="http://schemas.openxmlformats.org/drawingml/2006/main">
              <a:ext uri="{FF2B5EF4-FFF2-40B4-BE49-F238E27FC236}">
                <a16:creationId xmlns:a16="http://schemas.microsoft.com/office/drawing/2014/main" id="{5226FF92-C779-4B51-859E-05FDF82CE72F}"/>
              </a:ext>
            </a:extLst>
          </p:cNvPr>
          <p:cNvSpPr>
            <a:spLocks xmlns:a="http://schemas.openxmlformats.org/drawingml/2006/main" noGrp="1"/>
          </p:cNvSpPr>
          <p:nvPr/>
        </p:nvSpPr>
        <p:spPr>
          <a:xfrm xmlns:a="http://schemas.openxmlformats.org/drawingml/2006/main">
            <a:off x="8229600" y="5334000"/>
            <a:ext cx="320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i="0">
                <a:solidFill>
                  <a:srgbClr val="59616D"/>
                </a:solidFill>
                <a:latin typeface="Helvetica Neue"/>
                <a:ea typeface="Helvetica Neue"/>
                <a:cs typeface="Helvetica Neue"/>
              </a:defRPr>
            </a:pPr>
            <a:r>
              <a:rPr sz="1275" b="0" i="0">
                <a:solidFill>
                  <a:srgbClr val="59616D"/>
                </a:solidFill>
                <a:latin typeface="Helvetica Neue"/>
                <a:ea typeface="Helvetica Neue"/>
                <a:cs typeface="Helvetica Neue"/>
              </a:rPr>
              <a:t>Specialists, local analogs, and applicability context reached 0.4328 MAE.</a:t>
            </a:r>
          </a:p>
        </p:txBody>
      </p:sp>
    </p:spTree>
    <p:extLst>
      <p:ext uri="{BB962C8B-B14F-4D97-AF65-F5344CB8AC3E}">
        <p14:creationId xmlns:p14="http://schemas.microsoft.com/office/powerpoint/2010/main" val="130563349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55CE763-8F88-4F75-8865-5FE1B3A065D9}"/>
              </a:ext>
            </a:extLst>
          </p:cNvPr>
          <p:cNvSpPr>
            <a:spLocks xmlns:a="http://schemas.openxmlformats.org/drawingml/2006/main" noGrp="1"/>
          </p:cNvSpPr>
          <p:nvPr/>
        </p:nvSpPr>
        <p:spPr>
          <a:xfrm xmlns:a="http://schemas.openxmlformats.org/drawingml/2006/main">
            <a:off x="438150" y="323850"/>
            <a:ext cx="113157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25" b="1" i="0">
                <a:solidFill>
                  <a:srgbClr val="0B0F14"/>
                </a:solidFill>
                <a:latin typeface="Helvetica Neue"/>
                <a:ea typeface="Helvetica Neue"/>
                <a:cs typeface="Helvetica Neue"/>
              </a:defRPr>
            </a:pPr>
            <a:r>
              <a:rPr sz="2925" b="1" i="0">
                <a:solidFill>
                  <a:srgbClr val="0B0F14"/>
                </a:solidFill>
                <a:latin typeface="Helvetica Neue"/>
                <a:ea typeface="Helvetica Neue"/>
                <a:cs typeface="Helvetica Neue"/>
              </a:rPr>
              <a:t>Best Honest Internal Performance</a:t>
            </a:r>
          </a:p>
        </p:txBody>
      </p:sp>
      <p:cxnSp>
        <p:nvCxnSpPr>
          <p:cNvPr id="20" name=""/>
          <p:cNvCxnSpPr/>
          <p:nvPr/>
        </p:nvCxnSpPr>
        <p:spPr>
          <a:xfrm xmlns:a="http://schemas.openxmlformats.org/drawingml/2006/main">
            <a:off x="438150" y="1028700"/>
            <a:ext cx="11315700" cy="0"/>
          </a:xfrm>
          <a:prstGeom xmlns:a="http://schemas.openxmlformats.org/drawingml/2006/main" prst="straightConnector1">
            <a:avLst/>
          </a:prstGeom>
          <a:ln xmlns:a="http://schemas.openxmlformats.org/drawingml/2006/main" w="9525">
            <a:solidFill>
              <a:srgbClr val="D6DAE0"/>
            </a:solidFill>
            <a:prstDash val="solid"/>
          </a:ln>
        </p:spPr>
      </p:cxn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3684c2a7bab94529"/>
          <a:stretch xmlns:a="http://schemas.openxmlformats.org/drawingml/2006/main"/>
        </p:blipFill>
        <p:spPr>
          <a:xfrm xmlns:a="http://schemas.openxmlformats.org/drawingml/2006/main">
            <a:off x="438150" y="1716321"/>
            <a:ext cx="6705600" cy="3996858"/>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A121D47-F35F-4E55-92C0-1DDF946FA52C}"/>
              </a:ext>
            </a:extLst>
          </p:cNvPr>
          <p:cNvSpPr>
            <a:spLocks xmlns:a="http://schemas.openxmlformats.org/drawingml/2006/main" noGrp="1"/>
          </p:cNvSpPr>
          <p:nvPr/>
        </p:nvSpPr>
        <p:spPr>
          <a:xfrm xmlns:a="http://schemas.openxmlformats.org/drawingml/2006/main">
            <a:off x="7467600" y="1295400"/>
            <a:ext cx="2038350" cy="1409700"/>
          </a:xfrm>
          <a:prstGeom xmlns:a="http://schemas.openxmlformats.org/drawingml/2006/main" prst="roundRect">
            <a:avLst>
              <a:gd name="adj" fmla="val 8108"/>
            </a:avLst>
          </a:prstGeom>
          <a:solidFill xmlns:a="http://schemas.openxmlformats.org/drawingml/2006/main">
            <a:srgbClr val="EAF2FF"/>
          </a:solidFill>
          <a:ln xmlns:a="http://schemas.openxmlformats.org/drawingml/2006/main" w="9525">
            <a:solidFill>
              <a:srgbClr val="EAF2FF"/>
            </a:solidFill>
            <a:prstDash val="solid"/>
          </a:ln>
        </p:spPr>
      </p:sp>
      <p:sp>
        <p:nvSpPr>
          <p:cNvPr id="5" name="">
            <a:extLst xmlns:a="http://schemas.openxmlformats.org/drawingml/2006/main">
              <a:ext uri="{FF2B5EF4-FFF2-40B4-BE49-F238E27FC236}">
                <a16:creationId xmlns:a16="http://schemas.microsoft.com/office/drawing/2014/main" id="{1EB422F1-FA34-4B7E-9590-098B25B953DD}"/>
              </a:ext>
            </a:extLst>
          </p:cNvPr>
          <p:cNvSpPr>
            <a:spLocks xmlns:a="http://schemas.openxmlformats.org/drawingml/2006/main" noGrp="1"/>
          </p:cNvSpPr>
          <p:nvPr/>
        </p:nvSpPr>
        <p:spPr>
          <a:xfrm xmlns:a="http://schemas.openxmlformats.org/drawingml/2006/main">
            <a:off x="7658100" y="1466850"/>
            <a:ext cx="1657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375" b="1" i="0">
                <a:solidFill>
                  <a:srgbClr val="1E63D5"/>
                </a:solidFill>
                <a:latin typeface="Helvetica Neue"/>
                <a:ea typeface="Helvetica Neue"/>
                <a:cs typeface="Helvetica Neue"/>
              </a:defRPr>
            </a:pPr>
            <a:r>
              <a:rPr sz="3375" b="1" i="0">
                <a:solidFill>
                  <a:srgbClr val="1E63D5"/>
                </a:solidFill>
                <a:latin typeface="Helvetica Neue"/>
                <a:ea typeface="Helvetica Neue"/>
                <a:cs typeface="Helvetica Neue"/>
              </a:rPr>
              <a:t>0.4328</a:t>
            </a:r>
          </a:p>
        </p:txBody>
      </p:sp>
      <p:sp>
        <p:nvSpPr>
          <p:cNvPr id="6" name="">
            <a:extLst xmlns:a="http://schemas.openxmlformats.org/drawingml/2006/main">
              <a:ext uri="{FF2B5EF4-FFF2-40B4-BE49-F238E27FC236}">
                <a16:creationId xmlns:a16="http://schemas.microsoft.com/office/drawing/2014/main" id="{22C42102-A0AC-4499-9E89-D9FC2140D219}"/>
              </a:ext>
            </a:extLst>
          </p:cNvPr>
          <p:cNvSpPr>
            <a:spLocks xmlns:a="http://schemas.openxmlformats.org/drawingml/2006/main" noGrp="1"/>
          </p:cNvSpPr>
          <p:nvPr/>
        </p:nvSpPr>
        <p:spPr>
          <a:xfrm xmlns:a="http://schemas.openxmlformats.org/drawingml/2006/main">
            <a:off x="7658100" y="2076450"/>
            <a:ext cx="1657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i="0">
                <a:solidFill>
                  <a:srgbClr val="0B0F14"/>
                </a:solidFill>
                <a:latin typeface="Helvetica Neue"/>
                <a:ea typeface="Helvetica Neue"/>
                <a:cs typeface="Helvetica Neue"/>
              </a:defRPr>
            </a:pPr>
            <a:r>
              <a:rPr sz="1500" b="1" i="0">
                <a:solidFill>
                  <a:srgbClr val="0B0F14"/>
                </a:solidFill>
                <a:latin typeface="Helvetica Neue"/>
                <a:ea typeface="Helvetica Neue"/>
                <a:cs typeface="Helvetica Neue"/>
              </a:rPr>
              <a:t>Nested Stack MAE</a:t>
            </a:r>
          </a:p>
        </p:txBody>
      </p:sp>
      <p:sp>
        <p:nvSpPr>
          <p:cNvPr id="7" name="">
            <a:extLst xmlns:a="http://schemas.openxmlformats.org/drawingml/2006/main">
              <a:ext uri="{FF2B5EF4-FFF2-40B4-BE49-F238E27FC236}">
                <a16:creationId xmlns:a16="http://schemas.microsoft.com/office/drawing/2014/main" id="{D20CC011-ACFF-455E-9E0F-A7E96CAFA362}"/>
              </a:ext>
            </a:extLst>
          </p:cNvPr>
          <p:cNvSpPr>
            <a:spLocks xmlns:a="http://schemas.openxmlformats.org/drawingml/2006/main" noGrp="1"/>
          </p:cNvSpPr>
          <p:nvPr/>
        </p:nvSpPr>
        <p:spPr>
          <a:xfrm xmlns:a="http://schemas.openxmlformats.org/drawingml/2006/main">
            <a:off x="9696450" y="1295400"/>
            <a:ext cx="2038350" cy="1409700"/>
          </a:xfrm>
          <a:prstGeom xmlns:a="http://schemas.openxmlformats.org/drawingml/2006/main" prst="roundRect">
            <a:avLst>
              <a:gd name="adj" fmla="val 8108"/>
            </a:avLst>
          </a:prstGeom>
          <a:solidFill xmlns:a="http://schemas.openxmlformats.org/drawingml/2006/main">
            <a:srgbClr val="E9F7F1"/>
          </a:solidFill>
          <a:ln xmlns:a="http://schemas.openxmlformats.org/drawingml/2006/main" w="9525">
            <a:solidFill>
              <a:srgbClr val="E9F7F1"/>
            </a:solidFill>
            <a:prstDash val="solid"/>
          </a:ln>
        </p:spPr>
      </p:sp>
      <p:sp>
        <p:nvSpPr>
          <p:cNvPr id="8" name="">
            <a:extLst xmlns:a="http://schemas.openxmlformats.org/drawingml/2006/main">
              <a:ext uri="{FF2B5EF4-FFF2-40B4-BE49-F238E27FC236}">
                <a16:creationId xmlns:a16="http://schemas.microsoft.com/office/drawing/2014/main" id="{106F9A90-C91B-4A7D-AA18-8E931B602F10}"/>
              </a:ext>
            </a:extLst>
          </p:cNvPr>
          <p:cNvSpPr>
            <a:spLocks xmlns:a="http://schemas.openxmlformats.org/drawingml/2006/main" noGrp="1"/>
          </p:cNvSpPr>
          <p:nvPr/>
        </p:nvSpPr>
        <p:spPr>
          <a:xfrm xmlns:a="http://schemas.openxmlformats.org/drawingml/2006/main">
            <a:off x="9886950" y="1466850"/>
            <a:ext cx="1657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375" b="1" i="0">
                <a:solidFill>
                  <a:srgbClr val="16805A"/>
                </a:solidFill>
                <a:latin typeface="Helvetica Neue"/>
                <a:ea typeface="Helvetica Neue"/>
                <a:cs typeface="Helvetica Neue"/>
              </a:defRPr>
            </a:pPr>
            <a:r>
              <a:rPr sz="3375" b="1" i="0">
                <a:solidFill>
                  <a:srgbClr val="16805A"/>
                </a:solidFill>
                <a:latin typeface="Helvetica Neue"/>
                <a:ea typeface="Helvetica Neue"/>
                <a:cs typeface="Helvetica Neue"/>
              </a:rPr>
              <a:t>91.8%</a:t>
            </a:r>
          </a:p>
        </p:txBody>
      </p:sp>
      <p:sp>
        <p:nvSpPr>
          <p:cNvPr id="9" name="">
            <a:extLst xmlns:a="http://schemas.openxmlformats.org/drawingml/2006/main">
              <a:ext uri="{FF2B5EF4-FFF2-40B4-BE49-F238E27FC236}">
                <a16:creationId xmlns:a16="http://schemas.microsoft.com/office/drawing/2014/main" id="{40DF5019-7B0C-4415-A3AD-B9C59A0CA0E6}"/>
              </a:ext>
            </a:extLst>
          </p:cNvPr>
          <p:cNvSpPr>
            <a:spLocks xmlns:a="http://schemas.openxmlformats.org/drawingml/2006/main" noGrp="1"/>
          </p:cNvSpPr>
          <p:nvPr/>
        </p:nvSpPr>
        <p:spPr>
          <a:xfrm xmlns:a="http://schemas.openxmlformats.org/drawingml/2006/main">
            <a:off x="9886950" y="2076450"/>
            <a:ext cx="1657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i="0">
                <a:solidFill>
                  <a:srgbClr val="0B0F14"/>
                </a:solidFill>
                <a:latin typeface="Helvetica Neue"/>
                <a:ea typeface="Helvetica Neue"/>
                <a:cs typeface="Helvetica Neue"/>
              </a:defRPr>
            </a:pPr>
            <a:r>
              <a:rPr sz="1500" b="1" i="0">
                <a:solidFill>
                  <a:srgbClr val="0B0F14"/>
                </a:solidFill>
                <a:latin typeface="Helvetica Neue"/>
                <a:ea typeface="Helvetica Neue"/>
                <a:cs typeface="Helvetica Neue"/>
              </a:rPr>
              <a:t>Within 1.0 Log</a:t>
            </a:r>
          </a:p>
        </p:txBody>
      </p:sp>
      <p:sp>
        <p:nvSpPr>
          <p:cNvPr id="10" name="">
            <a:extLst xmlns:a="http://schemas.openxmlformats.org/drawingml/2006/main">
              <a:ext uri="{FF2B5EF4-FFF2-40B4-BE49-F238E27FC236}">
                <a16:creationId xmlns:a16="http://schemas.microsoft.com/office/drawing/2014/main" id="{9E895D05-CE47-4288-B733-63E3AE9CF8CB}"/>
              </a:ext>
            </a:extLst>
          </p:cNvPr>
          <p:cNvSpPr>
            <a:spLocks xmlns:a="http://schemas.openxmlformats.org/drawingml/2006/main" noGrp="1"/>
          </p:cNvSpPr>
          <p:nvPr/>
        </p:nvSpPr>
        <p:spPr>
          <a:xfrm xmlns:a="http://schemas.openxmlformats.org/drawingml/2006/main">
            <a:off x="7467600" y="2914650"/>
            <a:ext cx="2038350" cy="1409700"/>
          </a:xfrm>
          <a:prstGeom xmlns:a="http://schemas.openxmlformats.org/drawingml/2006/main" prst="roundRect">
            <a:avLst>
              <a:gd name="adj" fmla="val 8108"/>
            </a:avLst>
          </a:prstGeom>
          <a:solidFill xmlns:a="http://schemas.openxmlformats.org/drawingml/2006/main">
            <a:srgbClr val="FFF2E8"/>
          </a:solidFill>
          <a:ln xmlns:a="http://schemas.openxmlformats.org/drawingml/2006/main" w="9525">
            <a:solidFill>
              <a:srgbClr val="FFF2E8"/>
            </a:solidFill>
            <a:prstDash val="solid"/>
          </a:ln>
        </p:spPr>
      </p:sp>
      <p:sp>
        <p:nvSpPr>
          <p:cNvPr id="11" name="">
            <a:extLst xmlns:a="http://schemas.openxmlformats.org/drawingml/2006/main">
              <a:ext uri="{FF2B5EF4-FFF2-40B4-BE49-F238E27FC236}">
                <a16:creationId xmlns:a16="http://schemas.microsoft.com/office/drawing/2014/main" id="{92C3C1AD-7A5E-4697-8447-4E36558AAF45}"/>
              </a:ext>
            </a:extLst>
          </p:cNvPr>
          <p:cNvSpPr>
            <a:spLocks xmlns:a="http://schemas.openxmlformats.org/drawingml/2006/main" noGrp="1"/>
          </p:cNvSpPr>
          <p:nvPr/>
        </p:nvSpPr>
        <p:spPr>
          <a:xfrm xmlns:a="http://schemas.openxmlformats.org/drawingml/2006/main">
            <a:off x="7658100" y="3086100"/>
            <a:ext cx="1657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375" b="1" i="0">
                <a:solidFill>
                  <a:srgbClr val="C96A18"/>
                </a:solidFill>
                <a:latin typeface="Helvetica Neue"/>
                <a:ea typeface="Helvetica Neue"/>
                <a:cs typeface="Helvetica Neue"/>
              </a:defRPr>
            </a:pPr>
            <a:r>
              <a:rPr sz="3375" b="1" i="0">
                <a:solidFill>
                  <a:srgbClr val="C96A18"/>
                </a:solidFill>
                <a:latin typeface="Helvetica Neue"/>
                <a:ea typeface="Helvetica Neue"/>
                <a:cs typeface="Helvetica Neue"/>
              </a:rPr>
              <a:t>69.8%</a:t>
            </a:r>
          </a:p>
        </p:txBody>
      </p:sp>
      <p:sp>
        <p:nvSpPr>
          <p:cNvPr id="12" name="">
            <a:extLst xmlns:a="http://schemas.openxmlformats.org/drawingml/2006/main">
              <a:ext uri="{FF2B5EF4-FFF2-40B4-BE49-F238E27FC236}">
                <a16:creationId xmlns:a16="http://schemas.microsoft.com/office/drawing/2014/main" id="{646E5BEF-977F-41B4-A6E5-694030813C4C}"/>
              </a:ext>
            </a:extLst>
          </p:cNvPr>
          <p:cNvSpPr>
            <a:spLocks xmlns:a="http://schemas.openxmlformats.org/drawingml/2006/main" noGrp="1"/>
          </p:cNvSpPr>
          <p:nvPr/>
        </p:nvSpPr>
        <p:spPr>
          <a:xfrm xmlns:a="http://schemas.openxmlformats.org/drawingml/2006/main">
            <a:off x="7658100" y="3695700"/>
            <a:ext cx="1657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i="0">
                <a:solidFill>
                  <a:srgbClr val="0B0F14"/>
                </a:solidFill>
                <a:latin typeface="Helvetica Neue"/>
                <a:ea typeface="Helvetica Neue"/>
                <a:cs typeface="Helvetica Neue"/>
              </a:defRPr>
            </a:pPr>
            <a:r>
              <a:rPr sz="1500" b="1" i="0">
                <a:solidFill>
                  <a:srgbClr val="0B0F14"/>
                </a:solidFill>
                <a:latin typeface="Helvetica Neue"/>
                <a:ea typeface="Helvetica Neue"/>
                <a:cs typeface="Helvetica Neue"/>
              </a:rPr>
              <a:t>Within 0.5 Log</a:t>
            </a:r>
          </a:p>
        </p:txBody>
      </p:sp>
      <p:sp>
        <p:nvSpPr>
          <p:cNvPr id="13" name="">
            <a:extLst xmlns:a="http://schemas.openxmlformats.org/drawingml/2006/main">
              <a:ext uri="{FF2B5EF4-FFF2-40B4-BE49-F238E27FC236}">
                <a16:creationId xmlns:a16="http://schemas.microsoft.com/office/drawing/2014/main" id="{F5DA9508-9C59-420E-9EA2-0589583FE6FB}"/>
              </a:ext>
            </a:extLst>
          </p:cNvPr>
          <p:cNvSpPr>
            <a:spLocks xmlns:a="http://schemas.openxmlformats.org/drawingml/2006/main" noGrp="1"/>
          </p:cNvSpPr>
          <p:nvPr/>
        </p:nvSpPr>
        <p:spPr>
          <a:xfrm xmlns:a="http://schemas.openxmlformats.org/drawingml/2006/main">
            <a:off x="9696450" y="2914650"/>
            <a:ext cx="2038350" cy="1409700"/>
          </a:xfrm>
          <a:prstGeom xmlns:a="http://schemas.openxmlformats.org/drawingml/2006/main" prst="roundRect">
            <a:avLst>
              <a:gd name="adj" fmla="val 8108"/>
            </a:avLst>
          </a:prstGeom>
          <a:solidFill xmlns:a="http://schemas.openxmlformats.org/drawingml/2006/main">
            <a:srgbClr val="F1EDFF"/>
          </a:solidFill>
          <a:ln xmlns:a="http://schemas.openxmlformats.org/drawingml/2006/main" w="9525">
            <a:solidFill>
              <a:srgbClr val="F1EDFF"/>
            </a:solidFill>
            <a:prstDash val="solid"/>
          </a:ln>
        </p:spPr>
      </p:sp>
      <p:sp>
        <p:nvSpPr>
          <p:cNvPr id="14" name="">
            <a:extLst xmlns:a="http://schemas.openxmlformats.org/drawingml/2006/main">
              <a:ext uri="{FF2B5EF4-FFF2-40B4-BE49-F238E27FC236}">
                <a16:creationId xmlns:a16="http://schemas.microsoft.com/office/drawing/2014/main" id="{70AD3AEE-BD36-4CF6-AC1D-B9D16357D2B5}"/>
              </a:ext>
            </a:extLst>
          </p:cNvPr>
          <p:cNvSpPr>
            <a:spLocks xmlns:a="http://schemas.openxmlformats.org/drawingml/2006/main" noGrp="1"/>
          </p:cNvSpPr>
          <p:nvPr/>
        </p:nvSpPr>
        <p:spPr>
          <a:xfrm xmlns:a="http://schemas.openxmlformats.org/drawingml/2006/main">
            <a:off x="9886950" y="3086100"/>
            <a:ext cx="1657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375" b="1" i="0">
                <a:solidFill>
                  <a:srgbClr val="7057C7"/>
                </a:solidFill>
                <a:latin typeface="Helvetica Neue"/>
                <a:ea typeface="Helvetica Neue"/>
                <a:cs typeface="Helvetica Neue"/>
              </a:defRPr>
            </a:pPr>
            <a:r>
              <a:rPr sz="3375" b="1" i="0">
                <a:solidFill>
                  <a:srgbClr val="7057C7"/>
                </a:solidFill>
                <a:latin typeface="Helvetica Neue"/>
                <a:ea typeface="Helvetica Neue"/>
                <a:cs typeface="Helvetica Neue"/>
              </a:rPr>
              <a:t>0.4370</a:t>
            </a:r>
          </a:p>
        </p:txBody>
      </p:sp>
      <p:sp>
        <p:nvSpPr>
          <p:cNvPr id="15" name="">
            <a:extLst xmlns:a="http://schemas.openxmlformats.org/drawingml/2006/main">
              <a:ext uri="{FF2B5EF4-FFF2-40B4-BE49-F238E27FC236}">
                <a16:creationId xmlns:a16="http://schemas.microsoft.com/office/drawing/2014/main" id="{F1363986-36E1-403A-B6EF-014A6AA31939}"/>
              </a:ext>
            </a:extLst>
          </p:cNvPr>
          <p:cNvSpPr>
            <a:spLocks xmlns:a="http://schemas.openxmlformats.org/drawingml/2006/main" noGrp="1"/>
          </p:cNvSpPr>
          <p:nvPr/>
        </p:nvSpPr>
        <p:spPr>
          <a:xfrm xmlns:a="http://schemas.openxmlformats.org/drawingml/2006/main">
            <a:off x="9886950" y="3695700"/>
            <a:ext cx="1657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i="0">
                <a:solidFill>
                  <a:srgbClr val="0B0F14"/>
                </a:solidFill>
                <a:latin typeface="Helvetica Neue"/>
                <a:ea typeface="Helvetica Neue"/>
                <a:cs typeface="Helvetica Neue"/>
              </a:defRPr>
            </a:pPr>
            <a:r>
              <a:rPr sz="1500" b="1" i="0">
                <a:solidFill>
                  <a:srgbClr val="0B0F14"/>
                </a:solidFill>
                <a:latin typeface="Helvetica Neue"/>
                <a:ea typeface="Helvetica Neue"/>
                <a:cs typeface="Helvetica Neue"/>
              </a:rPr>
              <a:t>Deployable XGBoost MAE</a:t>
            </a:r>
          </a:p>
        </p:txBody>
      </p:sp>
      <p:sp>
        <p:nvSpPr>
          <p:cNvPr id="16" name="">
            <a:extLst xmlns:a="http://schemas.openxmlformats.org/drawingml/2006/main">
              <a:ext uri="{FF2B5EF4-FFF2-40B4-BE49-F238E27FC236}">
                <a16:creationId xmlns:a16="http://schemas.microsoft.com/office/drawing/2014/main" id="{00B1DF43-66C2-44A1-B1EC-E8874F1D70DD}"/>
              </a:ext>
            </a:extLst>
          </p:cNvPr>
          <p:cNvSpPr>
            <a:spLocks xmlns:a="http://schemas.openxmlformats.org/drawingml/2006/main" noGrp="1"/>
          </p:cNvSpPr>
          <p:nvPr/>
        </p:nvSpPr>
        <p:spPr>
          <a:xfrm xmlns:a="http://schemas.openxmlformats.org/drawingml/2006/main">
            <a:off x="7467600" y="4610100"/>
            <a:ext cx="4267200" cy="1238250"/>
          </a:xfrm>
          <a:prstGeom xmlns:a="http://schemas.openxmlformats.org/drawingml/2006/main" prst="roundRect">
            <a:avLst>
              <a:gd name="adj" fmla="val 9231"/>
            </a:avLst>
          </a:prstGeom>
          <a:solidFill xmlns:a="http://schemas.openxmlformats.org/drawingml/2006/main">
            <a:srgbClr val="F2F4F7"/>
          </a:solidFill>
          <a:ln xmlns:a="http://schemas.openxmlformats.org/drawingml/2006/main" w="9525">
            <a:solidFill>
              <a:srgbClr val="D6DAE0"/>
            </a:solidFill>
            <a:prstDash val="solid"/>
          </a:ln>
        </p:spPr>
      </p:sp>
      <p:sp>
        <p:nvSpPr>
          <p:cNvPr id="17" name="">
            <a:extLst xmlns:a="http://schemas.openxmlformats.org/drawingml/2006/main">
              <a:ext uri="{FF2B5EF4-FFF2-40B4-BE49-F238E27FC236}">
                <a16:creationId xmlns:a16="http://schemas.microsoft.com/office/drawing/2014/main" id="{EB99D454-5B9D-4C28-884F-F8D6012B5B73}"/>
              </a:ext>
            </a:extLst>
          </p:cNvPr>
          <p:cNvSpPr>
            <a:spLocks xmlns:a="http://schemas.openxmlformats.org/drawingml/2006/main" noGrp="1"/>
          </p:cNvSpPr>
          <p:nvPr/>
        </p:nvSpPr>
        <p:spPr>
          <a:xfrm xmlns:a="http://schemas.openxmlformats.org/drawingml/2006/main">
            <a:off x="7677150" y="4800600"/>
            <a:ext cx="3848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75" b="1" i="0">
                <a:solidFill>
                  <a:srgbClr val="1E63D5"/>
                </a:solidFill>
                <a:latin typeface="Helvetica Neue"/>
                <a:ea typeface="Helvetica Neue"/>
                <a:cs typeface="Helvetica Neue"/>
              </a:defRPr>
            </a:pPr>
            <a:r>
              <a:rPr sz="2175" b="1" i="0">
                <a:solidFill>
                  <a:srgbClr val="1E63D5"/>
                </a:solidFill>
                <a:latin typeface="Helvetica Neue"/>
                <a:ea typeface="Helvetica Neue"/>
                <a:cs typeface="Helvetica Neue"/>
              </a:rPr>
              <a:t>0.0114 MAE Improvement</a:t>
            </a:r>
          </a:p>
        </p:txBody>
      </p:sp>
      <p:sp>
        <p:nvSpPr>
          <p:cNvPr id="18" name="">
            <a:extLst xmlns:a="http://schemas.openxmlformats.org/drawingml/2006/main">
              <a:ext uri="{FF2B5EF4-FFF2-40B4-BE49-F238E27FC236}">
                <a16:creationId xmlns:a16="http://schemas.microsoft.com/office/drawing/2014/main" id="{37DC6A27-7B35-466A-B3E9-789E07B587D0}"/>
              </a:ext>
            </a:extLst>
          </p:cNvPr>
          <p:cNvSpPr>
            <a:spLocks xmlns:a="http://schemas.openxmlformats.org/drawingml/2006/main" noGrp="1"/>
          </p:cNvSpPr>
          <p:nvPr/>
        </p:nvSpPr>
        <p:spPr>
          <a:xfrm xmlns:a="http://schemas.openxmlformats.org/drawingml/2006/main">
            <a:off x="7677150" y="5276850"/>
            <a:ext cx="38481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i="0">
                <a:solidFill>
                  <a:srgbClr val="0B0F14"/>
                </a:solidFill>
                <a:latin typeface="Helvetica Neue"/>
                <a:ea typeface="Helvetica Neue"/>
                <a:cs typeface="Helvetica Neue"/>
              </a:defRPr>
            </a:pPr>
            <a:r>
              <a:rPr sz="1425" b="0" i="0">
                <a:solidFill>
                  <a:srgbClr val="0B0F14"/>
                </a:solidFill>
                <a:latin typeface="Helvetica Neue"/>
                <a:ea typeface="Helvetica Neue"/>
                <a:cs typeface="Helvetica Neue"/>
              </a:rPr>
              <a:t>V9 versus V8; 95% scaffold CI 0.0086 to 0.0141. Every outer fold improved.</a:t>
            </a:r>
          </a:p>
        </p:txBody>
      </p:sp>
    </p:spTree>
    <p:extLst>
      <p:ext uri="{BB962C8B-B14F-4D97-AF65-F5344CB8AC3E}">
        <p14:creationId xmlns:p14="http://schemas.microsoft.com/office/powerpoint/2010/main" val="207687556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AED5001B-5C2D-4499-83AB-C4B7B50D372A}"/>
              </a:ext>
            </a:extLst>
          </p:cNvPr>
          <p:cNvSpPr>
            <a:spLocks xmlns:a="http://schemas.openxmlformats.org/drawingml/2006/main" noGrp="1"/>
          </p:cNvSpPr>
          <p:nvPr/>
        </p:nvSpPr>
        <p:spPr>
          <a:xfrm xmlns:a="http://schemas.openxmlformats.org/drawingml/2006/main">
            <a:off x="438150" y="323850"/>
            <a:ext cx="113157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25" b="1" i="0">
                <a:solidFill>
                  <a:srgbClr val="0B0F14"/>
                </a:solidFill>
                <a:latin typeface="Helvetica Neue"/>
                <a:ea typeface="Helvetica Neue"/>
                <a:cs typeface="Helvetica Neue"/>
              </a:defRPr>
            </a:pPr>
            <a:r>
              <a:rPr sz="2925" b="1" i="0">
                <a:solidFill>
                  <a:srgbClr val="0B0F14"/>
                </a:solidFill>
                <a:latin typeface="Helvetica Neue"/>
                <a:ea typeface="Helvetica Neue"/>
                <a:cs typeface="Helvetica Neue"/>
              </a:rPr>
              <a:t>Evaluation Designed to Resist Leakage</a:t>
            </a:r>
          </a:p>
        </p:txBody>
      </p:sp>
      <p:cxnSp>
        <p:nvCxnSpPr>
          <p:cNvPr id="33" name=""/>
          <p:cNvCxnSpPr/>
          <p:nvPr/>
        </p:nvCxnSpPr>
        <p:spPr>
          <a:xfrm xmlns:a="http://schemas.openxmlformats.org/drawingml/2006/main">
            <a:off x="438150" y="1028700"/>
            <a:ext cx="11315700" cy="0"/>
          </a:xfrm>
          <a:prstGeom xmlns:a="http://schemas.openxmlformats.org/drawingml/2006/main" prst="straightConnector1">
            <a:avLst/>
          </a:prstGeom>
          <a:ln xmlns:a="http://schemas.openxmlformats.org/drawingml/2006/main" w="9525">
            <a:solidFill>
              <a:srgbClr val="D6DAE0"/>
            </a:solidFill>
            <a:prstDash val="solid"/>
          </a:ln>
        </p:spPr>
      </p:cxnSp>
      <p:sp>
        <p:nvSpPr>
          <p:cNvPr id="3" name="">
            <a:extLst xmlns:a="http://schemas.openxmlformats.org/drawingml/2006/main">
              <a:ext uri="{FF2B5EF4-FFF2-40B4-BE49-F238E27FC236}">
                <a16:creationId xmlns:a16="http://schemas.microsoft.com/office/drawing/2014/main" id="{1C5C1D84-F806-49B0-9D0B-A355EAFBA40F}"/>
              </a:ext>
            </a:extLst>
          </p:cNvPr>
          <p:cNvSpPr>
            <a:spLocks xmlns:a="http://schemas.openxmlformats.org/drawingml/2006/main" noGrp="1"/>
          </p:cNvSpPr>
          <p:nvPr/>
        </p:nvSpPr>
        <p:spPr>
          <a:xfrm xmlns:a="http://schemas.openxmlformats.org/drawingml/2006/main">
            <a:off x="438150" y="1257300"/>
            <a:ext cx="2552700" cy="1219200"/>
          </a:xfrm>
          <a:prstGeom xmlns:a="http://schemas.openxmlformats.org/drawingml/2006/main" prst="roundRect">
            <a:avLst>
              <a:gd name="adj" fmla="val 9375"/>
            </a:avLst>
          </a:prstGeom>
          <a:solidFill xmlns:a="http://schemas.openxmlformats.org/drawingml/2006/main">
            <a:srgbClr val="EAF2FF"/>
          </a:solidFill>
          <a:ln xmlns:a="http://schemas.openxmlformats.org/drawingml/2006/main" w="9525">
            <a:solidFill>
              <a:srgbClr val="EAF2FF"/>
            </a:solidFill>
            <a:prstDash val="solid"/>
          </a:ln>
        </p:spPr>
      </p:sp>
      <p:sp>
        <p:nvSpPr>
          <p:cNvPr id="4" name="">
            <a:extLst xmlns:a="http://schemas.openxmlformats.org/drawingml/2006/main">
              <a:ext uri="{FF2B5EF4-FFF2-40B4-BE49-F238E27FC236}">
                <a16:creationId xmlns:a16="http://schemas.microsoft.com/office/drawing/2014/main" id="{C53423A6-792B-49C7-A748-CEC2F23A50C9}"/>
              </a:ext>
            </a:extLst>
          </p:cNvPr>
          <p:cNvSpPr>
            <a:spLocks xmlns:a="http://schemas.openxmlformats.org/drawingml/2006/main" noGrp="1"/>
          </p:cNvSpPr>
          <p:nvPr/>
        </p:nvSpPr>
        <p:spPr>
          <a:xfrm xmlns:a="http://schemas.openxmlformats.org/drawingml/2006/main">
            <a:off x="628650" y="1428750"/>
            <a:ext cx="2171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375" b="1" i="0">
                <a:solidFill>
                  <a:srgbClr val="1E63D5"/>
                </a:solidFill>
                <a:latin typeface="Helvetica Neue"/>
                <a:ea typeface="Helvetica Neue"/>
                <a:cs typeface="Helvetica Neue"/>
              </a:defRPr>
            </a:pPr>
            <a:r>
              <a:rPr sz="3375" b="1" i="0">
                <a:solidFill>
                  <a:srgbClr val="1E63D5"/>
                </a:solidFill>
                <a:latin typeface="Helvetica Neue"/>
                <a:ea typeface="Helvetica Neue"/>
                <a:cs typeface="Helvetica Neue"/>
              </a:rPr>
              <a:t>18,801</a:t>
            </a:r>
          </a:p>
        </p:txBody>
      </p:sp>
      <p:sp>
        <p:nvSpPr>
          <p:cNvPr id="5" name="">
            <a:extLst xmlns:a="http://schemas.openxmlformats.org/drawingml/2006/main">
              <a:ext uri="{FF2B5EF4-FFF2-40B4-BE49-F238E27FC236}">
                <a16:creationId xmlns:a16="http://schemas.microsoft.com/office/drawing/2014/main" id="{81935755-05C5-4649-8831-5AF2F769D529}"/>
              </a:ext>
            </a:extLst>
          </p:cNvPr>
          <p:cNvSpPr>
            <a:spLocks xmlns:a="http://schemas.openxmlformats.org/drawingml/2006/main" noGrp="1"/>
          </p:cNvSpPr>
          <p:nvPr/>
        </p:nvSpPr>
        <p:spPr>
          <a:xfrm xmlns:a="http://schemas.openxmlformats.org/drawingml/2006/main">
            <a:off x="628650" y="2038350"/>
            <a:ext cx="2171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057"/>
          </a:bodyPr>
          <a:lstStyle xmlns:a="http://schemas.openxmlformats.org/drawingml/2006/main"/>
          <a:p xmlns:a="http://schemas.openxmlformats.org/drawingml/2006/main">
            <a:pPr algn="l">
              <a:defRPr sz="1500" b="1" i="0">
                <a:solidFill>
                  <a:srgbClr val="0B0F14"/>
                </a:solidFill>
                <a:latin typeface="Helvetica Neue"/>
                <a:ea typeface="Helvetica Neue"/>
                <a:cs typeface="Helvetica Neue"/>
              </a:defRPr>
            </a:pPr>
            <a:r>
              <a:rPr sz="1500" b="1" i="0">
                <a:solidFill>
                  <a:srgbClr val="0B0F14"/>
                </a:solidFill>
                <a:latin typeface="Helvetica Neue"/>
                <a:ea typeface="Helvetica Neue"/>
                <a:cs typeface="Helvetica Neue"/>
              </a:rPr>
              <a:t>Exact Training Structures</a:t>
            </a:r>
          </a:p>
        </p:txBody>
      </p:sp>
      <p:sp>
        <p:nvSpPr>
          <p:cNvPr id="6" name="">
            <a:extLst xmlns:a="http://schemas.openxmlformats.org/drawingml/2006/main">
              <a:ext uri="{FF2B5EF4-FFF2-40B4-BE49-F238E27FC236}">
                <a16:creationId xmlns:a16="http://schemas.microsoft.com/office/drawing/2014/main" id="{278E49B5-5FDB-4C25-9E4E-40D0BED0DEB6}"/>
              </a:ext>
            </a:extLst>
          </p:cNvPr>
          <p:cNvSpPr>
            <a:spLocks xmlns:a="http://schemas.openxmlformats.org/drawingml/2006/main" noGrp="1"/>
          </p:cNvSpPr>
          <p:nvPr/>
        </p:nvSpPr>
        <p:spPr>
          <a:xfrm xmlns:a="http://schemas.openxmlformats.org/drawingml/2006/main">
            <a:off x="3162300" y="1257300"/>
            <a:ext cx="2552700" cy="1219200"/>
          </a:xfrm>
          <a:prstGeom xmlns:a="http://schemas.openxmlformats.org/drawingml/2006/main" prst="roundRect">
            <a:avLst>
              <a:gd name="adj" fmla="val 9375"/>
            </a:avLst>
          </a:prstGeom>
          <a:solidFill xmlns:a="http://schemas.openxmlformats.org/drawingml/2006/main">
            <a:srgbClr val="E9F7F1"/>
          </a:solidFill>
          <a:ln xmlns:a="http://schemas.openxmlformats.org/drawingml/2006/main" w="9525">
            <a:solidFill>
              <a:srgbClr val="E9F7F1"/>
            </a:solidFill>
            <a:prstDash val="solid"/>
          </a:ln>
        </p:spPr>
      </p:sp>
      <p:sp>
        <p:nvSpPr>
          <p:cNvPr id="7" name="">
            <a:extLst xmlns:a="http://schemas.openxmlformats.org/drawingml/2006/main">
              <a:ext uri="{FF2B5EF4-FFF2-40B4-BE49-F238E27FC236}">
                <a16:creationId xmlns:a16="http://schemas.microsoft.com/office/drawing/2014/main" id="{DF667E57-AA6A-4BD7-93AA-62CAD80F724C}"/>
              </a:ext>
            </a:extLst>
          </p:cNvPr>
          <p:cNvSpPr>
            <a:spLocks xmlns:a="http://schemas.openxmlformats.org/drawingml/2006/main" noGrp="1"/>
          </p:cNvSpPr>
          <p:nvPr/>
        </p:nvSpPr>
        <p:spPr>
          <a:xfrm xmlns:a="http://schemas.openxmlformats.org/drawingml/2006/main">
            <a:off x="3352800" y="1428750"/>
            <a:ext cx="2171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375" b="1" i="0">
                <a:solidFill>
                  <a:srgbClr val="16805A"/>
                </a:solidFill>
                <a:latin typeface="Helvetica Neue"/>
                <a:ea typeface="Helvetica Neue"/>
                <a:cs typeface="Helvetica Neue"/>
              </a:defRPr>
            </a:pPr>
            <a:r>
              <a:rPr sz="3375" b="1" i="0">
                <a:solidFill>
                  <a:srgbClr val="16805A"/>
                </a:solidFill>
                <a:latin typeface="Helvetica Neue"/>
                <a:ea typeface="Helvetica Neue"/>
                <a:cs typeface="Helvetica Neue"/>
              </a:rPr>
              <a:t>8,455</a:t>
            </a:r>
          </a:p>
        </p:txBody>
      </p:sp>
      <p:sp>
        <p:nvSpPr>
          <p:cNvPr id="8" name="">
            <a:extLst xmlns:a="http://schemas.openxmlformats.org/drawingml/2006/main">
              <a:ext uri="{FF2B5EF4-FFF2-40B4-BE49-F238E27FC236}">
                <a16:creationId xmlns:a16="http://schemas.microsoft.com/office/drawing/2014/main" id="{D31EE7E7-AD72-4A8B-854F-BECF79AD98C4}"/>
              </a:ext>
            </a:extLst>
          </p:cNvPr>
          <p:cNvSpPr>
            <a:spLocks xmlns:a="http://schemas.openxmlformats.org/drawingml/2006/main" noGrp="1"/>
          </p:cNvSpPr>
          <p:nvPr/>
        </p:nvSpPr>
        <p:spPr>
          <a:xfrm xmlns:a="http://schemas.openxmlformats.org/drawingml/2006/main">
            <a:off x="3352800" y="2038350"/>
            <a:ext cx="2171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i="0">
                <a:solidFill>
                  <a:srgbClr val="0B0F14"/>
                </a:solidFill>
                <a:latin typeface="Helvetica Neue"/>
                <a:ea typeface="Helvetica Neue"/>
                <a:cs typeface="Helvetica Neue"/>
              </a:defRPr>
            </a:pPr>
            <a:r>
              <a:rPr sz="1500" b="1" i="0">
                <a:solidFill>
                  <a:srgbClr val="0B0F14"/>
                </a:solidFill>
                <a:latin typeface="Helvetica Neue"/>
                <a:ea typeface="Helvetica Neue"/>
                <a:cs typeface="Helvetica Neue"/>
              </a:rPr>
              <a:t>Scaffold Groups</a:t>
            </a:r>
          </a:p>
        </p:txBody>
      </p:sp>
      <p:sp>
        <p:nvSpPr>
          <p:cNvPr id="9" name="">
            <a:extLst xmlns:a="http://schemas.openxmlformats.org/drawingml/2006/main">
              <a:ext uri="{FF2B5EF4-FFF2-40B4-BE49-F238E27FC236}">
                <a16:creationId xmlns:a16="http://schemas.microsoft.com/office/drawing/2014/main" id="{FFA64E7C-E190-476B-B728-2F3F1A8C0EC1}"/>
              </a:ext>
            </a:extLst>
          </p:cNvPr>
          <p:cNvSpPr>
            <a:spLocks xmlns:a="http://schemas.openxmlformats.org/drawingml/2006/main" noGrp="1"/>
          </p:cNvSpPr>
          <p:nvPr/>
        </p:nvSpPr>
        <p:spPr>
          <a:xfrm xmlns:a="http://schemas.openxmlformats.org/drawingml/2006/main">
            <a:off x="5886450" y="1257300"/>
            <a:ext cx="2552700" cy="1219200"/>
          </a:xfrm>
          <a:prstGeom xmlns:a="http://schemas.openxmlformats.org/drawingml/2006/main" prst="roundRect">
            <a:avLst>
              <a:gd name="adj" fmla="val 9375"/>
            </a:avLst>
          </a:prstGeom>
          <a:solidFill xmlns:a="http://schemas.openxmlformats.org/drawingml/2006/main">
            <a:srgbClr val="FFF2E8"/>
          </a:solidFill>
          <a:ln xmlns:a="http://schemas.openxmlformats.org/drawingml/2006/main" w="9525">
            <a:solidFill>
              <a:srgbClr val="FFF2E8"/>
            </a:solidFill>
            <a:prstDash val="solid"/>
          </a:ln>
        </p:spPr>
      </p:sp>
      <p:sp>
        <p:nvSpPr>
          <p:cNvPr id="10" name="">
            <a:extLst xmlns:a="http://schemas.openxmlformats.org/drawingml/2006/main">
              <a:ext uri="{FF2B5EF4-FFF2-40B4-BE49-F238E27FC236}">
                <a16:creationId xmlns:a16="http://schemas.microsoft.com/office/drawing/2014/main" id="{40E50C11-D7E2-4467-84D6-228722AB6C04}"/>
              </a:ext>
            </a:extLst>
          </p:cNvPr>
          <p:cNvSpPr>
            <a:spLocks xmlns:a="http://schemas.openxmlformats.org/drawingml/2006/main" noGrp="1"/>
          </p:cNvSpPr>
          <p:nvPr/>
        </p:nvSpPr>
        <p:spPr>
          <a:xfrm xmlns:a="http://schemas.openxmlformats.org/drawingml/2006/main">
            <a:off x="6076950" y="1428750"/>
            <a:ext cx="2171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375" b="1" i="0">
                <a:solidFill>
                  <a:srgbClr val="C96A18"/>
                </a:solidFill>
                <a:latin typeface="Helvetica Neue"/>
                <a:ea typeface="Helvetica Neue"/>
                <a:cs typeface="Helvetica Neue"/>
              </a:defRPr>
            </a:pPr>
            <a:r>
              <a:rPr sz="3375" b="1" i="0">
                <a:solidFill>
                  <a:srgbClr val="C96A18"/>
                </a:solidFill>
                <a:latin typeface="Helvetica Neue"/>
                <a:ea typeface="Helvetica Neue"/>
                <a:cs typeface="Helvetica Neue"/>
              </a:rPr>
              <a:t>5</a:t>
            </a:r>
          </a:p>
        </p:txBody>
      </p:sp>
      <p:sp>
        <p:nvSpPr>
          <p:cNvPr id="11" name="">
            <a:extLst xmlns:a="http://schemas.openxmlformats.org/drawingml/2006/main">
              <a:ext uri="{FF2B5EF4-FFF2-40B4-BE49-F238E27FC236}">
                <a16:creationId xmlns:a16="http://schemas.microsoft.com/office/drawing/2014/main" id="{0617DBDE-1866-49A7-A145-C3A862E51BDE}"/>
              </a:ext>
            </a:extLst>
          </p:cNvPr>
          <p:cNvSpPr>
            <a:spLocks xmlns:a="http://schemas.openxmlformats.org/drawingml/2006/main" noGrp="1"/>
          </p:cNvSpPr>
          <p:nvPr/>
        </p:nvSpPr>
        <p:spPr>
          <a:xfrm xmlns:a="http://schemas.openxmlformats.org/drawingml/2006/main">
            <a:off x="6076950" y="2038350"/>
            <a:ext cx="2171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i="0">
                <a:solidFill>
                  <a:srgbClr val="0B0F14"/>
                </a:solidFill>
                <a:latin typeface="Helvetica Neue"/>
                <a:ea typeface="Helvetica Neue"/>
                <a:cs typeface="Helvetica Neue"/>
              </a:defRPr>
            </a:pPr>
            <a:r>
              <a:rPr sz="1500" b="1" i="0">
                <a:solidFill>
                  <a:srgbClr val="0B0F14"/>
                </a:solidFill>
                <a:latin typeface="Helvetica Neue"/>
                <a:ea typeface="Helvetica Neue"/>
                <a:cs typeface="Helvetica Neue"/>
              </a:rPr>
              <a:t>Nested Outer Folds</a:t>
            </a:r>
          </a:p>
        </p:txBody>
      </p:sp>
      <p:sp>
        <p:nvSpPr>
          <p:cNvPr id="12" name="">
            <a:extLst xmlns:a="http://schemas.openxmlformats.org/drawingml/2006/main">
              <a:ext uri="{FF2B5EF4-FFF2-40B4-BE49-F238E27FC236}">
                <a16:creationId xmlns:a16="http://schemas.microsoft.com/office/drawing/2014/main" id="{AC1BE16E-476B-4B11-889E-6DE5508320E2}"/>
              </a:ext>
            </a:extLst>
          </p:cNvPr>
          <p:cNvSpPr>
            <a:spLocks xmlns:a="http://schemas.openxmlformats.org/drawingml/2006/main" noGrp="1"/>
          </p:cNvSpPr>
          <p:nvPr/>
        </p:nvSpPr>
        <p:spPr>
          <a:xfrm xmlns:a="http://schemas.openxmlformats.org/drawingml/2006/main">
            <a:off x="8610600" y="1257300"/>
            <a:ext cx="3124200" cy="1219200"/>
          </a:xfrm>
          <a:prstGeom xmlns:a="http://schemas.openxmlformats.org/drawingml/2006/main" prst="roundRect">
            <a:avLst>
              <a:gd name="adj" fmla="val 9375"/>
            </a:avLst>
          </a:prstGeom>
          <a:solidFill xmlns:a="http://schemas.openxmlformats.org/drawingml/2006/main">
            <a:srgbClr val="F1EDFF"/>
          </a:solidFill>
          <a:ln xmlns:a="http://schemas.openxmlformats.org/drawingml/2006/main" w="9525">
            <a:solidFill>
              <a:srgbClr val="F1EDFF"/>
            </a:solidFill>
            <a:prstDash val="solid"/>
          </a:ln>
        </p:spPr>
      </p:sp>
      <p:sp>
        <p:nvSpPr>
          <p:cNvPr id="13" name="">
            <a:extLst xmlns:a="http://schemas.openxmlformats.org/drawingml/2006/main">
              <a:ext uri="{FF2B5EF4-FFF2-40B4-BE49-F238E27FC236}">
                <a16:creationId xmlns:a16="http://schemas.microsoft.com/office/drawing/2014/main" id="{4201E263-EEC0-4649-A3E7-5B8719B3DDDC}"/>
              </a:ext>
            </a:extLst>
          </p:cNvPr>
          <p:cNvSpPr>
            <a:spLocks xmlns:a="http://schemas.openxmlformats.org/drawingml/2006/main" noGrp="1"/>
          </p:cNvSpPr>
          <p:nvPr/>
        </p:nvSpPr>
        <p:spPr>
          <a:xfrm xmlns:a="http://schemas.openxmlformats.org/drawingml/2006/main">
            <a:off x="8801100" y="1428750"/>
            <a:ext cx="2743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375" b="1" i="0">
                <a:solidFill>
                  <a:srgbClr val="7057C7"/>
                </a:solidFill>
                <a:latin typeface="Helvetica Neue"/>
                <a:ea typeface="Helvetica Neue"/>
                <a:cs typeface="Helvetica Neue"/>
              </a:defRPr>
            </a:pPr>
            <a:r>
              <a:rPr sz="3375" b="1" i="0">
                <a:solidFill>
                  <a:srgbClr val="7057C7"/>
                </a:solidFill>
                <a:latin typeface="Helvetica Neue"/>
                <a:ea typeface="Helvetica Neue"/>
                <a:cs typeface="Helvetica Neue"/>
              </a:rPr>
              <a:t>0</a:t>
            </a:r>
          </a:p>
        </p:txBody>
      </p:sp>
      <p:sp>
        <p:nvSpPr>
          <p:cNvPr id="14" name="">
            <a:extLst xmlns:a="http://schemas.openxmlformats.org/drawingml/2006/main">
              <a:ext uri="{FF2B5EF4-FFF2-40B4-BE49-F238E27FC236}">
                <a16:creationId xmlns:a16="http://schemas.microsoft.com/office/drawing/2014/main" id="{EA25F7FF-0E8F-4C29-BAED-CC57644DDDC2}"/>
              </a:ext>
            </a:extLst>
          </p:cNvPr>
          <p:cNvSpPr>
            <a:spLocks xmlns:a="http://schemas.openxmlformats.org/drawingml/2006/main" noGrp="1"/>
          </p:cNvSpPr>
          <p:nvPr/>
        </p:nvSpPr>
        <p:spPr>
          <a:xfrm xmlns:a="http://schemas.openxmlformats.org/drawingml/2006/main">
            <a:off x="8801100" y="2038350"/>
            <a:ext cx="2743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067"/>
          </a:bodyPr>
          <a:lstStyle xmlns:a="http://schemas.openxmlformats.org/drawingml/2006/main"/>
          <a:p xmlns:a="http://schemas.openxmlformats.org/drawingml/2006/main">
            <a:pPr algn="l">
              <a:defRPr sz="1500" b="1" i="0">
                <a:solidFill>
                  <a:srgbClr val="0B0F14"/>
                </a:solidFill>
                <a:latin typeface="Helvetica Neue"/>
                <a:ea typeface="Helvetica Neue"/>
                <a:cs typeface="Helvetica Neue"/>
              </a:defRPr>
            </a:pPr>
            <a:r>
              <a:rPr sz="1500" b="1" i="0">
                <a:solidFill>
                  <a:srgbClr val="0B0F14"/>
                </a:solidFill>
                <a:latin typeface="Helvetica Neue"/>
                <a:ea typeface="Helvetica Neue"/>
                <a:cs typeface="Helvetica Neue"/>
              </a:rPr>
              <a:t>Validation Or Test Labels Opened</a:t>
            </a:r>
          </a:p>
        </p:txBody>
      </p:sp>
      <p:cxnSp>
        <p:nvCxnSpPr>
          <p:cNvPr id="46" name=""/>
          <p:cNvCxnSpPr/>
          <p:nvPr/>
        </p:nvCxnSpPr>
        <p:spPr>
          <a:xfrm xmlns:a="http://schemas.openxmlformats.org/drawingml/2006/main">
            <a:off x="876300" y="3638550"/>
            <a:ext cx="10363200" cy="0"/>
          </a:xfrm>
          <a:prstGeom xmlns:a="http://schemas.openxmlformats.org/drawingml/2006/main" prst="straightConnector1">
            <a:avLst/>
          </a:prstGeom>
          <a:ln xmlns:a="http://schemas.openxmlformats.org/drawingml/2006/main" w="38100">
            <a:solidFill>
              <a:srgbClr val="D6DAE0"/>
            </a:solidFill>
            <a:prstDash val="solid"/>
          </a:ln>
        </p:spPr>
      </p:cxnSp>
      <p:sp>
        <p:nvSpPr>
          <p:cNvPr id="16" name="">
            <a:extLst xmlns:a="http://schemas.openxmlformats.org/drawingml/2006/main">
              <a:ext uri="{FF2B5EF4-FFF2-40B4-BE49-F238E27FC236}">
                <a16:creationId xmlns:a16="http://schemas.microsoft.com/office/drawing/2014/main" id="{5051834E-A3D2-42C8-93A3-07D735B6BB1E}"/>
              </a:ext>
            </a:extLst>
          </p:cNvPr>
          <p:cNvSpPr>
            <a:spLocks xmlns:a="http://schemas.openxmlformats.org/drawingml/2006/main" noGrp="1"/>
          </p:cNvSpPr>
          <p:nvPr/>
        </p:nvSpPr>
        <p:spPr>
          <a:xfrm xmlns:a="http://schemas.openxmlformats.org/drawingml/2006/main">
            <a:off x="514350" y="3314700"/>
            <a:ext cx="647700" cy="647700"/>
          </a:xfrm>
          <a:prstGeom xmlns:a="http://schemas.openxmlformats.org/drawingml/2006/main" prst="ellipse">
            <a:avLst/>
          </a:prstGeom>
          <a:solidFill xmlns:a="http://schemas.openxmlformats.org/drawingml/2006/main">
            <a:srgbClr val="0B0F14"/>
          </a:solidFill>
          <a:ln xmlns:a="http://schemas.openxmlformats.org/drawingml/2006/main" w="9525">
            <a:solidFill>
              <a:srgbClr val="0B0F14"/>
            </a:solidFill>
            <a:prstDash val="solid"/>
          </a:ln>
        </p:spPr>
      </p:sp>
      <p:sp>
        <p:nvSpPr>
          <p:cNvPr id="17" name="">
            <a:extLst xmlns:a="http://schemas.openxmlformats.org/drawingml/2006/main">
              <a:ext uri="{FF2B5EF4-FFF2-40B4-BE49-F238E27FC236}">
                <a16:creationId xmlns:a16="http://schemas.microsoft.com/office/drawing/2014/main" id="{B9A0575B-8A74-4747-B5C5-2954A39C1FE4}"/>
              </a:ext>
            </a:extLst>
          </p:cNvPr>
          <p:cNvSpPr>
            <a:spLocks xmlns:a="http://schemas.openxmlformats.org/drawingml/2006/main" noGrp="1"/>
          </p:cNvSpPr>
          <p:nvPr/>
        </p:nvSpPr>
        <p:spPr>
          <a:xfrm xmlns:a="http://schemas.openxmlformats.org/drawingml/2006/main">
            <a:off x="514350" y="3476625"/>
            <a:ext cx="647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i="0">
                <a:solidFill>
                  <a:srgbClr val="FFFFFF"/>
                </a:solidFill>
                <a:latin typeface="Helvetica Neue"/>
                <a:ea typeface="Helvetica Neue"/>
                <a:cs typeface="Helvetica Neue"/>
              </a:defRPr>
            </a:pPr>
            <a:r>
              <a:rPr sz="1800" b="1" i="0">
                <a:solidFill>
                  <a:srgbClr val="FFFFFF"/>
                </a:solidFill>
                <a:latin typeface="Helvetica Neue"/>
                <a:ea typeface="Helvetica Neue"/>
                <a:cs typeface="Helvetica Neue"/>
              </a:rPr>
              <a:t>1</a:t>
            </a:r>
          </a:p>
        </p:txBody>
      </p:sp>
      <p:sp>
        <p:nvSpPr>
          <p:cNvPr id="18" name="">
            <a:extLst xmlns:a="http://schemas.openxmlformats.org/drawingml/2006/main">
              <a:ext uri="{FF2B5EF4-FFF2-40B4-BE49-F238E27FC236}">
                <a16:creationId xmlns:a16="http://schemas.microsoft.com/office/drawing/2014/main" id="{AF5BA71D-BA8B-4496-8FA7-D769A8F9B022}"/>
              </a:ext>
            </a:extLst>
          </p:cNvPr>
          <p:cNvSpPr>
            <a:spLocks xmlns:a="http://schemas.openxmlformats.org/drawingml/2006/main" noGrp="1"/>
          </p:cNvSpPr>
          <p:nvPr/>
        </p:nvSpPr>
        <p:spPr>
          <a:xfrm xmlns:a="http://schemas.openxmlformats.org/drawingml/2006/main">
            <a:off x="514350" y="4229100"/>
            <a:ext cx="2457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i="0">
                <a:solidFill>
                  <a:srgbClr val="0B0F14"/>
                </a:solidFill>
                <a:latin typeface="Helvetica Neue"/>
                <a:ea typeface="Helvetica Neue"/>
                <a:cs typeface="Helvetica Neue"/>
              </a:defRPr>
            </a:pPr>
            <a:r>
              <a:rPr sz="1725" b="1" i="0">
                <a:solidFill>
                  <a:srgbClr val="0B0F14"/>
                </a:solidFill>
                <a:latin typeface="Helvetica Neue"/>
                <a:ea typeface="Helvetica Neue"/>
                <a:cs typeface="Helvetica Neue"/>
              </a:rPr>
              <a:t>Structure Collapse</a:t>
            </a:r>
          </a:p>
        </p:txBody>
      </p:sp>
      <p:sp>
        <p:nvSpPr>
          <p:cNvPr id="19" name="">
            <a:extLst xmlns:a="http://schemas.openxmlformats.org/drawingml/2006/main">
              <a:ext uri="{FF2B5EF4-FFF2-40B4-BE49-F238E27FC236}">
                <a16:creationId xmlns:a16="http://schemas.microsoft.com/office/drawing/2014/main" id="{444AA35E-D411-465D-A9F0-AAA5C4CAEBA2}"/>
              </a:ext>
            </a:extLst>
          </p:cNvPr>
          <p:cNvSpPr>
            <a:spLocks xmlns:a="http://schemas.openxmlformats.org/drawingml/2006/main" noGrp="1"/>
          </p:cNvSpPr>
          <p:nvPr/>
        </p:nvSpPr>
        <p:spPr>
          <a:xfrm xmlns:a="http://schemas.openxmlformats.org/drawingml/2006/main">
            <a:off x="514350" y="4667250"/>
            <a:ext cx="24574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59616D"/>
                </a:solidFill>
                <a:latin typeface="Helvetica Neue"/>
                <a:ea typeface="Helvetica Neue"/>
                <a:cs typeface="Helvetica Neue"/>
              </a:defRPr>
            </a:pPr>
            <a:r>
              <a:rPr sz="1350" b="0" i="0">
                <a:solidFill>
                  <a:srgbClr val="59616D"/>
                </a:solidFill>
                <a:latin typeface="Helvetica Neue"/>
                <a:ea typeface="Helvetica Neue"/>
                <a:cs typeface="Helvetica Neue"/>
              </a:rPr>
              <a:t>Replicate observations become one structure-level target.</a:t>
            </a:r>
          </a:p>
        </p:txBody>
      </p:sp>
      <p:sp>
        <p:nvSpPr>
          <p:cNvPr id="20" name="">
            <a:extLst xmlns:a="http://schemas.openxmlformats.org/drawingml/2006/main">
              <a:ext uri="{FF2B5EF4-FFF2-40B4-BE49-F238E27FC236}">
                <a16:creationId xmlns:a16="http://schemas.microsoft.com/office/drawing/2014/main" id="{EF0ABEC2-EC6B-455A-8A84-8BBE141A0F1C}"/>
              </a:ext>
            </a:extLst>
          </p:cNvPr>
          <p:cNvSpPr>
            <a:spLocks xmlns:a="http://schemas.openxmlformats.org/drawingml/2006/main" noGrp="1"/>
          </p:cNvSpPr>
          <p:nvPr/>
        </p:nvSpPr>
        <p:spPr>
          <a:xfrm xmlns:a="http://schemas.openxmlformats.org/drawingml/2006/main">
            <a:off x="3371850" y="3314700"/>
            <a:ext cx="647700" cy="647700"/>
          </a:xfrm>
          <a:prstGeom xmlns:a="http://schemas.openxmlformats.org/drawingml/2006/main" prst="ellipse">
            <a:avLst/>
          </a:prstGeom>
          <a:solidFill xmlns:a="http://schemas.openxmlformats.org/drawingml/2006/main">
            <a:srgbClr val="0B0F14"/>
          </a:solidFill>
          <a:ln xmlns:a="http://schemas.openxmlformats.org/drawingml/2006/main" w="9525">
            <a:solidFill>
              <a:srgbClr val="0B0F14"/>
            </a:solidFill>
            <a:prstDash val="solid"/>
          </a:ln>
        </p:spPr>
      </p:sp>
      <p:sp>
        <p:nvSpPr>
          <p:cNvPr id="21" name="">
            <a:extLst xmlns:a="http://schemas.openxmlformats.org/drawingml/2006/main">
              <a:ext uri="{FF2B5EF4-FFF2-40B4-BE49-F238E27FC236}">
                <a16:creationId xmlns:a16="http://schemas.microsoft.com/office/drawing/2014/main" id="{3599713D-968D-4056-97CC-908976B223C8}"/>
              </a:ext>
            </a:extLst>
          </p:cNvPr>
          <p:cNvSpPr>
            <a:spLocks xmlns:a="http://schemas.openxmlformats.org/drawingml/2006/main" noGrp="1"/>
          </p:cNvSpPr>
          <p:nvPr/>
        </p:nvSpPr>
        <p:spPr>
          <a:xfrm xmlns:a="http://schemas.openxmlformats.org/drawingml/2006/main">
            <a:off x="3371850" y="3476625"/>
            <a:ext cx="647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i="0">
                <a:solidFill>
                  <a:srgbClr val="FFFFFF"/>
                </a:solidFill>
                <a:latin typeface="Helvetica Neue"/>
                <a:ea typeface="Helvetica Neue"/>
                <a:cs typeface="Helvetica Neue"/>
              </a:defRPr>
            </a:pPr>
            <a:r>
              <a:rPr sz="1800" b="1" i="0">
                <a:solidFill>
                  <a:srgbClr val="FFFFFF"/>
                </a:solidFill>
                <a:latin typeface="Helvetica Neue"/>
                <a:ea typeface="Helvetica Neue"/>
                <a:cs typeface="Helvetica Neue"/>
              </a:rPr>
              <a:t>2</a:t>
            </a:r>
          </a:p>
        </p:txBody>
      </p:sp>
      <p:sp>
        <p:nvSpPr>
          <p:cNvPr id="22" name="">
            <a:extLst xmlns:a="http://schemas.openxmlformats.org/drawingml/2006/main">
              <a:ext uri="{FF2B5EF4-FFF2-40B4-BE49-F238E27FC236}">
                <a16:creationId xmlns:a16="http://schemas.microsoft.com/office/drawing/2014/main" id="{77A1FA67-F7B4-4B71-9377-BD08C132D14C}"/>
              </a:ext>
            </a:extLst>
          </p:cNvPr>
          <p:cNvSpPr>
            <a:spLocks xmlns:a="http://schemas.openxmlformats.org/drawingml/2006/main" noGrp="1"/>
          </p:cNvSpPr>
          <p:nvPr/>
        </p:nvSpPr>
        <p:spPr>
          <a:xfrm xmlns:a="http://schemas.openxmlformats.org/drawingml/2006/main">
            <a:off x="3371850" y="4229100"/>
            <a:ext cx="2457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i="0">
                <a:solidFill>
                  <a:srgbClr val="0B0F14"/>
                </a:solidFill>
                <a:latin typeface="Helvetica Neue"/>
                <a:ea typeface="Helvetica Neue"/>
                <a:cs typeface="Helvetica Neue"/>
              </a:defRPr>
            </a:pPr>
            <a:r>
              <a:rPr sz="1725" b="1" i="0">
                <a:solidFill>
                  <a:srgbClr val="0B0F14"/>
                </a:solidFill>
                <a:latin typeface="Helvetica Neue"/>
                <a:ea typeface="Helvetica Neue"/>
                <a:cs typeface="Helvetica Neue"/>
              </a:rPr>
              <a:t>Scaffold Separation</a:t>
            </a:r>
          </a:p>
        </p:txBody>
      </p:sp>
      <p:sp>
        <p:nvSpPr>
          <p:cNvPr id="23" name="">
            <a:extLst xmlns:a="http://schemas.openxmlformats.org/drawingml/2006/main">
              <a:ext uri="{FF2B5EF4-FFF2-40B4-BE49-F238E27FC236}">
                <a16:creationId xmlns:a16="http://schemas.microsoft.com/office/drawing/2014/main" id="{23D815AC-69AE-4626-A4F4-3B2B72EB4298}"/>
              </a:ext>
            </a:extLst>
          </p:cNvPr>
          <p:cNvSpPr>
            <a:spLocks xmlns:a="http://schemas.openxmlformats.org/drawingml/2006/main" noGrp="1"/>
          </p:cNvSpPr>
          <p:nvPr/>
        </p:nvSpPr>
        <p:spPr>
          <a:xfrm xmlns:a="http://schemas.openxmlformats.org/drawingml/2006/main">
            <a:off x="3371850" y="4667250"/>
            <a:ext cx="24574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59616D"/>
                </a:solidFill>
                <a:latin typeface="Helvetica Neue"/>
                <a:ea typeface="Helvetica Neue"/>
                <a:cs typeface="Helvetica Neue"/>
              </a:defRPr>
            </a:pPr>
            <a:r>
              <a:rPr sz="1350" b="0" i="0">
                <a:solidFill>
                  <a:srgbClr val="59616D"/>
                </a:solidFill>
                <a:latin typeface="Helvetica Neue"/>
                <a:ea typeface="Helvetica Neue"/>
                <a:cs typeface="Helvetica Neue"/>
              </a:rPr>
              <a:t>Related chemotypes stay together in a single held-out fold.</a:t>
            </a:r>
          </a:p>
        </p:txBody>
      </p:sp>
      <p:sp>
        <p:nvSpPr>
          <p:cNvPr id="24" name="">
            <a:extLst xmlns:a="http://schemas.openxmlformats.org/drawingml/2006/main">
              <a:ext uri="{FF2B5EF4-FFF2-40B4-BE49-F238E27FC236}">
                <a16:creationId xmlns:a16="http://schemas.microsoft.com/office/drawing/2014/main" id="{B19E18E6-B232-4CA6-B223-4724F85218F9}"/>
              </a:ext>
            </a:extLst>
          </p:cNvPr>
          <p:cNvSpPr>
            <a:spLocks xmlns:a="http://schemas.openxmlformats.org/drawingml/2006/main" noGrp="1"/>
          </p:cNvSpPr>
          <p:nvPr/>
        </p:nvSpPr>
        <p:spPr>
          <a:xfrm xmlns:a="http://schemas.openxmlformats.org/drawingml/2006/main">
            <a:off x="6229350" y="3314700"/>
            <a:ext cx="647700" cy="647700"/>
          </a:xfrm>
          <a:prstGeom xmlns:a="http://schemas.openxmlformats.org/drawingml/2006/main" prst="ellipse">
            <a:avLst/>
          </a:prstGeom>
          <a:solidFill xmlns:a="http://schemas.openxmlformats.org/drawingml/2006/main">
            <a:srgbClr val="0B0F14"/>
          </a:solidFill>
          <a:ln xmlns:a="http://schemas.openxmlformats.org/drawingml/2006/main" w="9525">
            <a:solidFill>
              <a:srgbClr val="0B0F14"/>
            </a:solidFill>
            <a:prstDash val="solid"/>
          </a:ln>
        </p:spPr>
      </p:sp>
      <p:sp>
        <p:nvSpPr>
          <p:cNvPr id="25" name="">
            <a:extLst xmlns:a="http://schemas.openxmlformats.org/drawingml/2006/main">
              <a:ext uri="{FF2B5EF4-FFF2-40B4-BE49-F238E27FC236}">
                <a16:creationId xmlns:a16="http://schemas.microsoft.com/office/drawing/2014/main" id="{0C8E2A5C-BB8C-4C06-B7D3-AD008D2C61BA}"/>
              </a:ext>
            </a:extLst>
          </p:cNvPr>
          <p:cNvSpPr>
            <a:spLocks xmlns:a="http://schemas.openxmlformats.org/drawingml/2006/main" noGrp="1"/>
          </p:cNvSpPr>
          <p:nvPr/>
        </p:nvSpPr>
        <p:spPr>
          <a:xfrm xmlns:a="http://schemas.openxmlformats.org/drawingml/2006/main">
            <a:off x="6229350" y="3476625"/>
            <a:ext cx="647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i="0">
                <a:solidFill>
                  <a:srgbClr val="FFFFFF"/>
                </a:solidFill>
                <a:latin typeface="Helvetica Neue"/>
                <a:ea typeface="Helvetica Neue"/>
                <a:cs typeface="Helvetica Neue"/>
              </a:defRPr>
            </a:pPr>
            <a:r>
              <a:rPr sz="1800" b="1" i="0">
                <a:solidFill>
                  <a:srgbClr val="FFFFFF"/>
                </a:solidFill>
                <a:latin typeface="Helvetica Neue"/>
                <a:ea typeface="Helvetica Neue"/>
                <a:cs typeface="Helvetica Neue"/>
              </a:rPr>
              <a:t>3</a:t>
            </a:r>
          </a:p>
        </p:txBody>
      </p:sp>
      <p:sp>
        <p:nvSpPr>
          <p:cNvPr id="26" name="">
            <a:extLst xmlns:a="http://schemas.openxmlformats.org/drawingml/2006/main">
              <a:ext uri="{FF2B5EF4-FFF2-40B4-BE49-F238E27FC236}">
                <a16:creationId xmlns:a16="http://schemas.microsoft.com/office/drawing/2014/main" id="{C19493CD-D950-4E28-A662-850DD00EB02F}"/>
              </a:ext>
            </a:extLst>
          </p:cNvPr>
          <p:cNvSpPr>
            <a:spLocks xmlns:a="http://schemas.openxmlformats.org/drawingml/2006/main" noGrp="1"/>
          </p:cNvSpPr>
          <p:nvPr/>
        </p:nvSpPr>
        <p:spPr>
          <a:xfrm xmlns:a="http://schemas.openxmlformats.org/drawingml/2006/main">
            <a:off x="6229350" y="4229100"/>
            <a:ext cx="2457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i="0">
                <a:solidFill>
                  <a:srgbClr val="0B0F14"/>
                </a:solidFill>
                <a:latin typeface="Helvetica Neue"/>
                <a:ea typeface="Helvetica Neue"/>
                <a:cs typeface="Helvetica Neue"/>
              </a:defRPr>
            </a:pPr>
            <a:r>
              <a:rPr sz="1725" b="1" i="0">
                <a:solidFill>
                  <a:srgbClr val="0B0F14"/>
                </a:solidFill>
                <a:latin typeface="Helvetica Neue"/>
                <a:ea typeface="Helvetica Neue"/>
                <a:cs typeface="Helvetica Neue"/>
              </a:rPr>
              <a:t>Inner Selection</a:t>
            </a:r>
          </a:p>
        </p:txBody>
      </p:sp>
      <p:sp>
        <p:nvSpPr>
          <p:cNvPr id="27" name="">
            <a:extLst xmlns:a="http://schemas.openxmlformats.org/drawingml/2006/main">
              <a:ext uri="{FF2B5EF4-FFF2-40B4-BE49-F238E27FC236}">
                <a16:creationId xmlns:a16="http://schemas.microsoft.com/office/drawing/2014/main" id="{64A0F0A4-5C0C-47FE-BFA4-9828404980D5}"/>
              </a:ext>
            </a:extLst>
          </p:cNvPr>
          <p:cNvSpPr>
            <a:spLocks xmlns:a="http://schemas.openxmlformats.org/drawingml/2006/main" noGrp="1"/>
          </p:cNvSpPr>
          <p:nvPr/>
        </p:nvSpPr>
        <p:spPr>
          <a:xfrm xmlns:a="http://schemas.openxmlformats.org/drawingml/2006/main">
            <a:off x="6229350" y="4667250"/>
            <a:ext cx="24574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59616D"/>
                </a:solidFill>
                <a:latin typeface="Helvetica Neue"/>
                <a:ea typeface="Helvetica Neue"/>
                <a:cs typeface="Helvetica Neue"/>
              </a:defRPr>
            </a:pPr>
            <a:r>
              <a:rPr sz="1350" b="0" i="0">
                <a:solidFill>
                  <a:srgbClr val="59616D"/>
                </a:solidFill>
                <a:latin typeface="Helvetica Neue"/>
                <a:ea typeface="Helvetica Neue"/>
                <a:cs typeface="Helvetica Neue"/>
              </a:rPr>
              <a:t>Features, parameters, and mixtures are chosen without outer labels.</a:t>
            </a:r>
          </a:p>
        </p:txBody>
      </p:sp>
      <p:sp>
        <p:nvSpPr>
          <p:cNvPr id="28" name="">
            <a:extLst xmlns:a="http://schemas.openxmlformats.org/drawingml/2006/main">
              <a:ext uri="{FF2B5EF4-FFF2-40B4-BE49-F238E27FC236}">
                <a16:creationId xmlns:a16="http://schemas.microsoft.com/office/drawing/2014/main" id="{A0C421D4-856B-4B3B-8305-356B2C7A1BC2}"/>
              </a:ext>
            </a:extLst>
          </p:cNvPr>
          <p:cNvSpPr>
            <a:spLocks xmlns:a="http://schemas.openxmlformats.org/drawingml/2006/main" noGrp="1"/>
          </p:cNvSpPr>
          <p:nvPr/>
        </p:nvSpPr>
        <p:spPr>
          <a:xfrm xmlns:a="http://schemas.openxmlformats.org/drawingml/2006/main">
            <a:off x="9086850" y="3314700"/>
            <a:ext cx="647700" cy="647700"/>
          </a:xfrm>
          <a:prstGeom xmlns:a="http://schemas.openxmlformats.org/drawingml/2006/main" prst="ellipse">
            <a:avLst/>
          </a:prstGeom>
          <a:solidFill xmlns:a="http://schemas.openxmlformats.org/drawingml/2006/main">
            <a:srgbClr val="1E63D5"/>
          </a:solidFill>
          <a:ln xmlns:a="http://schemas.openxmlformats.org/drawingml/2006/main" w="9525">
            <a:solidFill>
              <a:srgbClr val="1E63D5"/>
            </a:solidFill>
            <a:prstDash val="solid"/>
          </a:ln>
        </p:spPr>
      </p:sp>
      <p:sp>
        <p:nvSpPr>
          <p:cNvPr id="29" name="">
            <a:extLst xmlns:a="http://schemas.openxmlformats.org/drawingml/2006/main">
              <a:ext uri="{FF2B5EF4-FFF2-40B4-BE49-F238E27FC236}">
                <a16:creationId xmlns:a16="http://schemas.microsoft.com/office/drawing/2014/main" id="{5036045D-F4DD-4316-8DDB-697F80BBB3AE}"/>
              </a:ext>
            </a:extLst>
          </p:cNvPr>
          <p:cNvSpPr>
            <a:spLocks xmlns:a="http://schemas.openxmlformats.org/drawingml/2006/main" noGrp="1"/>
          </p:cNvSpPr>
          <p:nvPr/>
        </p:nvSpPr>
        <p:spPr>
          <a:xfrm xmlns:a="http://schemas.openxmlformats.org/drawingml/2006/main">
            <a:off x="9086850" y="3476625"/>
            <a:ext cx="647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i="0">
                <a:solidFill>
                  <a:srgbClr val="FFFFFF"/>
                </a:solidFill>
                <a:latin typeface="Helvetica Neue"/>
                <a:ea typeface="Helvetica Neue"/>
                <a:cs typeface="Helvetica Neue"/>
              </a:defRPr>
            </a:pPr>
            <a:r>
              <a:rPr sz="1800" b="1" i="0">
                <a:solidFill>
                  <a:srgbClr val="FFFFFF"/>
                </a:solidFill>
                <a:latin typeface="Helvetica Neue"/>
                <a:ea typeface="Helvetica Neue"/>
                <a:cs typeface="Helvetica Neue"/>
              </a:rPr>
              <a:t>4</a:t>
            </a:r>
          </a:p>
        </p:txBody>
      </p:sp>
      <p:sp>
        <p:nvSpPr>
          <p:cNvPr id="30" name="">
            <a:extLst xmlns:a="http://schemas.openxmlformats.org/drawingml/2006/main">
              <a:ext uri="{FF2B5EF4-FFF2-40B4-BE49-F238E27FC236}">
                <a16:creationId xmlns:a16="http://schemas.microsoft.com/office/drawing/2014/main" id="{3FC76120-66E5-4F64-9870-CB90A6086ED7}"/>
              </a:ext>
            </a:extLst>
          </p:cNvPr>
          <p:cNvSpPr>
            <a:spLocks xmlns:a="http://schemas.openxmlformats.org/drawingml/2006/main" noGrp="1"/>
          </p:cNvSpPr>
          <p:nvPr/>
        </p:nvSpPr>
        <p:spPr>
          <a:xfrm xmlns:a="http://schemas.openxmlformats.org/drawingml/2006/main">
            <a:off x="9086850" y="4229100"/>
            <a:ext cx="2457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i="0">
                <a:solidFill>
                  <a:srgbClr val="0B0F14"/>
                </a:solidFill>
                <a:latin typeface="Helvetica Neue"/>
                <a:ea typeface="Helvetica Neue"/>
                <a:cs typeface="Helvetica Neue"/>
              </a:defRPr>
            </a:pPr>
            <a:r>
              <a:rPr sz="1725" b="1" i="0">
                <a:solidFill>
                  <a:srgbClr val="0B0F14"/>
                </a:solidFill>
                <a:latin typeface="Helvetica Neue"/>
                <a:ea typeface="Helvetica Neue"/>
                <a:cs typeface="Helvetica Neue"/>
              </a:rPr>
              <a:t>Single Outer Prediction</a:t>
            </a:r>
          </a:p>
        </p:txBody>
      </p:sp>
      <p:sp>
        <p:nvSpPr>
          <p:cNvPr id="31" name="">
            <a:extLst xmlns:a="http://schemas.openxmlformats.org/drawingml/2006/main">
              <a:ext uri="{FF2B5EF4-FFF2-40B4-BE49-F238E27FC236}">
                <a16:creationId xmlns:a16="http://schemas.microsoft.com/office/drawing/2014/main" id="{63A49E46-F500-4773-BF5D-773524F412DC}"/>
              </a:ext>
            </a:extLst>
          </p:cNvPr>
          <p:cNvSpPr>
            <a:spLocks xmlns:a="http://schemas.openxmlformats.org/drawingml/2006/main" noGrp="1"/>
          </p:cNvSpPr>
          <p:nvPr/>
        </p:nvSpPr>
        <p:spPr>
          <a:xfrm xmlns:a="http://schemas.openxmlformats.org/drawingml/2006/main">
            <a:off x="9086850" y="4667250"/>
            <a:ext cx="24574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59616D"/>
                </a:solidFill>
                <a:latin typeface="Helvetica Neue"/>
                <a:ea typeface="Helvetica Neue"/>
                <a:cs typeface="Helvetica Neue"/>
              </a:defRPr>
            </a:pPr>
            <a:r>
              <a:rPr sz="1350" b="0" i="0">
                <a:solidFill>
                  <a:srgbClr val="59616D"/>
                </a:solidFill>
                <a:latin typeface="Helvetica Neue"/>
                <a:ea typeface="Helvetica Neue"/>
                <a:cs typeface="Helvetica Neue"/>
              </a:rPr>
              <a:t>Every structure is evaluated once in its untouched scaffold context.</a:t>
            </a:r>
          </a:p>
        </p:txBody>
      </p:sp>
    </p:spTree>
    <p:extLst>
      <p:ext uri="{BB962C8B-B14F-4D97-AF65-F5344CB8AC3E}">
        <p14:creationId xmlns:p14="http://schemas.microsoft.com/office/powerpoint/2010/main" val="174217718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3" name="">
            <a:extLst xmlns:a="http://schemas.openxmlformats.org/drawingml/2006/main">
              <a:ext uri="{FF2B5EF4-FFF2-40B4-BE49-F238E27FC236}">
                <a16:creationId xmlns:a16="http://schemas.microsoft.com/office/drawing/2014/main" id="{54E0ECA2-CD76-4E9F-8C90-2F1C7A5B375B}"/>
              </a:ext>
            </a:extLst>
          </p:cNvPr>
          <p:cNvSpPr>
            <a:spLocks xmlns:a="http://schemas.openxmlformats.org/drawingml/2006/main" noGrp="1"/>
          </p:cNvSpPr>
          <p:nvPr/>
        </p:nvSpPr>
        <p:spPr>
          <a:xfrm xmlns:a="http://schemas.openxmlformats.org/drawingml/2006/main">
            <a:off x="438150" y="323850"/>
            <a:ext cx="113157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25" b="1" i="0">
                <a:solidFill>
                  <a:srgbClr val="0B0F14"/>
                </a:solidFill>
                <a:latin typeface="Helvetica Neue"/>
                <a:ea typeface="Helvetica Neue"/>
                <a:cs typeface="Helvetica Neue"/>
              </a:defRPr>
            </a:pPr>
            <a:r>
              <a:rPr sz="2925" b="1" i="0">
                <a:solidFill>
                  <a:srgbClr val="0B0F14"/>
                </a:solidFill>
                <a:latin typeface="Helvetica Neue"/>
                <a:ea typeface="Helvetica Neue"/>
                <a:cs typeface="Helvetica Neue"/>
              </a:rPr>
              <a:t>Feature Families Ranked by Unique Held-Out Impact</a:t>
            </a:r>
          </a:p>
        </p:txBody>
      </p:sp>
      <p:cxnSp>
        <p:nvCxnSpPr>
          <p:cNvPr id="74" name=""/>
          <p:cNvCxnSpPr/>
          <p:nvPr/>
        </p:nvCxnSpPr>
        <p:spPr>
          <a:xfrm xmlns:a="http://schemas.openxmlformats.org/drawingml/2006/main">
            <a:off x="438150" y="1028700"/>
            <a:ext cx="11315700" cy="0"/>
          </a:xfrm>
          <a:prstGeom xmlns:a="http://schemas.openxmlformats.org/drawingml/2006/main" prst="straightConnector1">
            <a:avLst/>
          </a:prstGeom>
          <a:ln xmlns:a="http://schemas.openxmlformats.org/drawingml/2006/main" w="9525">
            <a:solidFill>
              <a:srgbClr val="D6DAE0"/>
            </a:solidFill>
            <a:prstDash val="solid"/>
          </a:ln>
        </p:spPr>
      </p:cxnSp>
      <p:sp>
        <p:nvSpPr>
          <p:cNvPr id="3" name="">
            <a:extLst xmlns:a="http://schemas.openxmlformats.org/drawingml/2006/main">
              <a:ext uri="{FF2B5EF4-FFF2-40B4-BE49-F238E27FC236}">
                <a16:creationId xmlns:a16="http://schemas.microsoft.com/office/drawing/2014/main" id="{09FFE2DE-9DB6-4D4A-A08D-A91F3D57C823}"/>
              </a:ext>
            </a:extLst>
          </p:cNvPr>
          <p:cNvSpPr>
            <a:spLocks xmlns:a="http://schemas.openxmlformats.org/drawingml/2006/main" noGrp="1"/>
          </p:cNvSpPr>
          <p:nvPr/>
        </p:nvSpPr>
        <p:spPr>
          <a:xfrm xmlns:a="http://schemas.openxmlformats.org/drawingml/2006/main">
            <a:off x="438150" y="1276350"/>
            <a:ext cx="2000250" cy="495300"/>
          </a:xfrm>
          <a:prstGeom xmlns:a="http://schemas.openxmlformats.org/drawingml/2006/main" prst="rect">
            <a:avLst/>
          </a:prstGeom>
          <a:solidFill xmlns:a="http://schemas.openxmlformats.org/drawingml/2006/main">
            <a:srgbClr val="0B0F14"/>
          </a:solidFill>
          <a:ln xmlns:a="http://schemas.openxmlformats.org/drawingml/2006/main" w="9525">
            <a:solidFill>
              <a:srgbClr val="D6DAE0"/>
            </a:solidFill>
            <a:prstDash val="solid"/>
          </a:ln>
        </p:spPr>
      </p:sp>
      <p:sp>
        <p:nvSpPr>
          <p:cNvPr id="4" name="">
            <a:extLst xmlns:a="http://schemas.openxmlformats.org/drawingml/2006/main">
              <a:ext uri="{FF2B5EF4-FFF2-40B4-BE49-F238E27FC236}">
                <a16:creationId xmlns:a16="http://schemas.microsoft.com/office/drawing/2014/main" id="{F5537D5A-FD98-4515-8A58-DC0C79489699}"/>
              </a:ext>
            </a:extLst>
          </p:cNvPr>
          <p:cNvSpPr>
            <a:spLocks xmlns:a="http://schemas.openxmlformats.org/drawingml/2006/main" noGrp="1"/>
          </p:cNvSpPr>
          <p:nvPr/>
        </p:nvSpPr>
        <p:spPr>
          <a:xfrm xmlns:a="http://schemas.openxmlformats.org/drawingml/2006/main">
            <a:off x="533400" y="1352550"/>
            <a:ext cx="180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1" i="0">
                <a:solidFill>
                  <a:srgbClr val="FFFFFF"/>
                </a:solidFill>
                <a:latin typeface="Helvetica Neue"/>
                <a:ea typeface="Helvetica Neue"/>
                <a:cs typeface="Helvetica Neue"/>
              </a:defRPr>
            </a:pPr>
            <a:r>
              <a:rPr sz="1275" b="1" i="0">
                <a:solidFill>
                  <a:srgbClr val="FFFFFF"/>
                </a:solidFill>
                <a:latin typeface="Helvetica Neue"/>
                <a:ea typeface="Helvetica Neue"/>
                <a:cs typeface="Helvetica Neue"/>
              </a:rPr>
              <a:t>Feature Test</a:t>
            </a:r>
          </a:p>
        </p:txBody>
      </p:sp>
      <p:sp>
        <p:nvSpPr>
          <p:cNvPr id="5" name="">
            <a:extLst xmlns:a="http://schemas.openxmlformats.org/drawingml/2006/main">
              <a:ext uri="{FF2B5EF4-FFF2-40B4-BE49-F238E27FC236}">
                <a16:creationId xmlns:a16="http://schemas.microsoft.com/office/drawing/2014/main" id="{8C89F1E6-37E5-48D8-840C-5CEF7D56ACA8}"/>
              </a:ext>
            </a:extLst>
          </p:cNvPr>
          <p:cNvSpPr>
            <a:spLocks xmlns:a="http://schemas.openxmlformats.org/drawingml/2006/main" noGrp="1"/>
          </p:cNvSpPr>
          <p:nvPr/>
        </p:nvSpPr>
        <p:spPr>
          <a:xfrm xmlns:a="http://schemas.openxmlformats.org/drawingml/2006/main">
            <a:off x="2438400" y="1276350"/>
            <a:ext cx="2114550" cy="495300"/>
          </a:xfrm>
          <a:prstGeom xmlns:a="http://schemas.openxmlformats.org/drawingml/2006/main" prst="rect">
            <a:avLst/>
          </a:prstGeom>
          <a:solidFill xmlns:a="http://schemas.openxmlformats.org/drawingml/2006/main">
            <a:srgbClr val="0B0F14"/>
          </a:solidFill>
          <a:ln xmlns:a="http://schemas.openxmlformats.org/drawingml/2006/main" w="9525">
            <a:solidFill>
              <a:srgbClr val="D6DAE0"/>
            </a:solidFill>
            <a:prstDash val="solid"/>
          </a:ln>
        </p:spPr>
      </p:sp>
      <p:sp>
        <p:nvSpPr>
          <p:cNvPr id="6" name="">
            <a:extLst xmlns:a="http://schemas.openxmlformats.org/drawingml/2006/main">
              <a:ext uri="{FF2B5EF4-FFF2-40B4-BE49-F238E27FC236}">
                <a16:creationId xmlns:a16="http://schemas.microsoft.com/office/drawing/2014/main" id="{A9582C5D-8A7F-4659-B5C8-34C6AEB6B89D}"/>
              </a:ext>
            </a:extLst>
          </p:cNvPr>
          <p:cNvSpPr>
            <a:spLocks xmlns:a="http://schemas.openxmlformats.org/drawingml/2006/main" noGrp="1"/>
          </p:cNvSpPr>
          <p:nvPr/>
        </p:nvSpPr>
        <p:spPr>
          <a:xfrm xmlns:a="http://schemas.openxmlformats.org/drawingml/2006/main">
            <a:off x="2533650" y="1352550"/>
            <a:ext cx="1924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1" i="0">
                <a:solidFill>
                  <a:srgbClr val="FFFFFF"/>
                </a:solidFill>
                <a:latin typeface="Helvetica Neue"/>
                <a:ea typeface="Helvetica Neue"/>
                <a:cs typeface="Helvetica Neue"/>
              </a:defRPr>
            </a:pPr>
            <a:r>
              <a:rPr sz="1275" b="1" i="0">
                <a:solidFill>
                  <a:srgbClr val="FFFFFF"/>
                </a:solidFill>
                <a:latin typeface="Helvetica Neue"/>
                <a:ea typeface="Helvetica Neue"/>
                <a:cs typeface="Helvetica Neue"/>
              </a:rPr>
              <a:t>MAE Change</a:t>
            </a:r>
          </a:p>
        </p:txBody>
      </p:sp>
      <p:sp>
        <p:nvSpPr>
          <p:cNvPr id="7" name="">
            <a:extLst xmlns:a="http://schemas.openxmlformats.org/drawingml/2006/main">
              <a:ext uri="{FF2B5EF4-FFF2-40B4-BE49-F238E27FC236}">
                <a16:creationId xmlns:a16="http://schemas.microsoft.com/office/drawing/2014/main" id="{F089908C-B9F1-4639-A0FA-092B39515F33}"/>
              </a:ext>
            </a:extLst>
          </p:cNvPr>
          <p:cNvSpPr>
            <a:spLocks xmlns:a="http://schemas.openxmlformats.org/drawingml/2006/main" noGrp="1"/>
          </p:cNvSpPr>
          <p:nvPr/>
        </p:nvSpPr>
        <p:spPr>
          <a:xfrm xmlns:a="http://schemas.openxmlformats.org/drawingml/2006/main">
            <a:off x="4552950" y="1276350"/>
            <a:ext cx="1771650" cy="495300"/>
          </a:xfrm>
          <a:prstGeom xmlns:a="http://schemas.openxmlformats.org/drawingml/2006/main" prst="rect">
            <a:avLst/>
          </a:prstGeom>
          <a:solidFill xmlns:a="http://schemas.openxmlformats.org/drawingml/2006/main">
            <a:srgbClr val="0B0F14"/>
          </a:solidFill>
          <a:ln xmlns:a="http://schemas.openxmlformats.org/drawingml/2006/main" w="9525">
            <a:solidFill>
              <a:srgbClr val="D6DAE0"/>
            </a:solidFill>
            <a:prstDash val="solid"/>
          </a:ln>
        </p:spPr>
      </p:sp>
      <p:sp>
        <p:nvSpPr>
          <p:cNvPr id="8" name="">
            <a:extLst xmlns:a="http://schemas.openxmlformats.org/drawingml/2006/main">
              <a:ext uri="{FF2B5EF4-FFF2-40B4-BE49-F238E27FC236}">
                <a16:creationId xmlns:a16="http://schemas.microsoft.com/office/drawing/2014/main" id="{BC700BFF-F217-4655-80C1-A79E7D22050D}"/>
              </a:ext>
            </a:extLst>
          </p:cNvPr>
          <p:cNvSpPr>
            <a:spLocks xmlns:a="http://schemas.openxmlformats.org/drawingml/2006/main" noGrp="1"/>
          </p:cNvSpPr>
          <p:nvPr/>
        </p:nvSpPr>
        <p:spPr>
          <a:xfrm xmlns:a="http://schemas.openxmlformats.org/drawingml/2006/main">
            <a:off x="4648200" y="1352550"/>
            <a:ext cx="1581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1" i="0">
                <a:solidFill>
                  <a:srgbClr val="FFFFFF"/>
                </a:solidFill>
                <a:latin typeface="Helvetica Neue"/>
                <a:ea typeface="Helvetica Neue"/>
                <a:cs typeface="Helvetica Neue"/>
              </a:defRPr>
            </a:pPr>
            <a:r>
              <a:rPr sz="1275" b="1" i="0">
                <a:solidFill>
                  <a:srgbClr val="FFFFFF"/>
                </a:solidFill>
                <a:latin typeface="Helvetica Neue"/>
                <a:ea typeface="Helvetica Neue"/>
                <a:cs typeface="Helvetica Neue"/>
              </a:rPr>
              <a:t>95% Scaffold CI</a:t>
            </a:r>
          </a:p>
        </p:txBody>
      </p:sp>
      <p:sp>
        <p:nvSpPr>
          <p:cNvPr id="9" name="">
            <a:extLst xmlns:a="http://schemas.openxmlformats.org/drawingml/2006/main">
              <a:ext uri="{FF2B5EF4-FFF2-40B4-BE49-F238E27FC236}">
                <a16:creationId xmlns:a16="http://schemas.microsoft.com/office/drawing/2014/main" id="{10FE23B6-D131-4398-8DBC-B96D4D1FC37F}"/>
              </a:ext>
            </a:extLst>
          </p:cNvPr>
          <p:cNvSpPr>
            <a:spLocks xmlns:a="http://schemas.openxmlformats.org/drawingml/2006/main" noGrp="1"/>
          </p:cNvSpPr>
          <p:nvPr/>
        </p:nvSpPr>
        <p:spPr>
          <a:xfrm xmlns:a="http://schemas.openxmlformats.org/drawingml/2006/main">
            <a:off x="6324600" y="1276350"/>
            <a:ext cx="2609850" cy="495300"/>
          </a:xfrm>
          <a:prstGeom xmlns:a="http://schemas.openxmlformats.org/drawingml/2006/main" prst="rect">
            <a:avLst/>
          </a:prstGeom>
          <a:solidFill xmlns:a="http://schemas.openxmlformats.org/drawingml/2006/main">
            <a:srgbClr val="0B0F14"/>
          </a:solidFill>
          <a:ln xmlns:a="http://schemas.openxmlformats.org/drawingml/2006/main" w="9525">
            <a:solidFill>
              <a:srgbClr val="D6DAE0"/>
            </a:solidFill>
            <a:prstDash val="solid"/>
          </a:ln>
        </p:spPr>
      </p:sp>
      <p:sp>
        <p:nvSpPr>
          <p:cNvPr id="10" name="">
            <a:extLst xmlns:a="http://schemas.openxmlformats.org/drawingml/2006/main">
              <a:ext uri="{FF2B5EF4-FFF2-40B4-BE49-F238E27FC236}">
                <a16:creationId xmlns:a16="http://schemas.microsoft.com/office/drawing/2014/main" id="{C9967C39-1708-43EB-A025-C4D064DA75BA}"/>
              </a:ext>
            </a:extLst>
          </p:cNvPr>
          <p:cNvSpPr>
            <a:spLocks xmlns:a="http://schemas.openxmlformats.org/drawingml/2006/main" noGrp="1"/>
          </p:cNvSpPr>
          <p:nvPr/>
        </p:nvSpPr>
        <p:spPr>
          <a:xfrm xmlns:a="http://schemas.openxmlformats.org/drawingml/2006/main">
            <a:off x="6419850" y="1352550"/>
            <a:ext cx="2419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1" i="0">
                <a:solidFill>
                  <a:srgbClr val="FFFFFF"/>
                </a:solidFill>
                <a:latin typeface="Helvetica Neue"/>
                <a:ea typeface="Helvetica Neue"/>
                <a:cs typeface="Helvetica Neue"/>
              </a:defRPr>
            </a:pPr>
            <a:r>
              <a:rPr sz="1275" b="1" i="0">
                <a:solidFill>
                  <a:srgbClr val="FFFFFF"/>
                </a:solidFill>
                <a:latin typeface="Helvetica Neue"/>
                <a:ea typeface="Helvetica Neue"/>
                <a:cs typeface="Helvetica Neue"/>
              </a:rPr>
              <a:t>Evidence</a:t>
            </a:r>
          </a:p>
        </p:txBody>
      </p:sp>
      <p:sp>
        <p:nvSpPr>
          <p:cNvPr id="11" name="">
            <a:extLst xmlns:a="http://schemas.openxmlformats.org/drawingml/2006/main">
              <a:ext uri="{FF2B5EF4-FFF2-40B4-BE49-F238E27FC236}">
                <a16:creationId xmlns:a16="http://schemas.microsoft.com/office/drawing/2014/main" id="{A67D0C1F-0B4D-424E-B753-946A7D0034DB}"/>
              </a:ext>
            </a:extLst>
          </p:cNvPr>
          <p:cNvSpPr>
            <a:spLocks xmlns:a="http://schemas.openxmlformats.org/drawingml/2006/main" noGrp="1"/>
          </p:cNvSpPr>
          <p:nvPr/>
        </p:nvSpPr>
        <p:spPr>
          <a:xfrm xmlns:a="http://schemas.openxmlformats.org/drawingml/2006/main">
            <a:off x="8934450" y="1276350"/>
            <a:ext cx="2819400" cy="495300"/>
          </a:xfrm>
          <a:prstGeom xmlns:a="http://schemas.openxmlformats.org/drawingml/2006/main" prst="rect">
            <a:avLst/>
          </a:prstGeom>
          <a:solidFill xmlns:a="http://schemas.openxmlformats.org/drawingml/2006/main">
            <a:srgbClr val="0B0F14"/>
          </a:solidFill>
          <a:ln xmlns:a="http://schemas.openxmlformats.org/drawingml/2006/main" w="9525">
            <a:solidFill>
              <a:srgbClr val="D6DAE0"/>
            </a:solidFill>
            <a:prstDash val="solid"/>
          </a:ln>
        </p:spPr>
      </p:sp>
      <p:sp>
        <p:nvSpPr>
          <p:cNvPr id="12" name="">
            <a:extLst xmlns:a="http://schemas.openxmlformats.org/drawingml/2006/main">
              <a:ext uri="{FF2B5EF4-FFF2-40B4-BE49-F238E27FC236}">
                <a16:creationId xmlns:a16="http://schemas.microsoft.com/office/drawing/2014/main" id="{A4973D72-38F7-4AAA-AB9E-6A8E7AD604B8}"/>
              </a:ext>
            </a:extLst>
          </p:cNvPr>
          <p:cNvSpPr>
            <a:spLocks xmlns:a="http://schemas.openxmlformats.org/drawingml/2006/main" noGrp="1"/>
          </p:cNvSpPr>
          <p:nvPr/>
        </p:nvSpPr>
        <p:spPr>
          <a:xfrm xmlns:a="http://schemas.openxmlformats.org/drawingml/2006/main">
            <a:off x="9029700" y="1352550"/>
            <a:ext cx="2628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1" i="0">
                <a:solidFill>
                  <a:srgbClr val="FFFFFF"/>
                </a:solidFill>
                <a:latin typeface="Helvetica Neue"/>
                <a:ea typeface="Helvetica Neue"/>
                <a:cs typeface="Helvetica Neue"/>
              </a:defRPr>
            </a:pPr>
            <a:r>
              <a:rPr sz="1275" b="1" i="0">
                <a:solidFill>
                  <a:srgbClr val="FFFFFF"/>
                </a:solidFill>
                <a:latin typeface="Helvetica Neue"/>
                <a:ea typeface="Helvetica Neue"/>
                <a:cs typeface="Helvetica Neue"/>
              </a:rPr>
              <a:t>What We Learn</a:t>
            </a:r>
          </a:p>
        </p:txBody>
      </p:sp>
      <p:sp>
        <p:nvSpPr>
          <p:cNvPr id="13" name="">
            <a:extLst xmlns:a="http://schemas.openxmlformats.org/drawingml/2006/main">
              <a:ext uri="{FF2B5EF4-FFF2-40B4-BE49-F238E27FC236}">
                <a16:creationId xmlns:a16="http://schemas.microsoft.com/office/drawing/2014/main" id="{AE4E35E1-CB44-4491-A0EC-4DFF0975B875}"/>
              </a:ext>
            </a:extLst>
          </p:cNvPr>
          <p:cNvSpPr>
            <a:spLocks xmlns:a="http://schemas.openxmlformats.org/drawingml/2006/main" noGrp="1"/>
          </p:cNvSpPr>
          <p:nvPr/>
        </p:nvSpPr>
        <p:spPr>
          <a:xfrm xmlns:a="http://schemas.openxmlformats.org/drawingml/2006/main">
            <a:off x="438150" y="1771650"/>
            <a:ext cx="2000250" cy="723900"/>
          </a:xfrm>
          <a:prstGeom xmlns:a="http://schemas.openxmlformats.org/drawingml/2006/main" prst="rect">
            <a:avLst/>
          </a:prstGeom>
          <a:solidFill xmlns:a="http://schemas.openxmlformats.org/drawingml/2006/main">
            <a:srgbClr val="EAF2FF"/>
          </a:solidFill>
          <a:ln xmlns:a="http://schemas.openxmlformats.org/drawingml/2006/main" w="9525">
            <a:solidFill>
              <a:srgbClr val="D6DAE0"/>
            </a:solidFill>
            <a:prstDash val="solid"/>
          </a:ln>
        </p:spPr>
      </p:sp>
      <p:sp>
        <p:nvSpPr>
          <p:cNvPr id="14" name="">
            <a:extLst xmlns:a="http://schemas.openxmlformats.org/drawingml/2006/main">
              <a:ext uri="{FF2B5EF4-FFF2-40B4-BE49-F238E27FC236}">
                <a16:creationId xmlns:a16="http://schemas.microsoft.com/office/drawing/2014/main" id="{19FF64AA-9528-4C88-8B81-3DB57FAC89F8}"/>
              </a:ext>
            </a:extLst>
          </p:cNvPr>
          <p:cNvSpPr>
            <a:spLocks xmlns:a="http://schemas.openxmlformats.org/drawingml/2006/main" noGrp="1"/>
          </p:cNvSpPr>
          <p:nvPr/>
        </p:nvSpPr>
        <p:spPr>
          <a:xfrm xmlns:a="http://schemas.openxmlformats.org/drawingml/2006/main">
            <a:off x="533400" y="1847850"/>
            <a:ext cx="1809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i="0">
                <a:solidFill>
                  <a:srgbClr val="0B0F14"/>
                </a:solidFill>
                <a:latin typeface="Helvetica Neue"/>
                <a:ea typeface="Helvetica Neue"/>
                <a:cs typeface="Helvetica Neue"/>
              </a:defRPr>
            </a:pPr>
            <a:r>
              <a:rPr sz="1275" b="0" i="0">
                <a:solidFill>
                  <a:srgbClr val="0B0F14"/>
                </a:solidFill>
                <a:latin typeface="Helvetica Neue"/>
                <a:ea typeface="Helvetica Neue"/>
                <a:cs typeface="Helvetica Neue"/>
              </a:rPr>
              <a:t>Remove RDKit2D</a:t>
            </a:r>
          </a:p>
        </p:txBody>
      </p:sp>
      <p:sp>
        <p:nvSpPr>
          <p:cNvPr id="15" name="">
            <a:extLst xmlns:a="http://schemas.openxmlformats.org/drawingml/2006/main">
              <a:ext uri="{FF2B5EF4-FFF2-40B4-BE49-F238E27FC236}">
                <a16:creationId xmlns:a16="http://schemas.microsoft.com/office/drawing/2014/main" id="{18D18820-3B04-4F06-ACE4-06E1C6E20A34}"/>
              </a:ext>
            </a:extLst>
          </p:cNvPr>
          <p:cNvSpPr>
            <a:spLocks xmlns:a="http://schemas.openxmlformats.org/drawingml/2006/main" noGrp="1"/>
          </p:cNvSpPr>
          <p:nvPr/>
        </p:nvSpPr>
        <p:spPr>
          <a:xfrm xmlns:a="http://schemas.openxmlformats.org/drawingml/2006/main">
            <a:off x="2438400" y="1771650"/>
            <a:ext cx="2114550" cy="723900"/>
          </a:xfrm>
          <a:prstGeom xmlns:a="http://schemas.openxmlformats.org/drawingml/2006/main" prst="rect">
            <a:avLst/>
          </a:prstGeom>
          <a:solidFill xmlns:a="http://schemas.openxmlformats.org/drawingml/2006/main">
            <a:srgbClr val="EAF2FF"/>
          </a:solidFill>
          <a:ln xmlns:a="http://schemas.openxmlformats.org/drawingml/2006/main" w="9525">
            <a:solidFill>
              <a:srgbClr val="D6DAE0"/>
            </a:solidFill>
            <a:prstDash val="solid"/>
          </a:ln>
        </p:spPr>
      </p:sp>
      <p:sp>
        <p:nvSpPr>
          <p:cNvPr id="16" name="">
            <a:extLst xmlns:a="http://schemas.openxmlformats.org/drawingml/2006/main">
              <a:ext uri="{FF2B5EF4-FFF2-40B4-BE49-F238E27FC236}">
                <a16:creationId xmlns:a16="http://schemas.microsoft.com/office/drawing/2014/main" id="{28CEB8D1-0DD7-403D-A7EA-D9208B8F1E9B}"/>
              </a:ext>
            </a:extLst>
          </p:cNvPr>
          <p:cNvSpPr>
            <a:spLocks xmlns:a="http://schemas.openxmlformats.org/drawingml/2006/main" noGrp="1"/>
          </p:cNvSpPr>
          <p:nvPr/>
        </p:nvSpPr>
        <p:spPr>
          <a:xfrm xmlns:a="http://schemas.openxmlformats.org/drawingml/2006/main">
            <a:off x="2533650" y="1847850"/>
            <a:ext cx="1924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1" i="0">
                <a:solidFill>
                  <a:srgbClr val="1E63D5"/>
                </a:solidFill>
                <a:latin typeface="Helvetica Neue"/>
                <a:ea typeface="Helvetica Neue"/>
                <a:cs typeface="Helvetica Neue"/>
              </a:defRPr>
            </a:pPr>
            <a:r>
              <a:rPr sz="1275" b="1" i="0">
                <a:solidFill>
                  <a:srgbClr val="1E63D5"/>
                </a:solidFill>
                <a:latin typeface="Helvetica Neue"/>
                <a:ea typeface="Helvetica Neue"/>
                <a:cs typeface="Helvetica Neue"/>
              </a:rPr>
              <a:t>+0.0250</a:t>
            </a:r>
          </a:p>
        </p:txBody>
      </p:sp>
      <p:sp>
        <p:nvSpPr>
          <p:cNvPr id="17" name="">
            <a:extLst xmlns:a="http://schemas.openxmlformats.org/drawingml/2006/main">
              <a:ext uri="{FF2B5EF4-FFF2-40B4-BE49-F238E27FC236}">
                <a16:creationId xmlns:a16="http://schemas.microsoft.com/office/drawing/2014/main" id="{E06A0F5E-E5DD-425C-B981-45405903ADD4}"/>
              </a:ext>
            </a:extLst>
          </p:cNvPr>
          <p:cNvSpPr>
            <a:spLocks xmlns:a="http://schemas.openxmlformats.org/drawingml/2006/main" noGrp="1"/>
          </p:cNvSpPr>
          <p:nvPr/>
        </p:nvSpPr>
        <p:spPr>
          <a:xfrm xmlns:a="http://schemas.openxmlformats.org/drawingml/2006/main">
            <a:off x="4552950" y="1771650"/>
            <a:ext cx="1771650" cy="723900"/>
          </a:xfrm>
          <a:prstGeom xmlns:a="http://schemas.openxmlformats.org/drawingml/2006/main" prst="rect">
            <a:avLst/>
          </a:prstGeom>
          <a:solidFill xmlns:a="http://schemas.openxmlformats.org/drawingml/2006/main">
            <a:srgbClr val="EAF2FF"/>
          </a:solidFill>
          <a:ln xmlns:a="http://schemas.openxmlformats.org/drawingml/2006/main" w="9525">
            <a:solidFill>
              <a:srgbClr val="D6DAE0"/>
            </a:solidFill>
            <a:prstDash val="solid"/>
          </a:ln>
        </p:spPr>
      </p:sp>
      <p:sp>
        <p:nvSpPr>
          <p:cNvPr id="18" name="">
            <a:extLst xmlns:a="http://schemas.openxmlformats.org/drawingml/2006/main">
              <a:ext uri="{FF2B5EF4-FFF2-40B4-BE49-F238E27FC236}">
                <a16:creationId xmlns:a16="http://schemas.microsoft.com/office/drawing/2014/main" id="{7D05E8DE-7320-478E-A039-884D16D5691E}"/>
              </a:ext>
            </a:extLst>
          </p:cNvPr>
          <p:cNvSpPr>
            <a:spLocks xmlns:a="http://schemas.openxmlformats.org/drawingml/2006/main" noGrp="1"/>
          </p:cNvSpPr>
          <p:nvPr/>
        </p:nvSpPr>
        <p:spPr>
          <a:xfrm xmlns:a="http://schemas.openxmlformats.org/drawingml/2006/main">
            <a:off x="4648200" y="1847850"/>
            <a:ext cx="15811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i="0">
                <a:solidFill>
                  <a:srgbClr val="0B0F14"/>
                </a:solidFill>
                <a:latin typeface="Helvetica Neue"/>
                <a:ea typeface="Helvetica Neue"/>
                <a:cs typeface="Helvetica Neue"/>
              </a:defRPr>
            </a:pPr>
            <a:r>
              <a:rPr sz="1275" b="0" i="0">
                <a:solidFill>
                  <a:srgbClr val="0B0F14"/>
                </a:solidFill>
                <a:latin typeface="Helvetica Neue"/>
                <a:ea typeface="Helvetica Neue"/>
                <a:cs typeface="Helvetica Neue"/>
              </a:rPr>
              <a:t>+0.0204 to +0.0295</a:t>
            </a:r>
          </a:p>
        </p:txBody>
      </p:sp>
      <p:sp>
        <p:nvSpPr>
          <p:cNvPr id="19" name="">
            <a:extLst xmlns:a="http://schemas.openxmlformats.org/drawingml/2006/main">
              <a:ext uri="{FF2B5EF4-FFF2-40B4-BE49-F238E27FC236}">
                <a16:creationId xmlns:a16="http://schemas.microsoft.com/office/drawing/2014/main" id="{3165FB61-A1F9-4291-B032-9150671B05DF}"/>
              </a:ext>
            </a:extLst>
          </p:cNvPr>
          <p:cNvSpPr>
            <a:spLocks xmlns:a="http://schemas.openxmlformats.org/drawingml/2006/main" noGrp="1"/>
          </p:cNvSpPr>
          <p:nvPr/>
        </p:nvSpPr>
        <p:spPr>
          <a:xfrm xmlns:a="http://schemas.openxmlformats.org/drawingml/2006/main">
            <a:off x="6324600" y="1771650"/>
            <a:ext cx="2609850" cy="723900"/>
          </a:xfrm>
          <a:prstGeom xmlns:a="http://schemas.openxmlformats.org/drawingml/2006/main" prst="rect">
            <a:avLst/>
          </a:prstGeom>
          <a:solidFill xmlns:a="http://schemas.openxmlformats.org/drawingml/2006/main">
            <a:srgbClr val="EAF2FF"/>
          </a:solidFill>
          <a:ln xmlns:a="http://schemas.openxmlformats.org/drawingml/2006/main" w="9525">
            <a:solidFill>
              <a:srgbClr val="D6DAE0"/>
            </a:solidFill>
            <a:prstDash val="solid"/>
          </a:ln>
        </p:spPr>
      </p:sp>
      <p:sp>
        <p:nvSpPr>
          <p:cNvPr id="20" name="">
            <a:extLst xmlns:a="http://schemas.openxmlformats.org/drawingml/2006/main">
              <a:ext uri="{FF2B5EF4-FFF2-40B4-BE49-F238E27FC236}">
                <a16:creationId xmlns:a16="http://schemas.microsoft.com/office/drawing/2014/main" id="{D49DC2F8-9544-4A3D-AAFE-50F7DDE8630A}"/>
              </a:ext>
            </a:extLst>
          </p:cNvPr>
          <p:cNvSpPr>
            <a:spLocks xmlns:a="http://schemas.openxmlformats.org/drawingml/2006/main" noGrp="1"/>
          </p:cNvSpPr>
          <p:nvPr/>
        </p:nvSpPr>
        <p:spPr>
          <a:xfrm xmlns:a="http://schemas.openxmlformats.org/drawingml/2006/main">
            <a:off x="6419850" y="1847850"/>
            <a:ext cx="2419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1" i="0">
                <a:solidFill>
                  <a:srgbClr val="0B0F14"/>
                </a:solidFill>
                <a:latin typeface="Helvetica Neue"/>
                <a:ea typeface="Helvetica Neue"/>
                <a:cs typeface="Helvetica Neue"/>
              </a:defRPr>
            </a:pPr>
            <a:r>
              <a:rPr sz="1275" b="1" i="0">
                <a:solidFill>
                  <a:srgbClr val="0B0F14"/>
                </a:solidFill>
                <a:latin typeface="Helvetica Neue"/>
                <a:ea typeface="Helvetica Neue"/>
                <a:cs typeface="Helvetica Neue"/>
              </a:rPr>
              <a:t>Reliable In 5 Of 5 Folds</a:t>
            </a:r>
          </a:p>
        </p:txBody>
      </p:sp>
      <p:sp>
        <p:nvSpPr>
          <p:cNvPr id="21" name="">
            <a:extLst xmlns:a="http://schemas.openxmlformats.org/drawingml/2006/main">
              <a:ext uri="{FF2B5EF4-FFF2-40B4-BE49-F238E27FC236}">
                <a16:creationId xmlns:a16="http://schemas.microsoft.com/office/drawing/2014/main" id="{BA18B573-8205-4E66-8B98-300ED8F2C566}"/>
              </a:ext>
            </a:extLst>
          </p:cNvPr>
          <p:cNvSpPr>
            <a:spLocks xmlns:a="http://schemas.openxmlformats.org/drawingml/2006/main" noGrp="1"/>
          </p:cNvSpPr>
          <p:nvPr/>
        </p:nvSpPr>
        <p:spPr>
          <a:xfrm xmlns:a="http://schemas.openxmlformats.org/drawingml/2006/main">
            <a:off x="8934450" y="1771650"/>
            <a:ext cx="2819400" cy="723900"/>
          </a:xfrm>
          <a:prstGeom xmlns:a="http://schemas.openxmlformats.org/drawingml/2006/main" prst="rect">
            <a:avLst/>
          </a:prstGeom>
          <a:solidFill xmlns:a="http://schemas.openxmlformats.org/drawingml/2006/main">
            <a:srgbClr val="EAF2FF"/>
          </a:solidFill>
          <a:ln xmlns:a="http://schemas.openxmlformats.org/drawingml/2006/main" w="9525">
            <a:solidFill>
              <a:srgbClr val="D6DAE0"/>
            </a:solidFill>
            <a:prstDash val="solid"/>
          </a:ln>
        </p:spPr>
      </p:sp>
      <p:sp>
        <p:nvSpPr>
          <p:cNvPr id="22" name="">
            <a:extLst xmlns:a="http://schemas.openxmlformats.org/drawingml/2006/main">
              <a:ext uri="{FF2B5EF4-FFF2-40B4-BE49-F238E27FC236}">
                <a16:creationId xmlns:a16="http://schemas.microsoft.com/office/drawing/2014/main" id="{DF07F350-8CED-491E-B5B9-3765A957E6AF}"/>
              </a:ext>
            </a:extLst>
          </p:cNvPr>
          <p:cNvSpPr>
            <a:spLocks xmlns:a="http://schemas.openxmlformats.org/drawingml/2006/main" noGrp="1"/>
          </p:cNvSpPr>
          <p:nvPr/>
        </p:nvSpPr>
        <p:spPr>
          <a:xfrm xmlns:a="http://schemas.openxmlformats.org/drawingml/2006/main">
            <a:off x="9029700" y="1847850"/>
            <a:ext cx="2628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Global physicochemical structure is the strongest unique foundation.</a:t>
            </a:r>
          </a:p>
        </p:txBody>
      </p:sp>
      <p:sp>
        <p:nvSpPr>
          <p:cNvPr id="23" name="">
            <a:extLst xmlns:a="http://schemas.openxmlformats.org/drawingml/2006/main">
              <a:ext uri="{FF2B5EF4-FFF2-40B4-BE49-F238E27FC236}">
                <a16:creationId xmlns:a16="http://schemas.microsoft.com/office/drawing/2014/main" id="{4290FD77-05E1-40FE-8CF5-422ADB20F39A}"/>
              </a:ext>
            </a:extLst>
          </p:cNvPr>
          <p:cNvSpPr>
            <a:spLocks xmlns:a="http://schemas.openxmlformats.org/drawingml/2006/main" noGrp="1"/>
          </p:cNvSpPr>
          <p:nvPr/>
        </p:nvSpPr>
        <p:spPr>
          <a:xfrm xmlns:a="http://schemas.openxmlformats.org/drawingml/2006/main">
            <a:off x="438150" y="2495550"/>
            <a:ext cx="2000250" cy="723900"/>
          </a:xfrm>
          <a:prstGeom xmlns:a="http://schemas.openxmlformats.org/drawingml/2006/main" prst="rect">
            <a:avLst/>
          </a:prstGeom>
          <a:solidFill xmlns:a="http://schemas.openxmlformats.org/drawingml/2006/main">
            <a:srgbClr val="E9F7F1"/>
          </a:solidFill>
          <a:ln xmlns:a="http://schemas.openxmlformats.org/drawingml/2006/main" w="9525">
            <a:solidFill>
              <a:srgbClr val="D6DAE0"/>
            </a:solidFill>
            <a:prstDash val="solid"/>
          </a:ln>
        </p:spPr>
      </p:sp>
      <p:sp>
        <p:nvSpPr>
          <p:cNvPr id="24" name="">
            <a:extLst xmlns:a="http://schemas.openxmlformats.org/drawingml/2006/main">
              <a:ext uri="{FF2B5EF4-FFF2-40B4-BE49-F238E27FC236}">
                <a16:creationId xmlns:a16="http://schemas.microsoft.com/office/drawing/2014/main" id="{F9B002B3-FC42-4F67-AE4B-0BFBD2F0C660}"/>
              </a:ext>
            </a:extLst>
          </p:cNvPr>
          <p:cNvSpPr>
            <a:spLocks xmlns:a="http://schemas.openxmlformats.org/drawingml/2006/main" noGrp="1"/>
          </p:cNvSpPr>
          <p:nvPr/>
        </p:nvSpPr>
        <p:spPr>
          <a:xfrm xmlns:a="http://schemas.openxmlformats.org/drawingml/2006/main">
            <a:off x="533400" y="2571750"/>
            <a:ext cx="1809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i="0">
                <a:solidFill>
                  <a:srgbClr val="0B0F14"/>
                </a:solidFill>
                <a:latin typeface="Helvetica Neue"/>
                <a:ea typeface="Helvetica Neue"/>
                <a:cs typeface="Helvetica Neue"/>
              </a:defRPr>
            </a:pPr>
            <a:r>
              <a:rPr sz="1275" b="0" i="0">
                <a:solidFill>
                  <a:srgbClr val="0B0F14"/>
                </a:solidFill>
                <a:latin typeface="Helvetica Neue"/>
                <a:ea typeface="Helvetica Neue"/>
                <a:cs typeface="Helvetica Neue"/>
              </a:rPr>
              <a:t>Remove Morgan</a:t>
            </a:r>
          </a:p>
        </p:txBody>
      </p:sp>
      <p:sp>
        <p:nvSpPr>
          <p:cNvPr id="25" name="">
            <a:extLst xmlns:a="http://schemas.openxmlformats.org/drawingml/2006/main">
              <a:ext uri="{FF2B5EF4-FFF2-40B4-BE49-F238E27FC236}">
                <a16:creationId xmlns:a16="http://schemas.microsoft.com/office/drawing/2014/main" id="{E2BBD14D-A2F3-4652-BA47-D59B5C09A1E9}"/>
              </a:ext>
            </a:extLst>
          </p:cNvPr>
          <p:cNvSpPr>
            <a:spLocks xmlns:a="http://schemas.openxmlformats.org/drawingml/2006/main" noGrp="1"/>
          </p:cNvSpPr>
          <p:nvPr/>
        </p:nvSpPr>
        <p:spPr>
          <a:xfrm xmlns:a="http://schemas.openxmlformats.org/drawingml/2006/main">
            <a:off x="2438400" y="2495550"/>
            <a:ext cx="2114550" cy="723900"/>
          </a:xfrm>
          <a:prstGeom xmlns:a="http://schemas.openxmlformats.org/drawingml/2006/main" prst="rect">
            <a:avLst/>
          </a:prstGeom>
          <a:solidFill xmlns:a="http://schemas.openxmlformats.org/drawingml/2006/main">
            <a:srgbClr val="E9F7F1"/>
          </a:solidFill>
          <a:ln xmlns:a="http://schemas.openxmlformats.org/drawingml/2006/main" w="9525">
            <a:solidFill>
              <a:srgbClr val="D6DAE0"/>
            </a:solidFill>
            <a:prstDash val="solid"/>
          </a:ln>
        </p:spPr>
      </p:sp>
      <p:sp>
        <p:nvSpPr>
          <p:cNvPr id="26" name="">
            <a:extLst xmlns:a="http://schemas.openxmlformats.org/drawingml/2006/main">
              <a:ext uri="{FF2B5EF4-FFF2-40B4-BE49-F238E27FC236}">
                <a16:creationId xmlns:a16="http://schemas.microsoft.com/office/drawing/2014/main" id="{45AC7F3E-F5BA-49AF-B681-14523CB1CA66}"/>
              </a:ext>
            </a:extLst>
          </p:cNvPr>
          <p:cNvSpPr>
            <a:spLocks xmlns:a="http://schemas.openxmlformats.org/drawingml/2006/main" noGrp="1"/>
          </p:cNvSpPr>
          <p:nvPr/>
        </p:nvSpPr>
        <p:spPr>
          <a:xfrm xmlns:a="http://schemas.openxmlformats.org/drawingml/2006/main">
            <a:off x="2533650" y="2571750"/>
            <a:ext cx="1924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1" i="0">
                <a:solidFill>
                  <a:srgbClr val="16805A"/>
                </a:solidFill>
                <a:latin typeface="Helvetica Neue"/>
                <a:ea typeface="Helvetica Neue"/>
                <a:cs typeface="Helvetica Neue"/>
              </a:defRPr>
            </a:pPr>
            <a:r>
              <a:rPr sz="1275" b="1" i="0">
                <a:solidFill>
                  <a:srgbClr val="16805A"/>
                </a:solidFill>
                <a:latin typeface="Helvetica Neue"/>
                <a:ea typeface="Helvetica Neue"/>
                <a:cs typeface="Helvetica Neue"/>
              </a:rPr>
              <a:t>+0.0065</a:t>
            </a:r>
          </a:p>
        </p:txBody>
      </p:sp>
      <p:sp>
        <p:nvSpPr>
          <p:cNvPr id="27" name="">
            <a:extLst xmlns:a="http://schemas.openxmlformats.org/drawingml/2006/main">
              <a:ext uri="{FF2B5EF4-FFF2-40B4-BE49-F238E27FC236}">
                <a16:creationId xmlns:a16="http://schemas.microsoft.com/office/drawing/2014/main" id="{48A3CE29-6E5E-4A52-A970-30E621541396}"/>
              </a:ext>
            </a:extLst>
          </p:cNvPr>
          <p:cNvSpPr>
            <a:spLocks xmlns:a="http://schemas.openxmlformats.org/drawingml/2006/main" noGrp="1"/>
          </p:cNvSpPr>
          <p:nvPr/>
        </p:nvSpPr>
        <p:spPr>
          <a:xfrm xmlns:a="http://schemas.openxmlformats.org/drawingml/2006/main">
            <a:off x="4552950" y="2495550"/>
            <a:ext cx="1771650" cy="723900"/>
          </a:xfrm>
          <a:prstGeom xmlns:a="http://schemas.openxmlformats.org/drawingml/2006/main" prst="rect">
            <a:avLst/>
          </a:prstGeom>
          <a:solidFill xmlns:a="http://schemas.openxmlformats.org/drawingml/2006/main">
            <a:srgbClr val="E9F7F1"/>
          </a:solidFill>
          <a:ln xmlns:a="http://schemas.openxmlformats.org/drawingml/2006/main" w="9525">
            <a:solidFill>
              <a:srgbClr val="D6DAE0"/>
            </a:solidFill>
            <a:prstDash val="solid"/>
          </a:ln>
        </p:spPr>
      </p:sp>
      <p:sp>
        <p:nvSpPr>
          <p:cNvPr id="28" name="">
            <a:extLst xmlns:a="http://schemas.openxmlformats.org/drawingml/2006/main">
              <a:ext uri="{FF2B5EF4-FFF2-40B4-BE49-F238E27FC236}">
                <a16:creationId xmlns:a16="http://schemas.microsoft.com/office/drawing/2014/main" id="{C76CB770-1E5E-462D-9FF1-E8ACEEAD7CAE}"/>
              </a:ext>
            </a:extLst>
          </p:cNvPr>
          <p:cNvSpPr>
            <a:spLocks xmlns:a="http://schemas.openxmlformats.org/drawingml/2006/main" noGrp="1"/>
          </p:cNvSpPr>
          <p:nvPr/>
        </p:nvSpPr>
        <p:spPr>
          <a:xfrm xmlns:a="http://schemas.openxmlformats.org/drawingml/2006/main">
            <a:off x="4648200" y="2571750"/>
            <a:ext cx="15811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i="0">
                <a:solidFill>
                  <a:srgbClr val="0B0F14"/>
                </a:solidFill>
                <a:latin typeface="Helvetica Neue"/>
                <a:ea typeface="Helvetica Neue"/>
                <a:cs typeface="Helvetica Neue"/>
              </a:defRPr>
            </a:pPr>
            <a:r>
              <a:rPr sz="1275" b="0" i="0">
                <a:solidFill>
                  <a:srgbClr val="0B0F14"/>
                </a:solidFill>
                <a:latin typeface="Helvetica Neue"/>
                <a:ea typeface="Helvetica Neue"/>
                <a:cs typeface="Helvetica Neue"/>
              </a:rPr>
              <a:t>+0.0031 to +0.0101</a:t>
            </a:r>
          </a:p>
        </p:txBody>
      </p:sp>
      <p:sp>
        <p:nvSpPr>
          <p:cNvPr id="29" name="">
            <a:extLst xmlns:a="http://schemas.openxmlformats.org/drawingml/2006/main">
              <a:ext uri="{FF2B5EF4-FFF2-40B4-BE49-F238E27FC236}">
                <a16:creationId xmlns:a16="http://schemas.microsoft.com/office/drawing/2014/main" id="{7CBB9693-D45F-4EB3-8394-0F2265045748}"/>
              </a:ext>
            </a:extLst>
          </p:cNvPr>
          <p:cNvSpPr>
            <a:spLocks xmlns:a="http://schemas.openxmlformats.org/drawingml/2006/main" noGrp="1"/>
          </p:cNvSpPr>
          <p:nvPr/>
        </p:nvSpPr>
        <p:spPr>
          <a:xfrm xmlns:a="http://schemas.openxmlformats.org/drawingml/2006/main">
            <a:off x="6324600" y="2495550"/>
            <a:ext cx="2609850" cy="723900"/>
          </a:xfrm>
          <a:prstGeom xmlns:a="http://schemas.openxmlformats.org/drawingml/2006/main" prst="rect">
            <a:avLst/>
          </a:prstGeom>
          <a:solidFill xmlns:a="http://schemas.openxmlformats.org/drawingml/2006/main">
            <a:srgbClr val="E9F7F1"/>
          </a:solidFill>
          <a:ln xmlns:a="http://schemas.openxmlformats.org/drawingml/2006/main" w="9525">
            <a:solidFill>
              <a:srgbClr val="D6DAE0"/>
            </a:solidFill>
            <a:prstDash val="solid"/>
          </a:ln>
        </p:spPr>
      </p:sp>
      <p:sp>
        <p:nvSpPr>
          <p:cNvPr id="30" name="">
            <a:extLst xmlns:a="http://schemas.openxmlformats.org/drawingml/2006/main">
              <a:ext uri="{FF2B5EF4-FFF2-40B4-BE49-F238E27FC236}">
                <a16:creationId xmlns:a16="http://schemas.microsoft.com/office/drawing/2014/main" id="{90EDFBD3-D697-401B-AC1D-FB914B88F557}"/>
              </a:ext>
            </a:extLst>
          </p:cNvPr>
          <p:cNvSpPr>
            <a:spLocks xmlns:a="http://schemas.openxmlformats.org/drawingml/2006/main" noGrp="1"/>
          </p:cNvSpPr>
          <p:nvPr/>
        </p:nvSpPr>
        <p:spPr>
          <a:xfrm xmlns:a="http://schemas.openxmlformats.org/drawingml/2006/main">
            <a:off x="6419850" y="2571750"/>
            <a:ext cx="2419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1" i="0">
                <a:solidFill>
                  <a:srgbClr val="0B0F14"/>
                </a:solidFill>
                <a:latin typeface="Helvetica Neue"/>
                <a:ea typeface="Helvetica Neue"/>
                <a:cs typeface="Helvetica Neue"/>
              </a:defRPr>
            </a:pPr>
            <a:r>
              <a:rPr sz="1275" b="1" i="0">
                <a:solidFill>
                  <a:srgbClr val="0B0F14"/>
                </a:solidFill>
                <a:latin typeface="Helvetica Neue"/>
                <a:ea typeface="Helvetica Neue"/>
                <a:cs typeface="Helvetica Neue"/>
              </a:rPr>
              <a:t>Reliable In 4 Of 5 Folds</a:t>
            </a:r>
          </a:p>
        </p:txBody>
      </p:sp>
      <p:sp>
        <p:nvSpPr>
          <p:cNvPr id="31" name="">
            <a:extLst xmlns:a="http://schemas.openxmlformats.org/drawingml/2006/main">
              <a:ext uri="{FF2B5EF4-FFF2-40B4-BE49-F238E27FC236}">
                <a16:creationId xmlns:a16="http://schemas.microsoft.com/office/drawing/2014/main" id="{BAA47D23-48A0-4448-8B44-40A36061C804}"/>
              </a:ext>
            </a:extLst>
          </p:cNvPr>
          <p:cNvSpPr>
            <a:spLocks xmlns:a="http://schemas.openxmlformats.org/drawingml/2006/main" noGrp="1"/>
          </p:cNvSpPr>
          <p:nvPr/>
        </p:nvSpPr>
        <p:spPr>
          <a:xfrm xmlns:a="http://schemas.openxmlformats.org/drawingml/2006/main">
            <a:off x="8934450" y="2495550"/>
            <a:ext cx="2819400" cy="723900"/>
          </a:xfrm>
          <a:prstGeom xmlns:a="http://schemas.openxmlformats.org/drawingml/2006/main" prst="rect">
            <a:avLst/>
          </a:prstGeom>
          <a:solidFill xmlns:a="http://schemas.openxmlformats.org/drawingml/2006/main">
            <a:srgbClr val="E9F7F1"/>
          </a:solidFill>
          <a:ln xmlns:a="http://schemas.openxmlformats.org/drawingml/2006/main" w="9525">
            <a:solidFill>
              <a:srgbClr val="D6DAE0"/>
            </a:solidFill>
            <a:prstDash val="solid"/>
          </a:ln>
        </p:spPr>
      </p:sp>
      <p:sp>
        <p:nvSpPr>
          <p:cNvPr id="32" name="">
            <a:extLst xmlns:a="http://schemas.openxmlformats.org/drawingml/2006/main">
              <a:ext uri="{FF2B5EF4-FFF2-40B4-BE49-F238E27FC236}">
                <a16:creationId xmlns:a16="http://schemas.microsoft.com/office/drawing/2014/main" id="{2C615539-DB08-4B76-8032-5111FD67F12F}"/>
              </a:ext>
            </a:extLst>
          </p:cNvPr>
          <p:cNvSpPr>
            <a:spLocks xmlns:a="http://schemas.openxmlformats.org/drawingml/2006/main" noGrp="1"/>
          </p:cNvSpPr>
          <p:nvPr/>
        </p:nvSpPr>
        <p:spPr>
          <a:xfrm xmlns:a="http://schemas.openxmlformats.org/drawingml/2006/main">
            <a:off x="9029700" y="2571750"/>
            <a:ext cx="2628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Local substructure context adds independent scaffold-transfer signal.</a:t>
            </a:r>
          </a:p>
        </p:txBody>
      </p:sp>
      <p:sp>
        <p:nvSpPr>
          <p:cNvPr id="33" name="">
            <a:extLst xmlns:a="http://schemas.openxmlformats.org/drawingml/2006/main">
              <a:ext uri="{FF2B5EF4-FFF2-40B4-BE49-F238E27FC236}">
                <a16:creationId xmlns:a16="http://schemas.microsoft.com/office/drawing/2014/main" id="{37E4AFA3-C8D0-4353-B18A-87C4208460AF}"/>
              </a:ext>
            </a:extLst>
          </p:cNvPr>
          <p:cNvSpPr>
            <a:spLocks xmlns:a="http://schemas.openxmlformats.org/drawingml/2006/main" noGrp="1"/>
          </p:cNvSpPr>
          <p:nvPr/>
        </p:nvSpPr>
        <p:spPr>
          <a:xfrm xmlns:a="http://schemas.openxmlformats.org/drawingml/2006/main">
            <a:off x="438150" y="3219450"/>
            <a:ext cx="2000250" cy="723900"/>
          </a:xfrm>
          <a:prstGeom xmlns:a="http://schemas.openxmlformats.org/drawingml/2006/main" prst="rect">
            <a:avLst/>
          </a:prstGeom>
          <a:solidFill xmlns:a="http://schemas.openxmlformats.org/drawingml/2006/main">
            <a:srgbClr val="FCECEC"/>
          </a:solidFill>
          <a:ln xmlns:a="http://schemas.openxmlformats.org/drawingml/2006/main" w="9525">
            <a:solidFill>
              <a:srgbClr val="D6DAE0"/>
            </a:solidFill>
            <a:prstDash val="solid"/>
          </a:ln>
        </p:spPr>
      </p:sp>
      <p:sp>
        <p:nvSpPr>
          <p:cNvPr id="34" name="">
            <a:extLst xmlns:a="http://schemas.openxmlformats.org/drawingml/2006/main">
              <a:ext uri="{FF2B5EF4-FFF2-40B4-BE49-F238E27FC236}">
                <a16:creationId xmlns:a16="http://schemas.microsoft.com/office/drawing/2014/main" id="{130485E2-E540-459E-BB8C-4BCFA26661F7}"/>
              </a:ext>
            </a:extLst>
          </p:cNvPr>
          <p:cNvSpPr>
            <a:spLocks xmlns:a="http://schemas.openxmlformats.org/drawingml/2006/main" noGrp="1"/>
          </p:cNvSpPr>
          <p:nvPr/>
        </p:nvSpPr>
        <p:spPr>
          <a:xfrm xmlns:a="http://schemas.openxmlformats.org/drawingml/2006/main">
            <a:off x="533400" y="3295650"/>
            <a:ext cx="1809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i="0">
                <a:solidFill>
                  <a:srgbClr val="0B0F14"/>
                </a:solidFill>
                <a:latin typeface="Helvetica Neue"/>
                <a:ea typeface="Helvetica Neue"/>
                <a:cs typeface="Helvetica Neue"/>
              </a:defRPr>
            </a:pPr>
            <a:r>
              <a:rPr sz="1275" b="0" i="0">
                <a:solidFill>
                  <a:srgbClr val="0B0F14"/>
                </a:solidFill>
                <a:latin typeface="Helvetica Neue"/>
                <a:ea typeface="Helvetica Neue"/>
                <a:cs typeface="Helvetica Neue"/>
              </a:rPr>
              <a:t>Add Old Ligand 3D</a:t>
            </a:r>
          </a:p>
        </p:txBody>
      </p:sp>
      <p:sp>
        <p:nvSpPr>
          <p:cNvPr id="35" name="">
            <a:extLst xmlns:a="http://schemas.openxmlformats.org/drawingml/2006/main">
              <a:ext uri="{FF2B5EF4-FFF2-40B4-BE49-F238E27FC236}">
                <a16:creationId xmlns:a16="http://schemas.microsoft.com/office/drawing/2014/main" id="{BA9AF3B9-966F-4900-A6C6-A31B8F34B487}"/>
              </a:ext>
            </a:extLst>
          </p:cNvPr>
          <p:cNvSpPr>
            <a:spLocks xmlns:a="http://schemas.openxmlformats.org/drawingml/2006/main" noGrp="1"/>
          </p:cNvSpPr>
          <p:nvPr/>
        </p:nvSpPr>
        <p:spPr>
          <a:xfrm xmlns:a="http://schemas.openxmlformats.org/drawingml/2006/main">
            <a:off x="2438400" y="3219450"/>
            <a:ext cx="2114550" cy="723900"/>
          </a:xfrm>
          <a:prstGeom xmlns:a="http://schemas.openxmlformats.org/drawingml/2006/main" prst="rect">
            <a:avLst/>
          </a:prstGeom>
          <a:solidFill xmlns:a="http://schemas.openxmlformats.org/drawingml/2006/main">
            <a:srgbClr val="FCECEC"/>
          </a:solidFill>
          <a:ln xmlns:a="http://schemas.openxmlformats.org/drawingml/2006/main" w="9525">
            <a:solidFill>
              <a:srgbClr val="D6DAE0"/>
            </a:solidFill>
            <a:prstDash val="solid"/>
          </a:ln>
        </p:spPr>
      </p:sp>
      <p:sp>
        <p:nvSpPr>
          <p:cNvPr id="36" name="">
            <a:extLst xmlns:a="http://schemas.openxmlformats.org/drawingml/2006/main">
              <a:ext uri="{FF2B5EF4-FFF2-40B4-BE49-F238E27FC236}">
                <a16:creationId xmlns:a16="http://schemas.microsoft.com/office/drawing/2014/main" id="{7645B137-3561-41BA-B536-C3DA202F377B}"/>
              </a:ext>
            </a:extLst>
          </p:cNvPr>
          <p:cNvSpPr>
            <a:spLocks xmlns:a="http://schemas.openxmlformats.org/drawingml/2006/main" noGrp="1"/>
          </p:cNvSpPr>
          <p:nvPr/>
        </p:nvSpPr>
        <p:spPr>
          <a:xfrm xmlns:a="http://schemas.openxmlformats.org/drawingml/2006/main">
            <a:off x="2533650" y="3295650"/>
            <a:ext cx="1924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1" i="0">
                <a:solidFill>
                  <a:srgbClr val="B84040"/>
                </a:solidFill>
                <a:latin typeface="Helvetica Neue"/>
                <a:ea typeface="Helvetica Neue"/>
                <a:cs typeface="Helvetica Neue"/>
              </a:defRPr>
            </a:pPr>
            <a:r>
              <a:rPr sz="1275" b="1" i="0">
                <a:solidFill>
                  <a:srgbClr val="B84040"/>
                </a:solidFill>
                <a:latin typeface="Helvetica Neue"/>
                <a:ea typeface="Helvetica Neue"/>
                <a:cs typeface="Helvetica Neue"/>
              </a:rPr>
              <a:t>-0.0052</a:t>
            </a:r>
          </a:p>
        </p:txBody>
      </p:sp>
      <p:sp>
        <p:nvSpPr>
          <p:cNvPr id="37" name="">
            <a:extLst xmlns:a="http://schemas.openxmlformats.org/drawingml/2006/main">
              <a:ext uri="{FF2B5EF4-FFF2-40B4-BE49-F238E27FC236}">
                <a16:creationId xmlns:a16="http://schemas.microsoft.com/office/drawing/2014/main" id="{9A6EE041-365C-4ACB-B9A2-299BD35E1F04}"/>
              </a:ext>
            </a:extLst>
          </p:cNvPr>
          <p:cNvSpPr>
            <a:spLocks xmlns:a="http://schemas.openxmlformats.org/drawingml/2006/main" noGrp="1"/>
          </p:cNvSpPr>
          <p:nvPr/>
        </p:nvSpPr>
        <p:spPr>
          <a:xfrm xmlns:a="http://schemas.openxmlformats.org/drawingml/2006/main">
            <a:off x="4552950" y="3219450"/>
            <a:ext cx="1771650" cy="723900"/>
          </a:xfrm>
          <a:prstGeom xmlns:a="http://schemas.openxmlformats.org/drawingml/2006/main" prst="rect">
            <a:avLst/>
          </a:prstGeom>
          <a:solidFill xmlns:a="http://schemas.openxmlformats.org/drawingml/2006/main">
            <a:srgbClr val="FCECEC"/>
          </a:solidFill>
          <a:ln xmlns:a="http://schemas.openxmlformats.org/drawingml/2006/main" w="9525">
            <a:solidFill>
              <a:srgbClr val="D6DAE0"/>
            </a:solidFill>
            <a:prstDash val="solid"/>
          </a:ln>
        </p:spPr>
      </p:sp>
      <p:sp>
        <p:nvSpPr>
          <p:cNvPr id="38" name="">
            <a:extLst xmlns:a="http://schemas.openxmlformats.org/drawingml/2006/main">
              <a:ext uri="{FF2B5EF4-FFF2-40B4-BE49-F238E27FC236}">
                <a16:creationId xmlns:a16="http://schemas.microsoft.com/office/drawing/2014/main" id="{4C24C559-9F72-4DF0-B704-3B482EF506D4}"/>
              </a:ext>
            </a:extLst>
          </p:cNvPr>
          <p:cNvSpPr>
            <a:spLocks xmlns:a="http://schemas.openxmlformats.org/drawingml/2006/main" noGrp="1"/>
          </p:cNvSpPr>
          <p:nvPr/>
        </p:nvSpPr>
        <p:spPr>
          <a:xfrm xmlns:a="http://schemas.openxmlformats.org/drawingml/2006/main">
            <a:off x="4648200" y="3295650"/>
            <a:ext cx="15811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i="0">
                <a:solidFill>
                  <a:srgbClr val="0B0F14"/>
                </a:solidFill>
                <a:latin typeface="Helvetica Neue"/>
                <a:ea typeface="Helvetica Neue"/>
                <a:cs typeface="Helvetica Neue"/>
              </a:defRPr>
            </a:pPr>
            <a:r>
              <a:rPr sz="1275" b="0" i="0">
                <a:solidFill>
                  <a:srgbClr val="0B0F14"/>
                </a:solidFill>
                <a:latin typeface="Helvetica Neue"/>
                <a:ea typeface="Helvetica Neue"/>
                <a:cs typeface="Helvetica Neue"/>
              </a:rPr>
              <a:t>-0.0078 to -0.0026</a:t>
            </a:r>
          </a:p>
        </p:txBody>
      </p:sp>
      <p:sp>
        <p:nvSpPr>
          <p:cNvPr id="39" name="">
            <a:extLst xmlns:a="http://schemas.openxmlformats.org/drawingml/2006/main">
              <a:ext uri="{FF2B5EF4-FFF2-40B4-BE49-F238E27FC236}">
                <a16:creationId xmlns:a16="http://schemas.microsoft.com/office/drawing/2014/main" id="{7C26FE71-3E21-45D7-AF4C-4D21BD09FF19}"/>
              </a:ext>
            </a:extLst>
          </p:cNvPr>
          <p:cNvSpPr>
            <a:spLocks xmlns:a="http://schemas.openxmlformats.org/drawingml/2006/main" noGrp="1"/>
          </p:cNvSpPr>
          <p:nvPr/>
        </p:nvSpPr>
        <p:spPr>
          <a:xfrm xmlns:a="http://schemas.openxmlformats.org/drawingml/2006/main">
            <a:off x="6324600" y="3219450"/>
            <a:ext cx="2609850" cy="723900"/>
          </a:xfrm>
          <a:prstGeom xmlns:a="http://schemas.openxmlformats.org/drawingml/2006/main" prst="rect">
            <a:avLst/>
          </a:prstGeom>
          <a:solidFill xmlns:a="http://schemas.openxmlformats.org/drawingml/2006/main">
            <a:srgbClr val="FCECEC"/>
          </a:solidFill>
          <a:ln xmlns:a="http://schemas.openxmlformats.org/drawingml/2006/main" w="9525">
            <a:solidFill>
              <a:srgbClr val="D6DAE0"/>
            </a:solidFill>
            <a:prstDash val="solid"/>
          </a:ln>
        </p:spPr>
      </p:sp>
      <p:sp>
        <p:nvSpPr>
          <p:cNvPr id="40" name="">
            <a:extLst xmlns:a="http://schemas.openxmlformats.org/drawingml/2006/main">
              <a:ext uri="{FF2B5EF4-FFF2-40B4-BE49-F238E27FC236}">
                <a16:creationId xmlns:a16="http://schemas.microsoft.com/office/drawing/2014/main" id="{92C96692-F856-4369-ADF5-51DEE3198165}"/>
              </a:ext>
            </a:extLst>
          </p:cNvPr>
          <p:cNvSpPr>
            <a:spLocks xmlns:a="http://schemas.openxmlformats.org/drawingml/2006/main" noGrp="1"/>
          </p:cNvSpPr>
          <p:nvPr/>
        </p:nvSpPr>
        <p:spPr>
          <a:xfrm xmlns:a="http://schemas.openxmlformats.org/drawingml/2006/main">
            <a:off x="6419850" y="3295650"/>
            <a:ext cx="2419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1" i="0">
                <a:solidFill>
                  <a:srgbClr val="0B0F14"/>
                </a:solidFill>
                <a:latin typeface="Helvetica Neue"/>
                <a:ea typeface="Helvetica Neue"/>
                <a:cs typeface="Helvetica Neue"/>
              </a:defRPr>
            </a:pPr>
            <a:r>
              <a:rPr sz="1275" b="1" i="0">
                <a:solidFill>
                  <a:srgbClr val="0B0F14"/>
                </a:solidFill>
                <a:latin typeface="Helvetica Neue"/>
                <a:ea typeface="Helvetica Neue"/>
                <a:cs typeface="Helvetica Neue"/>
              </a:rPr>
              <a:t>Reliable Deterioration</a:t>
            </a:r>
          </a:p>
        </p:txBody>
      </p:sp>
      <p:sp>
        <p:nvSpPr>
          <p:cNvPr id="41" name="">
            <a:extLst xmlns:a="http://schemas.openxmlformats.org/drawingml/2006/main">
              <a:ext uri="{FF2B5EF4-FFF2-40B4-BE49-F238E27FC236}">
                <a16:creationId xmlns:a16="http://schemas.microsoft.com/office/drawing/2014/main" id="{91479DFC-9AA7-4FE1-82EC-C2695C93C51F}"/>
              </a:ext>
            </a:extLst>
          </p:cNvPr>
          <p:cNvSpPr>
            <a:spLocks xmlns:a="http://schemas.openxmlformats.org/drawingml/2006/main" noGrp="1"/>
          </p:cNvSpPr>
          <p:nvPr/>
        </p:nvSpPr>
        <p:spPr>
          <a:xfrm xmlns:a="http://schemas.openxmlformats.org/drawingml/2006/main">
            <a:off x="8934450" y="3219450"/>
            <a:ext cx="2819400" cy="723900"/>
          </a:xfrm>
          <a:prstGeom xmlns:a="http://schemas.openxmlformats.org/drawingml/2006/main" prst="rect">
            <a:avLst/>
          </a:prstGeom>
          <a:solidFill xmlns:a="http://schemas.openxmlformats.org/drawingml/2006/main">
            <a:srgbClr val="FCECEC"/>
          </a:solidFill>
          <a:ln xmlns:a="http://schemas.openxmlformats.org/drawingml/2006/main" w="9525">
            <a:solidFill>
              <a:srgbClr val="D6DAE0"/>
            </a:solidFill>
            <a:prstDash val="solid"/>
          </a:ln>
        </p:spPr>
      </p:sp>
      <p:sp>
        <p:nvSpPr>
          <p:cNvPr id="42" name="">
            <a:extLst xmlns:a="http://schemas.openxmlformats.org/drawingml/2006/main">
              <a:ext uri="{FF2B5EF4-FFF2-40B4-BE49-F238E27FC236}">
                <a16:creationId xmlns:a16="http://schemas.microsoft.com/office/drawing/2014/main" id="{CBB46D80-53E7-4D84-9BB5-B19EC92AE8C4}"/>
              </a:ext>
            </a:extLst>
          </p:cNvPr>
          <p:cNvSpPr>
            <a:spLocks xmlns:a="http://schemas.openxmlformats.org/drawingml/2006/main" noGrp="1"/>
          </p:cNvSpPr>
          <p:nvPr/>
        </p:nvSpPr>
        <p:spPr>
          <a:xfrm xmlns:a="http://schemas.openxmlformats.org/drawingml/2006/main">
            <a:off x="9029700" y="3295650"/>
            <a:ext cx="2628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Generic or unstable 3D can actively dilute a strong 2D model.</a:t>
            </a:r>
          </a:p>
        </p:txBody>
      </p:sp>
      <p:sp>
        <p:nvSpPr>
          <p:cNvPr id="43" name="">
            <a:extLst xmlns:a="http://schemas.openxmlformats.org/drawingml/2006/main">
              <a:ext uri="{FF2B5EF4-FFF2-40B4-BE49-F238E27FC236}">
                <a16:creationId xmlns:a16="http://schemas.microsoft.com/office/drawing/2014/main" id="{A7517C5B-8397-4796-9FE1-D37159183B97}"/>
              </a:ext>
            </a:extLst>
          </p:cNvPr>
          <p:cNvSpPr>
            <a:spLocks xmlns:a="http://schemas.openxmlformats.org/drawingml/2006/main" noGrp="1"/>
          </p:cNvSpPr>
          <p:nvPr/>
        </p:nvSpPr>
        <p:spPr>
          <a:xfrm xmlns:a="http://schemas.openxmlformats.org/drawingml/2006/main">
            <a:off x="438150" y="3943350"/>
            <a:ext cx="2000250" cy="7239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44" name="">
            <a:extLst xmlns:a="http://schemas.openxmlformats.org/drawingml/2006/main">
              <a:ext uri="{FF2B5EF4-FFF2-40B4-BE49-F238E27FC236}">
                <a16:creationId xmlns:a16="http://schemas.microsoft.com/office/drawing/2014/main" id="{6B98D4A5-0053-454F-85CC-263075C0EA19}"/>
              </a:ext>
            </a:extLst>
          </p:cNvPr>
          <p:cNvSpPr>
            <a:spLocks xmlns:a="http://schemas.openxmlformats.org/drawingml/2006/main" noGrp="1"/>
          </p:cNvSpPr>
          <p:nvPr/>
        </p:nvSpPr>
        <p:spPr>
          <a:xfrm xmlns:a="http://schemas.openxmlformats.org/drawingml/2006/main">
            <a:off x="533400" y="4019550"/>
            <a:ext cx="1809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i="0">
                <a:solidFill>
                  <a:srgbClr val="0B0F14"/>
                </a:solidFill>
                <a:latin typeface="Helvetica Neue"/>
                <a:ea typeface="Helvetica Neue"/>
                <a:cs typeface="Helvetica Neue"/>
              </a:defRPr>
            </a:pPr>
            <a:r>
              <a:rPr sz="1275" b="0" i="0">
                <a:solidFill>
                  <a:srgbClr val="0B0F14"/>
                </a:solidFill>
                <a:latin typeface="Helvetica Neue"/>
                <a:ea typeface="Helvetica Neue"/>
                <a:cs typeface="Helvetica Neue"/>
              </a:rPr>
              <a:t>Add Polarity and Contacts</a:t>
            </a:r>
          </a:p>
        </p:txBody>
      </p:sp>
      <p:sp>
        <p:nvSpPr>
          <p:cNvPr id="45" name="">
            <a:extLst xmlns:a="http://schemas.openxmlformats.org/drawingml/2006/main">
              <a:ext uri="{FF2B5EF4-FFF2-40B4-BE49-F238E27FC236}">
                <a16:creationId xmlns:a16="http://schemas.microsoft.com/office/drawing/2014/main" id="{B13FC6EA-007F-4AEF-8325-05B003C0090A}"/>
              </a:ext>
            </a:extLst>
          </p:cNvPr>
          <p:cNvSpPr>
            <a:spLocks xmlns:a="http://schemas.openxmlformats.org/drawingml/2006/main" noGrp="1"/>
          </p:cNvSpPr>
          <p:nvPr/>
        </p:nvSpPr>
        <p:spPr>
          <a:xfrm xmlns:a="http://schemas.openxmlformats.org/drawingml/2006/main">
            <a:off x="2438400" y="3943350"/>
            <a:ext cx="2114550" cy="7239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46" name="">
            <a:extLst xmlns:a="http://schemas.openxmlformats.org/drawingml/2006/main">
              <a:ext uri="{FF2B5EF4-FFF2-40B4-BE49-F238E27FC236}">
                <a16:creationId xmlns:a16="http://schemas.microsoft.com/office/drawing/2014/main" id="{97B266A9-5E8B-4668-9B8B-4672C3FB9F0D}"/>
              </a:ext>
            </a:extLst>
          </p:cNvPr>
          <p:cNvSpPr>
            <a:spLocks xmlns:a="http://schemas.openxmlformats.org/drawingml/2006/main" noGrp="1"/>
          </p:cNvSpPr>
          <p:nvPr/>
        </p:nvSpPr>
        <p:spPr>
          <a:xfrm xmlns:a="http://schemas.openxmlformats.org/drawingml/2006/main">
            <a:off x="2533650" y="4019550"/>
            <a:ext cx="1924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1" i="0">
                <a:solidFill>
                  <a:srgbClr val="59616D"/>
                </a:solidFill>
                <a:latin typeface="Helvetica Neue"/>
                <a:ea typeface="Helvetica Neue"/>
                <a:cs typeface="Helvetica Neue"/>
              </a:defRPr>
            </a:pPr>
            <a:r>
              <a:rPr sz="1275" b="1" i="0">
                <a:solidFill>
                  <a:srgbClr val="59616D"/>
                </a:solidFill>
                <a:latin typeface="Helvetica Neue"/>
                <a:ea typeface="Helvetica Neue"/>
                <a:cs typeface="Helvetica Neue"/>
              </a:rPr>
              <a:t>-0.0007</a:t>
            </a:r>
          </a:p>
        </p:txBody>
      </p:sp>
      <p:sp>
        <p:nvSpPr>
          <p:cNvPr id="47" name="">
            <a:extLst xmlns:a="http://schemas.openxmlformats.org/drawingml/2006/main">
              <a:ext uri="{FF2B5EF4-FFF2-40B4-BE49-F238E27FC236}">
                <a16:creationId xmlns:a16="http://schemas.microsoft.com/office/drawing/2014/main" id="{8FD12F6A-2671-456D-8646-219D38247CA9}"/>
              </a:ext>
            </a:extLst>
          </p:cNvPr>
          <p:cNvSpPr>
            <a:spLocks xmlns:a="http://schemas.openxmlformats.org/drawingml/2006/main" noGrp="1"/>
          </p:cNvSpPr>
          <p:nvPr/>
        </p:nvSpPr>
        <p:spPr>
          <a:xfrm xmlns:a="http://schemas.openxmlformats.org/drawingml/2006/main">
            <a:off x="4552950" y="3943350"/>
            <a:ext cx="1771650" cy="7239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48" name="">
            <a:extLst xmlns:a="http://schemas.openxmlformats.org/drawingml/2006/main">
              <a:ext uri="{FF2B5EF4-FFF2-40B4-BE49-F238E27FC236}">
                <a16:creationId xmlns:a16="http://schemas.microsoft.com/office/drawing/2014/main" id="{0DF094A5-F854-44C3-BE12-31C415651229}"/>
              </a:ext>
            </a:extLst>
          </p:cNvPr>
          <p:cNvSpPr>
            <a:spLocks xmlns:a="http://schemas.openxmlformats.org/drawingml/2006/main" noGrp="1"/>
          </p:cNvSpPr>
          <p:nvPr/>
        </p:nvSpPr>
        <p:spPr>
          <a:xfrm xmlns:a="http://schemas.openxmlformats.org/drawingml/2006/main">
            <a:off x="4648200" y="4019550"/>
            <a:ext cx="15811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i="0">
                <a:solidFill>
                  <a:srgbClr val="0B0F14"/>
                </a:solidFill>
                <a:latin typeface="Helvetica Neue"/>
                <a:ea typeface="Helvetica Neue"/>
                <a:cs typeface="Helvetica Neue"/>
              </a:defRPr>
            </a:pPr>
            <a:r>
              <a:rPr sz="1275" b="0" i="0">
                <a:solidFill>
                  <a:srgbClr val="0B0F14"/>
                </a:solidFill>
                <a:latin typeface="Helvetica Neue"/>
                <a:ea typeface="Helvetica Neue"/>
                <a:cs typeface="Helvetica Neue"/>
              </a:rPr>
              <a:t>-0.0022 to +0.0008</a:t>
            </a:r>
          </a:p>
        </p:txBody>
      </p:sp>
      <p:sp>
        <p:nvSpPr>
          <p:cNvPr id="49" name="">
            <a:extLst xmlns:a="http://schemas.openxmlformats.org/drawingml/2006/main">
              <a:ext uri="{FF2B5EF4-FFF2-40B4-BE49-F238E27FC236}">
                <a16:creationId xmlns:a16="http://schemas.microsoft.com/office/drawing/2014/main" id="{46DA6E53-79FA-442C-BDF7-D747C4CFDC55}"/>
              </a:ext>
            </a:extLst>
          </p:cNvPr>
          <p:cNvSpPr>
            <a:spLocks xmlns:a="http://schemas.openxmlformats.org/drawingml/2006/main" noGrp="1"/>
          </p:cNvSpPr>
          <p:nvPr/>
        </p:nvSpPr>
        <p:spPr>
          <a:xfrm xmlns:a="http://schemas.openxmlformats.org/drawingml/2006/main">
            <a:off x="6324600" y="3943350"/>
            <a:ext cx="2609850" cy="7239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50" name="">
            <a:extLst xmlns:a="http://schemas.openxmlformats.org/drawingml/2006/main">
              <a:ext uri="{FF2B5EF4-FFF2-40B4-BE49-F238E27FC236}">
                <a16:creationId xmlns:a16="http://schemas.microsoft.com/office/drawing/2014/main" id="{E0969068-83EE-434E-BB9D-9CC19C62F730}"/>
              </a:ext>
            </a:extLst>
          </p:cNvPr>
          <p:cNvSpPr>
            <a:spLocks xmlns:a="http://schemas.openxmlformats.org/drawingml/2006/main" noGrp="1"/>
          </p:cNvSpPr>
          <p:nvPr/>
        </p:nvSpPr>
        <p:spPr>
          <a:xfrm xmlns:a="http://schemas.openxmlformats.org/drawingml/2006/main">
            <a:off x="6419850" y="4019550"/>
            <a:ext cx="2419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1" i="0">
                <a:solidFill>
                  <a:srgbClr val="0B0F14"/>
                </a:solidFill>
                <a:latin typeface="Helvetica Neue"/>
                <a:ea typeface="Helvetica Neue"/>
                <a:cs typeface="Helvetica Neue"/>
              </a:defRPr>
            </a:pPr>
            <a:r>
              <a:rPr sz="1275" b="1" i="0">
                <a:solidFill>
                  <a:srgbClr val="0B0F14"/>
                </a:solidFill>
                <a:latin typeface="Helvetica Neue"/>
                <a:ea typeface="Helvetica Neue"/>
                <a:cs typeface="Helvetica Neue"/>
              </a:rPr>
              <a:t>No Stable Gain</a:t>
            </a:r>
          </a:p>
        </p:txBody>
      </p:sp>
      <p:sp>
        <p:nvSpPr>
          <p:cNvPr id="51" name="">
            <a:extLst xmlns:a="http://schemas.openxmlformats.org/drawingml/2006/main">
              <a:ext uri="{FF2B5EF4-FFF2-40B4-BE49-F238E27FC236}">
                <a16:creationId xmlns:a16="http://schemas.microsoft.com/office/drawing/2014/main" id="{C7ACA893-12C3-4158-8B5D-21570EBBAB80}"/>
              </a:ext>
            </a:extLst>
          </p:cNvPr>
          <p:cNvSpPr>
            <a:spLocks xmlns:a="http://schemas.openxmlformats.org/drawingml/2006/main" noGrp="1"/>
          </p:cNvSpPr>
          <p:nvPr/>
        </p:nvSpPr>
        <p:spPr>
          <a:xfrm xmlns:a="http://schemas.openxmlformats.org/drawingml/2006/main">
            <a:off x="8934450" y="3943350"/>
            <a:ext cx="2819400" cy="7239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52" name="">
            <a:extLst xmlns:a="http://schemas.openxmlformats.org/drawingml/2006/main">
              <a:ext uri="{FF2B5EF4-FFF2-40B4-BE49-F238E27FC236}">
                <a16:creationId xmlns:a16="http://schemas.microsoft.com/office/drawing/2014/main" id="{7C452A46-4DEF-492D-B329-5B53BF40633C}"/>
              </a:ext>
            </a:extLst>
          </p:cNvPr>
          <p:cNvSpPr>
            <a:spLocks xmlns:a="http://schemas.openxmlformats.org/drawingml/2006/main" noGrp="1"/>
          </p:cNvSpPr>
          <p:nvPr/>
        </p:nvSpPr>
        <p:spPr>
          <a:xfrm xmlns:a="http://schemas.openxmlformats.org/drawingml/2006/main">
            <a:off x="9029700" y="4019550"/>
            <a:ext cx="2628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These ligand-only physics proxies are mostly redundant after 2D chemistry.</a:t>
            </a:r>
          </a:p>
        </p:txBody>
      </p:sp>
      <p:sp>
        <p:nvSpPr>
          <p:cNvPr id="53" name="">
            <a:extLst xmlns:a="http://schemas.openxmlformats.org/drawingml/2006/main">
              <a:ext uri="{FF2B5EF4-FFF2-40B4-BE49-F238E27FC236}">
                <a16:creationId xmlns:a16="http://schemas.microsoft.com/office/drawing/2014/main" id="{D8C99EAF-CB94-40DD-815C-4A22D749D7F8}"/>
              </a:ext>
            </a:extLst>
          </p:cNvPr>
          <p:cNvSpPr>
            <a:spLocks xmlns:a="http://schemas.openxmlformats.org/drawingml/2006/main" noGrp="1"/>
          </p:cNvSpPr>
          <p:nvPr/>
        </p:nvSpPr>
        <p:spPr>
          <a:xfrm xmlns:a="http://schemas.openxmlformats.org/drawingml/2006/main">
            <a:off x="438150" y="4667250"/>
            <a:ext cx="2000250" cy="7239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54" name="">
            <a:extLst xmlns:a="http://schemas.openxmlformats.org/drawingml/2006/main">
              <a:ext uri="{FF2B5EF4-FFF2-40B4-BE49-F238E27FC236}">
                <a16:creationId xmlns:a16="http://schemas.microsoft.com/office/drawing/2014/main" id="{2430484D-23E2-4B99-8346-6CF0A5D66C70}"/>
              </a:ext>
            </a:extLst>
          </p:cNvPr>
          <p:cNvSpPr>
            <a:spLocks xmlns:a="http://schemas.openxmlformats.org/drawingml/2006/main" noGrp="1"/>
          </p:cNvSpPr>
          <p:nvPr/>
        </p:nvSpPr>
        <p:spPr>
          <a:xfrm xmlns:a="http://schemas.openxmlformats.org/drawingml/2006/main">
            <a:off x="533400" y="4743450"/>
            <a:ext cx="1809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i="0">
                <a:solidFill>
                  <a:srgbClr val="0B0F14"/>
                </a:solidFill>
                <a:latin typeface="Helvetica Neue"/>
                <a:ea typeface="Helvetica Neue"/>
                <a:cs typeface="Helvetica Neue"/>
              </a:defRPr>
            </a:pPr>
            <a:r>
              <a:rPr sz="1275" b="0" i="0">
                <a:solidFill>
                  <a:srgbClr val="0B0F14"/>
                </a:solidFill>
                <a:latin typeface="Helvetica Neue"/>
                <a:ea typeface="Helvetica Neue"/>
                <a:cs typeface="Helvetica Neue"/>
              </a:rPr>
              <a:t>Add Energy and Flexibility</a:t>
            </a:r>
          </a:p>
        </p:txBody>
      </p:sp>
      <p:sp>
        <p:nvSpPr>
          <p:cNvPr id="55" name="">
            <a:extLst xmlns:a="http://schemas.openxmlformats.org/drawingml/2006/main">
              <a:ext uri="{FF2B5EF4-FFF2-40B4-BE49-F238E27FC236}">
                <a16:creationId xmlns:a16="http://schemas.microsoft.com/office/drawing/2014/main" id="{67D0EF25-3BB1-4106-BFB8-67E12F17FC15}"/>
              </a:ext>
            </a:extLst>
          </p:cNvPr>
          <p:cNvSpPr>
            <a:spLocks xmlns:a="http://schemas.openxmlformats.org/drawingml/2006/main" noGrp="1"/>
          </p:cNvSpPr>
          <p:nvPr/>
        </p:nvSpPr>
        <p:spPr>
          <a:xfrm xmlns:a="http://schemas.openxmlformats.org/drawingml/2006/main">
            <a:off x="2438400" y="4667250"/>
            <a:ext cx="2114550" cy="7239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56" name="">
            <a:extLst xmlns:a="http://schemas.openxmlformats.org/drawingml/2006/main">
              <a:ext uri="{FF2B5EF4-FFF2-40B4-BE49-F238E27FC236}">
                <a16:creationId xmlns:a16="http://schemas.microsoft.com/office/drawing/2014/main" id="{CB557F96-BB0F-4338-8DD0-0E0892D684E7}"/>
              </a:ext>
            </a:extLst>
          </p:cNvPr>
          <p:cNvSpPr>
            <a:spLocks xmlns:a="http://schemas.openxmlformats.org/drawingml/2006/main" noGrp="1"/>
          </p:cNvSpPr>
          <p:nvPr/>
        </p:nvSpPr>
        <p:spPr>
          <a:xfrm xmlns:a="http://schemas.openxmlformats.org/drawingml/2006/main">
            <a:off x="2533650" y="4743450"/>
            <a:ext cx="1924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1" i="0">
                <a:solidFill>
                  <a:srgbClr val="59616D"/>
                </a:solidFill>
                <a:latin typeface="Helvetica Neue"/>
                <a:ea typeface="Helvetica Neue"/>
                <a:cs typeface="Helvetica Neue"/>
              </a:defRPr>
            </a:pPr>
            <a:r>
              <a:rPr sz="1275" b="1" i="0">
                <a:solidFill>
                  <a:srgbClr val="59616D"/>
                </a:solidFill>
                <a:latin typeface="Helvetica Neue"/>
                <a:ea typeface="Helvetica Neue"/>
                <a:cs typeface="Helvetica Neue"/>
              </a:rPr>
              <a:t>-0.0004</a:t>
            </a:r>
          </a:p>
        </p:txBody>
      </p:sp>
      <p:sp>
        <p:nvSpPr>
          <p:cNvPr id="57" name="">
            <a:extLst xmlns:a="http://schemas.openxmlformats.org/drawingml/2006/main">
              <a:ext uri="{FF2B5EF4-FFF2-40B4-BE49-F238E27FC236}">
                <a16:creationId xmlns:a16="http://schemas.microsoft.com/office/drawing/2014/main" id="{5433D34D-9C1D-4BCC-A1D2-34A53C141276}"/>
              </a:ext>
            </a:extLst>
          </p:cNvPr>
          <p:cNvSpPr>
            <a:spLocks xmlns:a="http://schemas.openxmlformats.org/drawingml/2006/main" noGrp="1"/>
          </p:cNvSpPr>
          <p:nvPr/>
        </p:nvSpPr>
        <p:spPr>
          <a:xfrm xmlns:a="http://schemas.openxmlformats.org/drawingml/2006/main">
            <a:off x="4552950" y="4667250"/>
            <a:ext cx="1771650" cy="7239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58" name="">
            <a:extLst xmlns:a="http://schemas.openxmlformats.org/drawingml/2006/main">
              <a:ext uri="{FF2B5EF4-FFF2-40B4-BE49-F238E27FC236}">
                <a16:creationId xmlns:a16="http://schemas.microsoft.com/office/drawing/2014/main" id="{F9DF0100-207E-419E-BFFE-D60E0FE2FCB4}"/>
              </a:ext>
            </a:extLst>
          </p:cNvPr>
          <p:cNvSpPr>
            <a:spLocks xmlns:a="http://schemas.openxmlformats.org/drawingml/2006/main" noGrp="1"/>
          </p:cNvSpPr>
          <p:nvPr/>
        </p:nvSpPr>
        <p:spPr>
          <a:xfrm xmlns:a="http://schemas.openxmlformats.org/drawingml/2006/main">
            <a:off x="4648200" y="4743450"/>
            <a:ext cx="15811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i="0">
                <a:solidFill>
                  <a:srgbClr val="0B0F14"/>
                </a:solidFill>
                <a:latin typeface="Helvetica Neue"/>
                <a:ea typeface="Helvetica Neue"/>
                <a:cs typeface="Helvetica Neue"/>
              </a:defRPr>
            </a:pPr>
            <a:r>
              <a:rPr sz="1275" b="0" i="0">
                <a:solidFill>
                  <a:srgbClr val="0B0F14"/>
                </a:solidFill>
                <a:latin typeface="Helvetica Neue"/>
                <a:ea typeface="Helvetica Neue"/>
                <a:cs typeface="Helvetica Neue"/>
              </a:rPr>
              <a:t>-0.0019 to +0.0012</a:t>
            </a:r>
          </a:p>
        </p:txBody>
      </p:sp>
      <p:sp>
        <p:nvSpPr>
          <p:cNvPr id="59" name="">
            <a:extLst xmlns:a="http://schemas.openxmlformats.org/drawingml/2006/main">
              <a:ext uri="{FF2B5EF4-FFF2-40B4-BE49-F238E27FC236}">
                <a16:creationId xmlns:a16="http://schemas.microsoft.com/office/drawing/2014/main" id="{5C78C74B-565D-436E-BAFB-8219EB5A2571}"/>
              </a:ext>
            </a:extLst>
          </p:cNvPr>
          <p:cNvSpPr>
            <a:spLocks xmlns:a="http://schemas.openxmlformats.org/drawingml/2006/main" noGrp="1"/>
          </p:cNvSpPr>
          <p:nvPr/>
        </p:nvSpPr>
        <p:spPr>
          <a:xfrm xmlns:a="http://schemas.openxmlformats.org/drawingml/2006/main">
            <a:off x="6324600" y="4667250"/>
            <a:ext cx="2609850" cy="7239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60" name="">
            <a:extLst xmlns:a="http://schemas.openxmlformats.org/drawingml/2006/main">
              <a:ext uri="{FF2B5EF4-FFF2-40B4-BE49-F238E27FC236}">
                <a16:creationId xmlns:a16="http://schemas.microsoft.com/office/drawing/2014/main" id="{ACD2E299-DB66-45D5-B2C6-F1B0A2D16AF0}"/>
              </a:ext>
            </a:extLst>
          </p:cNvPr>
          <p:cNvSpPr>
            <a:spLocks xmlns:a="http://schemas.openxmlformats.org/drawingml/2006/main" noGrp="1"/>
          </p:cNvSpPr>
          <p:nvPr/>
        </p:nvSpPr>
        <p:spPr>
          <a:xfrm xmlns:a="http://schemas.openxmlformats.org/drawingml/2006/main">
            <a:off x="6419850" y="4743450"/>
            <a:ext cx="2419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1" i="0">
                <a:solidFill>
                  <a:srgbClr val="0B0F14"/>
                </a:solidFill>
                <a:latin typeface="Helvetica Neue"/>
                <a:ea typeface="Helvetica Neue"/>
                <a:cs typeface="Helvetica Neue"/>
              </a:defRPr>
            </a:pPr>
            <a:r>
              <a:rPr sz="1275" b="1" i="0">
                <a:solidFill>
                  <a:srgbClr val="0B0F14"/>
                </a:solidFill>
                <a:latin typeface="Helvetica Neue"/>
                <a:ea typeface="Helvetica Neue"/>
                <a:cs typeface="Helvetica Neue"/>
              </a:rPr>
              <a:t>No Stable Gain</a:t>
            </a:r>
          </a:p>
        </p:txBody>
      </p:sp>
      <p:sp>
        <p:nvSpPr>
          <p:cNvPr id="61" name="">
            <a:extLst xmlns:a="http://schemas.openxmlformats.org/drawingml/2006/main">
              <a:ext uri="{FF2B5EF4-FFF2-40B4-BE49-F238E27FC236}">
                <a16:creationId xmlns:a16="http://schemas.microsoft.com/office/drawing/2014/main" id="{3D4580A2-D9D7-4ED6-9EB1-AC1B2C0B4222}"/>
              </a:ext>
            </a:extLst>
          </p:cNvPr>
          <p:cNvSpPr>
            <a:spLocks xmlns:a="http://schemas.openxmlformats.org/drawingml/2006/main" noGrp="1"/>
          </p:cNvSpPr>
          <p:nvPr/>
        </p:nvSpPr>
        <p:spPr>
          <a:xfrm xmlns:a="http://schemas.openxmlformats.org/drawingml/2006/main">
            <a:off x="8934450" y="4667250"/>
            <a:ext cx="2819400" cy="7239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62" name="">
            <a:extLst xmlns:a="http://schemas.openxmlformats.org/drawingml/2006/main">
              <a:ext uri="{FF2B5EF4-FFF2-40B4-BE49-F238E27FC236}">
                <a16:creationId xmlns:a16="http://schemas.microsoft.com/office/drawing/2014/main" id="{2E4E03F6-C5F7-4202-B06C-1100480F5DB5}"/>
              </a:ext>
            </a:extLst>
          </p:cNvPr>
          <p:cNvSpPr>
            <a:spLocks xmlns:a="http://schemas.openxmlformats.org/drawingml/2006/main" noGrp="1"/>
          </p:cNvSpPr>
          <p:nvPr/>
        </p:nvSpPr>
        <p:spPr>
          <a:xfrm xmlns:a="http://schemas.openxmlformats.org/drawingml/2006/main">
            <a:off x="9029700" y="4743450"/>
            <a:ext cx="2628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Force-field summaries do not improve broad aggregate transfer.</a:t>
            </a:r>
          </a:p>
        </p:txBody>
      </p:sp>
      <p:sp>
        <p:nvSpPr>
          <p:cNvPr id="63" name="">
            <a:extLst xmlns:a="http://schemas.openxmlformats.org/drawingml/2006/main">
              <a:ext uri="{FF2B5EF4-FFF2-40B4-BE49-F238E27FC236}">
                <a16:creationId xmlns:a16="http://schemas.microsoft.com/office/drawing/2014/main" id="{7C2E26BF-FD34-4FB1-884B-45E26FFE07F5}"/>
              </a:ext>
            </a:extLst>
          </p:cNvPr>
          <p:cNvSpPr>
            <a:spLocks xmlns:a="http://schemas.openxmlformats.org/drawingml/2006/main" noGrp="1"/>
          </p:cNvSpPr>
          <p:nvPr/>
        </p:nvSpPr>
        <p:spPr>
          <a:xfrm xmlns:a="http://schemas.openxmlformats.org/drawingml/2006/main">
            <a:off x="438150" y="5391150"/>
            <a:ext cx="2000250" cy="7239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64" name="">
            <a:extLst xmlns:a="http://schemas.openxmlformats.org/drawingml/2006/main">
              <a:ext uri="{FF2B5EF4-FFF2-40B4-BE49-F238E27FC236}">
                <a16:creationId xmlns:a16="http://schemas.microsoft.com/office/drawing/2014/main" id="{5589E2FD-98C3-4831-AB8F-3913AAA44944}"/>
              </a:ext>
            </a:extLst>
          </p:cNvPr>
          <p:cNvSpPr>
            <a:spLocks xmlns:a="http://schemas.openxmlformats.org/drawingml/2006/main" noGrp="1"/>
          </p:cNvSpPr>
          <p:nvPr/>
        </p:nvSpPr>
        <p:spPr>
          <a:xfrm xmlns:a="http://schemas.openxmlformats.org/drawingml/2006/main">
            <a:off x="533400" y="5467350"/>
            <a:ext cx="1809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i="0">
                <a:solidFill>
                  <a:srgbClr val="0B0F14"/>
                </a:solidFill>
                <a:latin typeface="Helvetica Neue"/>
                <a:ea typeface="Helvetica Neue"/>
                <a:cs typeface="Helvetica Neue"/>
              </a:defRPr>
            </a:pPr>
            <a:r>
              <a:rPr sz="1275" b="0" i="0">
                <a:solidFill>
                  <a:srgbClr val="0B0F14"/>
                </a:solidFill>
                <a:latin typeface="Helvetica Neue"/>
                <a:ea typeface="Helvetica Neue"/>
                <a:cs typeface="Helvetica Neue"/>
              </a:rPr>
              <a:t>Add Selected Interactions</a:t>
            </a:r>
          </a:p>
        </p:txBody>
      </p:sp>
      <p:sp>
        <p:nvSpPr>
          <p:cNvPr id="65" name="">
            <a:extLst xmlns:a="http://schemas.openxmlformats.org/drawingml/2006/main">
              <a:ext uri="{FF2B5EF4-FFF2-40B4-BE49-F238E27FC236}">
                <a16:creationId xmlns:a16="http://schemas.microsoft.com/office/drawing/2014/main" id="{CD512BBE-D8C8-4BF9-AC01-E54F4451BF2E}"/>
              </a:ext>
            </a:extLst>
          </p:cNvPr>
          <p:cNvSpPr>
            <a:spLocks xmlns:a="http://schemas.openxmlformats.org/drawingml/2006/main" noGrp="1"/>
          </p:cNvSpPr>
          <p:nvPr/>
        </p:nvSpPr>
        <p:spPr>
          <a:xfrm xmlns:a="http://schemas.openxmlformats.org/drawingml/2006/main">
            <a:off x="2438400" y="5391150"/>
            <a:ext cx="2114550" cy="7239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66" name="">
            <a:extLst xmlns:a="http://schemas.openxmlformats.org/drawingml/2006/main">
              <a:ext uri="{FF2B5EF4-FFF2-40B4-BE49-F238E27FC236}">
                <a16:creationId xmlns:a16="http://schemas.microsoft.com/office/drawing/2014/main" id="{7679E48E-9F29-4BB6-AFF4-BD54BCBBFC9E}"/>
              </a:ext>
            </a:extLst>
          </p:cNvPr>
          <p:cNvSpPr>
            <a:spLocks xmlns:a="http://schemas.openxmlformats.org/drawingml/2006/main" noGrp="1"/>
          </p:cNvSpPr>
          <p:nvPr/>
        </p:nvSpPr>
        <p:spPr>
          <a:xfrm xmlns:a="http://schemas.openxmlformats.org/drawingml/2006/main">
            <a:off x="2533650" y="5467350"/>
            <a:ext cx="1924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1" i="0">
                <a:solidFill>
                  <a:srgbClr val="59616D"/>
                </a:solidFill>
                <a:latin typeface="Helvetica Neue"/>
                <a:ea typeface="Helvetica Neue"/>
                <a:cs typeface="Helvetica Neue"/>
              </a:defRPr>
            </a:pPr>
            <a:r>
              <a:rPr sz="1275" b="1" i="0">
                <a:solidFill>
                  <a:srgbClr val="59616D"/>
                </a:solidFill>
                <a:latin typeface="Helvetica Neue"/>
                <a:ea typeface="Helvetica Neue"/>
                <a:cs typeface="Helvetica Neue"/>
              </a:rPr>
              <a:t>+0.0003</a:t>
            </a:r>
          </a:p>
        </p:txBody>
      </p:sp>
      <p:sp>
        <p:nvSpPr>
          <p:cNvPr id="67" name="">
            <a:extLst xmlns:a="http://schemas.openxmlformats.org/drawingml/2006/main">
              <a:ext uri="{FF2B5EF4-FFF2-40B4-BE49-F238E27FC236}">
                <a16:creationId xmlns:a16="http://schemas.microsoft.com/office/drawing/2014/main" id="{9747E809-1B6D-4EE7-992C-B57D0780B886}"/>
              </a:ext>
            </a:extLst>
          </p:cNvPr>
          <p:cNvSpPr>
            <a:spLocks xmlns:a="http://schemas.openxmlformats.org/drawingml/2006/main" noGrp="1"/>
          </p:cNvSpPr>
          <p:nvPr/>
        </p:nvSpPr>
        <p:spPr>
          <a:xfrm xmlns:a="http://schemas.openxmlformats.org/drawingml/2006/main">
            <a:off x="4552950" y="5391150"/>
            <a:ext cx="1771650" cy="7239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68" name="">
            <a:extLst xmlns:a="http://schemas.openxmlformats.org/drawingml/2006/main">
              <a:ext uri="{FF2B5EF4-FFF2-40B4-BE49-F238E27FC236}">
                <a16:creationId xmlns:a16="http://schemas.microsoft.com/office/drawing/2014/main" id="{FC2E8E1F-F773-4BD2-806C-C7E92EC74FB7}"/>
              </a:ext>
            </a:extLst>
          </p:cNvPr>
          <p:cNvSpPr>
            <a:spLocks xmlns:a="http://schemas.openxmlformats.org/drawingml/2006/main" noGrp="1"/>
          </p:cNvSpPr>
          <p:nvPr/>
        </p:nvSpPr>
        <p:spPr>
          <a:xfrm xmlns:a="http://schemas.openxmlformats.org/drawingml/2006/main">
            <a:off x="4648200" y="5467350"/>
            <a:ext cx="15811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i="0">
                <a:solidFill>
                  <a:srgbClr val="0B0F14"/>
                </a:solidFill>
                <a:latin typeface="Helvetica Neue"/>
                <a:ea typeface="Helvetica Neue"/>
                <a:cs typeface="Helvetica Neue"/>
              </a:defRPr>
            </a:pPr>
            <a:r>
              <a:rPr sz="1275" b="0" i="0">
                <a:solidFill>
                  <a:srgbClr val="0B0F14"/>
                </a:solidFill>
                <a:latin typeface="Helvetica Neue"/>
                <a:ea typeface="Helvetica Neue"/>
                <a:cs typeface="Helvetica Neue"/>
              </a:rPr>
              <a:t>-0.0013 to +0.0020</a:t>
            </a:r>
          </a:p>
        </p:txBody>
      </p:sp>
      <p:sp>
        <p:nvSpPr>
          <p:cNvPr id="69" name="">
            <a:extLst xmlns:a="http://schemas.openxmlformats.org/drawingml/2006/main">
              <a:ext uri="{FF2B5EF4-FFF2-40B4-BE49-F238E27FC236}">
                <a16:creationId xmlns:a16="http://schemas.microsoft.com/office/drawing/2014/main" id="{BA3329F1-72E4-4420-946E-421C9C60DD84}"/>
              </a:ext>
            </a:extLst>
          </p:cNvPr>
          <p:cNvSpPr>
            <a:spLocks xmlns:a="http://schemas.openxmlformats.org/drawingml/2006/main" noGrp="1"/>
          </p:cNvSpPr>
          <p:nvPr/>
        </p:nvSpPr>
        <p:spPr>
          <a:xfrm xmlns:a="http://schemas.openxmlformats.org/drawingml/2006/main">
            <a:off x="6324600" y="5391150"/>
            <a:ext cx="2609850" cy="7239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70" name="">
            <a:extLst xmlns:a="http://schemas.openxmlformats.org/drawingml/2006/main">
              <a:ext uri="{FF2B5EF4-FFF2-40B4-BE49-F238E27FC236}">
                <a16:creationId xmlns:a16="http://schemas.microsoft.com/office/drawing/2014/main" id="{F3F1B980-2684-4F6A-9337-1FEBDE41D45A}"/>
              </a:ext>
            </a:extLst>
          </p:cNvPr>
          <p:cNvSpPr>
            <a:spLocks xmlns:a="http://schemas.openxmlformats.org/drawingml/2006/main" noGrp="1"/>
          </p:cNvSpPr>
          <p:nvPr/>
        </p:nvSpPr>
        <p:spPr>
          <a:xfrm xmlns:a="http://schemas.openxmlformats.org/drawingml/2006/main">
            <a:off x="6419850" y="5467350"/>
            <a:ext cx="2419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1" i="0">
                <a:solidFill>
                  <a:srgbClr val="0B0F14"/>
                </a:solidFill>
                <a:latin typeface="Helvetica Neue"/>
                <a:ea typeface="Helvetica Neue"/>
                <a:cs typeface="Helvetica Neue"/>
              </a:defRPr>
            </a:pPr>
            <a:r>
              <a:rPr sz="1275" b="1" i="0">
                <a:solidFill>
                  <a:srgbClr val="0B0F14"/>
                </a:solidFill>
                <a:latin typeface="Helvetica Neue"/>
                <a:ea typeface="Helvetica Neue"/>
                <a:cs typeface="Helvetica Neue"/>
              </a:rPr>
              <a:t>No Stable Gain</a:t>
            </a:r>
          </a:p>
        </p:txBody>
      </p:sp>
      <p:sp>
        <p:nvSpPr>
          <p:cNvPr id="71" name="">
            <a:extLst xmlns:a="http://schemas.openxmlformats.org/drawingml/2006/main">
              <a:ext uri="{FF2B5EF4-FFF2-40B4-BE49-F238E27FC236}">
                <a16:creationId xmlns:a16="http://schemas.microsoft.com/office/drawing/2014/main" id="{ED60F585-1BCE-4169-9A76-B0755EC1F0EF}"/>
              </a:ext>
            </a:extLst>
          </p:cNvPr>
          <p:cNvSpPr>
            <a:spLocks xmlns:a="http://schemas.openxmlformats.org/drawingml/2006/main" noGrp="1"/>
          </p:cNvSpPr>
          <p:nvPr/>
        </p:nvSpPr>
        <p:spPr>
          <a:xfrm xmlns:a="http://schemas.openxmlformats.org/drawingml/2006/main">
            <a:off x="8934450" y="5391150"/>
            <a:ext cx="2819400" cy="7239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72" name="">
            <a:extLst xmlns:a="http://schemas.openxmlformats.org/drawingml/2006/main">
              <a:ext uri="{FF2B5EF4-FFF2-40B4-BE49-F238E27FC236}">
                <a16:creationId xmlns:a16="http://schemas.microsoft.com/office/drawing/2014/main" id="{4C6B8CBF-0BBE-45F4-AF11-D3C57BC8B4DF}"/>
              </a:ext>
            </a:extLst>
          </p:cNvPr>
          <p:cNvSpPr>
            <a:spLocks xmlns:a="http://schemas.openxmlformats.org/drawingml/2006/main" noGrp="1"/>
          </p:cNvSpPr>
          <p:nvPr/>
        </p:nvSpPr>
        <p:spPr>
          <a:xfrm xmlns:a="http://schemas.openxmlformats.org/drawingml/2006/main">
            <a:off x="9029700" y="5467350"/>
            <a:ext cx="2628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Interaction hypotheses may matter locally, not as a global block.</a:t>
            </a:r>
          </a:p>
        </p:txBody>
      </p:sp>
    </p:spTree>
    <p:extLst>
      <p:ext uri="{BB962C8B-B14F-4D97-AF65-F5344CB8AC3E}">
        <p14:creationId xmlns:p14="http://schemas.microsoft.com/office/powerpoint/2010/main" val="52228071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7386AE4-9022-42D3-86FE-066C0D0E86E0}"/>
              </a:ext>
            </a:extLst>
          </p:cNvPr>
          <p:cNvSpPr>
            <a:spLocks xmlns:a="http://schemas.openxmlformats.org/drawingml/2006/main" noGrp="1"/>
          </p:cNvSpPr>
          <p:nvPr/>
        </p:nvSpPr>
        <p:spPr>
          <a:xfrm xmlns:a="http://schemas.openxmlformats.org/drawingml/2006/main">
            <a:off x="438150" y="323850"/>
            <a:ext cx="113157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25" b="1" i="0">
                <a:solidFill>
                  <a:srgbClr val="0B0F14"/>
                </a:solidFill>
                <a:latin typeface="Helvetica Neue"/>
                <a:ea typeface="Helvetica Neue"/>
                <a:cs typeface="Helvetica Neue"/>
              </a:defRPr>
            </a:pPr>
            <a:r>
              <a:rPr sz="2925" b="1" i="0">
                <a:solidFill>
                  <a:srgbClr val="0B0F14"/>
                </a:solidFill>
                <a:latin typeface="Helvetica Neue"/>
                <a:ea typeface="Helvetica Neue"/>
                <a:cs typeface="Helvetica Neue"/>
              </a:rPr>
              <a:t>What Ligand-Only Physics Added</a:t>
            </a:r>
          </a:p>
        </p:txBody>
      </p:sp>
      <p:cxnSp>
        <p:nvCxnSpPr>
          <p:cNvPr id="14" name=""/>
          <p:cNvCxnSpPr/>
          <p:nvPr/>
        </p:nvCxnSpPr>
        <p:spPr>
          <a:xfrm xmlns:a="http://schemas.openxmlformats.org/drawingml/2006/main">
            <a:off x="438150" y="1028700"/>
            <a:ext cx="11315700" cy="0"/>
          </a:xfrm>
          <a:prstGeom xmlns:a="http://schemas.openxmlformats.org/drawingml/2006/main" prst="straightConnector1">
            <a:avLst/>
          </a:prstGeom>
          <a:ln xmlns:a="http://schemas.openxmlformats.org/drawingml/2006/main" w="9525">
            <a:solidFill>
              <a:srgbClr val="D6DAE0"/>
            </a:solidFill>
            <a:prstDash val="solid"/>
          </a:ln>
        </p:spPr>
      </p:cxn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264511e0472453d"/>
          <a:stretch xmlns:a="http://schemas.openxmlformats.org/drawingml/2006/main"/>
        </p:blipFill>
        <p:spPr>
          <a:xfrm xmlns:a="http://schemas.openxmlformats.org/drawingml/2006/main">
            <a:off x="438150" y="1311441"/>
            <a:ext cx="7010400" cy="4882818"/>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9D8BD7E-2DE4-44F0-8CD7-E7B4DFCC15DC}"/>
              </a:ext>
            </a:extLst>
          </p:cNvPr>
          <p:cNvSpPr>
            <a:spLocks xmlns:a="http://schemas.openxmlformats.org/drawingml/2006/main" noGrp="1"/>
          </p:cNvSpPr>
          <p:nvPr/>
        </p:nvSpPr>
        <p:spPr>
          <a:xfrm xmlns:a="http://schemas.openxmlformats.org/drawingml/2006/main">
            <a:off x="7734300" y="1276350"/>
            <a:ext cx="4000500" cy="1314450"/>
          </a:xfrm>
          <a:prstGeom xmlns:a="http://schemas.openxmlformats.org/drawingml/2006/main" prst="roundRect">
            <a:avLst>
              <a:gd name="adj" fmla="val 8696"/>
            </a:avLst>
          </a:prstGeom>
          <a:solidFill xmlns:a="http://schemas.openxmlformats.org/drawingml/2006/main">
            <a:srgbClr val="F1EDFF"/>
          </a:solidFill>
          <a:ln xmlns:a="http://schemas.openxmlformats.org/drawingml/2006/main" w="9525">
            <a:solidFill>
              <a:srgbClr val="F1EDFF"/>
            </a:solidFill>
            <a:prstDash val="solid"/>
          </a:ln>
        </p:spPr>
      </p:sp>
      <p:sp>
        <p:nvSpPr>
          <p:cNvPr id="5" name="">
            <a:extLst xmlns:a="http://schemas.openxmlformats.org/drawingml/2006/main">
              <a:ext uri="{FF2B5EF4-FFF2-40B4-BE49-F238E27FC236}">
                <a16:creationId xmlns:a16="http://schemas.microsoft.com/office/drawing/2014/main" id="{1DC00475-EDDF-4EF6-AFA6-4B81CA4A2535}"/>
              </a:ext>
            </a:extLst>
          </p:cNvPr>
          <p:cNvSpPr>
            <a:spLocks xmlns:a="http://schemas.openxmlformats.org/drawingml/2006/main" noGrp="1"/>
          </p:cNvSpPr>
          <p:nvPr/>
        </p:nvSpPr>
        <p:spPr>
          <a:xfrm xmlns:a="http://schemas.openxmlformats.org/drawingml/2006/main">
            <a:off x="7981950" y="1485900"/>
            <a:ext cx="3505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00" b="1" i="0">
                <a:solidFill>
                  <a:srgbClr val="7057C7"/>
                </a:solidFill>
                <a:latin typeface="Helvetica Neue"/>
                <a:ea typeface="Helvetica Neue"/>
                <a:cs typeface="Helvetica Neue"/>
              </a:defRPr>
            </a:pPr>
            <a:r>
              <a:rPr sz="2700" b="1" i="0">
                <a:solidFill>
                  <a:srgbClr val="7057C7"/>
                </a:solidFill>
                <a:latin typeface="Helvetica Neue"/>
                <a:ea typeface="Helvetica Neue"/>
                <a:cs typeface="Helvetica Neue"/>
              </a:rPr>
              <a:t>24 Conformers</a:t>
            </a:r>
          </a:p>
        </p:txBody>
      </p:sp>
      <p:sp>
        <p:nvSpPr>
          <p:cNvPr id="6" name="">
            <a:extLst xmlns:a="http://schemas.openxmlformats.org/drawingml/2006/main">
              <a:ext uri="{FF2B5EF4-FFF2-40B4-BE49-F238E27FC236}">
                <a16:creationId xmlns:a16="http://schemas.microsoft.com/office/drawing/2014/main" id="{15ECA99C-1C0F-4C76-8043-0B1BEE4155A6}"/>
              </a:ext>
            </a:extLst>
          </p:cNvPr>
          <p:cNvSpPr>
            <a:spLocks xmlns:a="http://schemas.openxmlformats.org/drawingml/2006/main" noGrp="1"/>
          </p:cNvSpPr>
          <p:nvPr/>
        </p:nvSpPr>
        <p:spPr>
          <a:xfrm xmlns:a="http://schemas.openxmlformats.org/drawingml/2006/main">
            <a:off x="7981950" y="2019300"/>
            <a:ext cx="3505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491"/>
          </a:bodyPr>
          <a:lstStyle xmlns:a="http://schemas.openxmlformats.org/drawingml/2006/main"/>
          <a:p xmlns:a="http://schemas.openxmlformats.org/drawingml/2006/main">
            <a:pPr algn="l">
              <a:defRPr sz="1425" b="1" i="0">
                <a:solidFill>
                  <a:srgbClr val="0B0F14"/>
                </a:solidFill>
                <a:latin typeface="Helvetica Neue"/>
                <a:ea typeface="Helvetica Neue"/>
                <a:cs typeface="Helvetica Neue"/>
              </a:defRPr>
            </a:pPr>
            <a:r>
              <a:rPr sz="1425" b="1" i="0">
                <a:solidFill>
                  <a:srgbClr val="0B0F14"/>
                </a:solidFill>
                <a:latin typeface="Helvetica Neue"/>
                <a:ea typeface="Helvetica Neue"/>
                <a:cs typeface="Helvetica Neue"/>
              </a:rPr>
              <a:t>Fresh conformer surface across 24,901 quantitative structures</a:t>
            </a:r>
          </a:p>
        </p:txBody>
      </p:sp>
      <p:sp>
        <p:nvSpPr>
          <p:cNvPr id="7" name="">
            <a:extLst xmlns:a="http://schemas.openxmlformats.org/drawingml/2006/main">
              <a:ext uri="{FF2B5EF4-FFF2-40B4-BE49-F238E27FC236}">
                <a16:creationId xmlns:a16="http://schemas.microsoft.com/office/drawing/2014/main" id="{352F6585-47DF-4382-A71C-689E769BE228}"/>
              </a:ext>
            </a:extLst>
          </p:cNvPr>
          <p:cNvSpPr>
            <a:spLocks xmlns:a="http://schemas.openxmlformats.org/drawingml/2006/main" noGrp="1"/>
          </p:cNvSpPr>
          <p:nvPr/>
        </p:nvSpPr>
        <p:spPr>
          <a:xfrm xmlns:a="http://schemas.openxmlformats.org/drawingml/2006/main">
            <a:off x="7734300" y="2800350"/>
            <a:ext cx="4000500" cy="1314450"/>
          </a:xfrm>
          <a:prstGeom xmlns:a="http://schemas.openxmlformats.org/drawingml/2006/main" prst="roundRect">
            <a:avLst>
              <a:gd name="adj" fmla="val 8696"/>
            </a:avLst>
          </a:prstGeom>
          <a:solidFill xmlns:a="http://schemas.openxmlformats.org/drawingml/2006/main">
            <a:srgbClr val="FCECEC"/>
          </a:solidFill>
          <a:ln xmlns:a="http://schemas.openxmlformats.org/drawingml/2006/main" w="9525">
            <a:solidFill>
              <a:srgbClr val="FCECEC"/>
            </a:solidFill>
            <a:prstDash val="solid"/>
          </a:ln>
        </p:spPr>
      </p:sp>
      <p:sp>
        <p:nvSpPr>
          <p:cNvPr id="8" name="">
            <a:extLst xmlns:a="http://schemas.openxmlformats.org/drawingml/2006/main">
              <a:ext uri="{FF2B5EF4-FFF2-40B4-BE49-F238E27FC236}">
                <a16:creationId xmlns:a16="http://schemas.microsoft.com/office/drawing/2014/main" id="{859C9813-3688-4C9F-8F11-DC96F8E5E603}"/>
              </a:ext>
            </a:extLst>
          </p:cNvPr>
          <p:cNvSpPr>
            <a:spLocks xmlns:a="http://schemas.openxmlformats.org/drawingml/2006/main" noGrp="1"/>
          </p:cNvSpPr>
          <p:nvPr/>
        </p:nvSpPr>
        <p:spPr>
          <a:xfrm xmlns:a="http://schemas.openxmlformats.org/drawingml/2006/main">
            <a:off x="7981950" y="3009900"/>
            <a:ext cx="3505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550" b="1" i="0">
                <a:solidFill>
                  <a:srgbClr val="B84040"/>
                </a:solidFill>
                <a:latin typeface="Helvetica Neue"/>
                <a:ea typeface="Helvetica Neue"/>
                <a:cs typeface="Helvetica Neue"/>
              </a:defRPr>
            </a:pPr>
            <a:r>
              <a:rPr sz="2550" b="1" i="0">
                <a:solidFill>
                  <a:srgbClr val="B84040"/>
                </a:solidFill>
                <a:latin typeface="Helvetica Neue"/>
                <a:ea typeface="Helvetica Neue"/>
                <a:cs typeface="Helvetica Neue"/>
              </a:rPr>
              <a:t>No Aggregate Gain</a:t>
            </a:r>
          </a:p>
        </p:txBody>
      </p:sp>
      <p:sp>
        <p:nvSpPr>
          <p:cNvPr id="9" name="">
            <a:extLst xmlns:a="http://schemas.openxmlformats.org/drawingml/2006/main">
              <a:ext uri="{FF2B5EF4-FFF2-40B4-BE49-F238E27FC236}">
                <a16:creationId xmlns:a16="http://schemas.microsoft.com/office/drawing/2014/main" id="{C9F76353-2B3C-410A-BF86-55A0302514CC}"/>
              </a:ext>
            </a:extLst>
          </p:cNvPr>
          <p:cNvSpPr>
            <a:spLocks xmlns:a="http://schemas.openxmlformats.org/drawingml/2006/main" noGrp="1"/>
          </p:cNvSpPr>
          <p:nvPr/>
        </p:nvSpPr>
        <p:spPr>
          <a:xfrm xmlns:a="http://schemas.openxmlformats.org/drawingml/2006/main">
            <a:off x="7981950" y="3543300"/>
            <a:ext cx="3505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4636"/>
          </a:bodyPr>
          <a:lstStyle xmlns:a="http://schemas.openxmlformats.org/drawingml/2006/main"/>
          <a:p xmlns:a="http://schemas.openxmlformats.org/drawingml/2006/main">
            <a:pPr algn="l">
              <a:defRPr sz="1350" b="1" i="0">
                <a:solidFill>
                  <a:srgbClr val="0B0F14"/>
                </a:solidFill>
                <a:latin typeface="Helvetica Neue"/>
                <a:ea typeface="Helvetica Neue"/>
                <a:cs typeface="Helvetica Neue"/>
              </a:defRPr>
            </a:pPr>
            <a:r>
              <a:rPr sz="1350" b="1" i="0">
                <a:solidFill>
                  <a:srgbClr val="0B0F14"/>
                </a:solidFill>
                <a:latin typeface="Helvetica Neue"/>
                <a:ea typeface="Helvetica Neue"/>
                <a:cs typeface="Helvetica Neue"/>
              </a:rPr>
              <a:t>Shape, WHIM, energy, flexibility, and charge-contact blocks were unstable or redundant</a:t>
            </a:r>
          </a:p>
        </p:txBody>
      </p:sp>
      <p:sp>
        <p:nvSpPr>
          <p:cNvPr id="10" name="">
            <a:extLst xmlns:a="http://schemas.openxmlformats.org/drawingml/2006/main">
              <a:ext uri="{FF2B5EF4-FFF2-40B4-BE49-F238E27FC236}">
                <a16:creationId xmlns:a16="http://schemas.microsoft.com/office/drawing/2014/main" id="{16C604A0-23A3-412F-93F1-F25FE3E5A5DE}"/>
              </a:ext>
            </a:extLst>
          </p:cNvPr>
          <p:cNvSpPr>
            <a:spLocks xmlns:a="http://schemas.openxmlformats.org/drawingml/2006/main" noGrp="1"/>
          </p:cNvSpPr>
          <p:nvPr/>
        </p:nvSpPr>
        <p:spPr>
          <a:xfrm xmlns:a="http://schemas.openxmlformats.org/drawingml/2006/main">
            <a:off x="7734300" y="4324350"/>
            <a:ext cx="4000500" cy="1619250"/>
          </a:xfrm>
          <a:prstGeom xmlns:a="http://schemas.openxmlformats.org/drawingml/2006/main" prst="roundRect">
            <a:avLst>
              <a:gd name="adj" fmla="val 7059"/>
            </a:avLst>
          </a:prstGeom>
          <a:solidFill xmlns:a="http://schemas.openxmlformats.org/drawingml/2006/main">
            <a:srgbClr val="E9F7F1"/>
          </a:solidFill>
          <a:ln xmlns:a="http://schemas.openxmlformats.org/drawingml/2006/main" w="9525">
            <a:solidFill>
              <a:srgbClr val="E9F7F1"/>
            </a:solidFill>
            <a:prstDash val="solid"/>
          </a:ln>
        </p:spPr>
      </p:sp>
      <p:sp>
        <p:nvSpPr>
          <p:cNvPr id="11" name="">
            <a:extLst xmlns:a="http://schemas.openxmlformats.org/drawingml/2006/main">
              <a:ext uri="{FF2B5EF4-FFF2-40B4-BE49-F238E27FC236}">
                <a16:creationId xmlns:a16="http://schemas.microsoft.com/office/drawing/2014/main" id="{A4DD6040-5496-4E96-87B0-F29F72806CB3}"/>
              </a:ext>
            </a:extLst>
          </p:cNvPr>
          <p:cNvSpPr>
            <a:spLocks xmlns:a="http://schemas.openxmlformats.org/drawingml/2006/main" noGrp="1"/>
          </p:cNvSpPr>
          <p:nvPr/>
        </p:nvSpPr>
        <p:spPr>
          <a:xfrm xmlns:a="http://schemas.openxmlformats.org/drawingml/2006/main">
            <a:off x="7981950" y="4552950"/>
            <a:ext cx="3505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i="0">
                <a:solidFill>
                  <a:srgbClr val="16805A"/>
                </a:solidFill>
                <a:latin typeface="Helvetica Neue"/>
                <a:ea typeface="Helvetica Neue"/>
                <a:cs typeface="Helvetica Neue"/>
              </a:defRPr>
            </a:pPr>
            <a:r>
              <a:rPr sz="1800" b="1" i="0">
                <a:solidFill>
                  <a:srgbClr val="16805A"/>
                </a:solidFill>
                <a:latin typeface="Helvetica Neue"/>
                <a:ea typeface="Helvetica Neue"/>
                <a:cs typeface="Helvetica Neue"/>
              </a:rPr>
              <a:t>Scientific Interpretation</a:t>
            </a:r>
          </a:p>
        </p:txBody>
      </p:sp>
      <p:sp>
        <p:nvSpPr>
          <p:cNvPr id="12" name="">
            <a:extLst xmlns:a="http://schemas.openxmlformats.org/drawingml/2006/main">
              <a:ext uri="{FF2B5EF4-FFF2-40B4-BE49-F238E27FC236}">
                <a16:creationId xmlns:a16="http://schemas.microsoft.com/office/drawing/2014/main" id="{9DF69A45-2A5E-4A3E-9BDE-A5C51D41CCEF}"/>
              </a:ext>
            </a:extLst>
          </p:cNvPr>
          <p:cNvSpPr>
            <a:spLocks xmlns:a="http://schemas.openxmlformats.org/drawingml/2006/main" noGrp="1"/>
          </p:cNvSpPr>
          <p:nvPr/>
        </p:nvSpPr>
        <p:spPr>
          <a:xfrm xmlns:a="http://schemas.openxmlformats.org/drawingml/2006/main">
            <a:off x="7981950" y="5010150"/>
            <a:ext cx="35052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912"/>
          </a:bodyPr>
          <a:lstStyle xmlns:a="http://schemas.openxmlformats.org/drawingml/2006/main"/>
          <a:p xmlns:a="http://schemas.openxmlformats.org/drawingml/2006/main">
            <a:pPr algn="l">
              <a:defRPr sz="1425" b="0" i="0">
                <a:solidFill>
                  <a:srgbClr val="0B0F14"/>
                </a:solidFill>
                <a:latin typeface="Helvetica Neue"/>
                <a:ea typeface="Helvetica Neue"/>
                <a:cs typeface="Helvetica Neue"/>
              </a:defRPr>
            </a:pPr>
            <a:r>
              <a:rPr sz="1425" b="0" i="0">
                <a:solidFill>
                  <a:srgbClr val="0B0F14"/>
                </a:solidFill>
                <a:latin typeface="Helvetica Neue"/>
                <a:ea typeface="Helvetica Neue"/>
                <a:cs typeface="Helvetica Neue"/>
              </a:rPr>
              <a:t>The negative result narrows the next experiment: improve microstate, receptor-state, membrane, and assay context instead of adding more generic ligand descriptors.</a:t>
            </a:r>
          </a:p>
        </p:txBody>
      </p:sp>
    </p:spTree>
    <p:extLst>
      <p:ext uri="{BB962C8B-B14F-4D97-AF65-F5344CB8AC3E}">
        <p14:creationId xmlns:p14="http://schemas.microsoft.com/office/powerpoint/2010/main" val="62820908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7290359-8A1C-42AC-8481-8E85CBEF2309}"/>
              </a:ext>
            </a:extLst>
          </p:cNvPr>
          <p:cNvSpPr>
            <a:spLocks xmlns:a="http://schemas.openxmlformats.org/drawingml/2006/main" noGrp="1"/>
          </p:cNvSpPr>
          <p:nvPr/>
        </p:nvSpPr>
        <p:spPr>
          <a:xfrm xmlns:a="http://schemas.openxmlformats.org/drawingml/2006/main">
            <a:off x="438150" y="323850"/>
            <a:ext cx="113157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25" b="1" i="0">
                <a:solidFill>
                  <a:srgbClr val="0B0F14"/>
                </a:solidFill>
                <a:latin typeface="Helvetica Neue"/>
                <a:ea typeface="Helvetica Neue"/>
                <a:cs typeface="Helvetica Neue"/>
              </a:defRPr>
            </a:pPr>
            <a:r>
              <a:rPr sz="2925" b="1" i="0">
                <a:solidFill>
                  <a:srgbClr val="0B0F14"/>
                </a:solidFill>
                <a:latin typeface="Helvetica Neue"/>
                <a:ea typeface="Helvetica Neue"/>
                <a:cs typeface="Helvetica Neue"/>
              </a:rPr>
              <a:t>Applicability Domain Defines Reliability</a:t>
            </a:r>
          </a:p>
        </p:txBody>
      </p:sp>
      <p:cxnSp>
        <p:nvCxnSpPr>
          <p:cNvPr id="17" name=""/>
          <p:cNvCxnSpPr/>
          <p:nvPr/>
        </p:nvCxnSpPr>
        <p:spPr>
          <a:xfrm xmlns:a="http://schemas.openxmlformats.org/drawingml/2006/main">
            <a:off x="438150" y="1028700"/>
            <a:ext cx="11315700" cy="0"/>
          </a:xfrm>
          <a:prstGeom xmlns:a="http://schemas.openxmlformats.org/drawingml/2006/main" prst="straightConnector1">
            <a:avLst/>
          </a:prstGeom>
          <a:ln xmlns:a="http://schemas.openxmlformats.org/drawingml/2006/main" w="9525">
            <a:solidFill>
              <a:srgbClr val="D6DAE0"/>
            </a:solidFill>
            <a:prstDash val="solid"/>
          </a:ln>
        </p:spPr>
      </p:cxn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0ba7888a7d3e4cca"/>
          <a:stretch xmlns:a="http://schemas.openxmlformats.org/drawingml/2006/main"/>
        </p:blipFill>
        <p:spPr>
          <a:xfrm xmlns:a="http://schemas.openxmlformats.org/drawingml/2006/main">
            <a:off x="438150" y="1337166"/>
            <a:ext cx="7124700" cy="4717068"/>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506F948-1376-4160-8980-10D9B3632DF0}"/>
              </a:ext>
            </a:extLst>
          </p:cNvPr>
          <p:cNvSpPr>
            <a:spLocks xmlns:a="http://schemas.openxmlformats.org/drawingml/2006/main" noGrp="1"/>
          </p:cNvSpPr>
          <p:nvPr/>
        </p:nvSpPr>
        <p:spPr>
          <a:xfrm xmlns:a="http://schemas.openxmlformats.org/drawingml/2006/main">
            <a:off x="7848600" y="1276350"/>
            <a:ext cx="1828800" cy="1390650"/>
          </a:xfrm>
          <a:prstGeom xmlns:a="http://schemas.openxmlformats.org/drawingml/2006/main" prst="roundRect">
            <a:avLst>
              <a:gd name="adj" fmla="val 8219"/>
            </a:avLst>
          </a:prstGeom>
          <a:solidFill xmlns:a="http://schemas.openxmlformats.org/drawingml/2006/main">
            <a:srgbClr val="E9F7F1"/>
          </a:solidFill>
          <a:ln xmlns:a="http://schemas.openxmlformats.org/drawingml/2006/main" w="9525">
            <a:solidFill>
              <a:srgbClr val="E9F7F1"/>
            </a:solidFill>
            <a:prstDash val="solid"/>
          </a:ln>
        </p:spPr>
      </p:sp>
      <p:sp>
        <p:nvSpPr>
          <p:cNvPr id="5" name="">
            <a:extLst xmlns:a="http://schemas.openxmlformats.org/drawingml/2006/main">
              <a:ext uri="{FF2B5EF4-FFF2-40B4-BE49-F238E27FC236}">
                <a16:creationId xmlns:a16="http://schemas.microsoft.com/office/drawing/2014/main" id="{2E48C5B2-7FC1-4B62-A386-B41F7066FFE7}"/>
              </a:ext>
            </a:extLst>
          </p:cNvPr>
          <p:cNvSpPr>
            <a:spLocks xmlns:a="http://schemas.openxmlformats.org/drawingml/2006/main" noGrp="1"/>
          </p:cNvSpPr>
          <p:nvPr/>
        </p:nvSpPr>
        <p:spPr>
          <a:xfrm xmlns:a="http://schemas.openxmlformats.org/drawingml/2006/main">
            <a:off x="8039100" y="1447800"/>
            <a:ext cx="1447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375" b="1" i="0">
                <a:solidFill>
                  <a:srgbClr val="16805A"/>
                </a:solidFill>
                <a:latin typeface="Helvetica Neue"/>
                <a:ea typeface="Helvetica Neue"/>
                <a:cs typeface="Helvetica Neue"/>
              </a:defRPr>
            </a:pPr>
            <a:r>
              <a:rPr sz="3375" b="1" i="0">
                <a:solidFill>
                  <a:srgbClr val="16805A"/>
                </a:solidFill>
                <a:latin typeface="Helvetica Neue"/>
                <a:ea typeface="Helvetica Neue"/>
                <a:cs typeface="Helvetica Neue"/>
              </a:rPr>
              <a:t>0.379</a:t>
            </a:r>
          </a:p>
        </p:txBody>
      </p:sp>
      <p:sp>
        <p:nvSpPr>
          <p:cNvPr id="6" name="">
            <a:extLst xmlns:a="http://schemas.openxmlformats.org/drawingml/2006/main">
              <a:ext uri="{FF2B5EF4-FFF2-40B4-BE49-F238E27FC236}">
                <a16:creationId xmlns:a16="http://schemas.microsoft.com/office/drawing/2014/main" id="{8DB3827B-2EE4-47B8-B3DE-A9481FF7E9CF}"/>
              </a:ext>
            </a:extLst>
          </p:cNvPr>
          <p:cNvSpPr>
            <a:spLocks xmlns:a="http://schemas.openxmlformats.org/drawingml/2006/main" noGrp="1"/>
          </p:cNvSpPr>
          <p:nvPr/>
        </p:nvSpPr>
        <p:spPr>
          <a:xfrm xmlns:a="http://schemas.openxmlformats.org/drawingml/2006/main">
            <a:off x="8039100" y="2057400"/>
            <a:ext cx="1447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i="0">
                <a:solidFill>
                  <a:srgbClr val="0B0F14"/>
                </a:solidFill>
                <a:latin typeface="Helvetica Neue"/>
                <a:ea typeface="Helvetica Neue"/>
                <a:cs typeface="Helvetica Neue"/>
              </a:defRPr>
            </a:pPr>
            <a:r>
              <a:rPr sz="1500" b="1" i="0">
                <a:solidFill>
                  <a:srgbClr val="0B0F14"/>
                </a:solidFill>
                <a:latin typeface="Helvetica Neue"/>
                <a:ea typeface="Helvetica Neue"/>
                <a:cs typeface="Helvetica Neue"/>
              </a:rPr>
              <a:t>In-Domain MAE</a:t>
            </a:r>
          </a:p>
        </p:txBody>
      </p:sp>
      <p:sp>
        <p:nvSpPr>
          <p:cNvPr id="7" name="">
            <a:extLst xmlns:a="http://schemas.openxmlformats.org/drawingml/2006/main">
              <a:ext uri="{FF2B5EF4-FFF2-40B4-BE49-F238E27FC236}">
                <a16:creationId xmlns:a16="http://schemas.microsoft.com/office/drawing/2014/main" id="{3FDB1F63-7A37-48FA-A659-BE9E44751AFF}"/>
              </a:ext>
            </a:extLst>
          </p:cNvPr>
          <p:cNvSpPr>
            <a:spLocks xmlns:a="http://schemas.openxmlformats.org/drawingml/2006/main" noGrp="1"/>
          </p:cNvSpPr>
          <p:nvPr/>
        </p:nvSpPr>
        <p:spPr>
          <a:xfrm xmlns:a="http://schemas.openxmlformats.org/drawingml/2006/main">
            <a:off x="9867900" y="1276350"/>
            <a:ext cx="1866900" cy="1390650"/>
          </a:xfrm>
          <a:prstGeom xmlns:a="http://schemas.openxmlformats.org/drawingml/2006/main" prst="roundRect">
            <a:avLst>
              <a:gd name="adj" fmla="val 8219"/>
            </a:avLst>
          </a:prstGeom>
          <a:solidFill xmlns:a="http://schemas.openxmlformats.org/drawingml/2006/main">
            <a:srgbClr val="FCECEC"/>
          </a:solidFill>
          <a:ln xmlns:a="http://schemas.openxmlformats.org/drawingml/2006/main" w="9525">
            <a:solidFill>
              <a:srgbClr val="FCECEC"/>
            </a:solidFill>
            <a:prstDash val="solid"/>
          </a:ln>
        </p:spPr>
      </p:sp>
      <p:sp>
        <p:nvSpPr>
          <p:cNvPr id="8" name="">
            <a:extLst xmlns:a="http://schemas.openxmlformats.org/drawingml/2006/main">
              <a:ext uri="{FF2B5EF4-FFF2-40B4-BE49-F238E27FC236}">
                <a16:creationId xmlns:a16="http://schemas.microsoft.com/office/drawing/2014/main" id="{7B6DCA2C-B6B1-4F45-9EB8-FE815DD70A0E}"/>
              </a:ext>
            </a:extLst>
          </p:cNvPr>
          <p:cNvSpPr>
            <a:spLocks xmlns:a="http://schemas.openxmlformats.org/drawingml/2006/main" noGrp="1"/>
          </p:cNvSpPr>
          <p:nvPr/>
        </p:nvSpPr>
        <p:spPr>
          <a:xfrm xmlns:a="http://schemas.openxmlformats.org/drawingml/2006/main">
            <a:off x="10058400" y="1447800"/>
            <a:ext cx="1485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375" b="1" i="0">
                <a:solidFill>
                  <a:srgbClr val="B84040"/>
                </a:solidFill>
                <a:latin typeface="Helvetica Neue"/>
                <a:ea typeface="Helvetica Neue"/>
                <a:cs typeface="Helvetica Neue"/>
              </a:defRPr>
            </a:pPr>
            <a:r>
              <a:rPr sz="3375" b="1" i="0">
                <a:solidFill>
                  <a:srgbClr val="B84040"/>
                </a:solidFill>
                <a:latin typeface="Helvetica Neue"/>
                <a:ea typeface="Helvetica Neue"/>
                <a:cs typeface="Helvetica Neue"/>
              </a:rPr>
              <a:t>0.560</a:t>
            </a:r>
          </a:p>
        </p:txBody>
      </p:sp>
      <p:sp>
        <p:nvSpPr>
          <p:cNvPr id="9" name="">
            <a:extLst xmlns:a="http://schemas.openxmlformats.org/drawingml/2006/main">
              <a:ext uri="{FF2B5EF4-FFF2-40B4-BE49-F238E27FC236}">
                <a16:creationId xmlns:a16="http://schemas.microsoft.com/office/drawing/2014/main" id="{9333DD82-19DF-431C-8A63-96194DCF70BC}"/>
              </a:ext>
            </a:extLst>
          </p:cNvPr>
          <p:cNvSpPr>
            <a:spLocks xmlns:a="http://schemas.openxmlformats.org/drawingml/2006/main" noGrp="1"/>
          </p:cNvSpPr>
          <p:nvPr/>
        </p:nvSpPr>
        <p:spPr>
          <a:xfrm xmlns:a="http://schemas.openxmlformats.org/drawingml/2006/main">
            <a:off x="10058400" y="2057400"/>
            <a:ext cx="1485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i="0">
                <a:solidFill>
                  <a:srgbClr val="0B0F14"/>
                </a:solidFill>
                <a:latin typeface="Helvetica Neue"/>
                <a:ea typeface="Helvetica Neue"/>
                <a:cs typeface="Helvetica Neue"/>
              </a:defRPr>
            </a:pPr>
            <a:r>
              <a:rPr sz="1500" b="1" i="0">
                <a:solidFill>
                  <a:srgbClr val="0B0F14"/>
                </a:solidFill>
                <a:latin typeface="Helvetica Neue"/>
                <a:ea typeface="Helvetica Neue"/>
                <a:cs typeface="Helvetica Neue"/>
              </a:rPr>
              <a:t>Flagged MAE</a:t>
            </a:r>
          </a:p>
        </p:txBody>
      </p:sp>
      <p:sp>
        <p:nvSpPr>
          <p:cNvPr id="10" name="">
            <a:extLst xmlns:a="http://schemas.openxmlformats.org/drawingml/2006/main">
              <a:ext uri="{FF2B5EF4-FFF2-40B4-BE49-F238E27FC236}">
                <a16:creationId xmlns:a16="http://schemas.microsoft.com/office/drawing/2014/main" id="{AFFF292C-4753-4453-BD0E-DBEA30311053}"/>
              </a:ext>
            </a:extLst>
          </p:cNvPr>
          <p:cNvSpPr>
            <a:spLocks xmlns:a="http://schemas.openxmlformats.org/drawingml/2006/main" noGrp="1"/>
          </p:cNvSpPr>
          <p:nvPr/>
        </p:nvSpPr>
        <p:spPr>
          <a:xfrm xmlns:a="http://schemas.openxmlformats.org/drawingml/2006/main">
            <a:off x="7848600" y="2895600"/>
            <a:ext cx="3886200" cy="1409700"/>
          </a:xfrm>
          <a:prstGeom xmlns:a="http://schemas.openxmlformats.org/drawingml/2006/main" prst="roundRect">
            <a:avLst>
              <a:gd name="adj" fmla="val 8108"/>
            </a:avLst>
          </a:prstGeom>
          <a:solidFill xmlns:a="http://schemas.openxmlformats.org/drawingml/2006/main">
            <a:srgbClr val="EAF2FF"/>
          </a:solidFill>
          <a:ln xmlns:a="http://schemas.openxmlformats.org/drawingml/2006/main" w="9525">
            <a:solidFill>
              <a:srgbClr val="EAF2FF"/>
            </a:solidFill>
            <a:prstDash val="solid"/>
          </a:ln>
        </p:spPr>
      </p:sp>
      <p:sp>
        <p:nvSpPr>
          <p:cNvPr id="11" name="">
            <a:extLst xmlns:a="http://schemas.openxmlformats.org/drawingml/2006/main">
              <a:ext uri="{FF2B5EF4-FFF2-40B4-BE49-F238E27FC236}">
                <a16:creationId xmlns:a16="http://schemas.microsoft.com/office/drawing/2014/main" id="{21695802-7328-4D4F-A813-7FF389E360F7}"/>
              </a:ext>
            </a:extLst>
          </p:cNvPr>
          <p:cNvSpPr>
            <a:spLocks xmlns:a="http://schemas.openxmlformats.org/drawingml/2006/main" noGrp="1"/>
          </p:cNvSpPr>
          <p:nvPr/>
        </p:nvSpPr>
        <p:spPr>
          <a:xfrm xmlns:a="http://schemas.openxmlformats.org/drawingml/2006/main">
            <a:off x="8039100" y="3067050"/>
            <a:ext cx="3505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375" b="1" i="0">
                <a:solidFill>
                  <a:srgbClr val="1E63D5"/>
                </a:solidFill>
                <a:latin typeface="Helvetica Neue"/>
                <a:ea typeface="Helvetica Neue"/>
                <a:cs typeface="Helvetica Neue"/>
              </a:defRPr>
            </a:pPr>
            <a:r>
              <a:rPr sz="3375" b="1" i="0">
                <a:solidFill>
                  <a:srgbClr val="1E63D5"/>
                </a:solidFill>
                <a:latin typeface="Helvetica Neue"/>
                <a:ea typeface="Helvetica Neue"/>
                <a:cs typeface="Helvetica Neue"/>
              </a:rPr>
              <a:t>91.3%</a:t>
            </a:r>
          </a:p>
        </p:txBody>
      </p:sp>
      <p:sp>
        <p:nvSpPr>
          <p:cNvPr id="12" name="">
            <a:extLst xmlns:a="http://schemas.openxmlformats.org/drawingml/2006/main">
              <a:ext uri="{FF2B5EF4-FFF2-40B4-BE49-F238E27FC236}">
                <a16:creationId xmlns:a16="http://schemas.microsoft.com/office/drawing/2014/main" id="{4817AB1E-C3CB-47E6-967E-18B645417081}"/>
              </a:ext>
            </a:extLst>
          </p:cNvPr>
          <p:cNvSpPr>
            <a:spLocks xmlns:a="http://schemas.openxmlformats.org/drawingml/2006/main" noGrp="1"/>
          </p:cNvSpPr>
          <p:nvPr/>
        </p:nvSpPr>
        <p:spPr>
          <a:xfrm xmlns:a="http://schemas.openxmlformats.org/drawingml/2006/main">
            <a:off x="8039100" y="3676650"/>
            <a:ext cx="3505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i="0">
                <a:solidFill>
                  <a:srgbClr val="0B0F14"/>
                </a:solidFill>
                <a:latin typeface="Helvetica Neue"/>
                <a:ea typeface="Helvetica Neue"/>
                <a:cs typeface="Helvetica Neue"/>
              </a:defRPr>
            </a:pPr>
            <a:r>
              <a:rPr sz="1500" b="1" i="0">
                <a:solidFill>
                  <a:srgbClr val="0B0F14"/>
                </a:solidFill>
                <a:latin typeface="Helvetica Neue"/>
                <a:ea typeface="Helvetica Neue"/>
                <a:cs typeface="Helvetica Neue"/>
              </a:rPr>
              <a:t>Coverage of the Nominal 90% Interval</a:t>
            </a:r>
          </a:p>
        </p:txBody>
      </p:sp>
      <p:sp>
        <p:nvSpPr>
          <p:cNvPr id="13" name="">
            <a:extLst xmlns:a="http://schemas.openxmlformats.org/drawingml/2006/main">
              <a:ext uri="{FF2B5EF4-FFF2-40B4-BE49-F238E27FC236}">
                <a16:creationId xmlns:a16="http://schemas.microsoft.com/office/drawing/2014/main" id="{9E40C2B6-CCE5-443F-B2F7-4409BE69A2A6}"/>
              </a:ext>
            </a:extLst>
          </p:cNvPr>
          <p:cNvSpPr>
            <a:spLocks xmlns:a="http://schemas.openxmlformats.org/drawingml/2006/main" noGrp="1"/>
          </p:cNvSpPr>
          <p:nvPr/>
        </p:nvSpPr>
        <p:spPr>
          <a:xfrm xmlns:a="http://schemas.openxmlformats.org/drawingml/2006/main">
            <a:off x="7848600" y="4552950"/>
            <a:ext cx="3886200" cy="1371600"/>
          </a:xfrm>
          <a:prstGeom xmlns:a="http://schemas.openxmlformats.org/drawingml/2006/main" prst="roundRect">
            <a:avLst>
              <a:gd name="adj" fmla="val 8333"/>
            </a:avLst>
          </a:prstGeom>
          <a:solidFill xmlns:a="http://schemas.openxmlformats.org/drawingml/2006/main">
            <a:srgbClr val="F2F4F7"/>
          </a:solidFill>
          <a:ln xmlns:a="http://schemas.openxmlformats.org/drawingml/2006/main" w="9525">
            <a:solidFill>
              <a:srgbClr val="D6DAE0"/>
            </a:solidFill>
            <a:prstDash val="solid"/>
          </a:ln>
        </p:spPr>
      </p:sp>
      <p:sp>
        <p:nvSpPr>
          <p:cNvPr id="14" name="">
            <a:extLst xmlns:a="http://schemas.openxmlformats.org/drawingml/2006/main">
              <a:ext uri="{FF2B5EF4-FFF2-40B4-BE49-F238E27FC236}">
                <a16:creationId xmlns:a16="http://schemas.microsoft.com/office/drawing/2014/main" id="{9C42D4C4-046F-48B9-B1F8-6865E97C6E20}"/>
              </a:ext>
            </a:extLst>
          </p:cNvPr>
          <p:cNvSpPr>
            <a:spLocks xmlns:a="http://schemas.openxmlformats.org/drawingml/2006/main" noGrp="1"/>
          </p:cNvSpPr>
          <p:nvPr/>
        </p:nvSpPr>
        <p:spPr>
          <a:xfrm xmlns:a="http://schemas.openxmlformats.org/drawingml/2006/main">
            <a:off x="8077200" y="476250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i="0">
                <a:solidFill>
                  <a:srgbClr val="1E63D5"/>
                </a:solidFill>
                <a:latin typeface="Helvetica Neue"/>
                <a:ea typeface="Helvetica Neue"/>
                <a:cs typeface="Helvetica Neue"/>
              </a:defRPr>
            </a:pPr>
            <a:r>
              <a:rPr sz="1875" b="1" i="0">
                <a:solidFill>
                  <a:srgbClr val="1E63D5"/>
                </a:solidFill>
                <a:latin typeface="Helvetica Neue"/>
                <a:ea typeface="Helvetica Neue"/>
                <a:cs typeface="Helvetica Neue"/>
              </a:rPr>
              <a:t>Operational Rule</a:t>
            </a:r>
          </a:p>
        </p:txBody>
      </p:sp>
      <p:sp>
        <p:nvSpPr>
          <p:cNvPr id="15" name="">
            <a:extLst xmlns:a="http://schemas.openxmlformats.org/drawingml/2006/main">
              <a:ext uri="{FF2B5EF4-FFF2-40B4-BE49-F238E27FC236}">
                <a16:creationId xmlns:a16="http://schemas.microsoft.com/office/drawing/2014/main" id="{905F7F3A-0EF8-4CE2-8448-705D9BD46DF8}"/>
              </a:ext>
            </a:extLst>
          </p:cNvPr>
          <p:cNvSpPr>
            <a:spLocks xmlns:a="http://schemas.openxmlformats.org/drawingml/2006/main" noGrp="1"/>
          </p:cNvSpPr>
          <p:nvPr/>
        </p:nvSpPr>
        <p:spPr>
          <a:xfrm xmlns:a="http://schemas.openxmlformats.org/drawingml/2006/main">
            <a:off x="8077200" y="5219700"/>
            <a:ext cx="342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643"/>
          </a:bodyPr>
          <a:lstStyle xmlns:a="http://schemas.openxmlformats.org/drawingml/2006/main"/>
          <a:p xmlns:a="http://schemas.openxmlformats.org/drawingml/2006/main">
            <a:pPr algn="l">
              <a:defRPr sz="1425" b="0" i="0">
                <a:solidFill>
                  <a:srgbClr val="0B0F14"/>
                </a:solidFill>
                <a:latin typeface="Helvetica Neue"/>
                <a:ea typeface="Helvetica Neue"/>
                <a:cs typeface="Helvetica Neue"/>
              </a:defRPr>
            </a:pPr>
            <a:r>
              <a:rPr sz="1425" b="0" i="0">
                <a:solidFill>
                  <a:srgbClr val="0B0F14"/>
                </a:solidFill>
                <a:latin typeface="Helvetica Neue"/>
                <a:ea typeface="Helvetica Neue"/>
                <a:cs typeface="Helvetica Neue"/>
              </a:rPr>
              <a:t>Report the prediction together with the label-blind domain flag. Interval width alone was not a useful error ranking.</a:t>
            </a:r>
          </a:p>
        </p:txBody>
      </p:sp>
    </p:spTree>
    <p:extLst>
      <p:ext uri="{BB962C8B-B14F-4D97-AF65-F5344CB8AC3E}">
        <p14:creationId xmlns:p14="http://schemas.microsoft.com/office/powerpoint/2010/main" val="143522889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C361EC4-57E9-489E-9981-2372ABF46F74}"/>
              </a:ext>
            </a:extLst>
          </p:cNvPr>
          <p:cNvSpPr>
            <a:spLocks xmlns:a="http://schemas.openxmlformats.org/drawingml/2006/main" noGrp="1"/>
          </p:cNvSpPr>
          <p:nvPr/>
        </p:nvSpPr>
        <p:spPr>
          <a:xfrm xmlns:a="http://schemas.openxmlformats.org/drawingml/2006/main">
            <a:off x="438150" y="323850"/>
            <a:ext cx="113157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25" b="1" i="0">
                <a:solidFill>
                  <a:srgbClr val="0B0F14"/>
                </a:solidFill>
                <a:latin typeface="Helvetica Neue"/>
                <a:ea typeface="Helvetica Neue"/>
                <a:cs typeface="Helvetica Neue"/>
              </a:defRPr>
            </a:pPr>
            <a:r>
              <a:rPr sz="2925" b="1" i="0">
                <a:solidFill>
                  <a:srgbClr val="0B0F14"/>
                </a:solidFill>
                <a:latin typeface="Helvetica Neue"/>
                <a:ea typeface="Helvetica Neue"/>
                <a:cs typeface="Helvetica Neue"/>
              </a:rPr>
              <a:t>Remaining Errors Are Structured</a:t>
            </a:r>
          </a:p>
        </p:txBody>
      </p:sp>
      <p:cxnSp>
        <p:nvCxnSpPr>
          <p:cNvPr id="16" name=""/>
          <p:cNvCxnSpPr/>
          <p:nvPr/>
        </p:nvCxnSpPr>
        <p:spPr>
          <a:xfrm xmlns:a="http://schemas.openxmlformats.org/drawingml/2006/main">
            <a:off x="438150" y="1028700"/>
            <a:ext cx="11315700" cy="0"/>
          </a:xfrm>
          <a:prstGeom xmlns:a="http://schemas.openxmlformats.org/drawingml/2006/main" prst="straightConnector1">
            <a:avLst/>
          </a:prstGeom>
          <a:ln xmlns:a="http://schemas.openxmlformats.org/drawingml/2006/main" w="9525">
            <a:solidFill>
              <a:srgbClr val="D6DAE0"/>
            </a:solidFill>
            <a:prstDash val="solid"/>
          </a:ln>
        </p:spPr>
      </p:cxn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65679b6109bf4c5b"/>
          <a:stretch xmlns:a="http://schemas.openxmlformats.org/drawingml/2006/main"/>
        </p:blipFill>
        <p:spPr>
          <a:xfrm xmlns:a="http://schemas.openxmlformats.org/drawingml/2006/main">
            <a:off x="438150" y="1355139"/>
            <a:ext cx="7562850" cy="4776371"/>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4108A42-1374-49EE-A85E-E8904E14529B}"/>
              </a:ext>
            </a:extLst>
          </p:cNvPr>
          <p:cNvSpPr>
            <a:spLocks xmlns:a="http://schemas.openxmlformats.org/drawingml/2006/main" noGrp="1"/>
          </p:cNvSpPr>
          <p:nvPr/>
        </p:nvSpPr>
        <p:spPr>
          <a:xfrm xmlns:a="http://schemas.openxmlformats.org/drawingml/2006/main">
            <a:off x="8267700" y="1295400"/>
            <a:ext cx="3467100" cy="1143000"/>
          </a:xfrm>
          <a:prstGeom xmlns:a="http://schemas.openxmlformats.org/drawingml/2006/main" prst="roundRect">
            <a:avLst>
              <a:gd name="adj" fmla="val 10000"/>
            </a:avLst>
          </a:prstGeom>
          <a:solidFill xmlns:a="http://schemas.openxmlformats.org/drawingml/2006/main">
            <a:srgbClr val="FCECEC"/>
          </a:solidFill>
          <a:ln xmlns:a="http://schemas.openxmlformats.org/drawingml/2006/main" w="9525">
            <a:solidFill>
              <a:srgbClr val="FCECEC"/>
            </a:solidFill>
            <a:prstDash val="solid"/>
          </a:ln>
        </p:spPr>
      </p:sp>
      <p:sp>
        <p:nvSpPr>
          <p:cNvPr id="5" name="">
            <a:extLst xmlns:a="http://schemas.openxmlformats.org/drawingml/2006/main">
              <a:ext uri="{FF2B5EF4-FFF2-40B4-BE49-F238E27FC236}">
                <a16:creationId xmlns:a16="http://schemas.microsoft.com/office/drawing/2014/main" id="{8ACFC05F-E4A6-4048-9323-6E0D0C640B2F}"/>
              </a:ext>
            </a:extLst>
          </p:cNvPr>
          <p:cNvSpPr>
            <a:spLocks xmlns:a="http://schemas.openxmlformats.org/drawingml/2006/main" noGrp="1"/>
          </p:cNvSpPr>
          <p:nvPr/>
        </p:nvSpPr>
        <p:spPr>
          <a:xfrm xmlns:a="http://schemas.openxmlformats.org/drawingml/2006/main">
            <a:off x="8477250" y="1466850"/>
            <a:ext cx="1085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150" b="1" i="0">
                <a:solidFill>
                  <a:srgbClr val="B84040"/>
                </a:solidFill>
                <a:latin typeface="Helvetica Neue"/>
                <a:ea typeface="Helvetica Neue"/>
                <a:cs typeface="Helvetica Neue"/>
              </a:defRPr>
            </a:pPr>
            <a:r>
              <a:rPr sz="3150" b="1" i="0">
                <a:solidFill>
                  <a:srgbClr val="B84040"/>
                </a:solidFill>
                <a:latin typeface="Helvetica Neue"/>
                <a:ea typeface="Helvetica Neue"/>
                <a:cs typeface="Helvetica Neue"/>
              </a:rPr>
              <a:t>1.046</a:t>
            </a:r>
          </a:p>
        </p:txBody>
      </p:sp>
      <p:sp>
        <p:nvSpPr>
          <p:cNvPr id="6" name="">
            <a:extLst xmlns:a="http://schemas.openxmlformats.org/drawingml/2006/main">
              <a:ext uri="{FF2B5EF4-FFF2-40B4-BE49-F238E27FC236}">
                <a16:creationId xmlns:a16="http://schemas.microsoft.com/office/drawing/2014/main" id="{E2E9EF63-0E48-46E3-A01E-479D57B880E2}"/>
              </a:ext>
            </a:extLst>
          </p:cNvPr>
          <p:cNvSpPr>
            <a:spLocks xmlns:a="http://schemas.openxmlformats.org/drawingml/2006/main" noGrp="1"/>
          </p:cNvSpPr>
          <p:nvPr/>
        </p:nvSpPr>
        <p:spPr>
          <a:xfrm xmlns:a="http://schemas.openxmlformats.org/drawingml/2006/main">
            <a:off x="9658350" y="1524000"/>
            <a:ext cx="18478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425" b="1" i="0">
                <a:solidFill>
                  <a:srgbClr val="0B0F14"/>
                </a:solidFill>
                <a:latin typeface="Helvetica Neue"/>
                <a:ea typeface="Helvetica Neue"/>
                <a:cs typeface="Helvetica Neue"/>
              </a:defRPr>
            </a:pPr>
            <a:r>
              <a:rPr sz="1425" b="1" i="0">
                <a:solidFill>
                  <a:srgbClr val="0B0F14"/>
                </a:solidFill>
                <a:latin typeface="Helvetica Neue"/>
                <a:ea typeface="Helvetica Neue"/>
                <a:cs typeface="Helvetica Neue"/>
              </a:rPr>
              <a:t>MAE With Replicate Spread Above 1 Log</a:t>
            </a:r>
          </a:p>
        </p:txBody>
      </p:sp>
      <p:sp>
        <p:nvSpPr>
          <p:cNvPr id="7" name="">
            <a:extLst xmlns:a="http://schemas.openxmlformats.org/drawingml/2006/main">
              <a:ext uri="{FF2B5EF4-FFF2-40B4-BE49-F238E27FC236}">
                <a16:creationId xmlns:a16="http://schemas.microsoft.com/office/drawing/2014/main" id="{420A3802-2AC7-499C-8090-BD19CAFDE95E}"/>
              </a:ext>
            </a:extLst>
          </p:cNvPr>
          <p:cNvSpPr>
            <a:spLocks xmlns:a="http://schemas.openxmlformats.org/drawingml/2006/main" noGrp="1"/>
          </p:cNvSpPr>
          <p:nvPr/>
        </p:nvSpPr>
        <p:spPr>
          <a:xfrm xmlns:a="http://schemas.openxmlformats.org/drawingml/2006/main">
            <a:off x="8267700" y="2647950"/>
            <a:ext cx="3467100" cy="1143000"/>
          </a:xfrm>
          <a:prstGeom xmlns:a="http://schemas.openxmlformats.org/drawingml/2006/main" prst="roundRect">
            <a:avLst>
              <a:gd name="adj" fmla="val 10000"/>
            </a:avLst>
          </a:prstGeom>
          <a:solidFill xmlns:a="http://schemas.openxmlformats.org/drawingml/2006/main">
            <a:srgbClr val="FFF2E8"/>
          </a:solidFill>
          <a:ln xmlns:a="http://schemas.openxmlformats.org/drawingml/2006/main" w="9525">
            <a:solidFill>
              <a:srgbClr val="FFF2E8"/>
            </a:solidFill>
            <a:prstDash val="solid"/>
          </a:ln>
        </p:spPr>
      </p:sp>
      <p:sp>
        <p:nvSpPr>
          <p:cNvPr id="8" name="">
            <a:extLst xmlns:a="http://schemas.openxmlformats.org/drawingml/2006/main">
              <a:ext uri="{FF2B5EF4-FFF2-40B4-BE49-F238E27FC236}">
                <a16:creationId xmlns:a16="http://schemas.microsoft.com/office/drawing/2014/main" id="{CF794773-5A8F-416A-9D02-9E9437AF3925}"/>
              </a:ext>
            </a:extLst>
          </p:cNvPr>
          <p:cNvSpPr>
            <a:spLocks xmlns:a="http://schemas.openxmlformats.org/drawingml/2006/main" noGrp="1"/>
          </p:cNvSpPr>
          <p:nvPr/>
        </p:nvSpPr>
        <p:spPr>
          <a:xfrm xmlns:a="http://schemas.openxmlformats.org/drawingml/2006/main">
            <a:off x="8477250" y="2819400"/>
            <a:ext cx="1085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150" b="1" i="0">
                <a:solidFill>
                  <a:srgbClr val="C96A18"/>
                </a:solidFill>
                <a:latin typeface="Helvetica Neue"/>
                <a:ea typeface="Helvetica Neue"/>
                <a:cs typeface="Helvetica Neue"/>
              </a:defRPr>
            </a:pPr>
            <a:r>
              <a:rPr sz="3150" b="1" i="0">
                <a:solidFill>
                  <a:srgbClr val="C96A18"/>
                </a:solidFill>
                <a:latin typeface="Helvetica Neue"/>
                <a:ea typeface="Helvetica Neue"/>
                <a:cs typeface="Helvetica Neue"/>
              </a:rPr>
              <a:t>0.518</a:t>
            </a:r>
          </a:p>
        </p:txBody>
      </p:sp>
      <p:sp>
        <p:nvSpPr>
          <p:cNvPr id="9" name="">
            <a:extLst xmlns:a="http://schemas.openxmlformats.org/drawingml/2006/main">
              <a:ext uri="{FF2B5EF4-FFF2-40B4-BE49-F238E27FC236}">
                <a16:creationId xmlns:a16="http://schemas.microsoft.com/office/drawing/2014/main" id="{DB963CD4-42F7-4C06-BF1B-AB6183E4447E}"/>
              </a:ext>
            </a:extLst>
          </p:cNvPr>
          <p:cNvSpPr>
            <a:spLocks xmlns:a="http://schemas.openxmlformats.org/drawingml/2006/main" noGrp="1"/>
          </p:cNvSpPr>
          <p:nvPr/>
        </p:nvSpPr>
        <p:spPr>
          <a:xfrm xmlns:a="http://schemas.openxmlformats.org/drawingml/2006/main">
            <a:off x="9658350" y="2876550"/>
            <a:ext cx="18478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425" b="1" i="0">
                <a:solidFill>
                  <a:srgbClr val="0B0F14"/>
                </a:solidFill>
                <a:latin typeface="Helvetica Neue"/>
                <a:ea typeface="Helvetica Neue"/>
                <a:cs typeface="Helvetica Neue"/>
              </a:defRPr>
            </a:pPr>
            <a:r>
              <a:rPr sz="1425" b="1" i="0">
                <a:solidFill>
                  <a:srgbClr val="0B0F14"/>
                </a:solidFill>
                <a:latin typeface="Helvetica Neue"/>
                <a:ea typeface="Helvetica Neue"/>
                <a:cs typeface="Helvetica Neue"/>
              </a:rPr>
              <a:t>MAE At 700 Da Or Higher</a:t>
            </a:r>
          </a:p>
        </p:txBody>
      </p:sp>
      <p:sp>
        <p:nvSpPr>
          <p:cNvPr id="10" name="">
            <a:extLst xmlns:a="http://schemas.openxmlformats.org/drawingml/2006/main">
              <a:ext uri="{FF2B5EF4-FFF2-40B4-BE49-F238E27FC236}">
                <a16:creationId xmlns:a16="http://schemas.microsoft.com/office/drawing/2014/main" id="{B8ED1054-7BA1-41E9-B28B-02DB7B4C4F92}"/>
              </a:ext>
            </a:extLst>
          </p:cNvPr>
          <p:cNvSpPr>
            <a:spLocks xmlns:a="http://schemas.openxmlformats.org/drawingml/2006/main" noGrp="1"/>
          </p:cNvSpPr>
          <p:nvPr/>
        </p:nvSpPr>
        <p:spPr>
          <a:xfrm xmlns:a="http://schemas.openxmlformats.org/drawingml/2006/main">
            <a:off x="8267700" y="4000500"/>
            <a:ext cx="3467100" cy="1143000"/>
          </a:xfrm>
          <a:prstGeom xmlns:a="http://schemas.openxmlformats.org/drawingml/2006/main" prst="roundRect">
            <a:avLst>
              <a:gd name="adj" fmla="val 10000"/>
            </a:avLst>
          </a:prstGeom>
          <a:solidFill xmlns:a="http://schemas.openxmlformats.org/drawingml/2006/main">
            <a:srgbClr val="EAF2FF"/>
          </a:solidFill>
          <a:ln xmlns:a="http://schemas.openxmlformats.org/drawingml/2006/main" w="9525">
            <a:solidFill>
              <a:srgbClr val="EAF2FF"/>
            </a:solidFill>
            <a:prstDash val="solid"/>
          </a:ln>
        </p:spPr>
      </p:sp>
      <p:sp>
        <p:nvSpPr>
          <p:cNvPr id="11" name="">
            <a:extLst xmlns:a="http://schemas.openxmlformats.org/drawingml/2006/main">
              <a:ext uri="{FF2B5EF4-FFF2-40B4-BE49-F238E27FC236}">
                <a16:creationId xmlns:a16="http://schemas.microsoft.com/office/drawing/2014/main" id="{A056F15E-AE5E-48EF-9433-E0B53DFD244B}"/>
              </a:ext>
            </a:extLst>
          </p:cNvPr>
          <p:cNvSpPr>
            <a:spLocks xmlns:a="http://schemas.openxmlformats.org/drawingml/2006/main" noGrp="1"/>
          </p:cNvSpPr>
          <p:nvPr/>
        </p:nvSpPr>
        <p:spPr>
          <a:xfrm xmlns:a="http://schemas.openxmlformats.org/drawingml/2006/main">
            <a:off x="8477250" y="4171950"/>
            <a:ext cx="1085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150" b="1" i="0">
                <a:solidFill>
                  <a:srgbClr val="1E63D5"/>
                </a:solidFill>
                <a:latin typeface="Helvetica Neue"/>
                <a:ea typeface="Helvetica Neue"/>
                <a:cs typeface="Helvetica Neue"/>
              </a:defRPr>
            </a:pPr>
            <a:r>
              <a:rPr sz="3150" b="1" i="0">
                <a:solidFill>
                  <a:srgbClr val="1E63D5"/>
                </a:solidFill>
                <a:latin typeface="Helvetica Neue"/>
                <a:ea typeface="Helvetica Neue"/>
                <a:cs typeface="Helvetica Neue"/>
              </a:rPr>
              <a:t>0.560</a:t>
            </a:r>
          </a:p>
        </p:txBody>
      </p:sp>
      <p:sp>
        <p:nvSpPr>
          <p:cNvPr id="12" name="">
            <a:extLst xmlns:a="http://schemas.openxmlformats.org/drawingml/2006/main">
              <a:ext uri="{FF2B5EF4-FFF2-40B4-BE49-F238E27FC236}">
                <a16:creationId xmlns:a16="http://schemas.microsoft.com/office/drawing/2014/main" id="{7C39B2E5-3276-4F3C-91DB-1445B40CDFAF}"/>
              </a:ext>
            </a:extLst>
          </p:cNvPr>
          <p:cNvSpPr>
            <a:spLocks xmlns:a="http://schemas.openxmlformats.org/drawingml/2006/main" noGrp="1"/>
          </p:cNvSpPr>
          <p:nvPr/>
        </p:nvSpPr>
        <p:spPr>
          <a:xfrm xmlns:a="http://schemas.openxmlformats.org/drawingml/2006/main">
            <a:off x="9658350" y="4229100"/>
            <a:ext cx="18478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425" b="1" i="0">
                <a:solidFill>
                  <a:srgbClr val="0B0F14"/>
                </a:solidFill>
                <a:latin typeface="Helvetica Neue"/>
                <a:ea typeface="Helvetica Neue"/>
                <a:cs typeface="Helvetica Neue"/>
              </a:defRPr>
            </a:pPr>
            <a:r>
              <a:rPr sz="1425" b="1" i="0">
                <a:solidFill>
                  <a:srgbClr val="0B0F14"/>
                </a:solidFill>
                <a:latin typeface="Helvetica Neue"/>
                <a:ea typeface="Helvetica Neue"/>
                <a:cs typeface="Helvetica Neue"/>
              </a:rPr>
              <a:t>MAE In Flagged Extrapolation</a:t>
            </a:r>
          </a:p>
        </p:txBody>
      </p:sp>
      <p:sp>
        <p:nvSpPr>
          <p:cNvPr id="13" name="">
            <a:extLst xmlns:a="http://schemas.openxmlformats.org/drawingml/2006/main">
              <a:ext uri="{FF2B5EF4-FFF2-40B4-BE49-F238E27FC236}">
                <a16:creationId xmlns:a16="http://schemas.microsoft.com/office/drawing/2014/main" id="{86926DDE-B672-4B6C-A55C-A3B09F29F5B8}"/>
              </a:ext>
            </a:extLst>
          </p:cNvPr>
          <p:cNvSpPr>
            <a:spLocks xmlns:a="http://schemas.openxmlformats.org/drawingml/2006/main" noGrp="1"/>
          </p:cNvSpPr>
          <p:nvPr/>
        </p:nvSpPr>
        <p:spPr>
          <a:xfrm xmlns:a="http://schemas.openxmlformats.org/drawingml/2006/main">
            <a:off x="8267700" y="5353050"/>
            <a:ext cx="3467100" cy="819150"/>
          </a:xfrm>
          <a:prstGeom xmlns:a="http://schemas.openxmlformats.org/drawingml/2006/main" prst="roundRect">
            <a:avLst>
              <a:gd name="adj" fmla="val 13953"/>
            </a:avLst>
          </a:prstGeom>
          <a:solidFill xmlns:a="http://schemas.openxmlformats.org/drawingml/2006/main">
            <a:srgbClr val="F2F4F7"/>
          </a:solidFill>
          <a:ln xmlns:a="http://schemas.openxmlformats.org/drawingml/2006/main" w="9525">
            <a:solidFill>
              <a:srgbClr val="D6DAE0"/>
            </a:solidFill>
            <a:prstDash val="solid"/>
          </a:ln>
        </p:spPr>
      </p:sp>
      <p:sp>
        <p:nvSpPr>
          <p:cNvPr id="14" name="">
            <a:extLst xmlns:a="http://schemas.openxmlformats.org/drawingml/2006/main">
              <a:ext uri="{FF2B5EF4-FFF2-40B4-BE49-F238E27FC236}">
                <a16:creationId xmlns:a16="http://schemas.microsoft.com/office/drawing/2014/main" id="{4956166B-0CBA-484D-B672-0FAC84B7F1EB}"/>
              </a:ext>
            </a:extLst>
          </p:cNvPr>
          <p:cNvSpPr>
            <a:spLocks xmlns:a="http://schemas.openxmlformats.org/drawingml/2006/main" noGrp="1"/>
          </p:cNvSpPr>
          <p:nvPr/>
        </p:nvSpPr>
        <p:spPr>
          <a:xfrm xmlns:a="http://schemas.openxmlformats.org/drawingml/2006/main">
            <a:off x="8477250" y="5562600"/>
            <a:ext cx="304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5152"/>
          </a:bodyPr>
          <a:lstStyle xmlns:a="http://schemas.openxmlformats.org/drawingml/2006/main"/>
          <a:p xmlns:a="http://schemas.openxmlformats.org/drawingml/2006/main">
            <a:pPr algn="ctr">
              <a:defRPr sz="1650" b="1" i="0">
                <a:solidFill>
                  <a:srgbClr val="16805A"/>
                </a:solidFill>
                <a:latin typeface="Helvetica Neue"/>
                <a:ea typeface="Helvetica Neue"/>
                <a:cs typeface="Helvetica Neue"/>
              </a:defRPr>
            </a:pPr>
            <a:r>
              <a:rPr sz="1650" b="1" i="0">
                <a:solidFill>
                  <a:srgbClr val="16805A"/>
                </a:solidFill>
                <a:latin typeface="Helvetica Neue"/>
                <a:ea typeface="Helvetica Neue"/>
                <a:cs typeface="Helvetica Neue"/>
              </a:rPr>
              <a:t>500 To 700 Da Remains Competitive</a:t>
            </a:r>
          </a:p>
        </p:txBody>
      </p:sp>
    </p:spTree>
    <p:extLst>
      <p:ext uri="{BB962C8B-B14F-4D97-AF65-F5344CB8AC3E}">
        <p14:creationId xmlns:p14="http://schemas.microsoft.com/office/powerpoint/2010/main" val="143566215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165F8C2-9905-49F4-A37D-3DD47E8F7AF3}"/>
              </a:ext>
            </a:extLst>
          </p:cNvPr>
          <p:cNvSpPr>
            <a:spLocks xmlns:a="http://schemas.openxmlformats.org/drawingml/2006/main" noGrp="1"/>
          </p:cNvSpPr>
          <p:nvPr/>
        </p:nvSpPr>
        <p:spPr>
          <a:xfrm xmlns:a="http://schemas.openxmlformats.org/drawingml/2006/main">
            <a:off x="438150" y="323850"/>
            <a:ext cx="113157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25" b="1" i="0">
                <a:solidFill>
                  <a:srgbClr val="0B0F14"/>
                </a:solidFill>
                <a:latin typeface="Helvetica Neue"/>
                <a:ea typeface="Helvetica Neue"/>
                <a:cs typeface="Helvetica Neue"/>
              </a:defRPr>
            </a:pPr>
            <a:r>
              <a:rPr sz="2925" b="1" i="0">
                <a:solidFill>
                  <a:srgbClr val="0B0F14"/>
                </a:solidFill>
                <a:latin typeface="Helvetica Neue"/>
                <a:ea typeface="Helvetica Neue"/>
                <a:cs typeface="Helvetica Neue"/>
              </a:rPr>
              <a:t>Local Analogs Improve Covered Chemistry</a:t>
            </a:r>
          </a:p>
        </p:txBody>
      </p:sp>
      <p:cxnSp>
        <p:nvCxnSpPr>
          <p:cNvPr id="17" name=""/>
          <p:cNvCxnSpPr/>
          <p:nvPr/>
        </p:nvCxnSpPr>
        <p:spPr>
          <a:xfrm xmlns:a="http://schemas.openxmlformats.org/drawingml/2006/main">
            <a:off x="438150" y="1028700"/>
            <a:ext cx="11315700" cy="0"/>
          </a:xfrm>
          <a:prstGeom xmlns:a="http://schemas.openxmlformats.org/drawingml/2006/main" prst="straightConnector1">
            <a:avLst/>
          </a:prstGeom>
          <a:ln xmlns:a="http://schemas.openxmlformats.org/drawingml/2006/main" w="9525">
            <a:solidFill>
              <a:srgbClr val="D6DAE0"/>
            </a:solidFill>
            <a:prstDash val="solid"/>
          </a:ln>
        </p:spPr>
      </p:cxn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573a796cab1840e5"/>
          <a:stretch xmlns:a="http://schemas.openxmlformats.org/drawingml/2006/main"/>
        </p:blipFill>
        <p:spPr>
          <a:xfrm xmlns:a="http://schemas.openxmlformats.org/drawingml/2006/main">
            <a:off x="438150" y="1387879"/>
            <a:ext cx="7086600" cy="4691843"/>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D097D6A-62CB-4101-8252-D25CEE5FF473}"/>
              </a:ext>
            </a:extLst>
          </p:cNvPr>
          <p:cNvSpPr>
            <a:spLocks xmlns:a="http://schemas.openxmlformats.org/drawingml/2006/main" noGrp="1"/>
          </p:cNvSpPr>
          <p:nvPr/>
        </p:nvSpPr>
        <p:spPr>
          <a:xfrm xmlns:a="http://schemas.openxmlformats.org/drawingml/2006/main">
            <a:off x="7810500" y="1276350"/>
            <a:ext cx="1809750" cy="1390650"/>
          </a:xfrm>
          <a:prstGeom xmlns:a="http://schemas.openxmlformats.org/drawingml/2006/main" prst="roundRect">
            <a:avLst>
              <a:gd name="adj" fmla="val 8219"/>
            </a:avLst>
          </a:prstGeom>
          <a:solidFill xmlns:a="http://schemas.openxmlformats.org/drawingml/2006/main">
            <a:srgbClr val="EAF2FF"/>
          </a:solidFill>
          <a:ln xmlns:a="http://schemas.openxmlformats.org/drawingml/2006/main" w="9525">
            <a:solidFill>
              <a:srgbClr val="EAF2FF"/>
            </a:solidFill>
            <a:prstDash val="solid"/>
          </a:ln>
        </p:spPr>
      </p:sp>
      <p:sp>
        <p:nvSpPr>
          <p:cNvPr id="5" name="">
            <a:extLst xmlns:a="http://schemas.openxmlformats.org/drawingml/2006/main">
              <a:ext uri="{FF2B5EF4-FFF2-40B4-BE49-F238E27FC236}">
                <a16:creationId xmlns:a16="http://schemas.microsoft.com/office/drawing/2014/main" id="{D35CD72E-24E3-4FA0-96F3-0E90D10A6D0C}"/>
              </a:ext>
            </a:extLst>
          </p:cNvPr>
          <p:cNvSpPr>
            <a:spLocks xmlns:a="http://schemas.openxmlformats.org/drawingml/2006/main" noGrp="1"/>
          </p:cNvSpPr>
          <p:nvPr/>
        </p:nvSpPr>
        <p:spPr>
          <a:xfrm xmlns:a="http://schemas.openxmlformats.org/drawingml/2006/main">
            <a:off x="8001000" y="1447800"/>
            <a:ext cx="1428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375" b="1" i="0">
                <a:solidFill>
                  <a:srgbClr val="1E63D5"/>
                </a:solidFill>
                <a:latin typeface="Helvetica Neue"/>
                <a:ea typeface="Helvetica Neue"/>
                <a:cs typeface="Helvetica Neue"/>
              </a:defRPr>
            </a:pPr>
            <a:r>
              <a:rPr sz="3375" b="1" i="0">
                <a:solidFill>
                  <a:srgbClr val="1E63D5"/>
                </a:solidFill>
                <a:latin typeface="Helvetica Neue"/>
                <a:ea typeface="Helvetica Neue"/>
                <a:cs typeface="Helvetica Neue"/>
              </a:rPr>
              <a:t>41.7%</a:t>
            </a:r>
          </a:p>
        </p:txBody>
      </p:sp>
      <p:sp>
        <p:nvSpPr>
          <p:cNvPr id="6" name="">
            <a:extLst xmlns:a="http://schemas.openxmlformats.org/drawingml/2006/main">
              <a:ext uri="{FF2B5EF4-FFF2-40B4-BE49-F238E27FC236}">
                <a16:creationId xmlns:a16="http://schemas.microsoft.com/office/drawing/2014/main" id="{1C0A9733-2F2B-45B7-81BC-A6CFBA72459B}"/>
              </a:ext>
            </a:extLst>
          </p:cNvPr>
          <p:cNvSpPr>
            <a:spLocks xmlns:a="http://schemas.openxmlformats.org/drawingml/2006/main" noGrp="1"/>
          </p:cNvSpPr>
          <p:nvPr/>
        </p:nvSpPr>
        <p:spPr>
          <a:xfrm xmlns:a="http://schemas.openxmlformats.org/drawingml/2006/main">
            <a:off x="8001000" y="2057400"/>
            <a:ext cx="1428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i="0">
                <a:solidFill>
                  <a:srgbClr val="0B0F14"/>
                </a:solidFill>
                <a:latin typeface="Helvetica Neue"/>
                <a:ea typeface="Helvetica Neue"/>
                <a:cs typeface="Helvetica Neue"/>
              </a:defRPr>
            </a:pPr>
            <a:r>
              <a:rPr sz="1500" b="1" i="0">
                <a:solidFill>
                  <a:srgbClr val="0B0F14"/>
                </a:solidFill>
                <a:latin typeface="Helvetica Neue"/>
                <a:ea typeface="Helvetica Neue"/>
                <a:cs typeface="Helvetica Neue"/>
              </a:rPr>
              <a:t>Structures With Analog Support</a:t>
            </a:r>
          </a:p>
        </p:txBody>
      </p:sp>
      <p:sp>
        <p:nvSpPr>
          <p:cNvPr id="7" name="">
            <a:extLst xmlns:a="http://schemas.openxmlformats.org/drawingml/2006/main">
              <a:ext uri="{FF2B5EF4-FFF2-40B4-BE49-F238E27FC236}">
                <a16:creationId xmlns:a16="http://schemas.microsoft.com/office/drawing/2014/main" id="{56E00631-3C0C-4283-A81D-95D2F4333041}"/>
              </a:ext>
            </a:extLst>
          </p:cNvPr>
          <p:cNvSpPr>
            <a:spLocks xmlns:a="http://schemas.openxmlformats.org/drawingml/2006/main" noGrp="1"/>
          </p:cNvSpPr>
          <p:nvPr/>
        </p:nvSpPr>
        <p:spPr>
          <a:xfrm xmlns:a="http://schemas.openxmlformats.org/drawingml/2006/main">
            <a:off x="9810750" y="1276350"/>
            <a:ext cx="1924050" cy="1390650"/>
          </a:xfrm>
          <a:prstGeom xmlns:a="http://schemas.openxmlformats.org/drawingml/2006/main" prst="roundRect">
            <a:avLst>
              <a:gd name="adj" fmla="val 8219"/>
            </a:avLst>
          </a:prstGeom>
          <a:solidFill xmlns:a="http://schemas.openxmlformats.org/drawingml/2006/main">
            <a:srgbClr val="E9F7F1"/>
          </a:solidFill>
          <a:ln xmlns:a="http://schemas.openxmlformats.org/drawingml/2006/main" w="9525">
            <a:solidFill>
              <a:srgbClr val="E9F7F1"/>
            </a:solidFill>
            <a:prstDash val="solid"/>
          </a:ln>
        </p:spPr>
      </p:sp>
      <p:sp>
        <p:nvSpPr>
          <p:cNvPr id="8" name="">
            <a:extLst xmlns:a="http://schemas.openxmlformats.org/drawingml/2006/main">
              <a:ext uri="{FF2B5EF4-FFF2-40B4-BE49-F238E27FC236}">
                <a16:creationId xmlns:a16="http://schemas.microsoft.com/office/drawing/2014/main" id="{BC535743-DB27-4137-9478-C7FB779A10F1}"/>
              </a:ext>
            </a:extLst>
          </p:cNvPr>
          <p:cNvSpPr>
            <a:spLocks xmlns:a="http://schemas.openxmlformats.org/drawingml/2006/main" noGrp="1"/>
          </p:cNvSpPr>
          <p:nvPr/>
        </p:nvSpPr>
        <p:spPr>
          <a:xfrm xmlns:a="http://schemas.openxmlformats.org/drawingml/2006/main">
            <a:off x="10001250" y="1447800"/>
            <a:ext cx="1543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375" b="1" i="0">
                <a:solidFill>
                  <a:srgbClr val="16805A"/>
                </a:solidFill>
                <a:latin typeface="Helvetica Neue"/>
                <a:ea typeface="Helvetica Neue"/>
                <a:cs typeface="Helvetica Neue"/>
              </a:defRPr>
            </a:pPr>
            <a:r>
              <a:rPr sz="3375" b="1" i="0">
                <a:solidFill>
                  <a:srgbClr val="16805A"/>
                </a:solidFill>
                <a:latin typeface="Helvetica Neue"/>
                <a:ea typeface="Helvetica Neue"/>
                <a:cs typeface="Helvetica Neue"/>
              </a:rPr>
              <a:t>7,847</a:t>
            </a:r>
          </a:p>
        </p:txBody>
      </p:sp>
      <p:sp>
        <p:nvSpPr>
          <p:cNvPr id="9" name="">
            <a:extLst xmlns:a="http://schemas.openxmlformats.org/drawingml/2006/main">
              <a:ext uri="{FF2B5EF4-FFF2-40B4-BE49-F238E27FC236}">
                <a16:creationId xmlns:a16="http://schemas.microsoft.com/office/drawing/2014/main" id="{D64DF734-AEB6-4181-A715-FCB6B3A963DA}"/>
              </a:ext>
            </a:extLst>
          </p:cNvPr>
          <p:cNvSpPr>
            <a:spLocks xmlns:a="http://schemas.openxmlformats.org/drawingml/2006/main" noGrp="1"/>
          </p:cNvSpPr>
          <p:nvPr/>
        </p:nvSpPr>
        <p:spPr>
          <a:xfrm xmlns:a="http://schemas.openxmlformats.org/drawingml/2006/main">
            <a:off x="10001250" y="2057400"/>
            <a:ext cx="1543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i="0">
                <a:solidFill>
                  <a:srgbClr val="0B0F14"/>
                </a:solidFill>
                <a:latin typeface="Helvetica Neue"/>
                <a:ea typeface="Helvetica Neue"/>
                <a:cs typeface="Helvetica Neue"/>
              </a:defRPr>
            </a:pPr>
            <a:r>
              <a:rPr sz="1500" b="1" i="0">
                <a:solidFill>
                  <a:srgbClr val="0B0F14"/>
                </a:solidFill>
                <a:latin typeface="Helvetica Neue"/>
                <a:ea typeface="Helvetica Neue"/>
                <a:cs typeface="Helvetica Neue"/>
              </a:rPr>
              <a:t>Supported Structures</a:t>
            </a:r>
          </a:p>
        </p:txBody>
      </p:sp>
      <p:sp>
        <p:nvSpPr>
          <p:cNvPr id="10" name="">
            <a:extLst xmlns:a="http://schemas.openxmlformats.org/drawingml/2006/main">
              <a:ext uri="{FF2B5EF4-FFF2-40B4-BE49-F238E27FC236}">
                <a16:creationId xmlns:a16="http://schemas.microsoft.com/office/drawing/2014/main" id="{D14C5928-837A-4564-B9B7-292F834CFC9F}"/>
              </a:ext>
            </a:extLst>
          </p:cNvPr>
          <p:cNvSpPr>
            <a:spLocks xmlns:a="http://schemas.openxmlformats.org/drawingml/2006/main" noGrp="1"/>
          </p:cNvSpPr>
          <p:nvPr/>
        </p:nvSpPr>
        <p:spPr>
          <a:xfrm xmlns:a="http://schemas.openxmlformats.org/drawingml/2006/main">
            <a:off x="7810500" y="2895600"/>
            <a:ext cx="3924300" cy="1390650"/>
          </a:xfrm>
          <a:prstGeom xmlns:a="http://schemas.openxmlformats.org/drawingml/2006/main" prst="roundRect">
            <a:avLst>
              <a:gd name="adj" fmla="val 8219"/>
            </a:avLst>
          </a:prstGeom>
          <a:solidFill xmlns:a="http://schemas.openxmlformats.org/drawingml/2006/main">
            <a:srgbClr val="E9F7F1"/>
          </a:solidFill>
          <a:ln xmlns:a="http://schemas.openxmlformats.org/drawingml/2006/main" w="9525">
            <a:solidFill>
              <a:srgbClr val="E9F7F1"/>
            </a:solidFill>
            <a:prstDash val="solid"/>
          </a:ln>
        </p:spPr>
      </p:sp>
      <p:sp>
        <p:nvSpPr>
          <p:cNvPr id="11" name="">
            <a:extLst xmlns:a="http://schemas.openxmlformats.org/drawingml/2006/main">
              <a:ext uri="{FF2B5EF4-FFF2-40B4-BE49-F238E27FC236}">
                <a16:creationId xmlns:a16="http://schemas.microsoft.com/office/drawing/2014/main" id="{E1B4CD35-48D2-4563-B2B7-0BBDA800E3A0}"/>
              </a:ext>
            </a:extLst>
          </p:cNvPr>
          <p:cNvSpPr>
            <a:spLocks xmlns:a="http://schemas.openxmlformats.org/drawingml/2006/main" noGrp="1"/>
          </p:cNvSpPr>
          <p:nvPr/>
        </p:nvSpPr>
        <p:spPr>
          <a:xfrm xmlns:a="http://schemas.openxmlformats.org/drawingml/2006/main">
            <a:off x="8039100" y="3124200"/>
            <a:ext cx="3467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325" b="1" i="0">
                <a:solidFill>
                  <a:srgbClr val="16805A"/>
                </a:solidFill>
                <a:latin typeface="Helvetica Neue"/>
                <a:ea typeface="Helvetica Neue"/>
                <a:cs typeface="Helvetica Neue"/>
              </a:defRPr>
            </a:pPr>
            <a:r>
              <a:rPr sz="2325" b="1" i="0">
                <a:solidFill>
                  <a:srgbClr val="16805A"/>
                </a:solidFill>
                <a:latin typeface="Helvetica Neue"/>
                <a:ea typeface="Helvetica Neue"/>
                <a:cs typeface="Helvetica Neue"/>
              </a:rPr>
              <a:t>0.400 To 0.381 MAE</a:t>
            </a:r>
          </a:p>
        </p:txBody>
      </p:sp>
      <p:sp>
        <p:nvSpPr>
          <p:cNvPr id="12" name="">
            <a:extLst xmlns:a="http://schemas.openxmlformats.org/drawingml/2006/main">
              <a:ext uri="{FF2B5EF4-FFF2-40B4-BE49-F238E27FC236}">
                <a16:creationId xmlns:a16="http://schemas.microsoft.com/office/drawing/2014/main" id="{A7E966B5-F956-4B3E-99F5-ABFEC44D85D6}"/>
              </a:ext>
            </a:extLst>
          </p:cNvPr>
          <p:cNvSpPr>
            <a:spLocks xmlns:a="http://schemas.openxmlformats.org/drawingml/2006/main" noGrp="1"/>
          </p:cNvSpPr>
          <p:nvPr/>
        </p:nvSpPr>
        <p:spPr>
          <a:xfrm xmlns:a="http://schemas.openxmlformats.org/drawingml/2006/main">
            <a:off x="8039100" y="3657600"/>
            <a:ext cx="3467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i="0">
                <a:solidFill>
                  <a:srgbClr val="0B0F14"/>
                </a:solidFill>
                <a:latin typeface="Helvetica Neue"/>
                <a:ea typeface="Helvetica Neue"/>
                <a:cs typeface="Helvetica Neue"/>
              </a:defRPr>
            </a:pPr>
            <a:r>
              <a:rPr sz="1425" b="1" i="0">
                <a:solidFill>
                  <a:srgbClr val="0B0F14"/>
                </a:solidFill>
                <a:latin typeface="Helvetica Neue"/>
                <a:ea typeface="Helvetica Neue"/>
                <a:cs typeface="Helvetica Neue"/>
              </a:rPr>
              <a:t>Broad anchor to analog-assisted prediction on supported structures</a:t>
            </a:r>
          </a:p>
        </p:txBody>
      </p:sp>
      <p:sp>
        <p:nvSpPr>
          <p:cNvPr id="13" name="">
            <a:extLst xmlns:a="http://schemas.openxmlformats.org/drawingml/2006/main">
              <a:ext uri="{FF2B5EF4-FFF2-40B4-BE49-F238E27FC236}">
                <a16:creationId xmlns:a16="http://schemas.microsoft.com/office/drawing/2014/main" id="{36068B4D-251D-4613-8986-7F4CDA74E126}"/>
              </a:ext>
            </a:extLst>
          </p:cNvPr>
          <p:cNvSpPr>
            <a:spLocks xmlns:a="http://schemas.openxmlformats.org/drawingml/2006/main" noGrp="1"/>
          </p:cNvSpPr>
          <p:nvPr/>
        </p:nvSpPr>
        <p:spPr>
          <a:xfrm xmlns:a="http://schemas.openxmlformats.org/drawingml/2006/main">
            <a:off x="7810500" y="4533900"/>
            <a:ext cx="3924300" cy="1409700"/>
          </a:xfrm>
          <a:prstGeom xmlns:a="http://schemas.openxmlformats.org/drawingml/2006/main" prst="roundRect">
            <a:avLst>
              <a:gd name="adj" fmla="val 8108"/>
            </a:avLst>
          </a:prstGeom>
          <a:solidFill xmlns:a="http://schemas.openxmlformats.org/drawingml/2006/main">
            <a:srgbClr val="FFF2E8"/>
          </a:solidFill>
          <a:ln xmlns:a="http://schemas.openxmlformats.org/drawingml/2006/main" w="9525">
            <a:solidFill>
              <a:srgbClr val="FFF2E8"/>
            </a:solidFill>
            <a:prstDash val="solid"/>
          </a:ln>
        </p:spPr>
      </p:sp>
      <p:sp>
        <p:nvSpPr>
          <p:cNvPr id="14" name="">
            <a:extLst xmlns:a="http://schemas.openxmlformats.org/drawingml/2006/main">
              <a:ext uri="{FF2B5EF4-FFF2-40B4-BE49-F238E27FC236}">
                <a16:creationId xmlns:a16="http://schemas.microsoft.com/office/drawing/2014/main" id="{4B15F951-817E-4DC0-82E2-A1B527BA5A7A}"/>
              </a:ext>
            </a:extLst>
          </p:cNvPr>
          <p:cNvSpPr>
            <a:spLocks xmlns:a="http://schemas.openxmlformats.org/drawingml/2006/main" noGrp="1"/>
          </p:cNvSpPr>
          <p:nvPr/>
        </p:nvSpPr>
        <p:spPr>
          <a:xfrm xmlns:a="http://schemas.openxmlformats.org/drawingml/2006/main">
            <a:off x="8039100" y="4762500"/>
            <a:ext cx="3467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8967"/>
          </a:bodyPr>
          <a:lstStyle xmlns:a="http://schemas.openxmlformats.org/drawingml/2006/main"/>
          <a:p xmlns:a="http://schemas.openxmlformats.org/drawingml/2006/main">
            <a:pPr algn="l">
              <a:defRPr sz="1725" b="1" i="0">
                <a:solidFill>
                  <a:srgbClr val="C96A18"/>
                </a:solidFill>
                <a:latin typeface="Helvetica Neue"/>
                <a:ea typeface="Helvetica Neue"/>
                <a:cs typeface="Helvetica Neue"/>
              </a:defRPr>
            </a:pPr>
            <a:r>
              <a:rPr sz="1725" b="1" i="0">
                <a:solidFill>
                  <a:srgbClr val="C96A18"/>
                </a:solidFill>
                <a:latin typeface="Helvetica Neue"/>
                <a:ea typeface="Helvetica Neue"/>
                <a:cs typeface="Helvetica Neue"/>
              </a:rPr>
              <a:t>Activity-Cliff Direction Remains Weak</a:t>
            </a:r>
          </a:p>
        </p:txBody>
      </p:sp>
      <p:sp>
        <p:nvSpPr>
          <p:cNvPr id="15" name="">
            <a:extLst xmlns:a="http://schemas.openxmlformats.org/drawingml/2006/main">
              <a:ext uri="{FF2B5EF4-FFF2-40B4-BE49-F238E27FC236}">
                <a16:creationId xmlns:a16="http://schemas.microsoft.com/office/drawing/2014/main" id="{1006C758-5965-49E5-B83F-0DCA056FA0AF}"/>
              </a:ext>
            </a:extLst>
          </p:cNvPr>
          <p:cNvSpPr>
            <a:spLocks xmlns:a="http://schemas.openxmlformats.org/drawingml/2006/main" noGrp="1"/>
          </p:cNvSpPr>
          <p:nvPr/>
        </p:nvSpPr>
        <p:spPr>
          <a:xfrm xmlns:a="http://schemas.openxmlformats.org/drawingml/2006/main">
            <a:off x="8039100" y="52197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182"/>
          </a:bodyPr>
          <a:lstStyle xmlns:a="http://schemas.openxmlformats.org/drawingml/2006/main"/>
          <a:p xmlns:a="http://schemas.openxmlformats.org/drawingml/2006/main">
            <a:pPr algn="l">
              <a:defRPr sz="1425" b="0" i="0">
                <a:solidFill>
                  <a:srgbClr val="0B0F14"/>
                </a:solidFill>
                <a:latin typeface="Helvetica Neue"/>
                <a:ea typeface="Helvetica Neue"/>
                <a:cs typeface="Helvetica Neue"/>
              </a:defRPr>
            </a:pPr>
            <a:r>
              <a:rPr sz="1425" b="0" i="0">
                <a:solidFill>
                  <a:srgbClr val="0B0F14"/>
                </a:solidFill>
                <a:latin typeface="Helvetica Neue"/>
                <a:ea typeface="Helvetica Neue"/>
                <a:cs typeface="Helvetica Neue"/>
              </a:rPr>
              <a:t>Use local analogs as a supported specialist, not as causal transformation rules.</a:t>
            </a:r>
          </a:p>
        </p:txBody>
      </p:sp>
    </p:spTree>
    <p:extLst>
      <p:ext uri="{BB962C8B-B14F-4D97-AF65-F5344CB8AC3E}">
        <p14:creationId xmlns:p14="http://schemas.microsoft.com/office/powerpoint/2010/main" val="71654946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 name="">
            <a:extLst xmlns:a="http://schemas.openxmlformats.org/drawingml/2006/main">
              <a:ext uri="{FF2B5EF4-FFF2-40B4-BE49-F238E27FC236}">
                <a16:creationId xmlns:a16="http://schemas.microsoft.com/office/drawing/2014/main" id="{DD9941A2-4B74-4D20-899E-602EAB5B3476}"/>
              </a:ext>
            </a:extLst>
          </p:cNvPr>
          <p:cNvSpPr>
            <a:spLocks xmlns:a="http://schemas.openxmlformats.org/drawingml/2006/main" noGrp="1"/>
          </p:cNvSpPr>
          <p:nvPr/>
        </p:nvSpPr>
        <p:spPr>
          <a:xfrm xmlns:a="http://schemas.openxmlformats.org/drawingml/2006/main">
            <a:off x="438150" y="323850"/>
            <a:ext cx="113157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25" b="1" i="0">
                <a:solidFill>
                  <a:srgbClr val="0B0F14"/>
                </a:solidFill>
                <a:latin typeface="Helvetica Neue"/>
                <a:ea typeface="Helvetica Neue"/>
                <a:cs typeface="Helvetica Neue"/>
              </a:defRPr>
            </a:pPr>
            <a:r>
              <a:rPr sz="2925" b="1" i="0">
                <a:solidFill>
                  <a:srgbClr val="0B0F14"/>
                </a:solidFill>
                <a:latin typeface="Helvetica Neue"/>
                <a:ea typeface="Helvetica Neue"/>
                <a:cs typeface="Helvetica Neue"/>
              </a:rPr>
              <a:t>Published Competitors Use Different Evidence Surfaces</a:t>
            </a:r>
          </a:p>
        </p:txBody>
      </p:sp>
      <p:cxnSp>
        <p:nvCxnSpPr>
          <p:cNvPr id="76" name=""/>
          <p:cNvCxnSpPr/>
          <p:nvPr/>
        </p:nvCxnSpPr>
        <p:spPr>
          <a:xfrm xmlns:a="http://schemas.openxmlformats.org/drawingml/2006/main">
            <a:off x="438150" y="1028700"/>
            <a:ext cx="11315700" cy="0"/>
          </a:xfrm>
          <a:prstGeom xmlns:a="http://schemas.openxmlformats.org/drawingml/2006/main" prst="straightConnector1">
            <a:avLst/>
          </a:prstGeom>
          <a:ln xmlns:a="http://schemas.openxmlformats.org/drawingml/2006/main" w="9525">
            <a:solidFill>
              <a:srgbClr val="D6DAE0"/>
            </a:solidFill>
            <a:prstDash val="solid"/>
          </a:ln>
        </p:spPr>
      </p:cxnSp>
      <p:sp>
        <p:nvSpPr>
          <p:cNvPr id="3" name="">
            <a:extLst xmlns:a="http://schemas.openxmlformats.org/drawingml/2006/main">
              <a:ext uri="{FF2B5EF4-FFF2-40B4-BE49-F238E27FC236}">
                <a16:creationId xmlns:a16="http://schemas.microsoft.com/office/drawing/2014/main" id="{B7DA76F4-DAB6-4787-8C2F-85F40DD13B96}"/>
              </a:ext>
            </a:extLst>
          </p:cNvPr>
          <p:cNvSpPr>
            <a:spLocks xmlns:a="http://schemas.openxmlformats.org/drawingml/2006/main" noGrp="1"/>
          </p:cNvSpPr>
          <p:nvPr/>
        </p:nvSpPr>
        <p:spPr>
          <a:xfrm xmlns:a="http://schemas.openxmlformats.org/drawingml/2006/main">
            <a:off x="438150" y="1219200"/>
            <a:ext cx="1352550" cy="552450"/>
          </a:xfrm>
          <a:prstGeom xmlns:a="http://schemas.openxmlformats.org/drawingml/2006/main" prst="rect">
            <a:avLst/>
          </a:prstGeom>
          <a:solidFill xmlns:a="http://schemas.openxmlformats.org/drawingml/2006/main">
            <a:srgbClr val="0B0F14"/>
          </a:solidFill>
          <a:ln xmlns:a="http://schemas.openxmlformats.org/drawingml/2006/main" w="9525">
            <a:solidFill>
              <a:srgbClr val="D6DAE0"/>
            </a:solidFill>
            <a:prstDash val="solid"/>
          </a:ln>
        </p:spPr>
      </p:sp>
      <p:sp>
        <p:nvSpPr>
          <p:cNvPr id="4" name="">
            <a:extLst xmlns:a="http://schemas.openxmlformats.org/drawingml/2006/main">
              <a:ext uri="{FF2B5EF4-FFF2-40B4-BE49-F238E27FC236}">
                <a16:creationId xmlns:a16="http://schemas.microsoft.com/office/drawing/2014/main" id="{18026DCC-1177-4E6F-9136-3800FED0E9B4}"/>
              </a:ext>
            </a:extLst>
          </p:cNvPr>
          <p:cNvSpPr>
            <a:spLocks xmlns:a="http://schemas.openxmlformats.org/drawingml/2006/main" noGrp="1"/>
          </p:cNvSpPr>
          <p:nvPr/>
        </p:nvSpPr>
        <p:spPr>
          <a:xfrm xmlns:a="http://schemas.openxmlformats.org/drawingml/2006/main">
            <a:off x="533400" y="1295400"/>
            <a:ext cx="1162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i="0">
                <a:solidFill>
                  <a:srgbClr val="FFFFFF"/>
                </a:solidFill>
                <a:latin typeface="Helvetica Neue"/>
                <a:ea typeface="Helvetica Neue"/>
                <a:cs typeface="Helvetica Neue"/>
              </a:defRPr>
            </a:pPr>
            <a:r>
              <a:rPr sz="1200" b="1" i="0">
                <a:solidFill>
                  <a:srgbClr val="FFFFFF"/>
                </a:solidFill>
                <a:latin typeface="Helvetica Neue"/>
                <a:ea typeface="Helvetica Neue"/>
                <a:cs typeface="Helvetica Neue"/>
              </a:rPr>
              <a:t>Tool and Task</a:t>
            </a:r>
          </a:p>
        </p:txBody>
      </p:sp>
      <p:sp>
        <p:nvSpPr>
          <p:cNvPr id="5" name="">
            <a:extLst xmlns:a="http://schemas.openxmlformats.org/drawingml/2006/main">
              <a:ext uri="{FF2B5EF4-FFF2-40B4-BE49-F238E27FC236}">
                <a16:creationId xmlns:a16="http://schemas.microsoft.com/office/drawing/2014/main" id="{858B7E95-E5E3-48FF-A5AC-6A2C41E755D5}"/>
              </a:ext>
            </a:extLst>
          </p:cNvPr>
          <p:cNvSpPr>
            <a:spLocks xmlns:a="http://schemas.openxmlformats.org/drawingml/2006/main" noGrp="1"/>
          </p:cNvSpPr>
          <p:nvPr/>
        </p:nvSpPr>
        <p:spPr>
          <a:xfrm xmlns:a="http://schemas.openxmlformats.org/drawingml/2006/main">
            <a:off x="1790700" y="1219200"/>
            <a:ext cx="1504950" cy="552450"/>
          </a:xfrm>
          <a:prstGeom xmlns:a="http://schemas.openxmlformats.org/drawingml/2006/main" prst="rect">
            <a:avLst/>
          </a:prstGeom>
          <a:solidFill xmlns:a="http://schemas.openxmlformats.org/drawingml/2006/main">
            <a:srgbClr val="0B0F14"/>
          </a:solidFill>
          <a:ln xmlns:a="http://schemas.openxmlformats.org/drawingml/2006/main" w="9525">
            <a:solidFill>
              <a:srgbClr val="D6DAE0"/>
            </a:solidFill>
            <a:prstDash val="solid"/>
          </a:ln>
        </p:spPr>
      </p:sp>
      <p:sp>
        <p:nvSpPr>
          <p:cNvPr id="6" name="">
            <a:extLst xmlns:a="http://schemas.openxmlformats.org/drawingml/2006/main">
              <a:ext uri="{FF2B5EF4-FFF2-40B4-BE49-F238E27FC236}">
                <a16:creationId xmlns:a16="http://schemas.microsoft.com/office/drawing/2014/main" id="{B3DF110F-7C08-4BCF-88BD-DF2337CB9941}"/>
              </a:ext>
            </a:extLst>
          </p:cNvPr>
          <p:cNvSpPr>
            <a:spLocks xmlns:a="http://schemas.openxmlformats.org/drawingml/2006/main" noGrp="1"/>
          </p:cNvSpPr>
          <p:nvPr/>
        </p:nvSpPr>
        <p:spPr>
          <a:xfrm xmlns:a="http://schemas.openxmlformats.org/drawingml/2006/main">
            <a:off x="1885950" y="1295400"/>
            <a:ext cx="1314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i="0">
                <a:solidFill>
                  <a:srgbClr val="FFFFFF"/>
                </a:solidFill>
                <a:latin typeface="Helvetica Neue"/>
                <a:ea typeface="Helvetica Neue"/>
                <a:cs typeface="Helvetica Neue"/>
              </a:defRPr>
            </a:pPr>
            <a:r>
              <a:rPr sz="1200" b="1" i="0">
                <a:solidFill>
                  <a:srgbClr val="FFFFFF"/>
                </a:solidFill>
                <a:latin typeface="Helvetica Neue"/>
                <a:ea typeface="Helvetica Neue"/>
                <a:cs typeface="Helvetica Neue"/>
              </a:rPr>
              <a:t>Labeled Data</a:t>
            </a:r>
          </a:p>
        </p:txBody>
      </p:sp>
      <p:sp>
        <p:nvSpPr>
          <p:cNvPr id="7" name="">
            <a:extLst xmlns:a="http://schemas.openxmlformats.org/drawingml/2006/main">
              <a:ext uri="{FF2B5EF4-FFF2-40B4-BE49-F238E27FC236}">
                <a16:creationId xmlns:a16="http://schemas.microsoft.com/office/drawing/2014/main" id="{22D78015-BD76-45E8-88CD-5FEB146365E0}"/>
              </a:ext>
            </a:extLst>
          </p:cNvPr>
          <p:cNvSpPr>
            <a:spLocks xmlns:a="http://schemas.openxmlformats.org/drawingml/2006/main" noGrp="1"/>
          </p:cNvSpPr>
          <p:nvPr/>
        </p:nvSpPr>
        <p:spPr>
          <a:xfrm xmlns:a="http://schemas.openxmlformats.org/drawingml/2006/main">
            <a:off x="3295650" y="1219200"/>
            <a:ext cx="2000250" cy="552450"/>
          </a:xfrm>
          <a:prstGeom xmlns:a="http://schemas.openxmlformats.org/drawingml/2006/main" prst="rect">
            <a:avLst/>
          </a:prstGeom>
          <a:solidFill xmlns:a="http://schemas.openxmlformats.org/drawingml/2006/main">
            <a:srgbClr val="0B0F14"/>
          </a:solidFill>
          <a:ln xmlns:a="http://schemas.openxmlformats.org/drawingml/2006/main" w="9525">
            <a:solidFill>
              <a:srgbClr val="D6DAE0"/>
            </a:solidFill>
            <a:prstDash val="solid"/>
          </a:ln>
        </p:spPr>
      </p:sp>
      <p:sp>
        <p:nvSpPr>
          <p:cNvPr id="8" name="">
            <a:extLst xmlns:a="http://schemas.openxmlformats.org/drawingml/2006/main">
              <a:ext uri="{FF2B5EF4-FFF2-40B4-BE49-F238E27FC236}">
                <a16:creationId xmlns:a16="http://schemas.microsoft.com/office/drawing/2014/main" id="{E0B7F6BF-25D3-4C41-B3CD-FDFE9A2D7812}"/>
              </a:ext>
            </a:extLst>
          </p:cNvPr>
          <p:cNvSpPr>
            <a:spLocks xmlns:a="http://schemas.openxmlformats.org/drawingml/2006/main" noGrp="1"/>
          </p:cNvSpPr>
          <p:nvPr/>
        </p:nvSpPr>
        <p:spPr>
          <a:xfrm xmlns:a="http://schemas.openxmlformats.org/drawingml/2006/main">
            <a:off x="3390900" y="129540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i="0">
                <a:solidFill>
                  <a:srgbClr val="FFFFFF"/>
                </a:solidFill>
                <a:latin typeface="Helvetica Neue"/>
                <a:ea typeface="Helvetica Neue"/>
                <a:cs typeface="Helvetica Neue"/>
              </a:defRPr>
            </a:pPr>
            <a:r>
              <a:rPr sz="1200" b="1" i="0">
                <a:solidFill>
                  <a:srgbClr val="FFFFFF"/>
                </a:solidFill>
                <a:latin typeface="Helvetica Neue"/>
                <a:ea typeface="Helvetica Neue"/>
                <a:cs typeface="Helvetica Neue"/>
              </a:rPr>
              <a:t>Publicized Result</a:t>
            </a:r>
          </a:p>
        </p:txBody>
      </p:sp>
      <p:sp>
        <p:nvSpPr>
          <p:cNvPr id="9" name="">
            <a:extLst xmlns:a="http://schemas.openxmlformats.org/drawingml/2006/main">
              <a:ext uri="{FF2B5EF4-FFF2-40B4-BE49-F238E27FC236}">
                <a16:creationId xmlns:a16="http://schemas.microsoft.com/office/drawing/2014/main" id="{199F495B-50DF-470A-AC9D-51A4B5BEADED}"/>
              </a:ext>
            </a:extLst>
          </p:cNvPr>
          <p:cNvSpPr>
            <a:spLocks xmlns:a="http://schemas.openxmlformats.org/drawingml/2006/main" noGrp="1"/>
          </p:cNvSpPr>
          <p:nvPr/>
        </p:nvSpPr>
        <p:spPr>
          <a:xfrm xmlns:a="http://schemas.openxmlformats.org/drawingml/2006/main">
            <a:off x="5295900" y="1219200"/>
            <a:ext cx="2114550" cy="552450"/>
          </a:xfrm>
          <a:prstGeom xmlns:a="http://schemas.openxmlformats.org/drawingml/2006/main" prst="rect">
            <a:avLst/>
          </a:prstGeom>
          <a:solidFill xmlns:a="http://schemas.openxmlformats.org/drawingml/2006/main">
            <a:srgbClr val="0B0F14"/>
          </a:solidFill>
          <a:ln xmlns:a="http://schemas.openxmlformats.org/drawingml/2006/main" w="9525">
            <a:solidFill>
              <a:srgbClr val="D6DAE0"/>
            </a:solidFill>
            <a:prstDash val="solid"/>
          </a:ln>
        </p:spPr>
      </p:sp>
      <p:sp>
        <p:nvSpPr>
          <p:cNvPr id="10" name="">
            <a:extLst xmlns:a="http://schemas.openxmlformats.org/drawingml/2006/main">
              <a:ext uri="{FF2B5EF4-FFF2-40B4-BE49-F238E27FC236}">
                <a16:creationId xmlns:a16="http://schemas.microsoft.com/office/drawing/2014/main" id="{E850C8EC-041A-455D-B626-5B9D00B8AAEE}"/>
              </a:ext>
            </a:extLst>
          </p:cNvPr>
          <p:cNvSpPr>
            <a:spLocks xmlns:a="http://schemas.openxmlformats.org/drawingml/2006/main" noGrp="1"/>
          </p:cNvSpPr>
          <p:nvPr/>
        </p:nvSpPr>
        <p:spPr>
          <a:xfrm xmlns:a="http://schemas.openxmlformats.org/drawingml/2006/main">
            <a:off x="5391150" y="1295400"/>
            <a:ext cx="1924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i="0">
                <a:solidFill>
                  <a:srgbClr val="FFFFFF"/>
                </a:solidFill>
                <a:latin typeface="Helvetica Neue"/>
                <a:ea typeface="Helvetica Neue"/>
                <a:cs typeface="Helvetica Neue"/>
              </a:defRPr>
            </a:pPr>
            <a:r>
              <a:rPr sz="1200" b="1" i="0">
                <a:solidFill>
                  <a:srgbClr val="FFFFFF"/>
                </a:solidFill>
                <a:latin typeface="Helvetica Neue"/>
                <a:ea typeface="Helvetica Neue"/>
                <a:cs typeface="Helvetica Neue"/>
              </a:rPr>
              <a:t>Benchmark Tailoring</a:t>
            </a:r>
          </a:p>
        </p:txBody>
      </p:sp>
      <p:sp>
        <p:nvSpPr>
          <p:cNvPr id="11" name="">
            <a:extLst xmlns:a="http://schemas.openxmlformats.org/drawingml/2006/main">
              <a:ext uri="{FF2B5EF4-FFF2-40B4-BE49-F238E27FC236}">
                <a16:creationId xmlns:a16="http://schemas.microsoft.com/office/drawing/2014/main" id="{8B3354AD-13A8-40F5-9DB4-4AE1671174E0}"/>
              </a:ext>
            </a:extLst>
          </p:cNvPr>
          <p:cNvSpPr>
            <a:spLocks xmlns:a="http://schemas.openxmlformats.org/drawingml/2006/main" noGrp="1"/>
          </p:cNvSpPr>
          <p:nvPr/>
        </p:nvSpPr>
        <p:spPr>
          <a:xfrm xmlns:a="http://schemas.openxmlformats.org/drawingml/2006/main">
            <a:off x="7410450" y="1219200"/>
            <a:ext cx="2019300" cy="552450"/>
          </a:xfrm>
          <a:prstGeom xmlns:a="http://schemas.openxmlformats.org/drawingml/2006/main" prst="rect">
            <a:avLst/>
          </a:prstGeom>
          <a:solidFill xmlns:a="http://schemas.openxmlformats.org/drawingml/2006/main">
            <a:srgbClr val="0B0F14"/>
          </a:solidFill>
          <a:ln xmlns:a="http://schemas.openxmlformats.org/drawingml/2006/main" w="9525">
            <a:solidFill>
              <a:srgbClr val="D6DAE0"/>
            </a:solidFill>
            <a:prstDash val="solid"/>
          </a:ln>
        </p:spPr>
      </p:sp>
      <p:sp>
        <p:nvSpPr>
          <p:cNvPr id="12" name="">
            <a:extLst xmlns:a="http://schemas.openxmlformats.org/drawingml/2006/main">
              <a:ext uri="{FF2B5EF4-FFF2-40B4-BE49-F238E27FC236}">
                <a16:creationId xmlns:a16="http://schemas.microsoft.com/office/drawing/2014/main" id="{83AF7D02-D388-43AD-9951-82A7900E8AAD}"/>
              </a:ext>
            </a:extLst>
          </p:cNvPr>
          <p:cNvSpPr>
            <a:spLocks xmlns:a="http://schemas.openxmlformats.org/drawingml/2006/main" noGrp="1"/>
          </p:cNvSpPr>
          <p:nvPr/>
        </p:nvSpPr>
        <p:spPr>
          <a:xfrm xmlns:a="http://schemas.openxmlformats.org/drawingml/2006/main">
            <a:off x="7505700" y="1295400"/>
            <a:ext cx="1828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i="0">
                <a:solidFill>
                  <a:srgbClr val="FFFFFF"/>
                </a:solidFill>
                <a:latin typeface="Helvetica Neue"/>
                <a:ea typeface="Helvetica Neue"/>
                <a:cs typeface="Helvetica Neue"/>
              </a:defRPr>
            </a:pPr>
            <a:r>
              <a:rPr sz="1200" b="1" i="0">
                <a:solidFill>
                  <a:srgbClr val="FFFFFF"/>
                </a:solidFill>
                <a:latin typeface="Helvetica Neue"/>
                <a:ea typeface="Helvetica Neue"/>
                <a:cs typeface="Helvetica Neue"/>
              </a:rPr>
              <a:t>Features</a:t>
            </a:r>
          </a:p>
        </p:txBody>
      </p:sp>
      <p:sp>
        <p:nvSpPr>
          <p:cNvPr id="13" name="">
            <a:extLst xmlns:a="http://schemas.openxmlformats.org/drawingml/2006/main">
              <a:ext uri="{FF2B5EF4-FFF2-40B4-BE49-F238E27FC236}">
                <a16:creationId xmlns:a16="http://schemas.microsoft.com/office/drawing/2014/main" id="{214E7DD8-5879-498A-9651-9EC51F84ED44}"/>
              </a:ext>
            </a:extLst>
          </p:cNvPr>
          <p:cNvSpPr>
            <a:spLocks xmlns:a="http://schemas.openxmlformats.org/drawingml/2006/main" noGrp="1"/>
          </p:cNvSpPr>
          <p:nvPr/>
        </p:nvSpPr>
        <p:spPr>
          <a:xfrm xmlns:a="http://schemas.openxmlformats.org/drawingml/2006/main">
            <a:off x="9429750" y="1219200"/>
            <a:ext cx="2305050" cy="552450"/>
          </a:xfrm>
          <a:prstGeom xmlns:a="http://schemas.openxmlformats.org/drawingml/2006/main" prst="rect">
            <a:avLst/>
          </a:prstGeom>
          <a:solidFill xmlns:a="http://schemas.openxmlformats.org/drawingml/2006/main">
            <a:srgbClr val="0B0F14"/>
          </a:solidFill>
          <a:ln xmlns:a="http://schemas.openxmlformats.org/drawingml/2006/main" w="9525">
            <a:solidFill>
              <a:srgbClr val="D6DAE0"/>
            </a:solidFill>
            <a:prstDash val="solid"/>
          </a:ln>
        </p:spPr>
      </p:sp>
      <p:sp>
        <p:nvSpPr>
          <p:cNvPr id="14" name="">
            <a:extLst xmlns:a="http://schemas.openxmlformats.org/drawingml/2006/main">
              <a:ext uri="{FF2B5EF4-FFF2-40B4-BE49-F238E27FC236}">
                <a16:creationId xmlns:a16="http://schemas.microsoft.com/office/drawing/2014/main" id="{CFF08EE2-C7AB-4E66-B59E-02CB4C0E1704}"/>
              </a:ext>
            </a:extLst>
          </p:cNvPr>
          <p:cNvSpPr>
            <a:spLocks xmlns:a="http://schemas.openxmlformats.org/drawingml/2006/main" noGrp="1"/>
          </p:cNvSpPr>
          <p:nvPr/>
        </p:nvSpPr>
        <p:spPr>
          <a:xfrm xmlns:a="http://schemas.openxmlformats.org/drawingml/2006/main">
            <a:off x="9525000" y="129540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i="0">
                <a:solidFill>
                  <a:srgbClr val="FFFFFF"/>
                </a:solidFill>
                <a:latin typeface="Helvetica Neue"/>
                <a:ea typeface="Helvetica Neue"/>
                <a:cs typeface="Helvetica Neue"/>
              </a:defRPr>
            </a:pPr>
            <a:r>
              <a:rPr sz="1200" b="1" i="0">
                <a:solidFill>
                  <a:srgbClr val="FFFFFF"/>
                </a:solidFill>
                <a:latin typeface="Helvetica Neue"/>
                <a:ea typeface="Helvetica Neue"/>
                <a:cs typeface="Helvetica Neue"/>
              </a:rPr>
              <a:t>Real-World Limitation</a:t>
            </a:r>
          </a:p>
        </p:txBody>
      </p:sp>
      <p:sp>
        <p:nvSpPr>
          <p:cNvPr id="15" name="">
            <a:extLst xmlns:a="http://schemas.openxmlformats.org/drawingml/2006/main">
              <a:ext uri="{FF2B5EF4-FFF2-40B4-BE49-F238E27FC236}">
                <a16:creationId xmlns:a16="http://schemas.microsoft.com/office/drawing/2014/main" id="{14AFAC77-35AE-4E19-AF1A-B299F6D0371E}"/>
              </a:ext>
            </a:extLst>
          </p:cNvPr>
          <p:cNvSpPr>
            <a:spLocks xmlns:a="http://schemas.openxmlformats.org/drawingml/2006/main" noGrp="1"/>
          </p:cNvSpPr>
          <p:nvPr/>
        </p:nvSpPr>
        <p:spPr>
          <a:xfrm xmlns:a="http://schemas.openxmlformats.org/drawingml/2006/main">
            <a:off x="438150" y="1771650"/>
            <a:ext cx="1352550" cy="876300"/>
          </a:xfrm>
          <a:prstGeom xmlns:a="http://schemas.openxmlformats.org/drawingml/2006/main" prst="rect">
            <a:avLst/>
          </a:prstGeom>
          <a:solidFill xmlns:a="http://schemas.openxmlformats.org/drawingml/2006/main">
            <a:srgbClr val="EAF2FF"/>
          </a:solidFill>
          <a:ln xmlns:a="http://schemas.openxmlformats.org/drawingml/2006/main" w="9525">
            <a:solidFill>
              <a:srgbClr val="D6DAE0"/>
            </a:solidFill>
            <a:prstDash val="solid"/>
          </a:ln>
        </p:spPr>
      </p:sp>
      <p:sp>
        <p:nvSpPr>
          <p:cNvPr id="16" name="">
            <a:extLst xmlns:a="http://schemas.openxmlformats.org/drawingml/2006/main">
              <a:ext uri="{FF2B5EF4-FFF2-40B4-BE49-F238E27FC236}">
                <a16:creationId xmlns:a16="http://schemas.microsoft.com/office/drawing/2014/main" id="{BBEA9177-BFC9-4C99-A09E-4DD427807A82}"/>
              </a:ext>
            </a:extLst>
          </p:cNvPr>
          <p:cNvSpPr>
            <a:spLocks xmlns:a="http://schemas.openxmlformats.org/drawingml/2006/main" noGrp="1"/>
          </p:cNvSpPr>
          <p:nvPr/>
        </p:nvSpPr>
        <p:spPr>
          <a:xfrm xmlns:a="http://schemas.openxmlformats.org/drawingml/2006/main">
            <a:off x="533400" y="1847850"/>
            <a:ext cx="1162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i="0">
                <a:solidFill>
                  <a:srgbClr val="0B0F14"/>
                </a:solidFill>
                <a:latin typeface="Helvetica Neue"/>
                <a:ea typeface="Helvetica Neue"/>
                <a:cs typeface="Helvetica Neue"/>
              </a:defRPr>
            </a:pPr>
            <a:r>
              <a:rPr sz="1200" b="1" i="0">
                <a:solidFill>
                  <a:srgbClr val="0B0F14"/>
                </a:solidFill>
                <a:latin typeface="Helvetica Neue"/>
                <a:ea typeface="Helvetica Neue"/>
                <a:cs typeface="Helvetica Neue"/>
              </a:rPr>
              <a:t>Our Platform</a:t>
            </a:r>
          </a:p>
          <a:p xmlns:a="http://schemas.openxmlformats.org/drawingml/2006/main">
            <a:pPr algn="l">
              <a:defRPr sz="1200" b="1" i="0">
                <a:solidFill>
                  <a:srgbClr val="0B0F14"/>
                </a:solidFill>
                <a:latin typeface="Helvetica Neue"/>
                <a:ea typeface="Helvetica Neue"/>
                <a:cs typeface="Helvetica Neue"/>
              </a:defRPr>
            </a:pPr>
            <a:r>
              <a:rPr sz="1200" b="1" i="0">
                <a:solidFill>
                  <a:srgbClr val="0B0F14"/>
                </a:solidFill>
                <a:latin typeface="Helvetica Neue"/>
                <a:ea typeface="Helvetica Neue"/>
                <a:cs typeface="Helvetica Neue"/>
              </a:rPr>
              <a:t>Continuous pIC50</a:t>
            </a:r>
          </a:p>
        </p:txBody>
      </p:sp>
      <p:sp>
        <p:nvSpPr>
          <p:cNvPr id="17" name="">
            <a:extLst xmlns:a="http://schemas.openxmlformats.org/drawingml/2006/main">
              <a:ext uri="{FF2B5EF4-FFF2-40B4-BE49-F238E27FC236}">
                <a16:creationId xmlns:a16="http://schemas.microsoft.com/office/drawing/2014/main" id="{1070F230-A7B6-46FF-A789-9EA41D9B6CB2}"/>
              </a:ext>
            </a:extLst>
          </p:cNvPr>
          <p:cNvSpPr>
            <a:spLocks xmlns:a="http://schemas.openxmlformats.org/drawingml/2006/main" noGrp="1"/>
          </p:cNvSpPr>
          <p:nvPr/>
        </p:nvSpPr>
        <p:spPr>
          <a:xfrm xmlns:a="http://schemas.openxmlformats.org/drawingml/2006/main">
            <a:off x="1790700" y="1771650"/>
            <a:ext cx="1504950" cy="876300"/>
          </a:xfrm>
          <a:prstGeom xmlns:a="http://schemas.openxmlformats.org/drawingml/2006/main" prst="rect">
            <a:avLst/>
          </a:prstGeom>
          <a:solidFill xmlns:a="http://schemas.openxmlformats.org/drawingml/2006/main">
            <a:srgbClr val="EAF2FF"/>
          </a:solidFill>
          <a:ln xmlns:a="http://schemas.openxmlformats.org/drawingml/2006/main" w="9525">
            <a:solidFill>
              <a:srgbClr val="D6DAE0"/>
            </a:solidFill>
            <a:prstDash val="solid"/>
          </a:ln>
        </p:spPr>
      </p:sp>
      <p:sp>
        <p:nvSpPr>
          <p:cNvPr id="18" name="">
            <a:extLst xmlns:a="http://schemas.openxmlformats.org/drawingml/2006/main">
              <a:ext uri="{FF2B5EF4-FFF2-40B4-BE49-F238E27FC236}">
                <a16:creationId xmlns:a16="http://schemas.microsoft.com/office/drawing/2014/main" id="{09E5BE4F-2653-4B6D-A236-B7617DB9FEFD}"/>
              </a:ext>
            </a:extLst>
          </p:cNvPr>
          <p:cNvSpPr>
            <a:spLocks xmlns:a="http://schemas.openxmlformats.org/drawingml/2006/main" noGrp="1"/>
          </p:cNvSpPr>
          <p:nvPr/>
        </p:nvSpPr>
        <p:spPr>
          <a:xfrm xmlns:a="http://schemas.openxmlformats.org/drawingml/2006/main">
            <a:off x="1885950" y="1847850"/>
            <a:ext cx="13144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18,801</a:t>
            </a:r>
          </a:p>
          <a:p xmlns:a="http://schemas.openxmlformats.org/drawingml/2006/main">
            <a:pPr algn="l">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structures</a:t>
            </a:r>
          </a:p>
        </p:txBody>
      </p:sp>
      <p:sp>
        <p:nvSpPr>
          <p:cNvPr id="19" name="">
            <a:extLst xmlns:a="http://schemas.openxmlformats.org/drawingml/2006/main">
              <a:ext uri="{FF2B5EF4-FFF2-40B4-BE49-F238E27FC236}">
                <a16:creationId xmlns:a16="http://schemas.microsoft.com/office/drawing/2014/main" id="{D0A23235-A17B-4A0F-8D5B-71B77BDFB150}"/>
              </a:ext>
            </a:extLst>
          </p:cNvPr>
          <p:cNvSpPr>
            <a:spLocks xmlns:a="http://schemas.openxmlformats.org/drawingml/2006/main" noGrp="1"/>
          </p:cNvSpPr>
          <p:nvPr/>
        </p:nvSpPr>
        <p:spPr>
          <a:xfrm xmlns:a="http://schemas.openxmlformats.org/drawingml/2006/main">
            <a:off x="3295650" y="1771650"/>
            <a:ext cx="2000250" cy="876300"/>
          </a:xfrm>
          <a:prstGeom xmlns:a="http://schemas.openxmlformats.org/drawingml/2006/main" prst="rect">
            <a:avLst/>
          </a:prstGeom>
          <a:solidFill xmlns:a="http://schemas.openxmlformats.org/drawingml/2006/main">
            <a:srgbClr val="EAF2FF"/>
          </a:solidFill>
          <a:ln xmlns:a="http://schemas.openxmlformats.org/drawingml/2006/main" w="9525">
            <a:solidFill>
              <a:srgbClr val="D6DAE0"/>
            </a:solidFill>
            <a:prstDash val="solid"/>
          </a:ln>
        </p:spPr>
      </p:sp>
      <p:sp>
        <p:nvSpPr>
          <p:cNvPr id="20" name="">
            <a:extLst xmlns:a="http://schemas.openxmlformats.org/drawingml/2006/main">
              <a:ext uri="{FF2B5EF4-FFF2-40B4-BE49-F238E27FC236}">
                <a16:creationId xmlns:a16="http://schemas.microsoft.com/office/drawing/2014/main" id="{F99349C7-FD30-4DB5-9FAC-A27DCEB97AED}"/>
              </a:ext>
            </a:extLst>
          </p:cNvPr>
          <p:cNvSpPr>
            <a:spLocks xmlns:a="http://schemas.openxmlformats.org/drawingml/2006/main" noGrp="1"/>
          </p:cNvSpPr>
          <p:nvPr/>
        </p:nvSpPr>
        <p:spPr>
          <a:xfrm xmlns:a="http://schemas.openxmlformats.org/drawingml/2006/main">
            <a:off x="3390900" y="1847850"/>
            <a:ext cx="1809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i="0">
                <a:solidFill>
                  <a:srgbClr val="1E63D5"/>
                </a:solidFill>
                <a:latin typeface="Helvetica Neue"/>
                <a:ea typeface="Helvetica Neue"/>
                <a:cs typeface="Helvetica Neue"/>
              </a:defRPr>
            </a:pPr>
            <a:r>
              <a:rPr sz="1200" b="1" i="0">
                <a:solidFill>
                  <a:srgbClr val="1E63D5"/>
                </a:solidFill>
                <a:latin typeface="Helvetica Neue"/>
                <a:ea typeface="Helvetica Neue"/>
                <a:cs typeface="Helvetica Neue"/>
              </a:rPr>
              <a:t>0.4328 MAE</a:t>
            </a:r>
          </a:p>
          <a:p xmlns:a="http://schemas.openxmlformats.org/drawingml/2006/main">
            <a:pPr algn="l">
              <a:defRPr sz="1200" b="1" i="0">
                <a:solidFill>
                  <a:srgbClr val="1E63D5"/>
                </a:solidFill>
                <a:latin typeface="Helvetica Neue"/>
                <a:ea typeface="Helvetica Neue"/>
                <a:cs typeface="Helvetica Neue"/>
              </a:defRPr>
            </a:pPr>
            <a:r>
              <a:rPr sz="1200" b="1" i="0">
                <a:solidFill>
                  <a:srgbClr val="1E63D5"/>
                </a:solidFill>
                <a:latin typeface="Helvetica Neue"/>
                <a:ea typeface="Helvetica Neue"/>
                <a:cs typeface="Helvetica Neue"/>
              </a:rPr>
              <a:t>Nested scaffold</a:t>
            </a:r>
          </a:p>
        </p:txBody>
      </p:sp>
      <p:sp>
        <p:nvSpPr>
          <p:cNvPr id="21" name="">
            <a:extLst xmlns:a="http://schemas.openxmlformats.org/drawingml/2006/main">
              <a:ext uri="{FF2B5EF4-FFF2-40B4-BE49-F238E27FC236}">
                <a16:creationId xmlns:a16="http://schemas.microsoft.com/office/drawing/2014/main" id="{A1FADF45-B1EA-4DBB-AFC9-61E94F9679F2}"/>
              </a:ext>
            </a:extLst>
          </p:cNvPr>
          <p:cNvSpPr>
            <a:spLocks xmlns:a="http://schemas.openxmlformats.org/drawingml/2006/main" noGrp="1"/>
          </p:cNvSpPr>
          <p:nvPr/>
        </p:nvSpPr>
        <p:spPr>
          <a:xfrm xmlns:a="http://schemas.openxmlformats.org/drawingml/2006/main">
            <a:off x="5295900" y="1771650"/>
            <a:ext cx="2114550" cy="876300"/>
          </a:xfrm>
          <a:prstGeom xmlns:a="http://schemas.openxmlformats.org/drawingml/2006/main" prst="rect">
            <a:avLst/>
          </a:prstGeom>
          <a:solidFill xmlns:a="http://schemas.openxmlformats.org/drawingml/2006/main">
            <a:srgbClr val="EAF2FF"/>
          </a:solidFill>
          <a:ln xmlns:a="http://schemas.openxmlformats.org/drawingml/2006/main" w="9525">
            <a:solidFill>
              <a:srgbClr val="D6DAE0"/>
            </a:solidFill>
            <a:prstDash val="solid"/>
          </a:ln>
        </p:spPr>
      </p:sp>
      <p:sp>
        <p:nvSpPr>
          <p:cNvPr id="22" name="">
            <a:extLst xmlns:a="http://schemas.openxmlformats.org/drawingml/2006/main">
              <a:ext uri="{FF2B5EF4-FFF2-40B4-BE49-F238E27FC236}">
                <a16:creationId xmlns:a16="http://schemas.microsoft.com/office/drawing/2014/main" id="{24ECF8C6-EE18-4CBB-BFBA-D1FEC113C7FB}"/>
              </a:ext>
            </a:extLst>
          </p:cNvPr>
          <p:cNvSpPr>
            <a:spLocks xmlns:a="http://schemas.openxmlformats.org/drawingml/2006/main" noGrp="1"/>
          </p:cNvSpPr>
          <p:nvPr/>
        </p:nvSpPr>
        <p:spPr>
          <a:xfrm xmlns:a="http://schemas.openxmlformats.org/drawingml/2006/main">
            <a:off x="5391150" y="1847850"/>
            <a:ext cx="1924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Low</a:t>
            </a:r>
          </a:p>
          <a:p xmlns:a="http://schemas.openxmlformats.org/drawingml/2006/main">
            <a:pPr algn="l">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Structure collapse; sealed outcomes</a:t>
            </a:r>
          </a:p>
        </p:txBody>
      </p:sp>
      <p:sp>
        <p:nvSpPr>
          <p:cNvPr id="23" name="">
            <a:extLst xmlns:a="http://schemas.openxmlformats.org/drawingml/2006/main">
              <a:ext uri="{FF2B5EF4-FFF2-40B4-BE49-F238E27FC236}">
                <a16:creationId xmlns:a16="http://schemas.microsoft.com/office/drawing/2014/main" id="{384D2981-A801-4B53-A5EC-45E532BD0558}"/>
              </a:ext>
            </a:extLst>
          </p:cNvPr>
          <p:cNvSpPr>
            <a:spLocks xmlns:a="http://schemas.openxmlformats.org/drawingml/2006/main" noGrp="1"/>
          </p:cNvSpPr>
          <p:nvPr/>
        </p:nvSpPr>
        <p:spPr>
          <a:xfrm xmlns:a="http://schemas.openxmlformats.org/drawingml/2006/main">
            <a:off x="7410450" y="1771650"/>
            <a:ext cx="2019300" cy="876300"/>
          </a:xfrm>
          <a:prstGeom xmlns:a="http://schemas.openxmlformats.org/drawingml/2006/main" prst="rect">
            <a:avLst/>
          </a:prstGeom>
          <a:solidFill xmlns:a="http://schemas.openxmlformats.org/drawingml/2006/main">
            <a:srgbClr val="EAF2FF"/>
          </a:solidFill>
          <a:ln xmlns:a="http://schemas.openxmlformats.org/drawingml/2006/main" w="9525">
            <a:solidFill>
              <a:srgbClr val="D6DAE0"/>
            </a:solidFill>
            <a:prstDash val="solid"/>
          </a:ln>
        </p:spPr>
      </p:sp>
      <p:sp>
        <p:nvSpPr>
          <p:cNvPr id="24" name="">
            <a:extLst xmlns:a="http://schemas.openxmlformats.org/drawingml/2006/main">
              <a:ext uri="{FF2B5EF4-FFF2-40B4-BE49-F238E27FC236}">
                <a16:creationId xmlns:a16="http://schemas.microsoft.com/office/drawing/2014/main" id="{19BDE4BA-3FE4-455A-92A8-16FC78F05001}"/>
              </a:ext>
            </a:extLst>
          </p:cNvPr>
          <p:cNvSpPr>
            <a:spLocks xmlns:a="http://schemas.openxmlformats.org/drawingml/2006/main" noGrp="1"/>
          </p:cNvSpPr>
          <p:nvPr/>
        </p:nvSpPr>
        <p:spPr>
          <a:xfrm xmlns:a="http://schemas.openxmlformats.org/drawingml/2006/main">
            <a:off x="7505700" y="1847850"/>
            <a:ext cx="1828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RDKit2D, Morgan, specialists, domain flag</a:t>
            </a:r>
          </a:p>
        </p:txBody>
      </p:sp>
      <p:sp>
        <p:nvSpPr>
          <p:cNvPr id="25" name="">
            <a:extLst xmlns:a="http://schemas.openxmlformats.org/drawingml/2006/main">
              <a:ext uri="{FF2B5EF4-FFF2-40B4-BE49-F238E27FC236}">
                <a16:creationId xmlns:a16="http://schemas.microsoft.com/office/drawing/2014/main" id="{6C6B5590-4D8F-4195-A71A-6F34D670F742}"/>
              </a:ext>
            </a:extLst>
          </p:cNvPr>
          <p:cNvSpPr>
            <a:spLocks xmlns:a="http://schemas.openxmlformats.org/drawingml/2006/main" noGrp="1"/>
          </p:cNvSpPr>
          <p:nvPr/>
        </p:nvSpPr>
        <p:spPr>
          <a:xfrm xmlns:a="http://schemas.openxmlformats.org/drawingml/2006/main">
            <a:off x="9429750" y="1771650"/>
            <a:ext cx="2305050" cy="876300"/>
          </a:xfrm>
          <a:prstGeom xmlns:a="http://schemas.openxmlformats.org/drawingml/2006/main" prst="rect">
            <a:avLst/>
          </a:prstGeom>
          <a:solidFill xmlns:a="http://schemas.openxmlformats.org/drawingml/2006/main">
            <a:srgbClr val="EAF2FF"/>
          </a:solidFill>
          <a:ln xmlns:a="http://schemas.openxmlformats.org/drawingml/2006/main" w="9525">
            <a:solidFill>
              <a:srgbClr val="D6DAE0"/>
            </a:solidFill>
            <a:prstDash val="solid"/>
          </a:ln>
        </p:spPr>
      </p:sp>
      <p:sp>
        <p:nvSpPr>
          <p:cNvPr id="26" name="">
            <a:extLst xmlns:a="http://schemas.openxmlformats.org/drawingml/2006/main">
              <a:ext uri="{FF2B5EF4-FFF2-40B4-BE49-F238E27FC236}">
                <a16:creationId xmlns:a16="http://schemas.microsoft.com/office/drawing/2014/main" id="{DF0661CD-A547-4006-9B2F-EC91FDE6E337}"/>
              </a:ext>
            </a:extLst>
          </p:cNvPr>
          <p:cNvSpPr>
            <a:spLocks xmlns:a="http://schemas.openxmlformats.org/drawingml/2006/main" noGrp="1"/>
          </p:cNvSpPr>
          <p:nvPr/>
        </p:nvSpPr>
        <p:spPr>
          <a:xfrm xmlns:a="http://schemas.openxmlformats.org/drawingml/2006/main">
            <a:off x="9525000" y="1847850"/>
            <a:ext cx="21145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Internal only; WT-or-unspecified; external series still needed</a:t>
            </a:r>
          </a:p>
        </p:txBody>
      </p:sp>
      <p:sp>
        <p:nvSpPr>
          <p:cNvPr id="27" name="">
            <a:extLst xmlns:a="http://schemas.openxmlformats.org/drawingml/2006/main">
              <a:ext uri="{FF2B5EF4-FFF2-40B4-BE49-F238E27FC236}">
                <a16:creationId xmlns:a16="http://schemas.microsoft.com/office/drawing/2014/main" id="{9CF50EB5-EED8-41B7-AE49-587EF82B8396}"/>
              </a:ext>
            </a:extLst>
          </p:cNvPr>
          <p:cNvSpPr>
            <a:spLocks xmlns:a="http://schemas.openxmlformats.org/drawingml/2006/main" noGrp="1"/>
          </p:cNvSpPr>
          <p:nvPr/>
        </p:nvSpPr>
        <p:spPr>
          <a:xfrm xmlns:a="http://schemas.openxmlformats.org/drawingml/2006/main">
            <a:off x="438150" y="2647950"/>
            <a:ext cx="1352550" cy="8763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28" name="">
            <a:extLst xmlns:a="http://schemas.openxmlformats.org/drawingml/2006/main">
              <a:ext uri="{FF2B5EF4-FFF2-40B4-BE49-F238E27FC236}">
                <a16:creationId xmlns:a16="http://schemas.microsoft.com/office/drawing/2014/main" id="{AD0167FC-F7D5-4EB5-878A-46C3E841C4D9}"/>
              </a:ext>
            </a:extLst>
          </p:cNvPr>
          <p:cNvSpPr>
            <a:spLocks xmlns:a="http://schemas.openxmlformats.org/drawingml/2006/main" noGrp="1"/>
          </p:cNvSpPr>
          <p:nvPr/>
        </p:nvSpPr>
        <p:spPr>
          <a:xfrm xmlns:a="http://schemas.openxmlformats.org/drawingml/2006/main">
            <a:off x="533400" y="2724150"/>
            <a:ext cx="1162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i="0">
                <a:solidFill>
                  <a:srgbClr val="0B0F14"/>
                </a:solidFill>
                <a:latin typeface="Helvetica Neue"/>
                <a:ea typeface="Helvetica Neue"/>
                <a:cs typeface="Helvetica Neue"/>
              </a:defRPr>
            </a:pPr>
            <a:r>
              <a:rPr sz="1200" b="1" i="0">
                <a:solidFill>
                  <a:srgbClr val="0B0F14"/>
                </a:solidFill>
                <a:latin typeface="Helvetica Neue"/>
                <a:ea typeface="Helvetica Neue"/>
                <a:cs typeface="Helvetica Neue"/>
              </a:rPr>
              <a:t>Pred-hERG 5.0</a:t>
            </a:r>
          </a:p>
          <a:p xmlns:a="http://schemas.openxmlformats.org/drawingml/2006/main">
            <a:pPr algn="l">
              <a:defRPr sz="1200" b="1" i="0">
                <a:solidFill>
                  <a:srgbClr val="0B0F14"/>
                </a:solidFill>
                <a:latin typeface="Helvetica Neue"/>
                <a:ea typeface="Helvetica Neue"/>
                <a:cs typeface="Helvetica Neue"/>
              </a:defRPr>
            </a:pPr>
            <a:r>
              <a:rPr sz="1200" b="1" i="0">
                <a:solidFill>
                  <a:srgbClr val="0B0F14"/>
                </a:solidFill>
                <a:latin typeface="Helvetica Neue"/>
                <a:ea typeface="Helvetica Neue"/>
                <a:cs typeface="Helvetica Neue"/>
              </a:rPr>
              <a:t>Regression</a:t>
            </a:r>
          </a:p>
        </p:txBody>
      </p:sp>
      <p:sp>
        <p:nvSpPr>
          <p:cNvPr id="29" name="">
            <a:extLst xmlns:a="http://schemas.openxmlformats.org/drawingml/2006/main">
              <a:ext uri="{FF2B5EF4-FFF2-40B4-BE49-F238E27FC236}">
                <a16:creationId xmlns:a16="http://schemas.microsoft.com/office/drawing/2014/main" id="{7AC23851-CC22-403A-AC4E-EBF0CCE92B3F}"/>
              </a:ext>
            </a:extLst>
          </p:cNvPr>
          <p:cNvSpPr>
            <a:spLocks xmlns:a="http://schemas.openxmlformats.org/drawingml/2006/main" noGrp="1"/>
          </p:cNvSpPr>
          <p:nvPr/>
        </p:nvSpPr>
        <p:spPr>
          <a:xfrm xmlns:a="http://schemas.openxmlformats.org/drawingml/2006/main">
            <a:off x="1790700" y="2647950"/>
            <a:ext cx="1504950" cy="8763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30" name="">
            <a:extLst xmlns:a="http://schemas.openxmlformats.org/drawingml/2006/main">
              <a:ext uri="{FF2B5EF4-FFF2-40B4-BE49-F238E27FC236}">
                <a16:creationId xmlns:a16="http://schemas.microsoft.com/office/drawing/2014/main" id="{863EF8F2-55EA-403E-8CD5-830AD22B2DFD}"/>
              </a:ext>
            </a:extLst>
          </p:cNvPr>
          <p:cNvSpPr>
            <a:spLocks xmlns:a="http://schemas.openxmlformats.org/drawingml/2006/main" noGrp="1"/>
          </p:cNvSpPr>
          <p:nvPr/>
        </p:nvSpPr>
        <p:spPr>
          <a:xfrm xmlns:a="http://schemas.openxmlformats.org/drawingml/2006/main">
            <a:off x="1885950" y="2724150"/>
            <a:ext cx="13144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7,609</a:t>
            </a:r>
          </a:p>
          <a:p xmlns:a="http://schemas.openxmlformats.org/drawingml/2006/main">
            <a:pPr algn="l">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records</a:t>
            </a:r>
          </a:p>
        </p:txBody>
      </p:sp>
      <p:sp>
        <p:nvSpPr>
          <p:cNvPr id="31" name="">
            <a:extLst xmlns:a="http://schemas.openxmlformats.org/drawingml/2006/main">
              <a:ext uri="{FF2B5EF4-FFF2-40B4-BE49-F238E27FC236}">
                <a16:creationId xmlns:a16="http://schemas.microsoft.com/office/drawing/2014/main" id="{4EC1EFB0-B87F-4B3B-96AA-A2B910BFC9C2}"/>
              </a:ext>
            </a:extLst>
          </p:cNvPr>
          <p:cNvSpPr>
            <a:spLocks xmlns:a="http://schemas.openxmlformats.org/drawingml/2006/main" noGrp="1"/>
          </p:cNvSpPr>
          <p:nvPr/>
        </p:nvSpPr>
        <p:spPr>
          <a:xfrm xmlns:a="http://schemas.openxmlformats.org/drawingml/2006/main">
            <a:off x="3295650" y="2647950"/>
            <a:ext cx="2000250" cy="8763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32" name="">
            <a:extLst xmlns:a="http://schemas.openxmlformats.org/drawingml/2006/main">
              <a:ext uri="{FF2B5EF4-FFF2-40B4-BE49-F238E27FC236}">
                <a16:creationId xmlns:a16="http://schemas.microsoft.com/office/drawing/2014/main" id="{87D4A7F9-D87C-4AA3-A511-6479ABE55B76}"/>
              </a:ext>
            </a:extLst>
          </p:cNvPr>
          <p:cNvSpPr>
            <a:spLocks xmlns:a="http://schemas.openxmlformats.org/drawingml/2006/main" noGrp="1"/>
          </p:cNvSpPr>
          <p:nvPr/>
        </p:nvSpPr>
        <p:spPr>
          <a:xfrm xmlns:a="http://schemas.openxmlformats.org/drawingml/2006/main">
            <a:off x="3390900" y="2724150"/>
            <a:ext cx="1809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0.35 MAE</a:t>
            </a:r>
          </a:p>
          <a:p xmlns:a="http://schemas.openxmlformats.org/drawingml/2006/main">
            <a:pPr algn="l">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0.44 RMSE</a:t>
            </a:r>
          </a:p>
        </p:txBody>
      </p:sp>
      <p:sp>
        <p:nvSpPr>
          <p:cNvPr id="33" name="">
            <a:extLst xmlns:a="http://schemas.openxmlformats.org/drawingml/2006/main">
              <a:ext uri="{FF2B5EF4-FFF2-40B4-BE49-F238E27FC236}">
                <a16:creationId xmlns:a16="http://schemas.microsoft.com/office/drawing/2014/main" id="{1F291876-48FD-4D11-91D4-5360E9A0465A}"/>
              </a:ext>
            </a:extLst>
          </p:cNvPr>
          <p:cNvSpPr>
            <a:spLocks xmlns:a="http://schemas.openxmlformats.org/drawingml/2006/main" noGrp="1"/>
          </p:cNvSpPr>
          <p:nvPr/>
        </p:nvSpPr>
        <p:spPr>
          <a:xfrm xmlns:a="http://schemas.openxmlformats.org/drawingml/2006/main">
            <a:off x="5295900" y="2647950"/>
            <a:ext cx="2114550" cy="8763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34" name="">
            <a:extLst xmlns:a="http://schemas.openxmlformats.org/drawingml/2006/main">
              <a:ext uri="{FF2B5EF4-FFF2-40B4-BE49-F238E27FC236}">
                <a16:creationId xmlns:a16="http://schemas.microsoft.com/office/drawing/2014/main" id="{849B55CE-44A9-4120-90C9-F0BA34FA184E}"/>
              </a:ext>
            </a:extLst>
          </p:cNvPr>
          <p:cNvSpPr>
            <a:spLocks xmlns:a="http://schemas.openxmlformats.org/drawingml/2006/main" noGrp="1"/>
          </p:cNvSpPr>
          <p:nvPr/>
        </p:nvSpPr>
        <p:spPr>
          <a:xfrm xmlns:a="http://schemas.openxmlformats.org/drawingml/2006/main">
            <a:off x="5391150" y="2724150"/>
            <a:ext cx="1924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High</a:t>
            </a:r>
          </a:p>
          <a:p xmlns:a="http://schemas.openxmlformats.org/drawingml/2006/main">
            <a:pPr algn="l">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Task curation; random 80/20 split</a:t>
            </a:r>
          </a:p>
        </p:txBody>
      </p:sp>
      <p:sp>
        <p:nvSpPr>
          <p:cNvPr id="35" name="">
            <a:extLst xmlns:a="http://schemas.openxmlformats.org/drawingml/2006/main">
              <a:ext uri="{FF2B5EF4-FFF2-40B4-BE49-F238E27FC236}">
                <a16:creationId xmlns:a16="http://schemas.microsoft.com/office/drawing/2014/main" id="{5BE49805-3452-45EF-952F-66D0F0B201E2}"/>
              </a:ext>
            </a:extLst>
          </p:cNvPr>
          <p:cNvSpPr>
            <a:spLocks xmlns:a="http://schemas.openxmlformats.org/drawingml/2006/main" noGrp="1"/>
          </p:cNvSpPr>
          <p:nvPr/>
        </p:nvSpPr>
        <p:spPr>
          <a:xfrm xmlns:a="http://schemas.openxmlformats.org/drawingml/2006/main">
            <a:off x="7410450" y="2647950"/>
            <a:ext cx="2019300" cy="8763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36" name="">
            <a:extLst xmlns:a="http://schemas.openxmlformats.org/drawingml/2006/main">
              <a:ext uri="{FF2B5EF4-FFF2-40B4-BE49-F238E27FC236}">
                <a16:creationId xmlns:a16="http://schemas.microsoft.com/office/drawing/2014/main" id="{F07A74B3-A4AC-478B-8706-A345286F3076}"/>
              </a:ext>
            </a:extLst>
          </p:cNvPr>
          <p:cNvSpPr>
            <a:spLocks xmlns:a="http://schemas.openxmlformats.org/drawingml/2006/main" noGrp="1"/>
          </p:cNvSpPr>
          <p:nvPr/>
        </p:nvSpPr>
        <p:spPr>
          <a:xfrm xmlns:a="http://schemas.openxmlformats.org/drawingml/2006/main">
            <a:off x="7505700" y="2724150"/>
            <a:ext cx="1828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ECFP, FCFP, SVM, consensus</a:t>
            </a:r>
          </a:p>
        </p:txBody>
      </p:sp>
      <p:sp>
        <p:nvSpPr>
          <p:cNvPr id="37" name="">
            <a:extLst xmlns:a="http://schemas.openxmlformats.org/drawingml/2006/main">
              <a:ext uri="{FF2B5EF4-FFF2-40B4-BE49-F238E27FC236}">
                <a16:creationId xmlns:a16="http://schemas.microsoft.com/office/drawing/2014/main" id="{01A2A8C0-023A-4B70-BB9D-222DEEF3BA04}"/>
              </a:ext>
            </a:extLst>
          </p:cNvPr>
          <p:cNvSpPr>
            <a:spLocks xmlns:a="http://schemas.openxmlformats.org/drawingml/2006/main" noGrp="1"/>
          </p:cNvSpPr>
          <p:nvPr/>
        </p:nvSpPr>
        <p:spPr>
          <a:xfrm xmlns:a="http://schemas.openxmlformats.org/drawingml/2006/main">
            <a:off x="9429750" y="2647950"/>
            <a:ext cx="2305050" cy="8763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38" name="">
            <a:extLst xmlns:a="http://schemas.openxmlformats.org/drawingml/2006/main">
              <a:ext uri="{FF2B5EF4-FFF2-40B4-BE49-F238E27FC236}">
                <a16:creationId xmlns:a16="http://schemas.microsoft.com/office/drawing/2014/main" id="{0D43B2A4-F22A-4208-BA0E-D7D2E566D5EA}"/>
              </a:ext>
            </a:extLst>
          </p:cNvPr>
          <p:cNvSpPr>
            <a:spLocks xmlns:a="http://schemas.openxmlformats.org/drawingml/2006/main" noGrp="1"/>
          </p:cNvSpPr>
          <p:nvPr/>
        </p:nvSpPr>
        <p:spPr>
          <a:xfrm xmlns:a="http://schemas.openxmlformats.org/drawingml/2006/main">
            <a:off x="9525000" y="2724150"/>
            <a:ext cx="21145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Random split; pooled assay types; current repository lacks full assets</a:t>
            </a:r>
          </a:p>
        </p:txBody>
      </p:sp>
      <p:sp>
        <p:nvSpPr>
          <p:cNvPr id="39" name="">
            <a:extLst xmlns:a="http://schemas.openxmlformats.org/drawingml/2006/main">
              <a:ext uri="{FF2B5EF4-FFF2-40B4-BE49-F238E27FC236}">
                <a16:creationId xmlns:a16="http://schemas.microsoft.com/office/drawing/2014/main" id="{56F9AD76-80DC-496D-971B-CC09BBFA9E2F}"/>
              </a:ext>
            </a:extLst>
          </p:cNvPr>
          <p:cNvSpPr>
            <a:spLocks xmlns:a="http://schemas.openxmlformats.org/drawingml/2006/main" noGrp="1"/>
          </p:cNvSpPr>
          <p:nvPr/>
        </p:nvSpPr>
        <p:spPr>
          <a:xfrm xmlns:a="http://schemas.openxmlformats.org/drawingml/2006/main">
            <a:off x="438150" y="3524250"/>
            <a:ext cx="1352550" cy="8763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40" name="">
            <a:extLst xmlns:a="http://schemas.openxmlformats.org/drawingml/2006/main">
              <a:ext uri="{FF2B5EF4-FFF2-40B4-BE49-F238E27FC236}">
                <a16:creationId xmlns:a16="http://schemas.microsoft.com/office/drawing/2014/main" id="{D73F57E6-CBF3-4222-BC21-4963815E83EE}"/>
              </a:ext>
            </a:extLst>
          </p:cNvPr>
          <p:cNvSpPr>
            <a:spLocks xmlns:a="http://schemas.openxmlformats.org/drawingml/2006/main" noGrp="1"/>
          </p:cNvSpPr>
          <p:nvPr/>
        </p:nvSpPr>
        <p:spPr>
          <a:xfrm xmlns:a="http://schemas.openxmlformats.org/drawingml/2006/main">
            <a:off x="533400" y="3600450"/>
            <a:ext cx="1162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i="0">
                <a:solidFill>
                  <a:srgbClr val="0B0F14"/>
                </a:solidFill>
                <a:latin typeface="Helvetica Neue"/>
                <a:ea typeface="Helvetica Neue"/>
                <a:cs typeface="Helvetica Neue"/>
              </a:defRPr>
            </a:pPr>
            <a:r>
              <a:rPr sz="1200" b="1" i="0">
                <a:solidFill>
                  <a:srgbClr val="0B0F14"/>
                </a:solidFill>
                <a:latin typeface="Helvetica Neue"/>
                <a:ea typeface="Helvetica Neue"/>
                <a:cs typeface="Helvetica Neue"/>
              </a:rPr>
              <a:t>hERGBoost</a:t>
            </a:r>
          </a:p>
          <a:p xmlns:a="http://schemas.openxmlformats.org/drawingml/2006/main">
            <a:pPr algn="l">
              <a:defRPr sz="1200" b="1" i="0">
                <a:solidFill>
                  <a:srgbClr val="0B0F14"/>
                </a:solidFill>
                <a:latin typeface="Helvetica Neue"/>
                <a:ea typeface="Helvetica Neue"/>
                <a:cs typeface="Helvetica Neue"/>
              </a:defRPr>
            </a:pPr>
            <a:r>
              <a:rPr sz="1200" b="1" i="0">
                <a:solidFill>
                  <a:srgbClr val="0B0F14"/>
                </a:solidFill>
                <a:latin typeface="Helvetica Neue"/>
                <a:ea typeface="Helvetica Neue"/>
                <a:cs typeface="Helvetica Neue"/>
              </a:rPr>
              <a:t>Regression</a:t>
            </a:r>
          </a:p>
        </p:txBody>
      </p:sp>
      <p:sp>
        <p:nvSpPr>
          <p:cNvPr id="41" name="">
            <a:extLst xmlns:a="http://schemas.openxmlformats.org/drawingml/2006/main">
              <a:ext uri="{FF2B5EF4-FFF2-40B4-BE49-F238E27FC236}">
                <a16:creationId xmlns:a16="http://schemas.microsoft.com/office/drawing/2014/main" id="{E9C463E9-8807-4055-9E43-5008E5FCEA60}"/>
              </a:ext>
            </a:extLst>
          </p:cNvPr>
          <p:cNvSpPr>
            <a:spLocks xmlns:a="http://schemas.openxmlformats.org/drawingml/2006/main" noGrp="1"/>
          </p:cNvSpPr>
          <p:nvPr/>
        </p:nvSpPr>
        <p:spPr>
          <a:xfrm xmlns:a="http://schemas.openxmlformats.org/drawingml/2006/main">
            <a:off x="1790700" y="3524250"/>
            <a:ext cx="1504950" cy="8763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42" name="">
            <a:extLst xmlns:a="http://schemas.openxmlformats.org/drawingml/2006/main">
              <a:ext uri="{FF2B5EF4-FFF2-40B4-BE49-F238E27FC236}">
                <a16:creationId xmlns:a16="http://schemas.microsoft.com/office/drawing/2014/main" id="{C34F9206-DA0B-4C0D-ABF6-4D04D3624708}"/>
              </a:ext>
            </a:extLst>
          </p:cNvPr>
          <p:cNvSpPr>
            <a:spLocks xmlns:a="http://schemas.openxmlformats.org/drawingml/2006/main" noGrp="1"/>
          </p:cNvSpPr>
          <p:nvPr/>
        </p:nvSpPr>
        <p:spPr>
          <a:xfrm xmlns:a="http://schemas.openxmlformats.org/drawingml/2006/main">
            <a:off x="1885950" y="3600450"/>
            <a:ext cx="13144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10,798</a:t>
            </a:r>
          </a:p>
          <a:p xmlns:a="http://schemas.openxmlformats.org/drawingml/2006/main">
            <a:pPr algn="l">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molecules</a:t>
            </a:r>
          </a:p>
        </p:txBody>
      </p:sp>
      <p:sp>
        <p:nvSpPr>
          <p:cNvPr id="43" name="">
            <a:extLst xmlns:a="http://schemas.openxmlformats.org/drawingml/2006/main">
              <a:ext uri="{FF2B5EF4-FFF2-40B4-BE49-F238E27FC236}">
                <a16:creationId xmlns:a16="http://schemas.microsoft.com/office/drawing/2014/main" id="{0A97D39D-C0B1-41C9-8DD6-8FB406230E90}"/>
              </a:ext>
            </a:extLst>
          </p:cNvPr>
          <p:cNvSpPr>
            <a:spLocks xmlns:a="http://schemas.openxmlformats.org/drawingml/2006/main" noGrp="1"/>
          </p:cNvSpPr>
          <p:nvPr/>
        </p:nvSpPr>
        <p:spPr>
          <a:xfrm xmlns:a="http://schemas.openxmlformats.org/drawingml/2006/main">
            <a:off x="3295650" y="3524250"/>
            <a:ext cx="2000250" cy="8763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44" name="">
            <a:extLst xmlns:a="http://schemas.openxmlformats.org/drawingml/2006/main">
              <a:ext uri="{FF2B5EF4-FFF2-40B4-BE49-F238E27FC236}">
                <a16:creationId xmlns:a16="http://schemas.microsoft.com/office/drawing/2014/main" id="{E54C92B6-BC98-49A2-9C94-0EDC7A825970}"/>
              </a:ext>
            </a:extLst>
          </p:cNvPr>
          <p:cNvSpPr>
            <a:spLocks xmlns:a="http://schemas.openxmlformats.org/drawingml/2006/main" noGrp="1"/>
          </p:cNvSpPr>
          <p:nvPr/>
        </p:nvSpPr>
        <p:spPr>
          <a:xfrm xmlns:a="http://schemas.openxmlformats.org/drawingml/2006/main">
            <a:off x="3390900" y="3600450"/>
            <a:ext cx="1809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0.438 MAE</a:t>
            </a:r>
          </a:p>
          <a:p xmlns:a="http://schemas.openxmlformats.org/drawingml/2006/main">
            <a:pPr algn="l">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External n=706</a:t>
            </a:r>
          </a:p>
        </p:txBody>
      </p:sp>
      <p:sp>
        <p:nvSpPr>
          <p:cNvPr id="45" name="">
            <a:extLst xmlns:a="http://schemas.openxmlformats.org/drawingml/2006/main">
              <a:ext uri="{FF2B5EF4-FFF2-40B4-BE49-F238E27FC236}">
                <a16:creationId xmlns:a16="http://schemas.microsoft.com/office/drawing/2014/main" id="{1F8BECAE-E298-48B6-8EC6-D52D2901AE0D}"/>
              </a:ext>
            </a:extLst>
          </p:cNvPr>
          <p:cNvSpPr>
            <a:spLocks xmlns:a="http://schemas.openxmlformats.org/drawingml/2006/main" noGrp="1"/>
          </p:cNvSpPr>
          <p:nvPr/>
        </p:nvSpPr>
        <p:spPr>
          <a:xfrm xmlns:a="http://schemas.openxmlformats.org/drawingml/2006/main">
            <a:off x="5295900" y="3524250"/>
            <a:ext cx="2114550" cy="8763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46" name="">
            <a:extLst xmlns:a="http://schemas.openxmlformats.org/drawingml/2006/main">
              <a:ext uri="{FF2B5EF4-FFF2-40B4-BE49-F238E27FC236}">
                <a16:creationId xmlns:a16="http://schemas.microsoft.com/office/drawing/2014/main" id="{B6C4545F-6A4B-47C1-B3B7-61BDA578336D}"/>
              </a:ext>
            </a:extLst>
          </p:cNvPr>
          <p:cNvSpPr>
            <a:spLocks xmlns:a="http://schemas.openxmlformats.org/drawingml/2006/main" noGrp="1"/>
          </p:cNvSpPr>
          <p:nvPr/>
        </p:nvSpPr>
        <p:spPr>
          <a:xfrm xmlns:a="http://schemas.openxmlformats.org/drawingml/2006/main">
            <a:off x="5391150" y="3600450"/>
            <a:ext cx="1924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Moderate</a:t>
            </a:r>
          </a:p>
          <a:p xmlns:a="http://schemas.openxmlformats.org/drawingml/2006/main">
            <a:pPr algn="l">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External set; grouping policy unclear</a:t>
            </a:r>
          </a:p>
        </p:txBody>
      </p:sp>
      <p:sp>
        <p:nvSpPr>
          <p:cNvPr id="47" name="">
            <a:extLst xmlns:a="http://schemas.openxmlformats.org/drawingml/2006/main">
              <a:ext uri="{FF2B5EF4-FFF2-40B4-BE49-F238E27FC236}">
                <a16:creationId xmlns:a16="http://schemas.microsoft.com/office/drawing/2014/main" id="{5D2B7A2A-9A85-4ED0-911B-26A43E1A2888}"/>
              </a:ext>
            </a:extLst>
          </p:cNvPr>
          <p:cNvSpPr>
            <a:spLocks xmlns:a="http://schemas.openxmlformats.org/drawingml/2006/main" noGrp="1"/>
          </p:cNvSpPr>
          <p:nvPr/>
        </p:nvSpPr>
        <p:spPr>
          <a:xfrm xmlns:a="http://schemas.openxmlformats.org/drawingml/2006/main">
            <a:off x="7410450" y="3524250"/>
            <a:ext cx="2019300" cy="8763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48" name="">
            <a:extLst xmlns:a="http://schemas.openxmlformats.org/drawingml/2006/main">
              <a:ext uri="{FF2B5EF4-FFF2-40B4-BE49-F238E27FC236}">
                <a16:creationId xmlns:a16="http://schemas.microsoft.com/office/drawing/2014/main" id="{50B99B16-F66F-401B-8E3E-D6BA30695EDA}"/>
              </a:ext>
            </a:extLst>
          </p:cNvPr>
          <p:cNvSpPr>
            <a:spLocks xmlns:a="http://schemas.openxmlformats.org/drawingml/2006/main" noGrp="1"/>
          </p:cNvSpPr>
          <p:nvPr/>
        </p:nvSpPr>
        <p:spPr>
          <a:xfrm xmlns:a="http://schemas.openxmlformats.org/drawingml/2006/main">
            <a:off x="7505700" y="3600450"/>
            <a:ext cx="1828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Descriptors, fingerprints, XGBoost</a:t>
            </a:r>
          </a:p>
        </p:txBody>
      </p:sp>
      <p:sp>
        <p:nvSpPr>
          <p:cNvPr id="49" name="">
            <a:extLst xmlns:a="http://schemas.openxmlformats.org/drawingml/2006/main">
              <a:ext uri="{FF2B5EF4-FFF2-40B4-BE49-F238E27FC236}">
                <a16:creationId xmlns:a16="http://schemas.microsoft.com/office/drawing/2014/main" id="{2F5D11F5-B907-4155-8469-6427A12918A5}"/>
              </a:ext>
            </a:extLst>
          </p:cNvPr>
          <p:cNvSpPr>
            <a:spLocks xmlns:a="http://schemas.openxmlformats.org/drawingml/2006/main" noGrp="1"/>
          </p:cNvSpPr>
          <p:nvPr/>
        </p:nvSpPr>
        <p:spPr>
          <a:xfrm xmlns:a="http://schemas.openxmlformats.org/drawingml/2006/main">
            <a:off x="9429750" y="3524250"/>
            <a:ext cx="2305050" cy="8763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50" name="">
            <a:extLst xmlns:a="http://schemas.openxmlformats.org/drawingml/2006/main">
              <a:ext uri="{FF2B5EF4-FFF2-40B4-BE49-F238E27FC236}">
                <a16:creationId xmlns:a16="http://schemas.microsoft.com/office/drawing/2014/main" id="{365AABB8-5E3A-40D3-AE8A-DF76139486A2}"/>
              </a:ext>
            </a:extLst>
          </p:cNvPr>
          <p:cNvSpPr>
            <a:spLocks xmlns:a="http://schemas.openxmlformats.org/drawingml/2006/main" noGrp="1"/>
          </p:cNvSpPr>
          <p:nvPr/>
        </p:nvSpPr>
        <p:spPr>
          <a:xfrm xmlns:a="http://schemas.openxmlformats.org/drawingml/2006/main">
            <a:off x="9525000" y="3600450"/>
            <a:ext cx="21145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External R2 0.394; extreme-potency RMSE 1.154</a:t>
            </a:r>
          </a:p>
        </p:txBody>
      </p:sp>
      <p:sp>
        <p:nvSpPr>
          <p:cNvPr id="51" name="">
            <a:extLst xmlns:a="http://schemas.openxmlformats.org/drawingml/2006/main">
              <a:ext uri="{FF2B5EF4-FFF2-40B4-BE49-F238E27FC236}">
                <a16:creationId xmlns:a16="http://schemas.microsoft.com/office/drawing/2014/main" id="{76BC8420-31AD-40D1-A2AF-7553053D99DF}"/>
              </a:ext>
            </a:extLst>
          </p:cNvPr>
          <p:cNvSpPr>
            <a:spLocks xmlns:a="http://schemas.openxmlformats.org/drawingml/2006/main" noGrp="1"/>
          </p:cNvSpPr>
          <p:nvPr/>
        </p:nvSpPr>
        <p:spPr>
          <a:xfrm xmlns:a="http://schemas.openxmlformats.org/drawingml/2006/main">
            <a:off x="438150" y="4400550"/>
            <a:ext cx="1352550" cy="8763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52" name="">
            <a:extLst xmlns:a="http://schemas.openxmlformats.org/drawingml/2006/main">
              <a:ext uri="{FF2B5EF4-FFF2-40B4-BE49-F238E27FC236}">
                <a16:creationId xmlns:a16="http://schemas.microsoft.com/office/drawing/2014/main" id="{32F38B8D-F768-48C0-BE46-E4D24969884C}"/>
              </a:ext>
            </a:extLst>
          </p:cNvPr>
          <p:cNvSpPr>
            <a:spLocks xmlns:a="http://schemas.openxmlformats.org/drawingml/2006/main" noGrp="1"/>
          </p:cNvSpPr>
          <p:nvPr/>
        </p:nvSpPr>
        <p:spPr>
          <a:xfrm xmlns:a="http://schemas.openxmlformats.org/drawingml/2006/main">
            <a:off x="533400" y="4476750"/>
            <a:ext cx="1162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i="0">
                <a:solidFill>
                  <a:srgbClr val="0B0F14"/>
                </a:solidFill>
                <a:latin typeface="Helvetica Neue"/>
                <a:ea typeface="Helvetica Neue"/>
                <a:cs typeface="Helvetica Neue"/>
              </a:defRPr>
            </a:pPr>
            <a:r>
              <a:rPr sz="1200" b="1" i="0">
                <a:solidFill>
                  <a:srgbClr val="0B0F14"/>
                </a:solidFill>
                <a:latin typeface="Helvetica Neue"/>
                <a:ea typeface="Helvetica Neue"/>
                <a:cs typeface="Helvetica Neue"/>
              </a:rPr>
              <a:t>HERGAI</a:t>
            </a:r>
          </a:p>
          <a:p xmlns:a="http://schemas.openxmlformats.org/drawingml/2006/main">
            <a:pPr algn="l">
              <a:defRPr sz="1200" b="1" i="0">
                <a:solidFill>
                  <a:srgbClr val="0B0F14"/>
                </a:solidFill>
                <a:latin typeface="Helvetica Neue"/>
                <a:ea typeface="Helvetica Neue"/>
                <a:cs typeface="Helvetica Neue"/>
              </a:defRPr>
            </a:pPr>
            <a:r>
              <a:rPr sz="1200" b="1" i="0">
                <a:solidFill>
                  <a:srgbClr val="0B0F14"/>
                </a:solidFill>
                <a:latin typeface="Helvetica Neue"/>
                <a:ea typeface="Helvetica Neue"/>
                <a:cs typeface="Helvetica Neue"/>
              </a:rPr>
              <a:t>Binary at 20 µM</a:t>
            </a:r>
          </a:p>
        </p:txBody>
      </p:sp>
      <p:sp>
        <p:nvSpPr>
          <p:cNvPr id="53" name="">
            <a:extLst xmlns:a="http://schemas.openxmlformats.org/drawingml/2006/main">
              <a:ext uri="{FF2B5EF4-FFF2-40B4-BE49-F238E27FC236}">
                <a16:creationId xmlns:a16="http://schemas.microsoft.com/office/drawing/2014/main" id="{BB821F88-FF48-4225-8144-767F5A3A9602}"/>
              </a:ext>
            </a:extLst>
          </p:cNvPr>
          <p:cNvSpPr>
            <a:spLocks xmlns:a="http://schemas.openxmlformats.org/drawingml/2006/main" noGrp="1"/>
          </p:cNvSpPr>
          <p:nvPr/>
        </p:nvSpPr>
        <p:spPr>
          <a:xfrm xmlns:a="http://schemas.openxmlformats.org/drawingml/2006/main">
            <a:off x="1790700" y="4400550"/>
            <a:ext cx="1504950" cy="8763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54" name="">
            <a:extLst xmlns:a="http://schemas.openxmlformats.org/drawingml/2006/main">
              <a:ext uri="{FF2B5EF4-FFF2-40B4-BE49-F238E27FC236}">
                <a16:creationId xmlns:a16="http://schemas.microsoft.com/office/drawing/2014/main" id="{FE51000A-9295-49EB-82A8-DDC037EC128C}"/>
              </a:ext>
            </a:extLst>
          </p:cNvPr>
          <p:cNvSpPr>
            <a:spLocks xmlns:a="http://schemas.openxmlformats.org/drawingml/2006/main" noGrp="1"/>
          </p:cNvSpPr>
          <p:nvPr/>
        </p:nvSpPr>
        <p:spPr>
          <a:xfrm xmlns:a="http://schemas.openxmlformats.org/drawingml/2006/main">
            <a:off x="1885950" y="4476750"/>
            <a:ext cx="13144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299,927</a:t>
            </a:r>
          </a:p>
          <a:p xmlns:a="http://schemas.openxmlformats.org/drawingml/2006/main">
            <a:pPr algn="l">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0.65% active</a:t>
            </a:r>
          </a:p>
        </p:txBody>
      </p:sp>
      <p:sp>
        <p:nvSpPr>
          <p:cNvPr id="55" name="">
            <a:extLst xmlns:a="http://schemas.openxmlformats.org/drawingml/2006/main">
              <a:ext uri="{FF2B5EF4-FFF2-40B4-BE49-F238E27FC236}">
                <a16:creationId xmlns:a16="http://schemas.microsoft.com/office/drawing/2014/main" id="{8B4DE704-D33A-482F-A6D5-F739C5D68A34}"/>
              </a:ext>
            </a:extLst>
          </p:cNvPr>
          <p:cNvSpPr>
            <a:spLocks xmlns:a="http://schemas.openxmlformats.org/drawingml/2006/main" noGrp="1"/>
          </p:cNvSpPr>
          <p:nvPr/>
        </p:nvSpPr>
        <p:spPr>
          <a:xfrm xmlns:a="http://schemas.openxmlformats.org/drawingml/2006/main">
            <a:off x="3295650" y="4400550"/>
            <a:ext cx="2000250" cy="8763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56" name="">
            <a:extLst xmlns:a="http://schemas.openxmlformats.org/drawingml/2006/main">
              <a:ext uri="{FF2B5EF4-FFF2-40B4-BE49-F238E27FC236}">
                <a16:creationId xmlns:a16="http://schemas.microsoft.com/office/drawing/2014/main" id="{F14D92AB-2051-45D7-BD09-387DDA377666}"/>
              </a:ext>
            </a:extLst>
          </p:cNvPr>
          <p:cNvSpPr>
            <a:spLocks xmlns:a="http://schemas.openxmlformats.org/drawingml/2006/main" noGrp="1"/>
          </p:cNvSpPr>
          <p:nvPr/>
        </p:nvSpPr>
        <p:spPr>
          <a:xfrm xmlns:a="http://schemas.openxmlformats.org/drawingml/2006/main">
            <a:off x="3390900" y="4476750"/>
            <a:ext cx="1809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86.4% recall</a:t>
            </a:r>
          </a:p>
          <a:p xmlns:a="http://schemas.openxmlformats.org/drawingml/2006/main">
            <a:pPr algn="l">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AUC 0.863</a:t>
            </a:r>
          </a:p>
        </p:txBody>
      </p:sp>
      <p:sp>
        <p:nvSpPr>
          <p:cNvPr id="57" name="">
            <a:extLst xmlns:a="http://schemas.openxmlformats.org/drawingml/2006/main">
              <a:ext uri="{FF2B5EF4-FFF2-40B4-BE49-F238E27FC236}">
                <a16:creationId xmlns:a16="http://schemas.microsoft.com/office/drawing/2014/main" id="{99019E02-239E-4798-AAEA-6EEB6E37FD10}"/>
              </a:ext>
            </a:extLst>
          </p:cNvPr>
          <p:cNvSpPr>
            <a:spLocks xmlns:a="http://schemas.openxmlformats.org/drawingml/2006/main" noGrp="1"/>
          </p:cNvSpPr>
          <p:nvPr/>
        </p:nvSpPr>
        <p:spPr>
          <a:xfrm xmlns:a="http://schemas.openxmlformats.org/drawingml/2006/main">
            <a:off x="5295900" y="4400550"/>
            <a:ext cx="2114550" cy="8763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58" name="">
            <a:extLst xmlns:a="http://schemas.openxmlformats.org/drawingml/2006/main">
              <a:ext uri="{FF2B5EF4-FFF2-40B4-BE49-F238E27FC236}">
                <a16:creationId xmlns:a16="http://schemas.microsoft.com/office/drawing/2014/main" id="{D7ACE2DD-0D19-4BA1-8643-E6D5D8796BC6}"/>
              </a:ext>
            </a:extLst>
          </p:cNvPr>
          <p:cNvSpPr>
            <a:spLocks xmlns:a="http://schemas.openxmlformats.org/drawingml/2006/main" noGrp="1"/>
          </p:cNvSpPr>
          <p:nvPr/>
        </p:nvSpPr>
        <p:spPr>
          <a:xfrm xmlns:a="http://schemas.openxmlformats.org/drawingml/2006/main">
            <a:off x="5391150" y="4476750"/>
            <a:ext cx="1924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High</a:t>
            </a:r>
          </a:p>
          <a:p xmlns:a="http://schemas.openxmlformats.org/drawingml/2006/main">
            <a:pPr algn="l">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Extreme imbalance; pose selection</a:t>
            </a:r>
          </a:p>
        </p:txBody>
      </p:sp>
      <p:sp>
        <p:nvSpPr>
          <p:cNvPr id="59" name="">
            <a:extLst xmlns:a="http://schemas.openxmlformats.org/drawingml/2006/main">
              <a:ext uri="{FF2B5EF4-FFF2-40B4-BE49-F238E27FC236}">
                <a16:creationId xmlns:a16="http://schemas.microsoft.com/office/drawing/2014/main" id="{9BAB26F4-7BEB-4432-9655-F32DB0DC074B}"/>
              </a:ext>
            </a:extLst>
          </p:cNvPr>
          <p:cNvSpPr>
            <a:spLocks xmlns:a="http://schemas.openxmlformats.org/drawingml/2006/main" noGrp="1"/>
          </p:cNvSpPr>
          <p:nvPr/>
        </p:nvSpPr>
        <p:spPr>
          <a:xfrm xmlns:a="http://schemas.openxmlformats.org/drawingml/2006/main">
            <a:off x="7410450" y="4400550"/>
            <a:ext cx="2019300" cy="8763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60" name="">
            <a:extLst xmlns:a="http://schemas.openxmlformats.org/drawingml/2006/main">
              <a:ext uri="{FF2B5EF4-FFF2-40B4-BE49-F238E27FC236}">
                <a16:creationId xmlns:a16="http://schemas.microsoft.com/office/drawing/2014/main" id="{FA09D029-B2CA-4A11-AFBD-47FFA17CF565}"/>
              </a:ext>
            </a:extLst>
          </p:cNvPr>
          <p:cNvSpPr>
            <a:spLocks xmlns:a="http://schemas.openxmlformats.org/drawingml/2006/main" noGrp="1"/>
          </p:cNvSpPr>
          <p:nvPr/>
        </p:nvSpPr>
        <p:spPr>
          <a:xfrm xmlns:a="http://schemas.openxmlformats.org/drawingml/2006/main">
            <a:off x="7505700" y="4476750"/>
            <a:ext cx="1828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Docking PLEC, RF, XGB, DNN stack</a:t>
            </a:r>
          </a:p>
        </p:txBody>
      </p:sp>
      <p:sp>
        <p:nvSpPr>
          <p:cNvPr id="61" name="">
            <a:extLst xmlns:a="http://schemas.openxmlformats.org/drawingml/2006/main">
              <a:ext uri="{FF2B5EF4-FFF2-40B4-BE49-F238E27FC236}">
                <a16:creationId xmlns:a16="http://schemas.microsoft.com/office/drawing/2014/main" id="{B1970177-9216-49E4-A11E-E55B4FBE5056}"/>
              </a:ext>
            </a:extLst>
          </p:cNvPr>
          <p:cNvSpPr>
            <a:spLocks xmlns:a="http://schemas.openxmlformats.org/drawingml/2006/main" noGrp="1"/>
          </p:cNvSpPr>
          <p:nvPr/>
        </p:nvSpPr>
        <p:spPr>
          <a:xfrm xmlns:a="http://schemas.openxmlformats.org/drawingml/2006/main">
            <a:off x="9429750" y="4400550"/>
            <a:ext cx="2305050" cy="8763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62" name="">
            <a:extLst xmlns:a="http://schemas.openxmlformats.org/drawingml/2006/main">
              <a:ext uri="{FF2B5EF4-FFF2-40B4-BE49-F238E27FC236}">
                <a16:creationId xmlns:a16="http://schemas.microsoft.com/office/drawing/2014/main" id="{57D1CC7D-7D1D-4B31-B3AF-6D1483A2409F}"/>
              </a:ext>
            </a:extLst>
          </p:cNvPr>
          <p:cNvSpPr>
            <a:spLocks xmlns:a="http://schemas.openxmlformats.org/drawingml/2006/main" noGrp="1"/>
          </p:cNvSpPr>
          <p:nvPr/>
        </p:nvSpPr>
        <p:spPr>
          <a:xfrm xmlns:a="http://schemas.openxmlformats.org/drawingml/2006/main">
            <a:off x="9525000" y="4476750"/>
            <a:ext cx="21145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Binary screening task; asymmetric active and negative evidence</a:t>
            </a:r>
          </a:p>
        </p:txBody>
      </p:sp>
      <p:sp>
        <p:nvSpPr>
          <p:cNvPr id="63" name="">
            <a:extLst xmlns:a="http://schemas.openxmlformats.org/drawingml/2006/main">
              <a:ext uri="{FF2B5EF4-FFF2-40B4-BE49-F238E27FC236}">
                <a16:creationId xmlns:a16="http://schemas.microsoft.com/office/drawing/2014/main" id="{473FA3D4-1D28-4284-83AD-AB6DB59E7A04}"/>
              </a:ext>
            </a:extLst>
          </p:cNvPr>
          <p:cNvSpPr>
            <a:spLocks xmlns:a="http://schemas.openxmlformats.org/drawingml/2006/main" noGrp="1"/>
          </p:cNvSpPr>
          <p:nvPr/>
        </p:nvSpPr>
        <p:spPr>
          <a:xfrm xmlns:a="http://schemas.openxmlformats.org/drawingml/2006/main">
            <a:off x="438150" y="5276850"/>
            <a:ext cx="1352550" cy="8763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64" name="">
            <a:extLst xmlns:a="http://schemas.openxmlformats.org/drawingml/2006/main">
              <a:ext uri="{FF2B5EF4-FFF2-40B4-BE49-F238E27FC236}">
                <a16:creationId xmlns:a16="http://schemas.microsoft.com/office/drawing/2014/main" id="{BAD16D61-7A4C-4BD3-BA53-116E43EC5109}"/>
              </a:ext>
            </a:extLst>
          </p:cNvPr>
          <p:cNvSpPr>
            <a:spLocks xmlns:a="http://schemas.openxmlformats.org/drawingml/2006/main" noGrp="1"/>
          </p:cNvSpPr>
          <p:nvPr/>
        </p:nvSpPr>
        <p:spPr>
          <a:xfrm xmlns:a="http://schemas.openxmlformats.org/drawingml/2006/main">
            <a:off x="533400" y="5353050"/>
            <a:ext cx="1162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i="0">
                <a:solidFill>
                  <a:srgbClr val="0B0F14"/>
                </a:solidFill>
                <a:latin typeface="Helvetica Neue"/>
                <a:ea typeface="Helvetica Neue"/>
                <a:cs typeface="Helvetica Neue"/>
              </a:defRPr>
            </a:pPr>
            <a:r>
              <a:rPr sz="1200" b="1" i="0">
                <a:solidFill>
                  <a:srgbClr val="0B0F14"/>
                </a:solidFill>
                <a:latin typeface="Helvetica Neue"/>
                <a:ea typeface="Helvetica Neue"/>
                <a:cs typeface="Helvetica Neue"/>
              </a:rPr>
              <a:t>XGB-ISE</a:t>
            </a:r>
          </a:p>
          <a:p xmlns:a="http://schemas.openxmlformats.org/drawingml/2006/main">
            <a:pPr algn="l">
              <a:defRPr sz="1200" b="1" i="0">
                <a:solidFill>
                  <a:srgbClr val="0B0F14"/>
                </a:solidFill>
                <a:latin typeface="Helvetica Neue"/>
                <a:ea typeface="Helvetica Neue"/>
                <a:cs typeface="Helvetica Neue"/>
              </a:defRPr>
            </a:pPr>
            <a:r>
              <a:rPr sz="1200" b="1" i="0">
                <a:solidFill>
                  <a:srgbClr val="0B0F14"/>
                </a:solidFill>
                <a:latin typeface="Helvetica Neue"/>
                <a:ea typeface="Helvetica Neue"/>
                <a:cs typeface="Helvetica Neue"/>
              </a:rPr>
              <a:t>Binary at 10 µM</a:t>
            </a:r>
          </a:p>
        </p:txBody>
      </p:sp>
      <p:sp>
        <p:nvSpPr>
          <p:cNvPr id="65" name="">
            <a:extLst xmlns:a="http://schemas.openxmlformats.org/drawingml/2006/main">
              <a:ext uri="{FF2B5EF4-FFF2-40B4-BE49-F238E27FC236}">
                <a16:creationId xmlns:a16="http://schemas.microsoft.com/office/drawing/2014/main" id="{082A03CB-C028-4034-A7E9-6B501AFD7412}"/>
              </a:ext>
            </a:extLst>
          </p:cNvPr>
          <p:cNvSpPr>
            <a:spLocks xmlns:a="http://schemas.openxmlformats.org/drawingml/2006/main" noGrp="1"/>
          </p:cNvSpPr>
          <p:nvPr/>
        </p:nvSpPr>
        <p:spPr>
          <a:xfrm xmlns:a="http://schemas.openxmlformats.org/drawingml/2006/main">
            <a:off x="1790700" y="5276850"/>
            <a:ext cx="1504950" cy="8763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66" name="">
            <a:extLst xmlns:a="http://schemas.openxmlformats.org/drawingml/2006/main">
              <a:ext uri="{FF2B5EF4-FFF2-40B4-BE49-F238E27FC236}">
                <a16:creationId xmlns:a16="http://schemas.microsoft.com/office/drawing/2014/main" id="{6E1A10A8-109E-4C3F-99E3-9BCB23FEEBE3}"/>
              </a:ext>
            </a:extLst>
          </p:cNvPr>
          <p:cNvSpPr>
            <a:spLocks xmlns:a="http://schemas.openxmlformats.org/drawingml/2006/main" noGrp="1"/>
          </p:cNvSpPr>
          <p:nvPr/>
        </p:nvSpPr>
        <p:spPr>
          <a:xfrm xmlns:a="http://schemas.openxmlformats.org/drawingml/2006/main">
            <a:off x="1885950" y="5353050"/>
            <a:ext cx="13144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290,731</a:t>
            </a:r>
          </a:p>
          <a:p xmlns:a="http://schemas.openxmlformats.org/drawingml/2006/main">
            <a:pPr algn="l">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molecules</a:t>
            </a:r>
          </a:p>
        </p:txBody>
      </p:sp>
      <p:sp>
        <p:nvSpPr>
          <p:cNvPr id="67" name="">
            <a:extLst xmlns:a="http://schemas.openxmlformats.org/drawingml/2006/main">
              <a:ext uri="{FF2B5EF4-FFF2-40B4-BE49-F238E27FC236}">
                <a16:creationId xmlns:a16="http://schemas.microsoft.com/office/drawing/2014/main" id="{E24BE718-05CE-4B61-871E-FB90FE096033}"/>
              </a:ext>
            </a:extLst>
          </p:cNvPr>
          <p:cNvSpPr>
            <a:spLocks xmlns:a="http://schemas.openxmlformats.org/drawingml/2006/main" noGrp="1"/>
          </p:cNvSpPr>
          <p:nvPr/>
        </p:nvSpPr>
        <p:spPr>
          <a:xfrm xmlns:a="http://schemas.openxmlformats.org/drawingml/2006/main">
            <a:off x="3295650" y="5276850"/>
            <a:ext cx="2000250" cy="8763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68" name="">
            <a:extLst xmlns:a="http://schemas.openxmlformats.org/drawingml/2006/main">
              <a:ext uri="{FF2B5EF4-FFF2-40B4-BE49-F238E27FC236}">
                <a16:creationId xmlns:a16="http://schemas.microsoft.com/office/drawing/2014/main" id="{1D066E45-5B45-47FF-982D-24E3839AFE8C}"/>
              </a:ext>
            </a:extLst>
          </p:cNvPr>
          <p:cNvSpPr>
            <a:spLocks xmlns:a="http://schemas.openxmlformats.org/drawingml/2006/main" noGrp="1"/>
          </p:cNvSpPr>
          <p:nvPr/>
        </p:nvSpPr>
        <p:spPr>
          <a:xfrm xmlns:a="http://schemas.openxmlformats.org/drawingml/2006/main">
            <a:off x="3390900" y="5353050"/>
            <a:ext cx="1809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MCC 0.72</a:t>
            </a:r>
          </a:p>
          <a:p xmlns:a="http://schemas.openxmlformats.org/drawingml/2006/main">
            <a:pPr algn="l">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Selected strata</a:t>
            </a:r>
          </a:p>
        </p:txBody>
      </p:sp>
      <p:sp>
        <p:nvSpPr>
          <p:cNvPr id="69" name="">
            <a:extLst xmlns:a="http://schemas.openxmlformats.org/drawingml/2006/main">
              <a:ext uri="{FF2B5EF4-FFF2-40B4-BE49-F238E27FC236}">
                <a16:creationId xmlns:a16="http://schemas.microsoft.com/office/drawing/2014/main" id="{F845D147-6A22-432E-87C3-9F83AF794DE7}"/>
              </a:ext>
            </a:extLst>
          </p:cNvPr>
          <p:cNvSpPr>
            <a:spLocks xmlns:a="http://schemas.openxmlformats.org/drawingml/2006/main" noGrp="1"/>
          </p:cNvSpPr>
          <p:nvPr/>
        </p:nvSpPr>
        <p:spPr>
          <a:xfrm xmlns:a="http://schemas.openxmlformats.org/drawingml/2006/main">
            <a:off x="5295900" y="5276850"/>
            <a:ext cx="2114550" cy="8763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70" name="">
            <a:extLst xmlns:a="http://schemas.openxmlformats.org/drawingml/2006/main">
              <a:ext uri="{FF2B5EF4-FFF2-40B4-BE49-F238E27FC236}">
                <a16:creationId xmlns:a16="http://schemas.microsoft.com/office/drawing/2014/main" id="{DD286ACC-9E81-462B-8C33-6975269FDC9F}"/>
              </a:ext>
            </a:extLst>
          </p:cNvPr>
          <p:cNvSpPr>
            <a:spLocks xmlns:a="http://schemas.openxmlformats.org/drawingml/2006/main" noGrp="1"/>
          </p:cNvSpPr>
          <p:nvPr/>
        </p:nvSpPr>
        <p:spPr>
          <a:xfrm xmlns:a="http://schemas.openxmlformats.org/drawingml/2006/main">
            <a:off x="5391150" y="5353050"/>
            <a:ext cx="1924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Very High</a:t>
            </a:r>
          </a:p>
          <a:p xmlns:a="http://schemas.openxmlformats.org/drawingml/2006/main">
            <a:pPr algn="l">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Best result covers 64% of external set</a:t>
            </a:r>
          </a:p>
        </p:txBody>
      </p:sp>
      <p:sp>
        <p:nvSpPr>
          <p:cNvPr id="71" name="">
            <a:extLst xmlns:a="http://schemas.openxmlformats.org/drawingml/2006/main">
              <a:ext uri="{FF2B5EF4-FFF2-40B4-BE49-F238E27FC236}">
                <a16:creationId xmlns:a16="http://schemas.microsoft.com/office/drawing/2014/main" id="{A8345500-5075-4026-83C3-5DC623263605}"/>
              </a:ext>
            </a:extLst>
          </p:cNvPr>
          <p:cNvSpPr>
            <a:spLocks xmlns:a="http://schemas.openxmlformats.org/drawingml/2006/main" noGrp="1"/>
          </p:cNvSpPr>
          <p:nvPr/>
        </p:nvSpPr>
        <p:spPr>
          <a:xfrm xmlns:a="http://schemas.openxmlformats.org/drawingml/2006/main">
            <a:off x="7410450" y="5276850"/>
            <a:ext cx="2019300" cy="8763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72" name="">
            <a:extLst xmlns:a="http://schemas.openxmlformats.org/drawingml/2006/main">
              <a:ext uri="{FF2B5EF4-FFF2-40B4-BE49-F238E27FC236}">
                <a16:creationId xmlns:a16="http://schemas.microsoft.com/office/drawing/2014/main" id="{A8EE72F5-E872-47CF-9D2B-1B1F5CCB7BD3}"/>
              </a:ext>
            </a:extLst>
          </p:cNvPr>
          <p:cNvSpPr>
            <a:spLocks xmlns:a="http://schemas.openxmlformats.org/drawingml/2006/main" noGrp="1"/>
          </p:cNvSpPr>
          <p:nvPr/>
        </p:nvSpPr>
        <p:spPr>
          <a:xfrm xmlns:a="http://schemas.openxmlformats.org/drawingml/2006/main">
            <a:off x="7505700" y="5353050"/>
            <a:ext cx="1828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Selected descriptors, balanced XGB ensemble</a:t>
            </a:r>
          </a:p>
        </p:txBody>
      </p:sp>
      <p:sp>
        <p:nvSpPr>
          <p:cNvPr id="73" name="">
            <a:extLst xmlns:a="http://schemas.openxmlformats.org/drawingml/2006/main">
              <a:ext uri="{FF2B5EF4-FFF2-40B4-BE49-F238E27FC236}">
                <a16:creationId xmlns:a16="http://schemas.microsoft.com/office/drawing/2014/main" id="{C0988CE4-9DAB-4E6B-98EF-0770889EF6B7}"/>
              </a:ext>
            </a:extLst>
          </p:cNvPr>
          <p:cNvSpPr>
            <a:spLocks xmlns:a="http://schemas.openxmlformats.org/drawingml/2006/main" noGrp="1"/>
          </p:cNvSpPr>
          <p:nvPr/>
        </p:nvSpPr>
        <p:spPr>
          <a:xfrm xmlns:a="http://schemas.openxmlformats.org/drawingml/2006/main">
            <a:off x="9429750" y="5276850"/>
            <a:ext cx="2305050" cy="8763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74" name="">
            <a:extLst xmlns:a="http://schemas.openxmlformats.org/drawingml/2006/main">
              <a:ext uri="{FF2B5EF4-FFF2-40B4-BE49-F238E27FC236}">
                <a16:creationId xmlns:a16="http://schemas.microsoft.com/office/drawing/2014/main" id="{3CF8C131-7AC8-44F2-9C18-B423F7F581C7}"/>
              </a:ext>
            </a:extLst>
          </p:cNvPr>
          <p:cNvSpPr>
            <a:spLocks xmlns:a="http://schemas.openxmlformats.org/drawingml/2006/main" noGrp="1"/>
          </p:cNvSpPr>
          <p:nvPr/>
        </p:nvSpPr>
        <p:spPr>
          <a:xfrm xmlns:a="http://schemas.openxmlformats.org/drawingml/2006/main">
            <a:off x="9525000" y="5353050"/>
            <a:ext cx="21145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Coverage selection and pooled HTS labels limit broad deployment</a:t>
            </a:r>
          </a:p>
        </p:txBody>
      </p:sp>
    </p:spTree>
    <p:extLst>
      <p:ext uri="{BB962C8B-B14F-4D97-AF65-F5344CB8AC3E}">
        <p14:creationId xmlns:p14="http://schemas.microsoft.com/office/powerpoint/2010/main" val="208368051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57CFCE3-4D24-4722-B2E7-C88E939F2ACA}"/>
              </a:ext>
            </a:extLst>
          </p:cNvPr>
          <p:cNvSpPr>
            <a:spLocks xmlns:a="http://schemas.openxmlformats.org/drawingml/2006/main" noGrp="1"/>
          </p:cNvSpPr>
          <p:nvPr/>
        </p:nvSpPr>
        <p:spPr>
          <a:xfrm xmlns:a="http://schemas.openxmlformats.org/drawingml/2006/main">
            <a:off x="438150" y="323850"/>
            <a:ext cx="113157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25" b="1" i="0">
                <a:solidFill>
                  <a:srgbClr val="0B0F14"/>
                </a:solidFill>
                <a:latin typeface="Helvetica Neue"/>
                <a:ea typeface="Helvetica Neue"/>
                <a:cs typeface="Helvetica Neue"/>
              </a:defRPr>
            </a:pPr>
            <a:r>
              <a:rPr sz="2925" b="1" i="0">
                <a:solidFill>
                  <a:srgbClr val="0B0F14"/>
                </a:solidFill>
                <a:latin typeface="Helvetica Neue"/>
                <a:ea typeface="Helvetica Neue"/>
                <a:cs typeface="Helvetica Neue"/>
              </a:rPr>
              <a:t>Accuracy and Safety Require Separate Operating Modes</a:t>
            </a:r>
          </a:p>
        </p:txBody>
      </p:sp>
      <p:cxnSp>
        <p:nvCxnSpPr>
          <p:cNvPr id="18" name=""/>
          <p:cNvCxnSpPr/>
          <p:nvPr/>
        </p:nvCxnSpPr>
        <p:spPr>
          <a:xfrm xmlns:a="http://schemas.openxmlformats.org/drawingml/2006/main">
            <a:off x="438150" y="1028700"/>
            <a:ext cx="11315700" cy="0"/>
          </a:xfrm>
          <a:prstGeom xmlns:a="http://schemas.openxmlformats.org/drawingml/2006/main" prst="straightConnector1">
            <a:avLst/>
          </a:prstGeom>
          <a:ln xmlns:a="http://schemas.openxmlformats.org/drawingml/2006/main" w="9525">
            <a:solidFill>
              <a:srgbClr val="D6DAE0"/>
            </a:solidFill>
            <a:prstDash val="solid"/>
          </a:ln>
        </p:spPr>
      </p:cxnSp>
      <p:sp>
        <p:nvSpPr>
          <p:cNvPr id="3" name="">
            <a:extLst xmlns:a="http://schemas.openxmlformats.org/drawingml/2006/main">
              <a:ext uri="{FF2B5EF4-FFF2-40B4-BE49-F238E27FC236}">
                <a16:creationId xmlns:a16="http://schemas.microsoft.com/office/drawing/2014/main" id="{500DAAF1-4D95-4596-835B-E2093DDE1255}"/>
              </a:ext>
            </a:extLst>
          </p:cNvPr>
          <p:cNvSpPr>
            <a:spLocks xmlns:a="http://schemas.openxmlformats.org/drawingml/2006/main" noGrp="1"/>
          </p:cNvSpPr>
          <p:nvPr/>
        </p:nvSpPr>
        <p:spPr>
          <a:xfrm xmlns:a="http://schemas.openxmlformats.org/drawingml/2006/main">
            <a:off x="438150" y="1276350"/>
            <a:ext cx="5391150" cy="4533900"/>
          </a:xfrm>
          <a:prstGeom xmlns:a="http://schemas.openxmlformats.org/drawingml/2006/main" prst="roundRect">
            <a:avLst>
              <a:gd name="adj" fmla="val 3361"/>
            </a:avLst>
          </a:prstGeom>
          <a:solidFill xmlns:a="http://schemas.openxmlformats.org/drawingml/2006/main">
            <a:srgbClr val="EAF2FF"/>
          </a:solidFill>
          <a:ln xmlns:a="http://schemas.openxmlformats.org/drawingml/2006/main" w="9525">
            <a:solidFill>
              <a:srgbClr val="EAF2FF"/>
            </a:solidFill>
            <a:prstDash val="solid"/>
          </a:ln>
        </p:spPr>
      </p:sp>
      <p:sp>
        <p:nvSpPr>
          <p:cNvPr id="4" name="">
            <a:extLst xmlns:a="http://schemas.openxmlformats.org/drawingml/2006/main">
              <a:ext uri="{FF2B5EF4-FFF2-40B4-BE49-F238E27FC236}">
                <a16:creationId xmlns:a16="http://schemas.microsoft.com/office/drawing/2014/main" id="{A74C4258-CC91-4214-B766-FFA5DCA119C8}"/>
              </a:ext>
            </a:extLst>
          </p:cNvPr>
          <p:cNvSpPr>
            <a:spLocks xmlns:a="http://schemas.openxmlformats.org/drawingml/2006/main" noGrp="1"/>
          </p:cNvSpPr>
          <p:nvPr/>
        </p:nvSpPr>
        <p:spPr>
          <a:xfrm xmlns:a="http://schemas.openxmlformats.org/drawingml/2006/main">
            <a:off x="742950" y="1600200"/>
            <a:ext cx="4781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1" i="0">
                <a:solidFill>
                  <a:srgbClr val="1E63D5"/>
                </a:solidFill>
                <a:latin typeface="Helvetica Neue"/>
                <a:ea typeface="Helvetica Neue"/>
                <a:cs typeface="Helvetica Neue"/>
              </a:defRPr>
            </a:pPr>
            <a:r>
              <a:rPr sz="2250" b="1" i="0">
                <a:solidFill>
                  <a:srgbClr val="1E63D5"/>
                </a:solidFill>
                <a:latin typeface="Helvetica Neue"/>
                <a:ea typeface="Helvetica Neue"/>
                <a:cs typeface="Helvetica Neue"/>
              </a:rPr>
              <a:t>Global Accuracy Model</a:t>
            </a:r>
          </a:p>
        </p:txBody>
      </p:sp>
      <p:sp>
        <p:nvSpPr>
          <p:cNvPr id="5" name="">
            <a:extLst xmlns:a="http://schemas.openxmlformats.org/drawingml/2006/main">
              <a:ext uri="{FF2B5EF4-FFF2-40B4-BE49-F238E27FC236}">
                <a16:creationId xmlns:a16="http://schemas.microsoft.com/office/drawing/2014/main" id="{00571E8D-A06B-4287-9660-B776F78A1D49}"/>
              </a:ext>
            </a:extLst>
          </p:cNvPr>
          <p:cNvSpPr>
            <a:spLocks xmlns:a="http://schemas.openxmlformats.org/drawingml/2006/main" noGrp="1"/>
          </p:cNvSpPr>
          <p:nvPr/>
        </p:nvSpPr>
        <p:spPr>
          <a:xfrm xmlns:a="http://schemas.openxmlformats.org/drawingml/2006/main">
            <a:off x="742950" y="2400300"/>
            <a:ext cx="2095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4650" b="1" i="0">
                <a:solidFill>
                  <a:srgbClr val="1E63D5"/>
                </a:solidFill>
                <a:latin typeface="Helvetica Neue"/>
                <a:ea typeface="Helvetica Neue"/>
                <a:cs typeface="Helvetica Neue"/>
              </a:defRPr>
            </a:pPr>
            <a:r>
              <a:rPr sz="4650" b="1" i="0">
                <a:solidFill>
                  <a:srgbClr val="1E63D5"/>
                </a:solidFill>
                <a:latin typeface="Helvetica Neue"/>
                <a:ea typeface="Helvetica Neue"/>
                <a:cs typeface="Helvetica Neue"/>
              </a:rPr>
              <a:t>0.433</a:t>
            </a:r>
          </a:p>
        </p:txBody>
      </p:sp>
      <p:sp>
        <p:nvSpPr>
          <p:cNvPr id="6" name="">
            <a:extLst xmlns:a="http://schemas.openxmlformats.org/drawingml/2006/main">
              <a:ext uri="{FF2B5EF4-FFF2-40B4-BE49-F238E27FC236}">
                <a16:creationId xmlns:a16="http://schemas.microsoft.com/office/drawing/2014/main" id="{427F69AA-F114-4AF9-8047-A444A945E056}"/>
              </a:ext>
            </a:extLst>
          </p:cNvPr>
          <p:cNvSpPr>
            <a:spLocks xmlns:a="http://schemas.openxmlformats.org/drawingml/2006/main" noGrp="1"/>
          </p:cNvSpPr>
          <p:nvPr/>
        </p:nvSpPr>
        <p:spPr>
          <a:xfrm xmlns:a="http://schemas.openxmlformats.org/drawingml/2006/main">
            <a:off x="742950" y="32575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i="0">
                <a:solidFill>
                  <a:srgbClr val="0B0F14"/>
                </a:solidFill>
                <a:latin typeface="Helvetica Neue"/>
                <a:ea typeface="Helvetica Neue"/>
                <a:cs typeface="Helvetica Neue"/>
              </a:defRPr>
            </a:pPr>
            <a:r>
              <a:rPr sz="1650" b="1" i="0">
                <a:solidFill>
                  <a:srgbClr val="0B0F14"/>
                </a:solidFill>
                <a:latin typeface="Helvetica Neue"/>
                <a:ea typeface="Helvetica Neue"/>
                <a:cs typeface="Helvetica Neue"/>
              </a:rPr>
              <a:t>Global MAE</a:t>
            </a:r>
          </a:p>
        </p:txBody>
      </p:sp>
      <p:sp>
        <p:nvSpPr>
          <p:cNvPr id="7" name="">
            <a:extLst xmlns:a="http://schemas.openxmlformats.org/drawingml/2006/main">
              <a:ext uri="{FF2B5EF4-FFF2-40B4-BE49-F238E27FC236}">
                <a16:creationId xmlns:a16="http://schemas.microsoft.com/office/drawing/2014/main" id="{B5E49B3E-F2E7-4BD0-8934-3601D5E71401}"/>
              </a:ext>
            </a:extLst>
          </p:cNvPr>
          <p:cNvSpPr>
            <a:spLocks xmlns:a="http://schemas.openxmlformats.org/drawingml/2006/main" noGrp="1"/>
          </p:cNvSpPr>
          <p:nvPr/>
        </p:nvSpPr>
        <p:spPr>
          <a:xfrm xmlns:a="http://schemas.openxmlformats.org/drawingml/2006/main">
            <a:off x="3238500" y="2400300"/>
            <a:ext cx="2095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4650" b="1" i="0">
                <a:solidFill>
                  <a:srgbClr val="B84040"/>
                </a:solidFill>
                <a:latin typeface="Helvetica Neue"/>
                <a:ea typeface="Helvetica Neue"/>
                <a:cs typeface="Helvetica Neue"/>
              </a:defRPr>
            </a:pPr>
            <a:r>
              <a:rPr sz="4650" b="1" i="0">
                <a:solidFill>
                  <a:srgbClr val="B84040"/>
                </a:solidFill>
                <a:latin typeface="Helvetica Neue"/>
                <a:ea typeface="Helvetica Neue"/>
                <a:cs typeface="Helvetica Neue"/>
              </a:rPr>
              <a:t>1.425</a:t>
            </a:r>
          </a:p>
        </p:txBody>
      </p:sp>
      <p:sp>
        <p:nvSpPr>
          <p:cNvPr id="8" name="">
            <a:extLst xmlns:a="http://schemas.openxmlformats.org/drawingml/2006/main">
              <a:ext uri="{FF2B5EF4-FFF2-40B4-BE49-F238E27FC236}">
                <a16:creationId xmlns:a16="http://schemas.microsoft.com/office/drawing/2014/main" id="{46CE0A05-3A06-4709-AE50-483F3709D323}"/>
              </a:ext>
            </a:extLst>
          </p:cNvPr>
          <p:cNvSpPr>
            <a:spLocks xmlns:a="http://schemas.openxmlformats.org/drawingml/2006/main" noGrp="1"/>
          </p:cNvSpPr>
          <p:nvPr/>
        </p:nvSpPr>
        <p:spPr>
          <a:xfrm xmlns:a="http://schemas.openxmlformats.org/drawingml/2006/main">
            <a:off x="3238500" y="32575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i="0">
                <a:solidFill>
                  <a:srgbClr val="0B0F14"/>
                </a:solidFill>
                <a:latin typeface="Helvetica Neue"/>
                <a:ea typeface="Helvetica Neue"/>
                <a:cs typeface="Helvetica Neue"/>
              </a:defRPr>
            </a:pPr>
            <a:r>
              <a:rPr sz="1650" b="1" i="0">
                <a:solidFill>
                  <a:srgbClr val="0B0F14"/>
                </a:solidFill>
                <a:latin typeface="Helvetica Neue"/>
                <a:ea typeface="Helvetica Neue"/>
                <a:cs typeface="Helvetica Neue"/>
              </a:rPr>
              <a:t>Tail MAE</a:t>
            </a:r>
          </a:p>
        </p:txBody>
      </p:sp>
      <p:sp>
        <p:nvSpPr>
          <p:cNvPr id="9" name="">
            <a:extLst xmlns:a="http://schemas.openxmlformats.org/drawingml/2006/main">
              <a:ext uri="{FF2B5EF4-FFF2-40B4-BE49-F238E27FC236}">
                <a16:creationId xmlns:a16="http://schemas.microsoft.com/office/drawing/2014/main" id="{CBF2AA28-F203-4B3D-85F9-3F6E11840CA4}"/>
              </a:ext>
            </a:extLst>
          </p:cNvPr>
          <p:cNvSpPr>
            <a:spLocks xmlns:a="http://schemas.openxmlformats.org/drawingml/2006/main" noGrp="1"/>
          </p:cNvSpPr>
          <p:nvPr/>
        </p:nvSpPr>
        <p:spPr>
          <a:xfrm xmlns:a="http://schemas.openxmlformats.org/drawingml/2006/main">
            <a:off x="742950" y="4324350"/>
            <a:ext cx="45910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i="0">
                <a:solidFill>
                  <a:srgbClr val="0B0F14"/>
                </a:solidFill>
                <a:latin typeface="Helvetica Neue"/>
                <a:ea typeface="Helvetica Neue"/>
                <a:cs typeface="Helvetica Neue"/>
              </a:defRPr>
            </a:pPr>
            <a:r>
              <a:rPr sz="1725" b="1" i="0">
                <a:solidFill>
                  <a:srgbClr val="0B0F14"/>
                </a:solidFill>
                <a:latin typeface="Helvetica Neue"/>
                <a:ea typeface="Helvetica Neue"/>
                <a:cs typeface="Helvetica Neue"/>
              </a:rPr>
              <a:t>Best default for broad continuous potency prediction</a:t>
            </a:r>
          </a:p>
        </p:txBody>
      </p:sp>
      <p:sp>
        <p:nvSpPr>
          <p:cNvPr id="10" name="">
            <a:extLst xmlns:a="http://schemas.openxmlformats.org/drawingml/2006/main">
              <a:ext uri="{FF2B5EF4-FFF2-40B4-BE49-F238E27FC236}">
                <a16:creationId xmlns:a16="http://schemas.microsoft.com/office/drawing/2014/main" id="{F2410387-9B96-423E-BEB8-13242247C5A2}"/>
              </a:ext>
            </a:extLst>
          </p:cNvPr>
          <p:cNvSpPr>
            <a:spLocks xmlns:a="http://schemas.openxmlformats.org/drawingml/2006/main" noGrp="1"/>
          </p:cNvSpPr>
          <p:nvPr/>
        </p:nvSpPr>
        <p:spPr>
          <a:xfrm xmlns:a="http://schemas.openxmlformats.org/drawingml/2006/main">
            <a:off x="6076950" y="1276350"/>
            <a:ext cx="5657850" cy="4533900"/>
          </a:xfrm>
          <a:prstGeom xmlns:a="http://schemas.openxmlformats.org/drawingml/2006/main" prst="roundRect">
            <a:avLst>
              <a:gd name="adj" fmla="val 3361"/>
            </a:avLst>
          </a:prstGeom>
          <a:solidFill xmlns:a="http://schemas.openxmlformats.org/drawingml/2006/main">
            <a:srgbClr val="FFF2E8"/>
          </a:solidFill>
          <a:ln xmlns:a="http://schemas.openxmlformats.org/drawingml/2006/main" w="9525">
            <a:solidFill>
              <a:srgbClr val="FFF2E8"/>
            </a:solidFill>
            <a:prstDash val="solid"/>
          </a:ln>
        </p:spPr>
      </p:sp>
      <p:sp>
        <p:nvSpPr>
          <p:cNvPr id="11" name="">
            <a:extLst xmlns:a="http://schemas.openxmlformats.org/drawingml/2006/main">
              <a:ext uri="{FF2B5EF4-FFF2-40B4-BE49-F238E27FC236}">
                <a16:creationId xmlns:a16="http://schemas.microsoft.com/office/drawing/2014/main" id="{0FA5D453-621A-40FE-9BB0-A351E1F47E40}"/>
              </a:ext>
            </a:extLst>
          </p:cNvPr>
          <p:cNvSpPr>
            <a:spLocks xmlns:a="http://schemas.openxmlformats.org/drawingml/2006/main" noGrp="1"/>
          </p:cNvSpPr>
          <p:nvPr/>
        </p:nvSpPr>
        <p:spPr>
          <a:xfrm xmlns:a="http://schemas.openxmlformats.org/drawingml/2006/main">
            <a:off x="6381750" y="1600200"/>
            <a:ext cx="5048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1" i="0">
                <a:solidFill>
                  <a:srgbClr val="C96A18"/>
                </a:solidFill>
                <a:latin typeface="Helvetica Neue"/>
                <a:ea typeface="Helvetica Neue"/>
                <a:cs typeface="Helvetica Neue"/>
              </a:defRPr>
            </a:pPr>
            <a:r>
              <a:rPr sz="2250" b="1" i="0">
                <a:solidFill>
                  <a:srgbClr val="C96A18"/>
                </a:solidFill>
                <a:latin typeface="Helvetica Neue"/>
                <a:ea typeface="Helvetica Neue"/>
                <a:cs typeface="Helvetica Neue"/>
              </a:rPr>
              <a:t>Safety and Tail Model</a:t>
            </a:r>
          </a:p>
        </p:txBody>
      </p:sp>
      <p:sp>
        <p:nvSpPr>
          <p:cNvPr id="12" name="">
            <a:extLst xmlns:a="http://schemas.openxmlformats.org/drawingml/2006/main">
              <a:ext uri="{FF2B5EF4-FFF2-40B4-BE49-F238E27FC236}">
                <a16:creationId xmlns:a16="http://schemas.microsoft.com/office/drawing/2014/main" id="{FDCCF3CE-B974-4C17-B3B8-32AA0F6F45C5}"/>
              </a:ext>
            </a:extLst>
          </p:cNvPr>
          <p:cNvSpPr>
            <a:spLocks xmlns:a="http://schemas.openxmlformats.org/drawingml/2006/main" noGrp="1"/>
          </p:cNvSpPr>
          <p:nvPr/>
        </p:nvSpPr>
        <p:spPr>
          <a:xfrm xmlns:a="http://schemas.openxmlformats.org/drawingml/2006/main">
            <a:off x="6381750" y="2400300"/>
            <a:ext cx="2190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4650" b="1" i="0">
                <a:solidFill>
                  <a:srgbClr val="B84040"/>
                </a:solidFill>
                <a:latin typeface="Helvetica Neue"/>
                <a:ea typeface="Helvetica Neue"/>
                <a:cs typeface="Helvetica Neue"/>
              </a:defRPr>
            </a:pPr>
            <a:r>
              <a:rPr sz="4650" b="1" i="0">
                <a:solidFill>
                  <a:srgbClr val="B84040"/>
                </a:solidFill>
                <a:latin typeface="Helvetica Neue"/>
                <a:ea typeface="Helvetica Neue"/>
                <a:cs typeface="Helvetica Neue"/>
              </a:rPr>
              <a:t>+0.011</a:t>
            </a:r>
          </a:p>
        </p:txBody>
      </p:sp>
      <p:sp>
        <p:nvSpPr>
          <p:cNvPr id="13" name="">
            <a:extLst xmlns:a="http://schemas.openxmlformats.org/drawingml/2006/main">
              <a:ext uri="{FF2B5EF4-FFF2-40B4-BE49-F238E27FC236}">
                <a16:creationId xmlns:a16="http://schemas.microsoft.com/office/drawing/2014/main" id="{CF1EDE37-5EB6-45A7-AF80-EF5AEDB2588D}"/>
              </a:ext>
            </a:extLst>
          </p:cNvPr>
          <p:cNvSpPr>
            <a:spLocks xmlns:a="http://schemas.openxmlformats.org/drawingml/2006/main" noGrp="1"/>
          </p:cNvSpPr>
          <p:nvPr/>
        </p:nvSpPr>
        <p:spPr>
          <a:xfrm xmlns:a="http://schemas.openxmlformats.org/drawingml/2006/main">
            <a:off x="6381750" y="325755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i="0">
                <a:solidFill>
                  <a:srgbClr val="0B0F14"/>
                </a:solidFill>
                <a:latin typeface="Helvetica Neue"/>
                <a:ea typeface="Helvetica Neue"/>
                <a:cs typeface="Helvetica Neue"/>
              </a:defRPr>
            </a:pPr>
            <a:r>
              <a:rPr sz="1650" b="1" i="0">
                <a:solidFill>
                  <a:srgbClr val="0B0F14"/>
                </a:solidFill>
                <a:latin typeface="Helvetica Neue"/>
                <a:ea typeface="Helvetica Neue"/>
                <a:cs typeface="Helvetica Neue"/>
              </a:rPr>
              <a:t>Global MAE Cost</a:t>
            </a:r>
          </a:p>
        </p:txBody>
      </p:sp>
      <p:sp>
        <p:nvSpPr>
          <p:cNvPr id="14" name="">
            <a:extLst xmlns:a="http://schemas.openxmlformats.org/drawingml/2006/main">
              <a:ext uri="{FF2B5EF4-FFF2-40B4-BE49-F238E27FC236}">
                <a16:creationId xmlns:a16="http://schemas.microsoft.com/office/drawing/2014/main" id="{4C00767B-B386-41F5-A777-0CC1359354D3}"/>
              </a:ext>
            </a:extLst>
          </p:cNvPr>
          <p:cNvSpPr>
            <a:spLocks xmlns:a="http://schemas.openxmlformats.org/drawingml/2006/main" noGrp="1"/>
          </p:cNvSpPr>
          <p:nvPr/>
        </p:nvSpPr>
        <p:spPr>
          <a:xfrm xmlns:a="http://schemas.openxmlformats.org/drawingml/2006/main">
            <a:off x="8953500" y="2400300"/>
            <a:ext cx="2190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4650" b="1" i="0">
                <a:solidFill>
                  <a:srgbClr val="16805A"/>
                </a:solidFill>
                <a:latin typeface="Helvetica Neue"/>
                <a:ea typeface="Helvetica Neue"/>
                <a:cs typeface="Helvetica Neue"/>
              </a:defRPr>
            </a:pPr>
            <a:r>
              <a:rPr sz="4650" b="1" i="0">
                <a:solidFill>
                  <a:srgbClr val="16805A"/>
                </a:solidFill>
                <a:latin typeface="Helvetica Neue"/>
                <a:ea typeface="Helvetica Neue"/>
                <a:cs typeface="Helvetica Neue"/>
              </a:rPr>
              <a:t>1.354</a:t>
            </a:r>
          </a:p>
        </p:txBody>
      </p:sp>
      <p:sp>
        <p:nvSpPr>
          <p:cNvPr id="15" name="">
            <a:extLst xmlns:a="http://schemas.openxmlformats.org/drawingml/2006/main">
              <a:ext uri="{FF2B5EF4-FFF2-40B4-BE49-F238E27FC236}">
                <a16:creationId xmlns:a16="http://schemas.microsoft.com/office/drawing/2014/main" id="{FCD238ED-46A3-4362-BCD8-ED070902A867}"/>
              </a:ext>
            </a:extLst>
          </p:cNvPr>
          <p:cNvSpPr>
            <a:spLocks xmlns:a="http://schemas.openxmlformats.org/drawingml/2006/main" noGrp="1"/>
          </p:cNvSpPr>
          <p:nvPr/>
        </p:nvSpPr>
        <p:spPr>
          <a:xfrm xmlns:a="http://schemas.openxmlformats.org/drawingml/2006/main">
            <a:off x="8953500" y="325755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i="0">
                <a:solidFill>
                  <a:srgbClr val="0B0F14"/>
                </a:solidFill>
                <a:latin typeface="Helvetica Neue"/>
                <a:ea typeface="Helvetica Neue"/>
                <a:cs typeface="Helvetica Neue"/>
              </a:defRPr>
            </a:pPr>
            <a:r>
              <a:rPr sz="1650" b="1" i="0">
                <a:solidFill>
                  <a:srgbClr val="0B0F14"/>
                </a:solidFill>
                <a:latin typeface="Helvetica Neue"/>
                <a:ea typeface="Helvetica Neue"/>
                <a:cs typeface="Helvetica Neue"/>
              </a:rPr>
              <a:t>Tail MAE</a:t>
            </a:r>
          </a:p>
        </p:txBody>
      </p:sp>
      <p:sp>
        <p:nvSpPr>
          <p:cNvPr id="16" name="">
            <a:extLst xmlns:a="http://schemas.openxmlformats.org/drawingml/2006/main">
              <a:ext uri="{FF2B5EF4-FFF2-40B4-BE49-F238E27FC236}">
                <a16:creationId xmlns:a16="http://schemas.microsoft.com/office/drawing/2014/main" id="{F663154D-44CB-4E6E-830E-DF04B68FAADC}"/>
              </a:ext>
            </a:extLst>
          </p:cNvPr>
          <p:cNvSpPr>
            <a:spLocks xmlns:a="http://schemas.openxmlformats.org/drawingml/2006/main" noGrp="1"/>
          </p:cNvSpPr>
          <p:nvPr/>
        </p:nvSpPr>
        <p:spPr>
          <a:xfrm xmlns:a="http://schemas.openxmlformats.org/drawingml/2006/main">
            <a:off x="6381750" y="4324350"/>
            <a:ext cx="4762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i="0">
                <a:solidFill>
                  <a:srgbClr val="0B0F14"/>
                </a:solidFill>
                <a:latin typeface="Helvetica Neue"/>
                <a:ea typeface="Helvetica Neue"/>
                <a:cs typeface="Helvetica Neue"/>
              </a:defRPr>
            </a:pPr>
            <a:r>
              <a:rPr sz="1725" b="1" i="0">
                <a:solidFill>
                  <a:srgbClr val="0B0F14"/>
                </a:solidFill>
                <a:latin typeface="Helvetica Neue"/>
                <a:ea typeface="Helvetica Neue"/>
                <a:cs typeface="Helvetica Neue"/>
              </a:rPr>
              <a:t>Better balance at potency extremes; worse average error</a:t>
            </a:r>
          </a:p>
        </p:txBody>
      </p:sp>
    </p:spTree>
    <p:extLst>
      <p:ext uri="{BB962C8B-B14F-4D97-AF65-F5344CB8AC3E}">
        <p14:creationId xmlns:p14="http://schemas.microsoft.com/office/powerpoint/2010/main" val="48820597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92D5EC70-2C4A-4A14-9954-F99036726A17}"/>
              </a:ext>
            </a:extLst>
          </p:cNvPr>
          <p:cNvSpPr>
            <a:spLocks xmlns:a="http://schemas.openxmlformats.org/drawingml/2006/main" noGrp="1"/>
          </p:cNvSpPr>
          <p:nvPr/>
        </p:nvSpPr>
        <p:spPr>
          <a:xfrm xmlns:a="http://schemas.openxmlformats.org/drawingml/2006/main">
            <a:off x="438150" y="323850"/>
            <a:ext cx="113157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25" b="1" i="0">
                <a:solidFill>
                  <a:srgbClr val="0B0F14"/>
                </a:solidFill>
                <a:latin typeface="Helvetica Neue"/>
                <a:ea typeface="Helvetica Neue"/>
                <a:cs typeface="Helvetica Neue"/>
              </a:defRPr>
            </a:pPr>
            <a:r>
              <a:rPr sz="2925" b="1" i="0">
                <a:solidFill>
                  <a:srgbClr val="0B0F14"/>
                </a:solidFill>
                <a:latin typeface="Helvetica Neue"/>
                <a:ea typeface="Helvetica Neue"/>
                <a:cs typeface="Helvetica Neue"/>
              </a:rPr>
              <a:t>Recommended Next Experiments</a:t>
            </a:r>
          </a:p>
        </p:txBody>
      </p:sp>
      <p:cxnSp>
        <p:nvCxnSpPr>
          <p:cNvPr id="24" name=""/>
          <p:cNvCxnSpPr/>
          <p:nvPr/>
        </p:nvCxnSpPr>
        <p:spPr>
          <a:xfrm xmlns:a="http://schemas.openxmlformats.org/drawingml/2006/main">
            <a:off x="438150" y="1028700"/>
            <a:ext cx="11315700" cy="0"/>
          </a:xfrm>
          <a:prstGeom xmlns:a="http://schemas.openxmlformats.org/drawingml/2006/main" prst="straightConnector1">
            <a:avLst/>
          </a:prstGeom>
          <a:ln xmlns:a="http://schemas.openxmlformats.org/drawingml/2006/main" w="9525">
            <a:solidFill>
              <a:srgbClr val="D6DAE0"/>
            </a:solidFill>
            <a:prstDash val="solid"/>
          </a:ln>
        </p:spPr>
      </p:cxnSp>
      <p:sp>
        <p:nvSpPr>
          <p:cNvPr id="3" name="">
            <a:extLst xmlns:a="http://schemas.openxmlformats.org/drawingml/2006/main">
              <a:ext uri="{FF2B5EF4-FFF2-40B4-BE49-F238E27FC236}">
                <a16:creationId xmlns:a16="http://schemas.microsoft.com/office/drawing/2014/main" id="{AB830735-E770-461E-A53A-112C13EAE5B6}"/>
              </a:ext>
            </a:extLst>
          </p:cNvPr>
          <p:cNvSpPr>
            <a:spLocks xmlns:a="http://schemas.openxmlformats.org/drawingml/2006/main" noGrp="1"/>
          </p:cNvSpPr>
          <p:nvPr/>
        </p:nvSpPr>
        <p:spPr>
          <a:xfrm xmlns:a="http://schemas.openxmlformats.org/drawingml/2006/main">
            <a:off x="438150" y="1257300"/>
            <a:ext cx="11296650" cy="1047750"/>
          </a:xfrm>
          <a:prstGeom xmlns:a="http://schemas.openxmlformats.org/drawingml/2006/main" prst="roundRect">
            <a:avLst>
              <a:gd name="adj" fmla="val 10909"/>
            </a:avLst>
          </a:prstGeom>
          <a:solidFill xmlns:a="http://schemas.openxmlformats.org/drawingml/2006/main">
            <a:srgbClr val="EAF2FF"/>
          </a:solidFill>
          <a:ln xmlns:a="http://schemas.openxmlformats.org/drawingml/2006/main" w="9525">
            <a:solidFill>
              <a:srgbClr val="EAF2FF"/>
            </a:solidFill>
            <a:prstDash val="solid"/>
          </a:ln>
        </p:spPr>
      </p:sp>
      <p:sp>
        <p:nvSpPr>
          <p:cNvPr id="4" name="">
            <a:extLst xmlns:a="http://schemas.openxmlformats.org/drawingml/2006/main">
              <a:ext uri="{FF2B5EF4-FFF2-40B4-BE49-F238E27FC236}">
                <a16:creationId xmlns:a16="http://schemas.microsoft.com/office/drawing/2014/main" id="{4AE632CD-EAF8-458E-9594-C7BD8DC5A111}"/>
              </a:ext>
            </a:extLst>
          </p:cNvPr>
          <p:cNvSpPr>
            <a:spLocks xmlns:a="http://schemas.openxmlformats.org/drawingml/2006/main" noGrp="1"/>
          </p:cNvSpPr>
          <p:nvPr/>
        </p:nvSpPr>
        <p:spPr>
          <a:xfrm xmlns:a="http://schemas.openxmlformats.org/drawingml/2006/main">
            <a:off x="647700" y="1485900"/>
            <a:ext cx="533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000" b="1" i="0">
                <a:solidFill>
                  <a:srgbClr val="1E63D5"/>
                </a:solidFill>
                <a:latin typeface="Helvetica Neue"/>
                <a:ea typeface="Helvetica Neue"/>
                <a:cs typeface="Helvetica Neue"/>
              </a:defRPr>
            </a:pPr>
            <a:r>
              <a:rPr sz="3000" b="1" i="0">
                <a:solidFill>
                  <a:srgbClr val="1E63D5"/>
                </a:solidFill>
                <a:latin typeface="Helvetica Neue"/>
                <a:ea typeface="Helvetica Neue"/>
                <a:cs typeface="Helvetica Neue"/>
              </a:rPr>
              <a:t>1</a:t>
            </a:r>
          </a:p>
        </p:txBody>
      </p:sp>
      <p:sp>
        <p:nvSpPr>
          <p:cNvPr id="5" name="">
            <a:extLst xmlns:a="http://schemas.openxmlformats.org/drawingml/2006/main">
              <a:ext uri="{FF2B5EF4-FFF2-40B4-BE49-F238E27FC236}">
                <a16:creationId xmlns:a16="http://schemas.microsoft.com/office/drawing/2014/main" id="{470B86CF-A061-4E90-B1D0-858E9D0A0097}"/>
              </a:ext>
            </a:extLst>
          </p:cNvPr>
          <p:cNvSpPr>
            <a:spLocks xmlns:a="http://schemas.openxmlformats.org/drawingml/2006/main" noGrp="1"/>
          </p:cNvSpPr>
          <p:nvPr/>
        </p:nvSpPr>
        <p:spPr>
          <a:xfrm xmlns:a="http://schemas.openxmlformats.org/drawingml/2006/main">
            <a:off x="1390650" y="14287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i="0">
                <a:solidFill>
                  <a:srgbClr val="1E63D5"/>
                </a:solidFill>
                <a:latin typeface="Helvetica Neue"/>
                <a:ea typeface="Helvetica Neue"/>
                <a:cs typeface="Helvetica Neue"/>
              </a:defRPr>
            </a:pPr>
            <a:r>
              <a:rPr sz="1800" b="1" i="0">
                <a:solidFill>
                  <a:srgbClr val="1E63D5"/>
                </a:solidFill>
                <a:latin typeface="Helvetica Neue"/>
                <a:ea typeface="Helvetica Neue"/>
                <a:cs typeface="Helvetica Neue"/>
              </a:rPr>
              <a:t>External Functional Series</a:t>
            </a:r>
          </a:p>
        </p:txBody>
      </p:sp>
      <p:sp>
        <p:nvSpPr>
          <p:cNvPr id="6" name="">
            <a:extLst xmlns:a="http://schemas.openxmlformats.org/drawingml/2006/main">
              <a:ext uri="{FF2B5EF4-FFF2-40B4-BE49-F238E27FC236}">
                <a16:creationId xmlns:a16="http://schemas.microsoft.com/office/drawing/2014/main" id="{0B2CF40C-3BF7-403A-84E2-900731905590}"/>
              </a:ext>
            </a:extLst>
          </p:cNvPr>
          <p:cNvSpPr>
            <a:spLocks xmlns:a="http://schemas.openxmlformats.org/drawingml/2006/main" noGrp="1"/>
          </p:cNvSpPr>
          <p:nvPr/>
        </p:nvSpPr>
        <p:spPr>
          <a:xfrm xmlns:a="http://schemas.openxmlformats.org/drawingml/2006/main">
            <a:off x="1390650" y="1809750"/>
            <a:ext cx="409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593"/>
          </a:bodyPr>
          <a:lstStyle xmlns:a="http://schemas.openxmlformats.org/drawingml/2006/main"/>
          <a:p xmlns:a="http://schemas.openxmlformats.org/drawingml/2006/main">
            <a:pPr algn="l">
              <a:defRPr sz="1350" b="0" i="0">
                <a:solidFill>
                  <a:srgbClr val="0B0F14"/>
                </a:solidFill>
                <a:latin typeface="Helvetica Neue"/>
                <a:ea typeface="Helvetica Neue"/>
                <a:cs typeface="Helvetica Neue"/>
              </a:defRPr>
            </a:pPr>
            <a:r>
              <a:rPr sz="1350" b="0" i="0">
                <a:solidFill>
                  <a:srgbClr val="0B0F14"/>
                </a:solidFill>
                <a:latin typeface="Helvetica Neue"/>
                <a:ea typeface="Helvetica Neue"/>
                <a:cs typeface="Helvetica Neue"/>
              </a:rPr>
              <a:t>Freeze an explicit human-WT patch-clamp series and evaluate once.</a:t>
            </a:r>
          </a:p>
        </p:txBody>
      </p:sp>
      <p:sp>
        <p:nvSpPr>
          <p:cNvPr id="7" name="">
            <a:extLst xmlns:a="http://schemas.openxmlformats.org/drawingml/2006/main">
              <a:ext uri="{FF2B5EF4-FFF2-40B4-BE49-F238E27FC236}">
                <a16:creationId xmlns:a16="http://schemas.microsoft.com/office/drawing/2014/main" id="{046C0D38-16C7-45AD-B2E4-D2D7BD43007E}"/>
              </a:ext>
            </a:extLst>
          </p:cNvPr>
          <p:cNvSpPr>
            <a:spLocks xmlns:a="http://schemas.openxmlformats.org/drawingml/2006/main" noGrp="1"/>
          </p:cNvSpPr>
          <p:nvPr/>
        </p:nvSpPr>
        <p:spPr>
          <a:xfrm xmlns:a="http://schemas.openxmlformats.org/drawingml/2006/main">
            <a:off x="5905500" y="1485900"/>
            <a:ext cx="5467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1" i="0">
                <a:solidFill>
                  <a:srgbClr val="0B0F14"/>
                </a:solidFill>
                <a:latin typeface="Helvetica Neue"/>
                <a:ea typeface="Helvetica Neue"/>
                <a:cs typeface="Helvetica Neue"/>
              </a:defRPr>
            </a:pPr>
            <a:r>
              <a:rPr sz="1500" b="1" i="0">
                <a:solidFill>
                  <a:srgbClr val="0B0F14"/>
                </a:solidFill>
                <a:latin typeface="Helvetica Neue"/>
                <a:ea typeface="Helvetica Neue"/>
                <a:cs typeface="Helvetica Neue"/>
              </a:rPr>
              <a:t>Tests real-world transfer and ends the internal-metric debate.</a:t>
            </a:r>
          </a:p>
        </p:txBody>
      </p:sp>
      <p:sp>
        <p:nvSpPr>
          <p:cNvPr id="8" name="">
            <a:extLst xmlns:a="http://schemas.openxmlformats.org/drawingml/2006/main">
              <a:ext uri="{FF2B5EF4-FFF2-40B4-BE49-F238E27FC236}">
                <a16:creationId xmlns:a16="http://schemas.microsoft.com/office/drawing/2014/main" id="{0F40897E-75A1-4DCE-880C-B73C440B98E2}"/>
              </a:ext>
            </a:extLst>
          </p:cNvPr>
          <p:cNvSpPr>
            <a:spLocks xmlns:a="http://schemas.openxmlformats.org/drawingml/2006/main" noGrp="1"/>
          </p:cNvSpPr>
          <p:nvPr/>
        </p:nvSpPr>
        <p:spPr>
          <a:xfrm xmlns:a="http://schemas.openxmlformats.org/drawingml/2006/main">
            <a:off x="438150" y="2514600"/>
            <a:ext cx="11296650" cy="1047750"/>
          </a:xfrm>
          <a:prstGeom xmlns:a="http://schemas.openxmlformats.org/drawingml/2006/main" prst="roundRect">
            <a:avLst>
              <a:gd name="adj" fmla="val 10909"/>
            </a:avLst>
          </a:prstGeom>
          <a:solidFill xmlns:a="http://schemas.openxmlformats.org/drawingml/2006/main">
            <a:srgbClr val="E9F7F1"/>
          </a:solidFill>
          <a:ln xmlns:a="http://schemas.openxmlformats.org/drawingml/2006/main" w="9525">
            <a:solidFill>
              <a:srgbClr val="E9F7F1"/>
            </a:solidFill>
            <a:prstDash val="solid"/>
          </a:ln>
        </p:spPr>
      </p:sp>
      <p:sp>
        <p:nvSpPr>
          <p:cNvPr id="9" name="">
            <a:extLst xmlns:a="http://schemas.openxmlformats.org/drawingml/2006/main">
              <a:ext uri="{FF2B5EF4-FFF2-40B4-BE49-F238E27FC236}">
                <a16:creationId xmlns:a16="http://schemas.microsoft.com/office/drawing/2014/main" id="{0142A244-CA02-4768-954E-B990A0FCAD99}"/>
              </a:ext>
            </a:extLst>
          </p:cNvPr>
          <p:cNvSpPr>
            <a:spLocks xmlns:a="http://schemas.openxmlformats.org/drawingml/2006/main" noGrp="1"/>
          </p:cNvSpPr>
          <p:nvPr/>
        </p:nvSpPr>
        <p:spPr>
          <a:xfrm xmlns:a="http://schemas.openxmlformats.org/drawingml/2006/main">
            <a:off x="647700" y="2743200"/>
            <a:ext cx="533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000" b="1" i="0">
                <a:solidFill>
                  <a:srgbClr val="16805A"/>
                </a:solidFill>
                <a:latin typeface="Helvetica Neue"/>
                <a:ea typeface="Helvetica Neue"/>
                <a:cs typeface="Helvetica Neue"/>
              </a:defRPr>
            </a:pPr>
            <a:r>
              <a:rPr sz="3000" b="1" i="0">
                <a:solidFill>
                  <a:srgbClr val="16805A"/>
                </a:solidFill>
                <a:latin typeface="Helvetica Neue"/>
                <a:ea typeface="Helvetica Neue"/>
                <a:cs typeface="Helvetica Neue"/>
              </a:rPr>
              <a:t>2</a:t>
            </a:r>
          </a:p>
        </p:txBody>
      </p:sp>
      <p:sp>
        <p:nvSpPr>
          <p:cNvPr id="10" name="">
            <a:extLst xmlns:a="http://schemas.openxmlformats.org/drawingml/2006/main">
              <a:ext uri="{FF2B5EF4-FFF2-40B4-BE49-F238E27FC236}">
                <a16:creationId xmlns:a16="http://schemas.microsoft.com/office/drawing/2014/main" id="{52A9AC01-B6CD-450B-9803-681F180A1FEE}"/>
              </a:ext>
            </a:extLst>
          </p:cNvPr>
          <p:cNvSpPr>
            <a:spLocks xmlns:a="http://schemas.openxmlformats.org/drawingml/2006/main" noGrp="1"/>
          </p:cNvSpPr>
          <p:nvPr/>
        </p:nvSpPr>
        <p:spPr>
          <a:xfrm xmlns:a="http://schemas.openxmlformats.org/drawingml/2006/main">
            <a:off x="1390650" y="26860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i="0">
                <a:solidFill>
                  <a:srgbClr val="16805A"/>
                </a:solidFill>
                <a:latin typeface="Helvetica Neue"/>
                <a:ea typeface="Helvetica Neue"/>
                <a:cs typeface="Helvetica Neue"/>
              </a:defRPr>
            </a:pPr>
            <a:r>
              <a:rPr sz="1800" b="1" i="0">
                <a:solidFill>
                  <a:srgbClr val="16805A"/>
                </a:solidFill>
                <a:latin typeface="Helvetica Neue"/>
                <a:ea typeface="Helvetica Neue"/>
                <a:cs typeface="Helvetica Neue"/>
              </a:rPr>
              <a:t>Measurement Model</a:t>
            </a:r>
          </a:p>
        </p:txBody>
      </p:sp>
      <p:sp>
        <p:nvSpPr>
          <p:cNvPr id="11" name="">
            <a:extLst xmlns:a="http://schemas.openxmlformats.org/drawingml/2006/main">
              <a:ext uri="{FF2B5EF4-FFF2-40B4-BE49-F238E27FC236}">
                <a16:creationId xmlns:a16="http://schemas.microsoft.com/office/drawing/2014/main" id="{784FC071-1493-47C7-9F47-0C1F72FC31BE}"/>
              </a:ext>
            </a:extLst>
          </p:cNvPr>
          <p:cNvSpPr>
            <a:spLocks xmlns:a="http://schemas.openxmlformats.org/drawingml/2006/main" noGrp="1"/>
          </p:cNvSpPr>
          <p:nvPr/>
        </p:nvSpPr>
        <p:spPr>
          <a:xfrm xmlns:a="http://schemas.openxmlformats.org/drawingml/2006/main">
            <a:off x="1390650" y="3067050"/>
            <a:ext cx="409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593"/>
          </a:bodyPr>
          <a:lstStyle xmlns:a="http://schemas.openxmlformats.org/drawingml/2006/main"/>
          <a:p xmlns:a="http://schemas.openxmlformats.org/drawingml/2006/main">
            <a:pPr algn="l">
              <a:defRPr sz="1350" b="0" i="0">
                <a:solidFill>
                  <a:srgbClr val="0B0F14"/>
                </a:solidFill>
                <a:latin typeface="Helvetica Neue"/>
                <a:ea typeface="Helvetica Neue"/>
                <a:cs typeface="Helvetica Neue"/>
              </a:defRPr>
            </a:pPr>
            <a:r>
              <a:rPr sz="1350" b="0" i="0">
                <a:solidFill>
                  <a:srgbClr val="0B0F14"/>
                </a:solidFill>
                <a:latin typeface="Helvetica Neue"/>
                <a:ea typeface="Helvetica Neue"/>
                <a:cs typeface="Helvetica Neue"/>
              </a:rPr>
              <a:t>Adjudicate construct, modality, source, cell system, and protocol context.</a:t>
            </a:r>
          </a:p>
        </p:txBody>
      </p:sp>
      <p:sp>
        <p:nvSpPr>
          <p:cNvPr id="12" name="">
            <a:extLst xmlns:a="http://schemas.openxmlformats.org/drawingml/2006/main">
              <a:ext uri="{FF2B5EF4-FFF2-40B4-BE49-F238E27FC236}">
                <a16:creationId xmlns:a16="http://schemas.microsoft.com/office/drawing/2014/main" id="{BDC9C104-E93C-46A2-ACE4-4603C543BACE}"/>
              </a:ext>
            </a:extLst>
          </p:cNvPr>
          <p:cNvSpPr>
            <a:spLocks xmlns:a="http://schemas.openxmlformats.org/drawingml/2006/main" noGrp="1"/>
          </p:cNvSpPr>
          <p:nvPr/>
        </p:nvSpPr>
        <p:spPr>
          <a:xfrm xmlns:a="http://schemas.openxmlformats.org/drawingml/2006/main">
            <a:off x="5905500" y="2743200"/>
            <a:ext cx="5467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1" i="0">
                <a:solidFill>
                  <a:srgbClr val="0B0F14"/>
                </a:solidFill>
                <a:latin typeface="Helvetica Neue"/>
                <a:ea typeface="Helvetica Neue"/>
                <a:cs typeface="Helvetica Neue"/>
              </a:defRPr>
            </a:pPr>
            <a:r>
              <a:rPr sz="1500" b="1" i="0">
                <a:solidFill>
                  <a:srgbClr val="0B0F14"/>
                </a:solidFill>
                <a:latin typeface="Helvetica Neue"/>
                <a:ea typeface="Helvetica Neue"/>
                <a:cs typeface="Helvetica Neue"/>
              </a:rPr>
              <a:t>Separates chemistry error from assay and label error.</a:t>
            </a:r>
          </a:p>
        </p:txBody>
      </p:sp>
      <p:sp>
        <p:nvSpPr>
          <p:cNvPr id="13" name="">
            <a:extLst xmlns:a="http://schemas.openxmlformats.org/drawingml/2006/main">
              <a:ext uri="{FF2B5EF4-FFF2-40B4-BE49-F238E27FC236}">
                <a16:creationId xmlns:a16="http://schemas.microsoft.com/office/drawing/2014/main" id="{853AB621-ABCB-46E4-9D15-581325CB9810}"/>
              </a:ext>
            </a:extLst>
          </p:cNvPr>
          <p:cNvSpPr>
            <a:spLocks xmlns:a="http://schemas.openxmlformats.org/drawingml/2006/main" noGrp="1"/>
          </p:cNvSpPr>
          <p:nvPr/>
        </p:nvSpPr>
        <p:spPr>
          <a:xfrm xmlns:a="http://schemas.openxmlformats.org/drawingml/2006/main">
            <a:off x="438150" y="3771900"/>
            <a:ext cx="11296650" cy="1047750"/>
          </a:xfrm>
          <a:prstGeom xmlns:a="http://schemas.openxmlformats.org/drawingml/2006/main" prst="roundRect">
            <a:avLst>
              <a:gd name="adj" fmla="val 10909"/>
            </a:avLst>
          </a:prstGeom>
          <a:solidFill xmlns:a="http://schemas.openxmlformats.org/drawingml/2006/main">
            <a:srgbClr val="FFF2E8"/>
          </a:solidFill>
          <a:ln xmlns:a="http://schemas.openxmlformats.org/drawingml/2006/main" w="9525">
            <a:solidFill>
              <a:srgbClr val="FFF2E8"/>
            </a:solidFill>
            <a:prstDash val="solid"/>
          </a:ln>
        </p:spPr>
      </p:sp>
      <p:sp>
        <p:nvSpPr>
          <p:cNvPr id="14" name="">
            <a:extLst xmlns:a="http://schemas.openxmlformats.org/drawingml/2006/main">
              <a:ext uri="{FF2B5EF4-FFF2-40B4-BE49-F238E27FC236}">
                <a16:creationId xmlns:a16="http://schemas.microsoft.com/office/drawing/2014/main" id="{CDD91880-1FC9-4A22-A17C-00BE27510101}"/>
              </a:ext>
            </a:extLst>
          </p:cNvPr>
          <p:cNvSpPr>
            <a:spLocks xmlns:a="http://schemas.openxmlformats.org/drawingml/2006/main" noGrp="1"/>
          </p:cNvSpPr>
          <p:nvPr/>
        </p:nvSpPr>
        <p:spPr>
          <a:xfrm xmlns:a="http://schemas.openxmlformats.org/drawingml/2006/main">
            <a:off x="647700" y="4000500"/>
            <a:ext cx="533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000" b="1" i="0">
                <a:solidFill>
                  <a:srgbClr val="C96A18"/>
                </a:solidFill>
                <a:latin typeface="Helvetica Neue"/>
                <a:ea typeface="Helvetica Neue"/>
                <a:cs typeface="Helvetica Neue"/>
              </a:defRPr>
            </a:pPr>
            <a:r>
              <a:rPr sz="3000" b="1" i="0">
                <a:solidFill>
                  <a:srgbClr val="C96A18"/>
                </a:solidFill>
                <a:latin typeface="Helvetica Neue"/>
                <a:ea typeface="Helvetica Neue"/>
                <a:cs typeface="Helvetica Neue"/>
              </a:rPr>
              <a:t>3</a:t>
            </a:r>
          </a:p>
        </p:txBody>
      </p:sp>
      <p:sp>
        <p:nvSpPr>
          <p:cNvPr id="15" name="">
            <a:extLst xmlns:a="http://schemas.openxmlformats.org/drawingml/2006/main">
              <a:ext uri="{FF2B5EF4-FFF2-40B4-BE49-F238E27FC236}">
                <a16:creationId xmlns:a16="http://schemas.microsoft.com/office/drawing/2014/main" id="{D6ED7C92-8234-4F28-84BB-A1C4CADA9A77}"/>
              </a:ext>
            </a:extLst>
          </p:cNvPr>
          <p:cNvSpPr>
            <a:spLocks xmlns:a="http://schemas.openxmlformats.org/drawingml/2006/main" noGrp="1"/>
          </p:cNvSpPr>
          <p:nvPr/>
        </p:nvSpPr>
        <p:spPr>
          <a:xfrm xmlns:a="http://schemas.openxmlformats.org/drawingml/2006/main">
            <a:off x="1390650" y="3943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i="0">
                <a:solidFill>
                  <a:srgbClr val="C96A18"/>
                </a:solidFill>
                <a:latin typeface="Helvetica Neue"/>
                <a:ea typeface="Helvetica Neue"/>
                <a:cs typeface="Helvetica Neue"/>
              </a:defRPr>
            </a:pPr>
            <a:r>
              <a:rPr sz="1800" b="1" i="0">
                <a:solidFill>
                  <a:srgbClr val="C96A18"/>
                </a:solidFill>
                <a:latin typeface="Helvetica Neue"/>
                <a:ea typeface="Helvetica Neue"/>
                <a:cs typeface="Helvetica Neue"/>
              </a:rPr>
              <a:t>Activity-Cliff Specialist</a:t>
            </a:r>
          </a:p>
        </p:txBody>
      </p:sp>
      <p:sp>
        <p:nvSpPr>
          <p:cNvPr id="16" name="">
            <a:extLst xmlns:a="http://schemas.openxmlformats.org/drawingml/2006/main">
              <a:ext uri="{FF2B5EF4-FFF2-40B4-BE49-F238E27FC236}">
                <a16:creationId xmlns:a16="http://schemas.microsoft.com/office/drawing/2014/main" id="{71A6F288-E05E-4236-A3C8-518538F28471}"/>
              </a:ext>
            </a:extLst>
          </p:cNvPr>
          <p:cNvSpPr>
            <a:spLocks xmlns:a="http://schemas.openxmlformats.org/drawingml/2006/main" noGrp="1"/>
          </p:cNvSpPr>
          <p:nvPr/>
        </p:nvSpPr>
        <p:spPr>
          <a:xfrm xmlns:a="http://schemas.openxmlformats.org/drawingml/2006/main">
            <a:off x="1390650" y="4324350"/>
            <a:ext cx="409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593"/>
          </a:bodyPr>
          <a:lstStyle xmlns:a="http://schemas.openxmlformats.org/drawingml/2006/main"/>
          <a:p xmlns:a="http://schemas.openxmlformats.org/drawingml/2006/main">
            <a:pPr algn="l">
              <a:defRPr sz="1350" b="0" i="0">
                <a:solidFill>
                  <a:srgbClr val="0B0F14"/>
                </a:solidFill>
                <a:latin typeface="Helvetica Neue"/>
                <a:ea typeface="Helvetica Neue"/>
                <a:cs typeface="Helvetica Neue"/>
              </a:defRPr>
            </a:pPr>
            <a:r>
              <a:rPr sz="1350" b="0" i="0">
                <a:solidFill>
                  <a:srgbClr val="0B0F14"/>
                </a:solidFill>
                <a:latin typeface="Helvetica Neue"/>
                <a:ea typeface="Helvetica Neue"/>
                <a:cs typeface="Helvetica Neue"/>
              </a:rPr>
              <a:t>Acquire matched pairs in the highest-error and highest-value chemical series.</a:t>
            </a:r>
          </a:p>
        </p:txBody>
      </p:sp>
      <p:sp>
        <p:nvSpPr>
          <p:cNvPr id="17" name="">
            <a:extLst xmlns:a="http://schemas.openxmlformats.org/drawingml/2006/main">
              <a:ext uri="{FF2B5EF4-FFF2-40B4-BE49-F238E27FC236}">
                <a16:creationId xmlns:a16="http://schemas.microsoft.com/office/drawing/2014/main" id="{F04CFD2D-0A8A-4D2E-A4BB-1E1F218AAFF4}"/>
              </a:ext>
            </a:extLst>
          </p:cNvPr>
          <p:cNvSpPr>
            <a:spLocks xmlns:a="http://schemas.openxmlformats.org/drawingml/2006/main" noGrp="1"/>
          </p:cNvSpPr>
          <p:nvPr/>
        </p:nvSpPr>
        <p:spPr>
          <a:xfrm xmlns:a="http://schemas.openxmlformats.org/drawingml/2006/main">
            <a:off x="5905500" y="4000500"/>
            <a:ext cx="5467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1" i="0">
                <a:solidFill>
                  <a:srgbClr val="0B0F14"/>
                </a:solidFill>
                <a:latin typeface="Helvetica Neue"/>
                <a:ea typeface="Helvetica Neue"/>
                <a:cs typeface="Helvetica Neue"/>
              </a:defRPr>
            </a:pPr>
            <a:r>
              <a:rPr sz="1500" b="1" i="0">
                <a:solidFill>
                  <a:srgbClr val="0B0F14"/>
                </a:solidFill>
                <a:latin typeface="Helvetica Neue"/>
                <a:ea typeface="Helvetica Neue"/>
                <a:cs typeface="Helvetica Neue"/>
              </a:rPr>
              <a:t>Targets the 41.7% analog-supported domain where local models already help.</a:t>
            </a:r>
          </a:p>
        </p:txBody>
      </p:sp>
      <p:sp>
        <p:nvSpPr>
          <p:cNvPr id="18" name="">
            <a:extLst xmlns:a="http://schemas.openxmlformats.org/drawingml/2006/main">
              <a:ext uri="{FF2B5EF4-FFF2-40B4-BE49-F238E27FC236}">
                <a16:creationId xmlns:a16="http://schemas.microsoft.com/office/drawing/2014/main" id="{29497842-BE7A-4A36-A95F-A09E39B1CC24}"/>
              </a:ext>
            </a:extLst>
          </p:cNvPr>
          <p:cNvSpPr>
            <a:spLocks xmlns:a="http://schemas.openxmlformats.org/drawingml/2006/main" noGrp="1"/>
          </p:cNvSpPr>
          <p:nvPr/>
        </p:nvSpPr>
        <p:spPr>
          <a:xfrm xmlns:a="http://schemas.openxmlformats.org/drawingml/2006/main">
            <a:off x="438150" y="5029200"/>
            <a:ext cx="11296650" cy="1047750"/>
          </a:xfrm>
          <a:prstGeom xmlns:a="http://schemas.openxmlformats.org/drawingml/2006/main" prst="roundRect">
            <a:avLst>
              <a:gd name="adj" fmla="val 10909"/>
            </a:avLst>
          </a:prstGeom>
          <a:solidFill xmlns:a="http://schemas.openxmlformats.org/drawingml/2006/main">
            <a:srgbClr val="FCECEC"/>
          </a:solidFill>
          <a:ln xmlns:a="http://schemas.openxmlformats.org/drawingml/2006/main" w="9525">
            <a:solidFill>
              <a:srgbClr val="FCECEC"/>
            </a:solidFill>
            <a:prstDash val="solid"/>
          </a:ln>
        </p:spPr>
      </p:sp>
      <p:sp>
        <p:nvSpPr>
          <p:cNvPr id="19" name="">
            <a:extLst xmlns:a="http://schemas.openxmlformats.org/drawingml/2006/main">
              <a:ext uri="{FF2B5EF4-FFF2-40B4-BE49-F238E27FC236}">
                <a16:creationId xmlns:a16="http://schemas.microsoft.com/office/drawing/2014/main" id="{FF2AF54F-5E93-4D91-A92B-2C7FFC1C1A46}"/>
              </a:ext>
            </a:extLst>
          </p:cNvPr>
          <p:cNvSpPr>
            <a:spLocks xmlns:a="http://schemas.openxmlformats.org/drawingml/2006/main" noGrp="1"/>
          </p:cNvSpPr>
          <p:nvPr/>
        </p:nvSpPr>
        <p:spPr>
          <a:xfrm xmlns:a="http://schemas.openxmlformats.org/drawingml/2006/main">
            <a:off x="647700" y="5257800"/>
            <a:ext cx="533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000" b="1" i="0">
                <a:solidFill>
                  <a:srgbClr val="B84040"/>
                </a:solidFill>
                <a:latin typeface="Helvetica Neue"/>
                <a:ea typeface="Helvetica Neue"/>
                <a:cs typeface="Helvetica Neue"/>
              </a:defRPr>
            </a:pPr>
            <a:r>
              <a:rPr sz="3000" b="1" i="0">
                <a:solidFill>
                  <a:srgbClr val="B84040"/>
                </a:solidFill>
                <a:latin typeface="Helvetica Neue"/>
                <a:ea typeface="Helvetica Neue"/>
                <a:cs typeface="Helvetica Neue"/>
              </a:rPr>
              <a:t>4</a:t>
            </a:r>
          </a:p>
        </p:txBody>
      </p:sp>
      <p:sp>
        <p:nvSpPr>
          <p:cNvPr id="20" name="">
            <a:extLst xmlns:a="http://schemas.openxmlformats.org/drawingml/2006/main">
              <a:ext uri="{FF2B5EF4-FFF2-40B4-BE49-F238E27FC236}">
                <a16:creationId xmlns:a16="http://schemas.microsoft.com/office/drawing/2014/main" id="{35833520-C692-4B9D-9B16-F69AE39B67D9}"/>
              </a:ext>
            </a:extLst>
          </p:cNvPr>
          <p:cNvSpPr>
            <a:spLocks xmlns:a="http://schemas.openxmlformats.org/drawingml/2006/main" noGrp="1"/>
          </p:cNvSpPr>
          <p:nvPr/>
        </p:nvSpPr>
        <p:spPr>
          <a:xfrm xmlns:a="http://schemas.openxmlformats.org/drawingml/2006/main">
            <a:off x="1390650" y="52006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1627"/>
          </a:bodyPr>
          <a:lstStyle xmlns:a="http://schemas.openxmlformats.org/drawingml/2006/main"/>
          <a:p xmlns:a="http://schemas.openxmlformats.org/drawingml/2006/main">
            <a:pPr algn="l">
              <a:defRPr sz="1800" b="1" i="0">
                <a:solidFill>
                  <a:srgbClr val="B84040"/>
                </a:solidFill>
                <a:latin typeface="Helvetica Neue"/>
                <a:ea typeface="Helvetica Neue"/>
                <a:cs typeface="Helvetica Neue"/>
              </a:defRPr>
            </a:pPr>
            <a:r>
              <a:rPr sz="1800" b="1" i="0">
                <a:solidFill>
                  <a:srgbClr val="B84040"/>
                </a:solidFill>
                <a:latin typeface="Helvetica Neue"/>
                <a:ea typeface="Helvetica Neue"/>
                <a:cs typeface="Helvetica Neue"/>
              </a:rPr>
              <a:t>Receptor and Microstate Physics</a:t>
            </a:r>
          </a:p>
        </p:txBody>
      </p:sp>
      <p:sp>
        <p:nvSpPr>
          <p:cNvPr id="21" name="">
            <a:extLst xmlns:a="http://schemas.openxmlformats.org/drawingml/2006/main">
              <a:ext uri="{FF2B5EF4-FFF2-40B4-BE49-F238E27FC236}">
                <a16:creationId xmlns:a16="http://schemas.microsoft.com/office/drawing/2014/main" id="{54D55815-9E81-4E15-9E5B-403D7C8260CA}"/>
              </a:ext>
            </a:extLst>
          </p:cNvPr>
          <p:cNvSpPr>
            <a:spLocks xmlns:a="http://schemas.openxmlformats.org/drawingml/2006/main" noGrp="1"/>
          </p:cNvSpPr>
          <p:nvPr/>
        </p:nvSpPr>
        <p:spPr>
          <a:xfrm xmlns:a="http://schemas.openxmlformats.org/drawingml/2006/main">
            <a:off x="1390650" y="5581650"/>
            <a:ext cx="409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593"/>
          </a:bodyPr>
          <a:lstStyle xmlns:a="http://schemas.openxmlformats.org/drawingml/2006/main"/>
          <a:p xmlns:a="http://schemas.openxmlformats.org/drawingml/2006/main">
            <a:pPr algn="l">
              <a:defRPr sz="1350" b="0" i="0">
                <a:solidFill>
                  <a:srgbClr val="0B0F14"/>
                </a:solidFill>
                <a:latin typeface="Helvetica Neue"/>
                <a:ea typeface="Helvetica Neue"/>
                <a:cs typeface="Helvetica Neue"/>
              </a:defRPr>
            </a:pPr>
            <a:r>
              <a:rPr sz="1350" b="0" i="0">
                <a:solidFill>
                  <a:srgbClr val="0B0F14"/>
                </a:solidFill>
                <a:latin typeface="Helvetica Neue"/>
                <a:ea typeface="Helvetica Neue"/>
                <a:cs typeface="Helvetica Neue"/>
              </a:rPr>
              <a:t>Prepare receptor states, ligand microstates, membrane context, and pinned software.</a:t>
            </a:r>
          </a:p>
        </p:txBody>
      </p:sp>
      <p:sp>
        <p:nvSpPr>
          <p:cNvPr id="22" name="">
            <a:extLst xmlns:a="http://schemas.openxmlformats.org/drawingml/2006/main">
              <a:ext uri="{FF2B5EF4-FFF2-40B4-BE49-F238E27FC236}">
                <a16:creationId xmlns:a16="http://schemas.microsoft.com/office/drawing/2014/main" id="{4BB436C6-C46C-4C1B-9D17-47D831613687}"/>
              </a:ext>
            </a:extLst>
          </p:cNvPr>
          <p:cNvSpPr>
            <a:spLocks xmlns:a="http://schemas.openxmlformats.org/drawingml/2006/main" noGrp="1"/>
          </p:cNvSpPr>
          <p:nvPr/>
        </p:nvSpPr>
        <p:spPr>
          <a:xfrm xmlns:a="http://schemas.openxmlformats.org/drawingml/2006/main">
            <a:off x="5905500" y="5257800"/>
            <a:ext cx="5467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1" i="0">
                <a:solidFill>
                  <a:srgbClr val="0B0F14"/>
                </a:solidFill>
                <a:latin typeface="Helvetica Neue"/>
                <a:ea typeface="Helvetica Neue"/>
                <a:cs typeface="Helvetica Neue"/>
              </a:defRPr>
            </a:pPr>
            <a:r>
              <a:rPr sz="1500" b="1" i="0">
                <a:solidFill>
                  <a:srgbClr val="0B0F14"/>
                </a:solidFill>
                <a:latin typeface="Helvetica Neue"/>
                <a:ea typeface="Helvetica Neue"/>
                <a:cs typeface="Helvetica Neue"/>
              </a:rPr>
              <a:t>Tests physics that the ligand-only conformer campaign could not represent.</a:t>
            </a:r>
          </a:p>
        </p:txBody>
      </p:sp>
    </p:spTree>
    <p:extLst>
      <p:ext uri="{BB962C8B-B14F-4D97-AF65-F5344CB8AC3E}">
        <p14:creationId xmlns:p14="http://schemas.microsoft.com/office/powerpoint/2010/main" val="21035702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2026-08-18T01:56:59.5460000Z</dcterms:created>
  <dcterms:modified xsi:type="dcterms:W3CDTF">2026-08-18T01:56:59.5460000Z</dcterms:modified>
</coreProperties>
</file>