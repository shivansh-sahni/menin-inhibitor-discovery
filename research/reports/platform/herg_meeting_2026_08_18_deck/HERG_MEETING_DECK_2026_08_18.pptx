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c5196d7db54865" /><Relationship Type="http://schemas.openxmlformats.org/officeDocument/2006/relationships/extended-properties" Target="/docProps/app.xml" Id="R40ae8d5ca07e43bd" /><Relationship Type="http://schemas.openxmlformats.org/officeDocument/2006/relationships/officeDocument" Target="/ppt/presentation.xml" Id="R4ac790fc25634619" /></Relationships>
</file>

<file path=ppt/presentation.xml><?xml version="1.0" encoding="utf-8"?>
<p:presentation xmlns:p="http://schemas.openxmlformats.org/presentationml/2006/main">
  <p:sldMasterIdLst>
    <p:sldMasterId xmlns:r="http://schemas.openxmlformats.org/officeDocument/2006/relationships" id="2147483648" r:id="R5566f625f7e04391"/>
  </p:sldMasterIdLst>
  <p:notesMasterIdLst>
    <p:notesMasterId xmlns:r="http://schemas.openxmlformats.org/officeDocument/2006/relationships" r:id="R52d4eb138eef4913"/>
  </p:notesMasterIdLst>
  <p:sldIdLst>
    <p:sldId xmlns:r="http://schemas.openxmlformats.org/officeDocument/2006/relationships" id="256" r:id="Ra62eb2b8c0ae4b1b"/>
    <p:sldId xmlns:r="http://schemas.openxmlformats.org/officeDocument/2006/relationships" id="257" r:id="Re85f6253e24f46c0"/>
    <p:sldId xmlns:r="http://schemas.openxmlformats.org/officeDocument/2006/relationships" id="258" r:id="Rc2be6871c896421d"/>
    <p:sldId xmlns:r="http://schemas.openxmlformats.org/officeDocument/2006/relationships" id="259" r:id="Ra5343681063a4ea0"/>
    <p:sldId xmlns:r="http://schemas.openxmlformats.org/officeDocument/2006/relationships" id="260" r:id="R494e863369d746a2"/>
    <p:sldId xmlns:r="http://schemas.openxmlformats.org/officeDocument/2006/relationships" id="261" r:id="R1135f59220b240e2"/>
    <p:sldId xmlns:r="http://schemas.openxmlformats.org/officeDocument/2006/relationships" id="262" r:id="Re9ec34bfc57b4979"/>
    <p:sldId xmlns:r="http://schemas.openxmlformats.org/officeDocument/2006/relationships" id="263" r:id="R23d5696b2ebc45a0"/>
    <p:sldId xmlns:r="http://schemas.openxmlformats.org/officeDocument/2006/relationships" id="264" r:id="R01c42c5e56a1481b"/>
    <p:sldId xmlns:r="http://schemas.openxmlformats.org/officeDocument/2006/relationships" id="265" r:id="Ra1d4e2cd4c6f40ea"/>
    <p:sldId xmlns:r="http://schemas.openxmlformats.org/officeDocument/2006/relationships" id="266" r:id="Rb96aacb6e0ae42de"/>
    <p:sldId xmlns:r="http://schemas.openxmlformats.org/officeDocument/2006/relationships" id="267" r:id="Ra21a428491154d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aff50c28e94aea" /><Relationship Type="http://schemas.openxmlformats.org/officeDocument/2006/relationships/slideMaster" Target="/ppt/slideMasters/slideMaster1.xml" Id="R5566f625f7e04391" /><Relationship Type="http://schemas.openxmlformats.org/officeDocument/2006/relationships/notesMaster" Target="/ppt/notesMasters/notesMaster1.xml" Id="R52d4eb138eef4913" /><Relationship Type="http://schemas.openxmlformats.org/officeDocument/2006/relationships/presProps" Target="/ppt/presProps.xml" Id="R90a0cd5e8b984fcc" /><Relationship Type="http://schemas.openxmlformats.org/officeDocument/2006/relationships/tableStyles" Target="/ppt/tableStyles.xml" Id="Reed154ff2be0497e" /><Relationship Type="http://schemas.openxmlformats.org/officeDocument/2006/relationships/slide" Target="/ppt/slides/slide1.xml" Id="Ra62eb2b8c0ae4b1b" /><Relationship Type="http://schemas.openxmlformats.org/officeDocument/2006/relationships/slide" Target="/ppt/slides/slide2.xml" Id="Re85f6253e24f46c0" /><Relationship Type="http://schemas.openxmlformats.org/officeDocument/2006/relationships/slide" Target="/ppt/slides/slide3.xml" Id="Rc2be6871c896421d" /><Relationship Type="http://schemas.openxmlformats.org/officeDocument/2006/relationships/slide" Target="/ppt/slides/slide4.xml" Id="Ra5343681063a4ea0" /><Relationship Type="http://schemas.openxmlformats.org/officeDocument/2006/relationships/slide" Target="/ppt/slides/slide5.xml" Id="R494e863369d746a2" /><Relationship Type="http://schemas.openxmlformats.org/officeDocument/2006/relationships/slide" Target="/ppt/slides/slide6.xml" Id="R1135f59220b240e2" /><Relationship Type="http://schemas.openxmlformats.org/officeDocument/2006/relationships/slide" Target="/ppt/slides/slide7.xml" Id="Re9ec34bfc57b4979" /><Relationship Type="http://schemas.openxmlformats.org/officeDocument/2006/relationships/slide" Target="/ppt/slides/slide8.xml" Id="R23d5696b2ebc45a0" /><Relationship Type="http://schemas.openxmlformats.org/officeDocument/2006/relationships/slide" Target="/ppt/slides/slide9.xml" Id="R01c42c5e56a1481b" /><Relationship Type="http://schemas.openxmlformats.org/officeDocument/2006/relationships/slide" Target="/ppt/slides/slide10.xml" Id="Ra1d4e2cd4c6f40ea" /><Relationship Type="http://schemas.openxmlformats.org/officeDocument/2006/relationships/slide" Target="/ppt/slides/slide11.xml" Id="Rb96aacb6e0ae42de" /><Relationship Type="http://schemas.openxmlformats.org/officeDocument/2006/relationships/slide" Target="/ppt/slides/slide12.xml" Id="Ra21a428491154d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8e58f7a5e541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e26a5ea5304ab7" /><Relationship Type="http://schemas.openxmlformats.org/officeDocument/2006/relationships/notesMaster" Target="/ppt/notesMasters/notesMaster1.xml" Id="Rd6a8a42cbc5941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b264b6dffe4e64" /><Relationship Type="http://schemas.openxmlformats.org/officeDocument/2006/relationships/notesMaster" Target="/ppt/notesMasters/notesMaster1.xml" Id="Rb3868acf03e643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736ded5cb94141" /><Relationship Type="http://schemas.openxmlformats.org/officeDocument/2006/relationships/notesMaster" Target="/ppt/notesMasters/notesMaster1.xml" Id="Rd22e0b826bea4d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5bb06cbb3541b6" /><Relationship Type="http://schemas.openxmlformats.org/officeDocument/2006/relationships/notesMaster" Target="/ppt/notesMasters/notesMaster1.xml" Id="R960b7a14e88543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f9bfe811f2476f" /><Relationship Type="http://schemas.openxmlformats.org/officeDocument/2006/relationships/notesMaster" Target="/ppt/notesMasters/notesMaster1.xml" Id="R37fcf00a337545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554e44b3a74259" /><Relationship Type="http://schemas.openxmlformats.org/officeDocument/2006/relationships/notesMaster" Target="/ppt/notesMasters/notesMaster1.xml" Id="Rc8c2b426a26341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a98b8784954946" /><Relationship Type="http://schemas.openxmlformats.org/officeDocument/2006/relationships/notesMaster" Target="/ppt/notesMasters/notesMaster1.xml" Id="R4cbdf3cf98404f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4ec8b3ffd546c5" /><Relationship Type="http://schemas.openxmlformats.org/officeDocument/2006/relationships/notesMaster" Target="/ppt/notesMasters/notesMaster1.xml" Id="R3260d8ad44bb46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5fd3ea10a04a2d" /><Relationship Type="http://schemas.openxmlformats.org/officeDocument/2006/relationships/notesMaster" Target="/ppt/notesMasters/notesMaster1.xml" Id="R1c5d721dc42145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cc7651a3fe43b6" /><Relationship Type="http://schemas.openxmlformats.org/officeDocument/2006/relationships/notesMaster" Target="/ppt/notesMasters/notesMaster1.xml" Id="R24a9283bf7ce4f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9edead8750438a" /><Relationship Type="http://schemas.openxmlformats.org/officeDocument/2006/relationships/notesMaster" Target="/ppt/notesMasters/notesMaster1.xml" Id="R6e29db3ad06c43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62c6e2c5b04811" /><Relationship Type="http://schemas.openxmlformats.org/officeDocument/2006/relationships/notesMaster" Target="/ppt/notesMasters/notesMaster1.xml" Id="Re8778af0e4e046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contribution, not just the metric: we now have a broad, traceable hERG potency platform evaluated under a deliberately difficult scaffold-held-out design. The meeting goal is to agree on the next evidence-generating experiments.</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/Users/shivanshsahni/Downloads/Personal/Wang/Menin/research/reports/platform/herg_meeting_2026_08_18/figures/06_graphical_summary.png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improvement is small in absolute pIC50 units, but it is repeatable across every outer fold and the scaffold-cluster confidence interval excludes zero. Do not call this external superiority. Also distinguish the cross-fitted stack from the single deployable XGBoost model.</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/Users/shivanshsahni/Downloads/Personal/Wang/Menin/research/reports/platform/herg_meeting_2026_08_18/RESULT_TRACEABILITY.csv</a:t>
            </a:r>
          </a:p>
          <a:p xmlns:a="http://schemas.openxmlformats.org/drawingml/2006/main">
            <a:r>
              <a:t>- /Users/shivanshsahni/Downloads/Personal/Wang/Menin/research/reports/platform/herg_meeting_2026_08_18/figures/01_model_progress.png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why the MAE is not directly comparable to random-split or duplicate-rich benchmarks. The key governance statement is that all adaptive choices were confined to training folds and the repository validation/test outcomes remained sealed.</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/Users/shivanshsahni/Downloads/Personal/Wang/Menin/research/reports/platform/herg_meeting_2026_08_18/TECHNICAL_QA.md</a:t>
            </a:r>
          </a:p>
          <a:p xmlns:a="http://schemas.openxmlformats.org/drawingml/2006/main">
            <a:r>
              <a:t>- /Users/shivanshsahni/Downloads/Personal/Wang/Menin/research/reports/platform/herg_meeting_2026_08_18/MEETING_BRIEF.md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scientifically useful result is both positive and negative. RDKit2D and Morgan carry reproducible nonredundant signal. The expensive generic conformer features are mostly redundant or noisy after those representations are present. This does not rule out receptor-aware, membrane-aware, or higher-quality microstate physics; those experiments were not performed.</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/Users/shivanshsahni/Downloads/Personal/Wang/Menin/research/reports/platform/herg_meeting_2026_08_18/figures/02_feature_family_effects.png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the distinction between calibrated interval coverage and useful ranking. The interval is calibrated globally, but width alone did not sharply rank errors. The label-blind domain flag—based on novelty and support—is what separates a much harder prediction population.</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/Users/shivanshsahni/Downloads/Personal/Wang/Menin/research/reports/platform/herg_meeting_2026_08_18/figures/03_risk_coverage.png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failure analysis changes the recommended research plan. More generic feature breadth is unlikely to fix measurement disagreement, protocol heterogeneity, or activity cliffs. The &gt;=700 Da result is a warning, not a universal failure claim, because the subgroup is small. The 500–700 Da region remains competitive.</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/Users/shivanshsahni/Downloads/Personal/Wang/Menin/research/reports/platform/herg_meeting_2026_08_18/TECHNICAL_QA.md</a:t>
            </a:r>
          </a:p>
          <a:p xmlns:a="http://schemas.openxmlformats.org/drawingml/2006/main">
            <a:r>
              <a:t>- /Users/shivanshsahni/Downloads/Personal/Wang/Menin/research/reports/platform/herg_meeting_2026_08_18/figures/04_failure_modes.png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useful practical insight: local analog context produces meaningful level-prediction improvement on its supported subset. It does not generalize to unsupported structures and it does not yet provide reliable mechanistic direction across activity cliffs.</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/Users/shivanshsahni/Downloads/Personal/Wang/Menin/research/reports/platform/herg_meeting_2026_08_18/figures/05_mmp_analog_assistance.png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safety-oriented objective is a successful sensitivity experiment, not the universally superior model. It materially reduces tail error and potency-bin imbalance, but the cost to average performance is statistically supported. Presenting both modes is more honest than hiding the tradeoff.</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/Users/shivanshsahni/Downloads/Personal/Wang/Menin/research/reports/platform/herg_meeting_2026_08_18/TECHNICAL_QA.md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why another paper reports a much larger percentage, first identify its endpoint, threshold, split, and dataset. Pred-hERG 5.0 is the closest public regression comparator, but its curation and split differ. HERGAI and HergSPred are primarily classification tools. A fair superiority claim requires replaying all methods on the same frozen structures and endpoints.</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/Users/shivanshsahni/Downloads/Personal/Wang/Menin/research/reports/platform/herg_meeting_2026_08_18/LITERATURE_COMPARABILITY.md</a:t>
            </a:r>
          </a:p>
          <a:p xmlns:a="http://schemas.openxmlformats.org/drawingml/2006/main">
            <a:r>
              <a:t>- https://pmc.ncbi.nlm.nih.gov/articles/PMC11187631/</a:t>
            </a:r>
          </a:p>
          <a:p xmlns:a="http://schemas.openxmlformats.org/drawingml/2006/main">
            <a:r>
              <a:t>- https://pmc.ncbi.nlm.nih.gov/articles/PMC12291323/</a:t>
            </a:r>
          </a:p>
          <a:p xmlns:a="http://schemas.openxmlformats.org/drawingml/2006/main">
            <a:r>
              <a:t>- https://pubs.acs.org/doi/10.1021/acs.jcim.2c00256</a:t>
            </a:r>
          </a:p>
          <a:p xmlns:a="http://schemas.openxmlformats.org/drawingml/2006/main">
            <a:r>
              <a:t>- https://doi.org/10.1016/j.compbiomed.2024.109416</a:t>
            </a:r>
          </a:p>
          <a:p xmlns:a="http://schemas.openxmlformats.org/drawingml/2006/main">
            <a:r>
              <a:t>- https://pmc.ncbi.nlm.nih.gov/articles/PMC12756696/</a:t>
            </a:r>
          </a:p>
          <a:p xmlns:a="http://schemas.openxmlformats.org/drawingml/2006/main">
            <a:r>
              <a:t>- https://pmc.ncbi.nlm.nih.gov/articles/PMC11245006/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decision point. My recommended priority is the explicit human-WT functional external series plus assay-context adjudication. Those measurements address the strongest current uncertainty. Receptor-aware physics becomes valuable only after the receptor, ligand-state, membrane, and environment contracts are actually prepared.</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/Users/shivanshsahni/Downloads/Personal/Wang/Menin/research/reports/platform/herg_meeting_2026_08_18/TECHNICAL_QA.md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only when asked for classifier-style numbers. Sensitivity and specificity change substantially with the threshold. Never quote one percentage without naming the threshold and task.</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/Users/shivanshsahni/Downloads/Personal/Wang/Menin/research/reports/platform/herg_meeting_2026_08_18/RESULT_TRACEABILITY.csv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being precise. The internal result, feature conclusions, uncertainty calibration, and domain boundaries are defensible. External superiority, causal biology, explicit-WT scope, clinical QT risk, and universal heavy-molecule coverage are not yet established. The next meeting outcome should be an agreed external evidence plan.</a:t>
            </a:r>
          </a:p>
          <a:p xmlns:a="http://schemas.openxmlformats.org/drawingml/2006/main">
            <a:r>
              <a:t/>
            </a:r>
          </a:p>
          <a:p xmlns:a="http://schemas.openxmlformats.org/drawingml/2006/main">
            <a:r>
              <a:t>[Sources]</a:t>
            </a:r>
          </a:p>
          <a:p xmlns:a="http://schemas.openxmlformats.org/drawingml/2006/main">
            <a:r>
              <a:t>- /Users/shivanshsahni/Downloads/Personal/Wang/Menin/research/reports/platform/herg_meeting_2026_08_18/MEETING_BRIEF.md</a:t>
            </a:r>
          </a:p>
          <a:p xmlns:a="http://schemas.openxmlformats.org/drawingml/2006/main">
            <a:r>
              <a:t>- /Users/shivanshsahni/Downloads/Personal/Wang/Menin/research/reports/platform/herg_meeting_2026_08_18/TECHNICAL_QA.md</a:t>
            </a:r>
          </a:p>
          <a:p xmlns:a="http://schemas.openxmlformats.org/drawingml/2006/main">
            <a:r>
              <a:t>- /Users/shivanshsahni/Downloads/Personal/Wang/Menin/research/reports/platform/herg_meeting_2026_08_18/RESULT_TRACEABILITY.csv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857657e6f549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0b2bb66bd545e3" /><Relationship Type="http://schemas.openxmlformats.org/officeDocument/2006/relationships/slideLayout" Target="/ppt/slideLayouts/slideLayout1.xml" Id="Rdb85c4890f0e40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85c4890f0e40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8d33d9f12a84c04" /><Relationship Type="http://schemas.openxmlformats.org/officeDocument/2006/relationships/image" Target="/ppt/media/image.png" Id="Raeb246e19d6b4a8d" /><Relationship Type="http://schemas.openxmlformats.org/officeDocument/2006/relationships/notesSlide" Target="/ppt/notesSlides/notesSlide1.xml" Id="R977252eb2da24b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8626b9c1e74601" /><Relationship Type="http://schemas.openxmlformats.org/officeDocument/2006/relationships/image" Target="/ppt/media/image2.png" Id="Rf97189a5d8a04b70" /><Relationship Type="http://schemas.openxmlformats.org/officeDocument/2006/relationships/notesSlide" Target="/ppt/notesSlides/notesSlide2.xml" Id="Rffa4ba361c754c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cc37ed06d342f2" /><Relationship Type="http://schemas.openxmlformats.org/officeDocument/2006/relationships/notesSlide" Target="/ppt/notesSlides/notesSlide3.xml" Id="R7037425e86244c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2ae69c5c234abf" /><Relationship Type="http://schemas.openxmlformats.org/officeDocument/2006/relationships/image" Target="/ppt/media/image3.png" Id="R0dfee240df914a5f" /><Relationship Type="http://schemas.openxmlformats.org/officeDocument/2006/relationships/notesSlide" Target="/ppt/notesSlides/notesSlide4.xml" Id="R25cb745fecd940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0e12a8827a409a" /><Relationship Type="http://schemas.openxmlformats.org/officeDocument/2006/relationships/image" Target="/ppt/media/image4.png" Id="R3c4e7b71c9904d23" /><Relationship Type="http://schemas.openxmlformats.org/officeDocument/2006/relationships/notesSlide" Target="/ppt/notesSlides/notesSlide5.xml" Id="Rebc94f7bde8a4d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d7658a940f4acb" /><Relationship Type="http://schemas.openxmlformats.org/officeDocument/2006/relationships/image" Target="/ppt/media/image5.png" Id="Rf894b01fcd2c4613" /><Relationship Type="http://schemas.openxmlformats.org/officeDocument/2006/relationships/notesSlide" Target="/ppt/notesSlides/notesSlide6.xml" Id="R70c857f0298942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bdefb6d1c6146f1" /><Relationship Type="http://schemas.openxmlformats.org/officeDocument/2006/relationships/image" Target="/ppt/media/image6.png" Id="R3352bc02c72e4efe" /><Relationship Type="http://schemas.openxmlformats.org/officeDocument/2006/relationships/notesSlide" Target="/ppt/notesSlides/notesSlide7.xml" Id="R464fa464b2b742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fabe994cdc4135" /><Relationship Type="http://schemas.openxmlformats.org/officeDocument/2006/relationships/notesSlide" Target="/ppt/notesSlides/notesSlide8.xml" Id="Rb0733bb10b034a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e9cde33d7744c65" /><Relationship Type="http://schemas.openxmlformats.org/officeDocument/2006/relationships/notesSlide" Target="/ppt/notesSlides/notesSlide9.xml" Id="R302f6e32ecc744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dff3cf55be04583" /><Relationship Type="http://schemas.openxmlformats.org/officeDocument/2006/relationships/notesSlide" Target="/ppt/notesSlides/notesSlide10.xml" Id="R72f705fb6c6648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bbbf2bd998747a3" /><Relationship Type="http://schemas.openxmlformats.org/officeDocument/2006/relationships/notesSlide" Target="/ppt/notesSlides/notesSlide11.xml" Id="R2883c86a66234e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2454c31599c4f7c" /><Relationship Type="http://schemas.openxmlformats.org/officeDocument/2006/relationships/notesSlide" Target="/ppt/notesSlides/notesSlide12.xml" Id="R0b2db894001e49c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0129681-9B95-433A-A544-0F28D4974DA3}"/>
              </a:ext>
            </a:extLst>
          </p:cNvPr>
          <p:cNvSpPr>
            <a:spLocks xmlns:a="http://schemas.openxmlformats.org/drawingml/2006/main" noGrp="1"/>
          </p:cNvSpPr>
          <p:nvPr/>
        </p:nvSpPr>
        <p:spPr>
          <a:xfrm xmlns:a="http://schemas.openxmlformats.org/drawingml/2006/main">
            <a:off x="40005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E63D5"/>
                </a:solidFill>
                <a:latin typeface="Helvetica Neue"/>
                <a:ea typeface="Helvetica Neue"/>
                <a:cs typeface="Helvetica Neue"/>
              </a:defRPr>
            </a:pPr>
            <a:r>
              <a:rPr sz="975" b="1" i="0">
                <a:solidFill>
                  <a:srgbClr val="1E63D5"/>
                </a:solidFill>
                <a:latin typeface="Helvetica Neue"/>
                <a:ea typeface="Helvetica Neue"/>
                <a:cs typeface="Helvetica Neue"/>
              </a:rPr>
              <a:t>PLATFORM PROGRESS REVIEW</a:t>
            </a:r>
          </a:p>
        </p:txBody>
      </p:sp>
      <p:sp>
        <p:nvSpPr>
          <p:cNvPr id="2" name="">
            <a:extLst xmlns:a="http://schemas.openxmlformats.org/drawingml/2006/main">
              <a:ext uri="{FF2B5EF4-FFF2-40B4-BE49-F238E27FC236}">
                <a16:creationId xmlns:a16="http://schemas.microsoft.com/office/drawing/2014/main" id="{65D2805D-6643-4BBA-A907-AE4DC7DDCB72}"/>
              </a:ext>
            </a:extLst>
          </p:cNvPr>
          <p:cNvSpPr>
            <a:spLocks xmlns:a="http://schemas.openxmlformats.org/drawingml/2006/main" noGrp="1"/>
          </p:cNvSpPr>
          <p:nvPr/>
        </p:nvSpPr>
        <p:spPr>
          <a:xfrm xmlns:a="http://schemas.openxmlformats.org/drawingml/2006/main">
            <a:off x="400050" y="1181100"/>
            <a:ext cx="4953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4350" b="1" i="0">
                <a:solidFill>
                  <a:srgbClr val="0B0F14"/>
                </a:solidFill>
                <a:latin typeface="Helvetica Neue"/>
                <a:ea typeface="Helvetica Neue"/>
                <a:cs typeface="Helvetica Neue"/>
              </a:defRPr>
            </a:pPr>
            <a:r>
              <a:rPr sz="4350" b="1" i="0">
                <a:solidFill>
                  <a:srgbClr val="0B0F14"/>
                </a:solidFill>
                <a:latin typeface="Helvetica Neue"/>
                <a:ea typeface="Helvetica Neue"/>
                <a:cs typeface="Helvetica Neue"/>
              </a:rPr>
              <a:t>hERG Prediction</a:t>
            </a:r>
          </a:p>
          <a:p xmlns:a="http://schemas.openxmlformats.org/drawingml/2006/main">
            <a:pPr algn="l">
              <a:defRPr sz="4350" b="1" i="0">
                <a:solidFill>
                  <a:srgbClr val="0B0F14"/>
                </a:solidFill>
                <a:latin typeface="Helvetica Neue"/>
                <a:ea typeface="Helvetica Neue"/>
                <a:cs typeface="Helvetica Neue"/>
              </a:defRPr>
            </a:pPr>
            <a:r>
              <a:rPr sz="4350" b="1" i="0">
                <a:solidFill>
                  <a:srgbClr val="0B0F14"/>
                </a:solidFill>
                <a:latin typeface="Helvetica Neue"/>
                <a:ea typeface="Helvetica Neue"/>
                <a:cs typeface="Helvetica Neue"/>
              </a:rPr>
              <a:t>Platform</a:t>
            </a:r>
          </a:p>
        </p:txBody>
      </p:sp>
      <p:sp>
        <p:nvSpPr>
          <p:cNvPr id="3" name="">
            <a:extLst xmlns:a="http://schemas.openxmlformats.org/drawingml/2006/main">
              <a:ext uri="{FF2B5EF4-FFF2-40B4-BE49-F238E27FC236}">
                <a16:creationId xmlns:a16="http://schemas.microsoft.com/office/drawing/2014/main" id="{ABDCE788-BBCE-4404-BE47-BF021CF9040E}"/>
              </a:ext>
            </a:extLst>
          </p:cNvPr>
          <p:cNvSpPr>
            <a:spLocks xmlns:a="http://schemas.openxmlformats.org/drawingml/2006/main" noGrp="1"/>
          </p:cNvSpPr>
          <p:nvPr/>
        </p:nvSpPr>
        <p:spPr>
          <a:xfrm xmlns:a="http://schemas.openxmlformats.org/drawingml/2006/main">
            <a:off x="400050" y="3067050"/>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i="0">
                <a:solidFill>
                  <a:srgbClr val="59616D"/>
                </a:solidFill>
                <a:latin typeface="Helvetica Neue"/>
                <a:ea typeface="Helvetica Neue"/>
                <a:cs typeface="Helvetica Neue"/>
              </a:defRPr>
            </a:pPr>
            <a:r>
              <a:rPr sz="2025" b="0" i="0">
                <a:solidFill>
                  <a:srgbClr val="59616D"/>
                </a:solidFill>
                <a:latin typeface="Helvetica Neue"/>
                <a:ea typeface="Helvetica Neue"/>
                <a:cs typeface="Helvetica Neue"/>
              </a:rPr>
              <a:t>Honest gains, clear boundaries,</a:t>
            </a:r>
          </a:p>
          <a:p xmlns:a="http://schemas.openxmlformats.org/drawingml/2006/main">
            <a:pPr algn="l">
              <a:defRPr sz="2025" b="0" i="0">
                <a:solidFill>
                  <a:srgbClr val="59616D"/>
                </a:solidFill>
                <a:latin typeface="Helvetica Neue"/>
                <a:ea typeface="Helvetica Neue"/>
                <a:cs typeface="Helvetica Neue"/>
              </a:defRPr>
            </a:pPr>
            <a:r>
              <a:rPr sz="2025" b="0" i="0">
                <a:solidFill>
                  <a:srgbClr val="59616D"/>
                </a:solidFill>
                <a:latin typeface="Helvetica Neue"/>
                <a:ea typeface="Helvetica Neue"/>
                <a:cs typeface="Helvetica Neue"/>
              </a:rPr>
              <a:t>and the next experiments</a:t>
            </a:r>
          </a:p>
        </p:txBody>
      </p:sp>
      <p:sp>
        <p:nvSpPr>
          <p:cNvPr id="4" name="">
            <a:extLst xmlns:a="http://schemas.openxmlformats.org/drawingml/2006/main">
              <a:ext uri="{FF2B5EF4-FFF2-40B4-BE49-F238E27FC236}">
                <a16:creationId xmlns:a16="http://schemas.microsoft.com/office/drawing/2014/main" id="{8D0CCF49-3998-42DC-8DE8-8B9A8A81BDBF}"/>
              </a:ext>
            </a:extLst>
          </p:cNvPr>
          <p:cNvSpPr>
            <a:spLocks xmlns:a="http://schemas.openxmlformats.org/drawingml/2006/main" noGrp="1"/>
          </p:cNvSpPr>
          <p:nvPr/>
        </p:nvSpPr>
        <p:spPr>
          <a:xfrm xmlns:a="http://schemas.openxmlformats.org/drawingml/2006/main">
            <a:off x="400050" y="4324350"/>
            <a:ext cx="1562100" cy="30480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9525">
            <a:solidFill>
              <a:srgbClr val="EAF2FF"/>
            </a:solidFill>
            <a:prstDash val="solid"/>
          </a:ln>
        </p:spPr>
      </p:sp>
      <p:sp>
        <p:nvSpPr>
          <p:cNvPr id="5" name="">
            <a:extLst xmlns:a="http://schemas.openxmlformats.org/drawingml/2006/main">
              <a:ext uri="{FF2B5EF4-FFF2-40B4-BE49-F238E27FC236}">
                <a16:creationId xmlns:a16="http://schemas.microsoft.com/office/drawing/2014/main" id="{D3761072-85E0-49A2-9381-9089974F9643}"/>
              </a:ext>
            </a:extLst>
          </p:cNvPr>
          <p:cNvSpPr>
            <a:spLocks xmlns:a="http://schemas.openxmlformats.org/drawingml/2006/main" noGrp="1"/>
          </p:cNvSpPr>
          <p:nvPr/>
        </p:nvSpPr>
        <p:spPr>
          <a:xfrm xmlns:a="http://schemas.openxmlformats.org/drawingml/2006/main">
            <a:off x="495300" y="4391025"/>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i="0">
                <a:solidFill>
                  <a:srgbClr val="1E63D5"/>
                </a:solidFill>
                <a:latin typeface="Helvetica Neue"/>
                <a:ea typeface="Helvetica Neue"/>
                <a:cs typeface="Helvetica Neue"/>
              </a:defRPr>
            </a:pPr>
            <a:r>
              <a:rPr sz="900" b="1" i="0">
                <a:solidFill>
                  <a:srgbClr val="1E63D5"/>
                </a:solidFill>
                <a:latin typeface="Helvetica Neue"/>
                <a:ea typeface="Helvetica Neue"/>
                <a:cs typeface="Helvetica Neue"/>
              </a:rPr>
              <a:t>18,801 structures</a:t>
            </a:r>
          </a:p>
        </p:txBody>
      </p:sp>
      <p:sp>
        <p:nvSpPr>
          <p:cNvPr id="6" name="">
            <a:extLst xmlns:a="http://schemas.openxmlformats.org/drawingml/2006/main">
              <a:ext uri="{FF2B5EF4-FFF2-40B4-BE49-F238E27FC236}">
                <a16:creationId xmlns:a16="http://schemas.microsoft.com/office/drawing/2014/main" id="{915D62BA-FA0D-4F0A-8F32-06C3FF97A1D0}"/>
              </a:ext>
            </a:extLst>
          </p:cNvPr>
          <p:cNvSpPr>
            <a:spLocks xmlns:a="http://schemas.openxmlformats.org/drawingml/2006/main" noGrp="1"/>
          </p:cNvSpPr>
          <p:nvPr/>
        </p:nvSpPr>
        <p:spPr>
          <a:xfrm xmlns:a="http://schemas.openxmlformats.org/drawingml/2006/main">
            <a:off x="2095500" y="4324350"/>
            <a:ext cx="1466850" cy="304800"/>
          </a:xfrm>
          <a:prstGeom xmlns:a="http://schemas.openxmlformats.org/drawingml/2006/main" prst="roundRect">
            <a:avLst>
              <a:gd name="adj" fmla="val 50000"/>
            </a:avLst>
          </a:prstGeom>
          <a:solidFill xmlns:a="http://schemas.openxmlformats.org/drawingml/2006/main">
            <a:srgbClr val="E9F7F1"/>
          </a:solidFill>
          <a:ln xmlns:a="http://schemas.openxmlformats.org/drawingml/2006/main" w="9525">
            <a:solidFill>
              <a:srgbClr val="E9F7F1"/>
            </a:solidFill>
            <a:prstDash val="solid"/>
          </a:ln>
        </p:spPr>
      </p:sp>
      <p:sp>
        <p:nvSpPr>
          <p:cNvPr id="7" name="">
            <a:extLst xmlns:a="http://schemas.openxmlformats.org/drawingml/2006/main">
              <a:ext uri="{FF2B5EF4-FFF2-40B4-BE49-F238E27FC236}">
                <a16:creationId xmlns:a16="http://schemas.microsoft.com/office/drawing/2014/main" id="{C608E9C6-184E-4A9F-9F9A-5DDDF14CA0D0}"/>
              </a:ext>
            </a:extLst>
          </p:cNvPr>
          <p:cNvSpPr>
            <a:spLocks xmlns:a="http://schemas.openxmlformats.org/drawingml/2006/main" noGrp="1"/>
          </p:cNvSpPr>
          <p:nvPr/>
        </p:nvSpPr>
        <p:spPr>
          <a:xfrm xmlns:a="http://schemas.openxmlformats.org/drawingml/2006/main">
            <a:off x="2190750" y="4391025"/>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i="0">
                <a:solidFill>
                  <a:srgbClr val="16805A"/>
                </a:solidFill>
                <a:latin typeface="Helvetica Neue"/>
                <a:ea typeface="Helvetica Neue"/>
                <a:cs typeface="Helvetica Neue"/>
              </a:defRPr>
            </a:pPr>
            <a:r>
              <a:rPr sz="900" b="1" i="0">
                <a:solidFill>
                  <a:srgbClr val="16805A"/>
                </a:solidFill>
                <a:latin typeface="Helvetica Neue"/>
                <a:ea typeface="Helvetica Neue"/>
                <a:cs typeface="Helvetica Neue"/>
              </a:rPr>
              <a:t>8,455 scaffolds</a:t>
            </a:r>
          </a:p>
        </p:txBody>
      </p:sp>
      <p:sp>
        <p:nvSpPr>
          <p:cNvPr id="8" name="">
            <a:extLst xmlns:a="http://schemas.openxmlformats.org/drawingml/2006/main">
              <a:ext uri="{FF2B5EF4-FFF2-40B4-BE49-F238E27FC236}">
                <a16:creationId xmlns:a16="http://schemas.microsoft.com/office/drawing/2014/main" id="{E0667894-F800-4AF7-ABA0-35CD4F08298C}"/>
              </a:ext>
            </a:extLst>
          </p:cNvPr>
          <p:cNvSpPr>
            <a:spLocks xmlns:a="http://schemas.openxmlformats.org/drawingml/2006/main" noGrp="1"/>
          </p:cNvSpPr>
          <p:nvPr/>
        </p:nvSpPr>
        <p:spPr>
          <a:xfrm xmlns:a="http://schemas.openxmlformats.org/drawingml/2006/main">
            <a:off x="3695700" y="4324350"/>
            <a:ext cx="1352550" cy="304800"/>
          </a:xfrm>
          <a:prstGeom xmlns:a="http://schemas.openxmlformats.org/drawingml/2006/main" prst="roundRect">
            <a:avLst>
              <a:gd name="adj" fmla="val 50000"/>
            </a:avLst>
          </a:prstGeom>
          <a:solidFill xmlns:a="http://schemas.openxmlformats.org/drawingml/2006/main">
            <a:srgbClr val="FFF2E8"/>
          </a:solidFill>
          <a:ln xmlns:a="http://schemas.openxmlformats.org/drawingml/2006/main" w="9525">
            <a:solidFill>
              <a:srgbClr val="FFF2E8"/>
            </a:solidFill>
            <a:prstDash val="solid"/>
          </a:ln>
        </p:spPr>
      </p:sp>
      <p:sp>
        <p:nvSpPr>
          <p:cNvPr id="9" name="">
            <a:extLst xmlns:a="http://schemas.openxmlformats.org/drawingml/2006/main">
              <a:ext uri="{FF2B5EF4-FFF2-40B4-BE49-F238E27FC236}">
                <a16:creationId xmlns:a16="http://schemas.microsoft.com/office/drawing/2014/main" id="{83836B53-EB3C-40B3-AB71-5B33E1B5EC12}"/>
              </a:ext>
            </a:extLst>
          </p:cNvPr>
          <p:cNvSpPr>
            <a:spLocks xmlns:a="http://schemas.openxmlformats.org/drawingml/2006/main" noGrp="1"/>
          </p:cNvSpPr>
          <p:nvPr/>
        </p:nvSpPr>
        <p:spPr>
          <a:xfrm xmlns:a="http://schemas.openxmlformats.org/drawingml/2006/main">
            <a:off x="3790950" y="4391025"/>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i="0">
                <a:solidFill>
                  <a:srgbClr val="C96A18"/>
                </a:solidFill>
                <a:latin typeface="Helvetica Neue"/>
                <a:ea typeface="Helvetica Neue"/>
                <a:cs typeface="Helvetica Neue"/>
              </a:defRPr>
            </a:pPr>
            <a:r>
              <a:rPr sz="900" b="1" i="0">
                <a:solidFill>
                  <a:srgbClr val="C96A18"/>
                </a:solidFill>
                <a:latin typeface="Helvetica Neue"/>
                <a:ea typeface="Helvetica Neue"/>
                <a:cs typeface="Helvetica Neue"/>
              </a:rPr>
              <a:t>5 nested folds</a:t>
            </a:r>
          </a:p>
        </p:txBody>
      </p:sp>
      <p:sp>
        <p:nvSpPr>
          <p:cNvPr id="10" name="">
            <a:extLst xmlns:a="http://schemas.openxmlformats.org/drawingml/2006/main">
              <a:ext uri="{FF2B5EF4-FFF2-40B4-BE49-F238E27FC236}">
                <a16:creationId xmlns:a16="http://schemas.microsoft.com/office/drawing/2014/main" id="{3F11ECD1-4DA6-4920-BFEC-46ABF06315A7}"/>
              </a:ext>
            </a:extLst>
          </p:cNvPr>
          <p:cNvSpPr>
            <a:spLocks xmlns:a="http://schemas.openxmlformats.org/drawingml/2006/main" noGrp="1"/>
          </p:cNvSpPr>
          <p:nvPr/>
        </p:nvSpPr>
        <p:spPr>
          <a:xfrm xmlns:a="http://schemas.openxmlformats.org/drawingml/2006/main">
            <a:off x="400050" y="59626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Shivansh Sahni  •  August 18, 2026</a:t>
            </a:r>
          </a:p>
        </p:txBody>
      </p:sp>
      <p:sp>
        <p:nvSpPr>
          <p:cNvPr id="11" name="">
            <a:extLst xmlns:a="http://schemas.openxmlformats.org/drawingml/2006/main">
              <a:ext uri="{FF2B5EF4-FFF2-40B4-BE49-F238E27FC236}">
                <a16:creationId xmlns:a16="http://schemas.microsoft.com/office/drawing/2014/main" id="{8953B8C8-5D6A-40E1-8C30-CCC2CB35A44D}"/>
              </a:ext>
            </a:extLst>
          </p:cNvPr>
          <p:cNvSpPr>
            <a:spLocks xmlns:a="http://schemas.openxmlformats.org/drawingml/2006/main" noGrp="1"/>
          </p:cNvSpPr>
          <p:nvPr/>
        </p:nvSpPr>
        <p:spPr>
          <a:xfrm xmlns:a="http://schemas.openxmlformats.org/drawingml/2006/main">
            <a:off x="5886450" y="400050"/>
            <a:ext cx="5905500" cy="5810250"/>
          </a:xfrm>
          <a:prstGeom xmlns:a="http://schemas.openxmlformats.org/drawingml/2006/main" prst="roundRect">
            <a:avLst>
              <a:gd name="adj" fmla="val 2623"/>
            </a:avLst>
          </a:prstGeom>
          <a:solidFill xmlns:a="http://schemas.openxmlformats.org/drawingml/2006/main">
            <a:srgbClr val="F2F4F7"/>
          </a:solidFill>
          <a:ln xmlns:a="http://schemas.openxmlformats.org/drawingml/2006/main" w="9525">
            <a:solidFill>
              <a:srgbClr val="D6DAE0"/>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eb246e19d6b4a8d"/>
          <a:stretch xmlns:a="http://schemas.openxmlformats.org/drawingml/2006/main"/>
        </p:blipFill>
        <p:spPr>
          <a:xfrm xmlns:a="http://schemas.openxmlformats.org/drawingml/2006/main">
            <a:off x="6076950" y="1349296"/>
            <a:ext cx="5524500" cy="3911758"/>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25F71614-1ADC-4981-9014-3AD7293A289E}"/>
              </a:ext>
            </a:extLst>
          </p:cNvPr>
          <p:cNvSpPr>
            <a:spLocks xmlns:a="http://schemas.openxmlformats.org/drawingml/2006/main" noGrp="1"/>
          </p:cNvSpPr>
          <p:nvPr/>
        </p:nvSpPr>
        <p:spPr>
          <a:xfrm xmlns:a="http://schemas.openxmlformats.org/drawingml/2006/main">
            <a:off x="400050" y="64579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i="0">
                <a:solidFill>
                  <a:srgbClr val="59616D"/>
                </a:solidFill>
                <a:latin typeface="Helvetica Neue"/>
                <a:ea typeface="Helvetica Neue"/>
                <a:cs typeface="Helvetica Neue"/>
              </a:defRPr>
            </a:pPr>
            <a:r>
              <a:rPr sz="788" b="0" i="0">
                <a:solidFill>
                  <a:srgbClr val="59616D"/>
                </a:solidFill>
                <a:latin typeface="Helvetica Neue"/>
                <a:ea typeface="Helvetica Neue"/>
                <a:cs typeface="Helvetica Neue"/>
              </a:rPr>
              <a:t>hERG platform meeting | internal results</a:t>
            </a:r>
          </a:p>
        </p:txBody>
      </p:sp>
      <p:sp>
        <p:nvSpPr>
          <p:cNvPr id="14" name="">
            <a:extLst xmlns:a="http://schemas.openxmlformats.org/drawingml/2006/main">
              <a:ext uri="{FF2B5EF4-FFF2-40B4-BE49-F238E27FC236}">
                <a16:creationId xmlns:a16="http://schemas.microsoft.com/office/drawing/2014/main" id="{3CB3E48D-E7A8-403A-9C88-8F65ED355897}"/>
              </a:ext>
            </a:extLst>
          </p:cNvPr>
          <p:cNvSpPr>
            <a:spLocks xmlns:a="http://schemas.openxmlformats.org/drawingml/2006/main" noGrp="1"/>
          </p:cNvSpPr>
          <p:nvPr/>
        </p:nvSpPr>
        <p:spPr>
          <a:xfrm xmlns:a="http://schemas.openxmlformats.org/drawingml/2006/main">
            <a:off x="1125855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0" i="0">
                <a:solidFill>
                  <a:srgbClr val="59616D"/>
                </a:solidFill>
                <a:latin typeface="Helvetica Neue"/>
                <a:ea typeface="Helvetica Neue"/>
                <a:cs typeface="Helvetica Neue"/>
              </a:defRPr>
            </a:pPr>
            <a:r>
              <a:rPr sz="825" b="0" i="0">
                <a:solidFill>
                  <a:srgbClr val="59616D"/>
                </a:solidFill>
                <a:latin typeface="Helvetica Neue"/>
                <a:ea typeface="Helvetica Neue"/>
                <a:cs typeface="Helvetica Neue"/>
              </a:rPr>
              <a:t>01</a:t>
            </a:r>
          </a:p>
        </p:txBody>
      </p:sp>
    </p:spTree>
    <p:extLst>
      <p:ext uri="{BB962C8B-B14F-4D97-AF65-F5344CB8AC3E}">
        <p14:creationId xmlns:p14="http://schemas.microsoft.com/office/powerpoint/2010/main" val="16981420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0FA9B80-5C1D-4673-AE16-3F1263906979}"/>
              </a:ext>
            </a:extLst>
          </p:cNvPr>
          <p:cNvSpPr>
            <a:spLocks xmlns:a="http://schemas.openxmlformats.org/drawingml/2006/main" noGrp="1"/>
          </p:cNvSpPr>
          <p:nvPr/>
        </p:nvSpPr>
        <p:spPr>
          <a:xfrm xmlns:a="http://schemas.openxmlformats.org/drawingml/2006/main">
            <a:off x="4000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E63D5"/>
                </a:solidFill>
                <a:latin typeface="Helvetica Neue"/>
                <a:ea typeface="Helvetica Neue"/>
                <a:cs typeface="Helvetica Neue"/>
              </a:defRPr>
            </a:pPr>
            <a:r>
              <a:rPr sz="975" b="1" i="0">
                <a:solidFill>
                  <a:srgbClr val="1E63D5"/>
                </a:solidFill>
                <a:latin typeface="Helvetica Neue"/>
                <a:ea typeface="Helvetica Neue"/>
                <a:cs typeface="Helvetica Neue"/>
              </a:rPr>
              <a:t>HEADLINE RESULT</a:t>
            </a:r>
          </a:p>
        </p:txBody>
      </p:sp>
      <p:sp>
        <p:nvSpPr>
          <p:cNvPr id="2" name="">
            <a:extLst xmlns:a="http://schemas.openxmlformats.org/drawingml/2006/main">
              <a:ext uri="{FF2B5EF4-FFF2-40B4-BE49-F238E27FC236}">
                <a16:creationId xmlns:a16="http://schemas.microsoft.com/office/drawing/2014/main" id="{57F8103D-FE29-4543-BDFE-A59E5C863833}"/>
              </a:ext>
            </a:extLst>
          </p:cNvPr>
          <p:cNvSpPr>
            <a:spLocks xmlns:a="http://schemas.openxmlformats.org/drawingml/2006/main" noGrp="1"/>
          </p:cNvSpPr>
          <p:nvPr/>
        </p:nvSpPr>
        <p:spPr>
          <a:xfrm xmlns:a="http://schemas.openxmlformats.org/drawingml/2006/main">
            <a:off x="400050" y="5143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The strongest honest internal result so far</a:t>
            </a:r>
          </a:p>
        </p:txBody>
      </p:sp>
      <p:cxnSp>
        <p:nvCxnSpPr>
          <p:cNvPr id="19" name=""/>
          <p:cNvCxnSpPr/>
          <p:nvPr/>
        </p:nvCxnSpPr>
        <p:spPr>
          <a:xfrm xmlns:a="http://schemas.openxmlformats.org/drawingml/2006/main">
            <a:off x="400050" y="1219200"/>
            <a:ext cx="11391900" cy="0"/>
          </a:xfrm>
          <a:prstGeom xmlns:a="http://schemas.openxmlformats.org/drawingml/2006/main" prst="straightConnector1">
            <a:avLst/>
          </a:prstGeom>
          <a:ln xmlns:a="http://schemas.openxmlformats.org/drawingml/2006/main" w="9525">
            <a:solidFill>
              <a:srgbClr val="D6DAE0"/>
            </a:solidFill>
            <a:prstDash val="solid"/>
          </a:ln>
        </p:spPr>
      </p:cxn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97189a5d8a04b70"/>
          <a:stretch xmlns:a="http://schemas.openxmlformats.org/drawingml/2006/main"/>
        </p:blipFill>
        <p:spPr>
          <a:xfrm xmlns:a="http://schemas.openxmlformats.org/drawingml/2006/main">
            <a:off x="400050" y="1724016"/>
            <a:ext cx="6743700" cy="401956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4FAE882-457B-4014-BA6B-36E3B2240EA1}"/>
              </a:ext>
            </a:extLst>
          </p:cNvPr>
          <p:cNvSpPr>
            <a:spLocks xmlns:a="http://schemas.openxmlformats.org/drawingml/2006/main" noGrp="1"/>
          </p:cNvSpPr>
          <p:nvPr/>
        </p:nvSpPr>
        <p:spPr>
          <a:xfrm xmlns:a="http://schemas.openxmlformats.org/drawingml/2006/main">
            <a:off x="7448550" y="1504950"/>
            <a:ext cx="2038350" cy="1409700"/>
          </a:xfrm>
          <a:prstGeom xmlns:a="http://schemas.openxmlformats.org/drawingml/2006/main" prst="roundRect">
            <a:avLst>
              <a:gd name="adj" fmla="val 8108"/>
            </a:avLst>
          </a:prstGeom>
          <a:solidFill xmlns:a="http://schemas.openxmlformats.org/drawingml/2006/main">
            <a:srgbClr val="F2F4F7"/>
          </a:solidFill>
          <a:ln xmlns:a="http://schemas.openxmlformats.org/drawingml/2006/main" w="9525">
            <a:solidFill>
              <a:srgbClr val="D6DAE0"/>
            </a:solidFill>
            <a:prstDash val="solid"/>
          </a:ln>
        </p:spPr>
      </p:sp>
      <p:sp>
        <p:nvSpPr>
          <p:cNvPr id="6" name="">
            <a:extLst xmlns:a="http://schemas.openxmlformats.org/drawingml/2006/main">
              <a:ext uri="{FF2B5EF4-FFF2-40B4-BE49-F238E27FC236}">
                <a16:creationId xmlns:a16="http://schemas.microsoft.com/office/drawing/2014/main" id="{6D05CBD7-2F9C-4E84-90D1-93E04CF2E3AE}"/>
              </a:ext>
            </a:extLst>
          </p:cNvPr>
          <p:cNvSpPr>
            <a:spLocks xmlns:a="http://schemas.openxmlformats.org/drawingml/2006/main" noGrp="1"/>
          </p:cNvSpPr>
          <p:nvPr/>
        </p:nvSpPr>
        <p:spPr>
          <a:xfrm xmlns:a="http://schemas.openxmlformats.org/drawingml/2006/main">
            <a:off x="7658100" y="17335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450" b="1" i="0">
                <a:solidFill>
                  <a:srgbClr val="1E63D5"/>
                </a:solidFill>
                <a:latin typeface="Helvetica Neue"/>
                <a:ea typeface="Helvetica Neue"/>
                <a:cs typeface="Helvetica Neue"/>
              </a:defRPr>
            </a:pPr>
            <a:r>
              <a:rPr sz="3450" b="1" i="0">
                <a:solidFill>
                  <a:srgbClr val="1E63D5"/>
                </a:solidFill>
                <a:latin typeface="Helvetica Neue"/>
                <a:ea typeface="Helvetica Neue"/>
                <a:cs typeface="Helvetica Neue"/>
              </a:rPr>
              <a:t>0.4328</a:t>
            </a:r>
          </a:p>
        </p:txBody>
      </p:sp>
      <p:sp>
        <p:nvSpPr>
          <p:cNvPr id="7" name="">
            <a:extLst xmlns:a="http://schemas.openxmlformats.org/drawingml/2006/main">
              <a:ext uri="{FF2B5EF4-FFF2-40B4-BE49-F238E27FC236}">
                <a16:creationId xmlns:a16="http://schemas.microsoft.com/office/drawing/2014/main" id="{0D1DBBA7-E8DE-4133-B867-D4E5D7312031}"/>
              </a:ext>
            </a:extLst>
          </p:cNvPr>
          <p:cNvSpPr>
            <a:spLocks xmlns:a="http://schemas.openxmlformats.org/drawingml/2006/main" noGrp="1"/>
          </p:cNvSpPr>
          <p:nvPr/>
        </p:nvSpPr>
        <p:spPr>
          <a:xfrm xmlns:a="http://schemas.openxmlformats.org/drawingml/2006/main">
            <a:off x="7658100" y="240030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137"/>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MAE in pIC50</a:t>
            </a:r>
          </a:p>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V9 nested stack</a:t>
            </a:r>
          </a:p>
        </p:txBody>
      </p:sp>
      <p:sp>
        <p:nvSpPr>
          <p:cNvPr id="8" name="">
            <a:extLst xmlns:a="http://schemas.openxmlformats.org/drawingml/2006/main">
              <a:ext uri="{FF2B5EF4-FFF2-40B4-BE49-F238E27FC236}">
                <a16:creationId xmlns:a16="http://schemas.microsoft.com/office/drawing/2014/main" id="{C7B4C38E-9743-40A1-A6BB-9CA7F0B1AD64}"/>
              </a:ext>
            </a:extLst>
          </p:cNvPr>
          <p:cNvSpPr>
            <a:spLocks xmlns:a="http://schemas.openxmlformats.org/drawingml/2006/main" noGrp="1"/>
          </p:cNvSpPr>
          <p:nvPr/>
        </p:nvSpPr>
        <p:spPr>
          <a:xfrm xmlns:a="http://schemas.openxmlformats.org/drawingml/2006/main">
            <a:off x="9677400" y="1504950"/>
            <a:ext cx="2038350" cy="1409700"/>
          </a:xfrm>
          <a:prstGeom xmlns:a="http://schemas.openxmlformats.org/drawingml/2006/main" prst="roundRect">
            <a:avLst>
              <a:gd name="adj" fmla="val 8108"/>
            </a:avLst>
          </a:prstGeom>
          <a:solidFill xmlns:a="http://schemas.openxmlformats.org/drawingml/2006/main">
            <a:srgbClr val="F2F4F7"/>
          </a:solidFill>
          <a:ln xmlns:a="http://schemas.openxmlformats.org/drawingml/2006/main" w="9525">
            <a:solidFill>
              <a:srgbClr val="D6DAE0"/>
            </a:solidFill>
            <a:prstDash val="solid"/>
          </a:ln>
        </p:spPr>
      </p:sp>
      <p:sp>
        <p:nvSpPr>
          <p:cNvPr id="9" name="">
            <a:extLst xmlns:a="http://schemas.openxmlformats.org/drawingml/2006/main">
              <a:ext uri="{FF2B5EF4-FFF2-40B4-BE49-F238E27FC236}">
                <a16:creationId xmlns:a16="http://schemas.microsoft.com/office/drawing/2014/main" id="{C6F734CD-C89E-4937-92B5-2D97F80A2849}"/>
              </a:ext>
            </a:extLst>
          </p:cNvPr>
          <p:cNvSpPr>
            <a:spLocks xmlns:a="http://schemas.openxmlformats.org/drawingml/2006/main" noGrp="1"/>
          </p:cNvSpPr>
          <p:nvPr/>
        </p:nvSpPr>
        <p:spPr>
          <a:xfrm xmlns:a="http://schemas.openxmlformats.org/drawingml/2006/main">
            <a:off x="9886950" y="17335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450" b="1" i="0">
                <a:solidFill>
                  <a:srgbClr val="16805A"/>
                </a:solidFill>
                <a:latin typeface="Helvetica Neue"/>
                <a:ea typeface="Helvetica Neue"/>
                <a:cs typeface="Helvetica Neue"/>
              </a:defRPr>
            </a:pPr>
            <a:r>
              <a:rPr sz="3450" b="1" i="0">
                <a:solidFill>
                  <a:srgbClr val="16805A"/>
                </a:solidFill>
                <a:latin typeface="Helvetica Neue"/>
                <a:ea typeface="Helvetica Neue"/>
                <a:cs typeface="Helvetica Neue"/>
              </a:rPr>
              <a:t>91.8%</a:t>
            </a:r>
          </a:p>
        </p:txBody>
      </p:sp>
      <p:sp>
        <p:nvSpPr>
          <p:cNvPr id="10" name="">
            <a:extLst xmlns:a="http://schemas.openxmlformats.org/drawingml/2006/main">
              <a:ext uri="{FF2B5EF4-FFF2-40B4-BE49-F238E27FC236}">
                <a16:creationId xmlns:a16="http://schemas.microsoft.com/office/drawing/2014/main" id="{A4FF74F8-BE9E-4FEC-85F9-DCC2E11E7F99}"/>
              </a:ext>
            </a:extLst>
          </p:cNvPr>
          <p:cNvSpPr>
            <a:spLocks xmlns:a="http://schemas.openxmlformats.org/drawingml/2006/main" noGrp="1"/>
          </p:cNvSpPr>
          <p:nvPr/>
        </p:nvSpPr>
        <p:spPr>
          <a:xfrm xmlns:a="http://schemas.openxmlformats.org/drawingml/2006/main">
            <a:off x="9886950" y="240030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137"/>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predictions within</a:t>
            </a:r>
          </a:p>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1.0 log unit</a:t>
            </a:r>
          </a:p>
        </p:txBody>
      </p:sp>
      <p:sp>
        <p:nvSpPr>
          <p:cNvPr id="11" name="">
            <a:extLst xmlns:a="http://schemas.openxmlformats.org/drawingml/2006/main">
              <a:ext uri="{FF2B5EF4-FFF2-40B4-BE49-F238E27FC236}">
                <a16:creationId xmlns:a16="http://schemas.microsoft.com/office/drawing/2014/main" id="{5069A862-14E8-4AFE-998C-35B8BC508301}"/>
              </a:ext>
            </a:extLst>
          </p:cNvPr>
          <p:cNvSpPr>
            <a:spLocks xmlns:a="http://schemas.openxmlformats.org/drawingml/2006/main" noGrp="1"/>
          </p:cNvSpPr>
          <p:nvPr/>
        </p:nvSpPr>
        <p:spPr>
          <a:xfrm xmlns:a="http://schemas.openxmlformats.org/drawingml/2006/main">
            <a:off x="7448550" y="3162300"/>
            <a:ext cx="4267200" cy="1314450"/>
          </a:xfrm>
          <a:prstGeom xmlns:a="http://schemas.openxmlformats.org/drawingml/2006/main" prst="roundRect">
            <a:avLst>
              <a:gd name="adj" fmla="val 8696"/>
            </a:avLst>
          </a:prstGeom>
          <a:solidFill xmlns:a="http://schemas.openxmlformats.org/drawingml/2006/main">
            <a:srgbClr val="EAF2FF"/>
          </a:solidFill>
          <a:ln xmlns:a="http://schemas.openxmlformats.org/drawingml/2006/main" w="9525">
            <a:solidFill>
              <a:srgbClr val="EAF2FF"/>
            </a:solidFill>
            <a:prstDash val="solid"/>
          </a:ln>
        </p:spPr>
      </p:sp>
      <p:sp>
        <p:nvSpPr>
          <p:cNvPr id="12" name="">
            <a:extLst xmlns:a="http://schemas.openxmlformats.org/drawingml/2006/main">
              <a:ext uri="{FF2B5EF4-FFF2-40B4-BE49-F238E27FC236}">
                <a16:creationId xmlns:a16="http://schemas.microsoft.com/office/drawing/2014/main" id="{0FE663FB-E11D-4394-8C7E-1AC957A33720}"/>
              </a:ext>
            </a:extLst>
          </p:cNvPr>
          <p:cNvSpPr>
            <a:spLocks xmlns:a="http://schemas.openxmlformats.org/drawingml/2006/main" noGrp="1"/>
          </p:cNvSpPr>
          <p:nvPr/>
        </p:nvSpPr>
        <p:spPr>
          <a:xfrm xmlns:a="http://schemas.openxmlformats.org/drawingml/2006/main">
            <a:off x="7677150" y="337185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i="0">
                <a:solidFill>
                  <a:srgbClr val="1E63D5"/>
                </a:solidFill>
                <a:latin typeface="Helvetica Neue"/>
                <a:ea typeface="Helvetica Neue"/>
                <a:cs typeface="Helvetica Neue"/>
              </a:defRPr>
            </a:pPr>
            <a:r>
              <a:rPr sz="2325" b="1" i="0">
                <a:solidFill>
                  <a:srgbClr val="1E63D5"/>
                </a:solidFill>
                <a:latin typeface="Helvetica Neue"/>
                <a:ea typeface="Helvetica Neue"/>
                <a:cs typeface="Helvetica Neue"/>
              </a:rPr>
              <a:t>−0.0114 MAE vs V8</a:t>
            </a:r>
          </a:p>
        </p:txBody>
      </p:sp>
      <p:sp>
        <p:nvSpPr>
          <p:cNvPr id="13" name="">
            <a:extLst xmlns:a="http://schemas.openxmlformats.org/drawingml/2006/main">
              <a:ext uri="{FF2B5EF4-FFF2-40B4-BE49-F238E27FC236}">
                <a16:creationId xmlns:a16="http://schemas.microsoft.com/office/drawing/2014/main" id="{843B2F00-FE84-4837-A276-FA73EB882F60}"/>
              </a:ext>
            </a:extLst>
          </p:cNvPr>
          <p:cNvSpPr>
            <a:spLocks xmlns:a="http://schemas.openxmlformats.org/drawingml/2006/main" noGrp="1"/>
          </p:cNvSpPr>
          <p:nvPr/>
        </p:nvSpPr>
        <p:spPr>
          <a:xfrm xmlns:a="http://schemas.openxmlformats.org/drawingml/2006/main">
            <a:off x="7677150" y="3867150"/>
            <a:ext cx="3810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38" b="0" i="0">
                <a:solidFill>
                  <a:srgbClr val="59616D"/>
                </a:solidFill>
                <a:latin typeface="Helvetica Neue"/>
                <a:ea typeface="Helvetica Neue"/>
                <a:cs typeface="Helvetica Neue"/>
              </a:defRPr>
            </a:pPr>
            <a:r>
              <a:rPr sz="1238" b="0" i="0">
                <a:solidFill>
                  <a:srgbClr val="59616D"/>
                </a:solidFill>
                <a:latin typeface="Helvetica Neue"/>
                <a:ea typeface="Helvetica Neue"/>
                <a:cs typeface="Helvetica Neue"/>
              </a:rPr>
              <a:t>95% scaffold-bootstrap CI: −0.0141 to −0.0086</a:t>
            </a:r>
          </a:p>
          <a:p xmlns:a="http://schemas.openxmlformats.org/drawingml/2006/main">
            <a:pPr algn="l">
              <a:defRPr sz="1238" b="0" i="0">
                <a:solidFill>
                  <a:srgbClr val="59616D"/>
                </a:solidFill>
                <a:latin typeface="Helvetica Neue"/>
                <a:ea typeface="Helvetica Neue"/>
                <a:cs typeface="Helvetica Neue"/>
              </a:defRPr>
            </a:pPr>
            <a:r>
              <a:rPr sz="1238" b="0" i="0">
                <a:solidFill>
                  <a:srgbClr val="59616D"/>
                </a:solidFill>
                <a:latin typeface="Helvetica Neue"/>
                <a:ea typeface="Helvetica Neue"/>
                <a:cs typeface="Helvetica Neue"/>
              </a:rPr>
              <a:t>All five outer folds improved.</a:t>
            </a:r>
          </a:p>
        </p:txBody>
      </p:sp>
      <p:sp>
        <p:nvSpPr>
          <p:cNvPr id="14" name="">
            <a:extLst xmlns:a="http://schemas.openxmlformats.org/drawingml/2006/main">
              <a:ext uri="{FF2B5EF4-FFF2-40B4-BE49-F238E27FC236}">
                <a16:creationId xmlns:a16="http://schemas.microsoft.com/office/drawing/2014/main" id="{AA5FF589-9DE0-44FE-A0FC-B6797F0AA96D}"/>
              </a:ext>
            </a:extLst>
          </p:cNvPr>
          <p:cNvSpPr>
            <a:spLocks xmlns:a="http://schemas.openxmlformats.org/drawingml/2006/main" noGrp="1"/>
          </p:cNvSpPr>
          <p:nvPr/>
        </p:nvSpPr>
        <p:spPr>
          <a:xfrm xmlns:a="http://schemas.openxmlformats.org/drawingml/2006/main">
            <a:off x="7448550" y="4762500"/>
            <a:ext cx="4267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Important: the stack is the best cross-fitted internal evidence. The frozen deployable XGBoost artifact is slightly weaker (MAE 0.4370).</a:t>
            </a:r>
          </a:p>
        </p:txBody>
      </p:sp>
      <p:sp>
        <p:nvSpPr>
          <p:cNvPr id="15" name="">
            <a:extLst xmlns:a="http://schemas.openxmlformats.org/drawingml/2006/main">
              <a:ext uri="{FF2B5EF4-FFF2-40B4-BE49-F238E27FC236}">
                <a16:creationId xmlns:a16="http://schemas.microsoft.com/office/drawing/2014/main" id="{C7DA26BC-BD1C-4625-B3CD-465988CDC706}"/>
              </a:ext>
            </a:extLst>
          </p:cNvPr>
          <p:cNvSpPr>
            <a:spLocks xmlns:a="http://schemas.openxmlformats.org/drawingml/2006/main" noGrp="1"/>
          </p:cNvSpPr>
          <p:nvPr/>
        </p:nvSpPr>
        <p:spPr>
          <a:xfrm xmlns:a="http://schemas.openxmlformats.org/drawingml/2006/main">
            <a:off x="400050" y="64579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i="0">
                <a:solidFill>
                  <a:srgbClr val="59616D"/>
                </a:solidFill>
                <a:latin typeface="Helvetica Neue"/>
                <a:ea typeface="Helvetica Neue"/>
                <a:cs typeface="Helvetica Neue"/>
              </a:defRPr>
            </a:pPr>
            <a:r>
              <a:rPr sz="788" b="0" i="0">
                <a:solidFill>
                  <a:srgbClr val="59616D"/>
                </a:solidFill>
                <a:latin typeface="Helvetica Neue"/>
                <a:ea typeface="Helvetica Neue"/>
                <a:cs typeface="Helvetica Neue"/>
              </a:rPr>
              <a:t>Internal analysis | train-only nested scaffold evaluation</a:t>
            </a:r>
          </a:p>
        </p:txBody>
      </p:sp>
      <p:sp>
        <p:nvSpPr>
          <p:cNvPr id="16" name="">
            <a:extLst xmlns:a="http://schemas.openxmlformats.org/drawingml/2006/main">
              <a:ext uri="{FF2B5EF4-FFF2-40B4-BE49-F238E27FC236}">
                <a16:creationId xmlns:a16="http://schemas.microsoft.com/office/drawing/2014/main" id="{79FA9C5A-FCF6-4314-BCC7-B39DDFD5D275}"/>
              </a:ext>
            </a:extLst>
          </p:cNvPr>
          <p:cNvSpPr>
            <a:spLocks xmlns:a="http://schemas.openxmlformats.org/drawingml/2006/main" noGrp="1"/>
          </p:cNvSpPr>
          <p:nvPr/>
        </p:nvSpPr>
        <p:spPr>
          <a:xfrm xmlns:a="http://schemas.openxmlformats.org/drawingml/2006/main">
            <a:off x="1125855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0" i="0">
                <a:solidFill>
                  <a:srgbClr val="59616D"/>
                </a:solidFill>
                <a:latin typeface="Helvetica Neue"/>
                <a:ea typeface="Helvetica Neue"/>
                <a:cs typeface="Helvetica Neue"/>
              </a:defRPr>
            </a:pPr>
            <a:r>
              <a:rPr sz="825" b="0" i="0">
                <a:solidFill>
                  <a:srgbClr val="59616D"/>
                </a:solidFill>
                <a:latin typeface="Helvetica Neue"/>
                <a:ea typeface="Helvetica Neue"/>
                <a:cs typeface="Helvetica Neue"/>
              </a:rPr>
              <a:t>02</a:t>
            </a:r>
          </a:p>
        </p:txBody>
      </p:sp>
    </p:spTree>
    <p:extLst>
      <p:ext uri="{BB962C8B-B14F-4D97-AF65-F5344CB8AC3E}">
        <p14:creationId xmlns:p14="http://schemas.microsoft.com/office/powerpoint/2010/main" val="9216173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DA1FD64-6673-420E-84BF-88D354D2A8A9}"/>
              </a:ext>
            </a:extLst>
          </p:cNvPr>
          <p:cNvSpPr>
            <a:spLocks xmlns:a="http://schemas.openxmlformats.org/drawingml/2006/main" noGrp="1"/>
          </p:cNvSpPr>
          <p:nvPr/>
        </p:nvSpPr>
        <p:spPr>
          <a:xfrm xmlns:a="http://schemas.openxmlformats.org/drawingml/2006/main">
            <a:off x="4000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E63D5"/>
                </a:solidFill>
                <a:latin typeface="Helvetica Neue"/>
                <a:ea typeface="Helvetica Neue"/>
                <a:cs typeface="Helvetica Neue"/>
              </a:defRPr>
            </a:pPr>
            <a:r>
              <a:rPr sz="975" b="1" i="0">
                <a:solidFill>
                  <a:srgbClr val="1E63D5"/>
                </a:solidFill>
                <a:latin typeface="Helvetica Neue"/>
                <a:ea typeface="Helvetica Neue"/>
                <a:cs typeface="Helvetica Neue"/>
              </a:rPr>
              <a:t>WHY THE RESULT IS CREDIBLE</a:t>
            </a:r>
          </a:p>
        </p:txBody>
      </p:sp>
      <p:sp>
        <p:nvSpPr>
          <p:cNvPr id="2" name="">
            <a:extLst xmlns:a="http://schemas.openxmlformats.org/drawingml/2006/main">
              <a:ext uri="{FF2B5EF4-FFF2-40B4-BE49-F238E27FC236}">
                <a16:creationId xmlns:a16="http://schemas.microsoft.com/office/drawing/2014/main" id="{22B85509-AB04-4BCC-B90D-B841AFDF6666}"/>
              </a:ext>
            </a:extLst>
          </p:cNvPr>
          <p:cNvSpPr>
            <a:spLocks xmlns:a="http://schemas.openxmlformats.org/drawingml/2006/main" noGrp="1"/>
          </p:cNvSpPr>
          <p:nvPr/>
        </p:nvSpPr>
        <p:spPr>
          <a:xfrm xmlns:a="http://schemas.openxmlformats.org/drawingml/2006/main">
            <a:off x="400050" y="5143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The evaluation is designed to resist inflated metrics</a:t>
            </a:r>
          </a:p>
        </p:txBody>
      </p:sp>
      <p:cxnSp>
        <p:nvCxnSpPr>
          <p:cNvPr id="37" name=""/>
          <p:cNvCxnSpPr/>
          <p:nvPr/>
        </p:nvCxnSpPr>
        <p:spPr>
          <a:xfrm xmlns:a="http://schemas.openxmlformats.org/drawingml/2006/main">
            <a:off x="400050" y="1219200"/>
            <a:ext cx="11391900" cy="0"/>
          </a:xfrm>
          <a:prstGeom xmlns:a="http://schemas.openxmlformats.org/drawingml/2006/main" prst="straightConnector1">
            <a:avLst/>
          </a:prstGeom>
          <a:ln xmlns:a="http://schemas.openxmlformats.org/drawingml/2006/main" w="9525">
            <a:solidFill>
              <a:srgbClr val="D6DAE0"/>
            </a:solidFill>
            <a:prstDash val="solid"/>
          </a:ln>
        </p:spPr>
      </p:cxnSp>
      <p:cxnSp>
        <p:nvCxnSpPr>
          <p:cNvPr id="38" name=""/>
          <p:cNvCxnSpPr/>
          <p:nvPr/>
        </p:nvCxnSpPr>
        <p:spPr>
          <a:xfrm xmlns:a="http://schemas.openxmlformats.org/drawingml/2006/main">
            <a:off x="895350" y="3238500"/>
            <a:ext cx="10096500" cy="0"/>
          </a:xfrm>
          <a:prstGeom xmlns:a="http://schemas.openxmlformats.org/drawingml/2006/main" prst="straightConnector1">
            <a:avLst/>
          </a:prstGeom>
          <a:ln xmlns:a="http://schemas.openxmlformats.org/drawingml/2006/main" w="28575">
            <a:solidFill>
              <a:srgbClr val="D6DAE0"/>
            </a:solidFill>
            <a:prstDash val="solid"/>
          </a:ln>
        </p:spPr>
      </p:cxnSp>
      <p:sp>
        <p:nvSpPr>
          <p:cNvPr id="5" name="">
            <a:extLst xmlns:a="http://schemas.openxmlformats.org/drawingml/2006/main">
              <a:ext uri="{FF2B5EF4-FFF2-40B4-BE49-F238E27FC236}">
                <a16:creationId xmlns:a16="http://schemas.microsoft.com/office/drawing/2014/main" id="{796570DD-9B55-41D5-8114-74CD1332309D}"/>
              </a:ext>
            </a:extLst>
          </p:cNvPr>
          <p:cNvSpPr>
            <a:spLocks xmlns:a="http://schemas.openxmlformats.org/drawingml/2006/main" noGrp="1"/>
          </p:cNvSpPr>
          <p:nvPr/>
        </p:nvSpPr>
        <p:spPr>
          <a:xfrm xmlns:a="http://schemas.openxmlformats.org/drawingml/2006/main">
            <a:off x="704850" y="2914650"/>
            <a:ext cx="628650" cy="62865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sp>
      <p:sp>
        <p:nvSpPr>
          <p:cNvPr id="6" name="">
            <a:extLst xmlns:a="http://schemas.openxmlformats.org/drawingml/2006/main">
              <a:ext uri="{FF2B5EF4-FFF2-40B4-BE49-F238E27FC236}">
                <a16:creationId xmlns:a16="http://schemas.microsoft.com/office/drawing/2014/main" id="{243BD8FA-7DD8-4CBA-9949-3450D363B891}"/>
              </a:ext>
            </a:extLst>
          </p:cNvPr>
          <p:cNvSpPr>
            <a:spLocks xmlns:a="http://schemas.openxmlformats.org/drawingml/2006/main" noGrp="1"/>
          </p:cNvSpPr>
          <p:nvPr/>
        </p:nvSpPr>
        <p:spPr>
          <a:xfrm xmlns:a="http://schemas.openxmlformats.org/drawingml/2006/main">
            <a:off x="704850" y="3057525"/>
            <a:ext cx="62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i="0">
                <a:solidFill>
                  <a:srgbClr val="FFFFFF"/>
                </a:solidFill>
                <a:latin typeface="Helvetica Neue"/>
                <a:ea typeface="Helvetica Neue"/>
                <a:cs typeface="Helvetica Neue"/>
              </a:defRPr>
            </a:pPr>
            <a:r>
              <a:rPr sz="1875" b="1" i="0">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5E92886E-B8A8-413C-A12E-6189EE394B62}"/>
              </a:ext>
            </a:extLst>
          </p:cNvPr>
          <p:cNvSpPr>
            <a:spLocks xmlns:a="http://schemas.openxmlformats.org/drawingml/2006/main" noGrp="1"/>
          </p:cNvSpPr>
          <p:nvPr/>
        </p:nvSpPr>
        <p:spPr>
          <a:xfrm xmlns:a="http://schemas.openxmlformats.org/drawingml/2006/main">
            <a:off x="590550" y="3867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0B0F14"/>
                </a:solidFill>
                <a:latin typeface="Helvetica Neue"/>
                <a:ea typeface="Helvetica Neue"/>
                <a:cs typeface="Helvetica Neue"/>
              </a:defRPr>
            </a:pPr>
            <a:r>
              <a:rPr sz="1800" b="1" i="0">
                <a:solidFill>
                  <a:srgbClr val="0B0F14"/>
                </a:solidFill>
                <a:latin typeface="Helvetica Neue"/>
                <a:ea typeface="Helvetica Neue"/>
                <a:cs typeface="Helvetica Neue"/>
              </a:rPr>
              <a:t>Collapse</a:t>
            </a:r>
          </a:p>
        </p:txBody>
      </p:sp>
      <p:sp>
        <p:nvSpPr>
          <p:cNvPr id="8" name="">
            <a:extLst xmlns:a="http://schemas.openxmlformats.org/drawingml/2006/main">
              <a:ext uri="{FF2B5EF4-FFF2-40B4-BE49-F238E27FC236}">
                <a16:creationId xmlns:a16="http://schemas.microsoft.com/office/drawing/2014/main" id="{09C93241-0749-4A6D-A647-C332E2EEBB14}"/>
              </a:ext>
            </a:extLst>
          </p:cNvPr>
          <p:cNvSpPr>
            <a:spLocks xmlns:a="http://schemas.openxmlformats.org/drawingml/2006/main" noGrp="1"/>
          </p:cNvSpPr>
          <p:nvPr/>
        </p:nvSpPr>
        <p:spPr>
          <a:xfrm xmlns:a="http://schemas.openxmlformats.org/drawingml/2006/main">
            <a:off x="590550" y="4305300"/>
            <a:ext cx="23241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38" b="0" i="0">
                <a:solidFill>
                  <a:srgbClr val="59616D"/>
                </a:solidFill>
                <a:latin typeface="Helvetica Neue"/>
                <a:ea typeface="Helvetica Neue"/>
                <a:cs typeface="Helvetica Neue"/>
              </a:defRPr>
            </a:pPr>
            <a:r>
              <a:rPr sz="1238" b="0" i="0">
                <a:solidFill>
                  <a:srgbClr val="59616D"/>
                </a:solidFill>
                <a:latin typeface="Helvetica Neue"/>
                <a:ea typeface="Helvetica Neue"/>
                <a:cs typeface="Helvetica Neue"/>
              </a:rPr>
              <a:t>Structure-level targets prevent repeated measurements from masquerading as independent compounds.</a:t>
            </a:r>
          </a:p>
        </p:txBody>
      </p:sp>
      <p:sp>
        <p:nvSpPr>
          <p:cNvPr id="9" name="">
            <a:extLst xmlns:a="http://schemas.openxmlformats.org/drawingml/2006/main">
              <a:ext uri="{FF2B5EF4-FFF2-40B4-BE49-F238E27FC236}">
                <a16:creationId xmlns:a16="http://schemas.microsoft.com/office/drawing/2014/main" id="{4968AE5A-E4CB-4CA9-8852-E9E051ED0365}"/>
              </a:ext>
            </a:extLst>
          </p:cNvPr>
          <p:cNvSpPr>
            <a:spLocks xmlns:a="http://schemas.openxmlformats.org/drawingml/2006/main" noGrp="1"/>
          </p:cNvSpPr>
          <p:nvPr/>
        </p:nvSpPr>
        <p:spPr>
          <a:xfrm xmlns:a="http://schemas.openxmlformats.org/drawingml/2006/main">
            <a:off x="3533775" y="2914650"/>
            <a:ext cx="628650" cy="62865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sp>
      <p:sp>
        <p:nvSpPr>
          <p:cNvPr id="10" name="">
            <a:extLst xmlns:a="http://schemas.openxmlformats.org/drawingml/2006/main">
              <a:ext uri="{FF2B5EF4-FFF2-40B4-BE49-F238E27FC236}">
                <a16:creationId xmlns:a16="http://schemas.microsoft.com/office/drawing/2014/main" id="{F0794920-74F8-49E1-B88B-516D16649310}"/>
              </a:ext>
            </a:extLst>
          </p:cNvPr>
          <p:cNvSpPr>
            <a:spLocks xmlns:a="http://schemas.openxmlformats.org/drawingml/2006/main" noGrp="1"/>
          </p:cNvSpPr>
          <p:nvPr/>
        </p:nvSpPr>
        <p:spPr>
          <a:xfrm xmlns:a="http://schemas.openxmlformats.org/drawingml/2006/main">
            <a:off x="3533775" y="3057525"/>
            <a:ext cx="62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i="0">
                <a:solidFill>
                  <a:srgbClr val="FFFFFF"/>
                </a:solidFill>
                <a:latin typeface="Helvetica Neue"/>
                <a:ea typeface="Helvetica Neue"/>
                <a:cs typeface="Helvetica Neue"/>
              </a:defRPr>
            </a:pPr>
            <a:r>
              <a:rPr sz="1875" b="1" i="0">
                <a:solidFill>
                  <a:srgbClr val="FFFFFF"/>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43B09397-6301-43C6-B68B-DDC5F8AFA2DF}"/>
              </a:ext>
            </a:extLst>
          </p:cNvPr>
          <p:cNvSpPr>
            <a:spLocks xmlns:a="http://schemas.openxmlformats.org/drawingml/2006/main" noGrp="1"/>
          </p:cNvSpPr>
          <p:nvPr/>
        </p:nvSpPr>
        <p:spPr>
          <a:xfrm xmlns:a="http://schemas.openxmlformats.org/drawingml/2006/main">
            <a:off x="3419475" y="3867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0B0F14"/>
                </a:solidFill>
                <a:latin typeface="Helvetica Neue"/>
                <a:ea typeface="Helvetica Neue"/>
                <a:cs typeface="Helvetica Neue"/>
              </a:defRPr>
            </a:pPr>
            <a:r>
              <a:rPr sz="1800" b="1" i="0">
                <a:solidFill>
                  <a:srgbClr val="0B0F14"/>
                </a:solidFill>
                <a:latin typeface="Helvetica Neue"/>
                <a:ea typeface="Helvetica Neue"/>
                <a:cs typeface="Helvetica Neue"/>
              </a:rPr>
              <a:t>Separate</a:t>
            </a:r>
          </a:p>
        </p:txBody>
      </p:sp>
      <p:sp>
        <p:nvSpPr>
          <p:cNvPr id="12" name="">
            <a:extLst xmlns:a="http://schemas.openxmlformats.org/drawingml/2006/main">
              <a:ext uri="{FF2B5EF4-FFF2-40B4-BE49-F238E27FC236}">
                <a16:creationId xmlns:a16="http://schemas.microsoft.com/office/drawing/2014/main" id="{D8471122-0B0D-4FB9-BCFB-B80CBEE4D83C}"/>
              </a:ext>
            </a:extLst>
          </p:cNvPr>
          <p:cNvSpPr>
            <a:spLocks xmlns:a="http://schemas.openxmlformats.org/drawingml/2006/main" noGrp="1"/>
          </p:cNvSpPr>
          <p:nvPr/>
        </p:nvSpPr>
        <p:spPr>
          <a:xfrm xmlns:a="http://schemas.openxmlformats.org/drawingml/2006/main">
            <a:off x="3419475" y="4305300"/>
            <a:ext cx="23241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38" b="0" i="0">
                <a:solidFill>
                  <a:srgbClr val="59616D"/>
                </a:solidFill>
                <a:latin typeface="Helvetica Neue"/>
                <a:ea typeface="Helvetica Neue"/>
                <a:cs typeface="Helvetica Neue"/>
              </a:defRPr>
            </a:pPr>
            <a:r>
              <a:rPr sz="1238" b="0" i="0">
                <a:solidFill>
                  <a:srgbClr val="59616D"/>
                </a:solidFill>
                <a:latin typeface="Helvetica Neue"/>
                <a:ea typeface="Helvetica Neue"/>
                <a:cs typeface="Helvetica Neue"/>
              </a:rPr>
              <a:t>8,455 scaffold groups keep related chemotypes together during splitting.</a:t>
            </a:r>
          </a:p>
        </p:txBody>
      </p:sp>
      <p:sp>
        <p:nvSpPr>
          <p:cNvPr id="13" name="">
            <a:extLst xmlns:a="http://schemas.openxmlformats.org/drawingml/2006/main">
              <a:ext uri="{FF2B5EF4-FFF2-40B4-BE49-F238E27FC236}">
                <a16:creationId xmlns:a16="http://schemas.microsoft.com/office/drawing/2014/main" id="{850A5CDE-AF9C-4AF6-9140-983BD32EFF7A}"/>
              </a:ext>
            </a:extLst>
          </p:cNvPr>
          <p:cNvSpPr>
            <a:spLocks xmlns:a="http://schemas.openxmlformats.org/drawingml/2006/main" noGrp="1"/>
          </p:cNvSpPr>
          <p:nvPr/>
        </p:nvSpPr>
        <p:spPr>
          <a:xfrm xmlns:a="http://schemas.openxmlformats.org/drawingml/2006/main">
            <a:off x="6362700" y="2914650"/>
            <a:ext cx="628650" cy="628650"/>
          </a:xfrm>
          <a:prstGeom xmlns:a="http://schemas.openxmlformats.org/drawingml/2006/main" prst="ellipse">
            <a:avLst/>
          </a:prstGeom>
          <a:solidFill xmlns:a="http://schemas.openxmlformats.org/drawingml/2006/main">
            <a:srgbClr val="0B0F14"/>
          </a:solidFill>
          <a:ln xmlns:a="http://schemas.openxmlformats.org/drawingml/2006/main" w="9525">
            <a:solidFill>
              <a:srgbClr val="0B0F14"/>
            </a:solidFill>
            <a:prstDash val="solid"/>
          </a:ln>
        </p:spPr>
      </p:sp>
      <p:sp>
        <p:nvSpPr>
          <p:cNvPr id="14" name="">
            <a:extLst xmlns:a="http://schemas.openxmlformats.org/drawingml/2006/main">
              <a:ext uri="{FF2B5EF4-FFF2-40B4-BE49-F238E27FC236}">
                <a16:creationId xmlns:a16="http://schemas.microsoft.com/office/drawing/2014/main" id="{AA6BC8AA-16A7-49C8-B28B-8F28BA008200}"/>
              </a:ext>
            </a:extLst>
          </p:cNvPr>
          <p:cNvSpPr>
            <a:spLocks xmlns:a="http://schemas.openxmlformats.org/drawingml/2006/main" noGrp="1"/>
          </p:cNvSpPr>
          <p:nvPr/>
        </p:nvSpPr>
        <p:spPr>
          <a:xfrm xmlns:a="http://schemas.openxmlformats.org/drawingml/2006/main">
            <a:off x="6362700" y="3057525"/>
            <a:ext cx="62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i="0">
                <a:solidFill>
                  <a:srgbClr val="FFFFFF"/>
                </a:solidFill>
                <a:latin typeface="Helvetica Neue"/>
                <a:ea typeface="Helvetica Neue"/>
                <a:cs typeface="Helvetica Neue"/>
              </a:defRPr>
            </a:pPr>
            <a:r>
              <a:rPr sz="1875" b="1" i="0">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6CCC4E89-929A-4141-93E4-39D820283358}"/>
              </a:ext>
            </a:extLst>
          </p:cNvPr>
          <p:cNvSpPr>
            <a:spLocks xmlns:a="http://schemas.openxmlformats.org/drawingml/2006/main" noGrp="1"/>
          </p:cNvSpPr>
          <p:nvPr/>
        </p:nvSpPr>
        <p:spPr>
          <a:xfrm xmlns:a="http://schemas.openxmlformats.org/drawingml/2006/main">
            <a:off x="6248400" y="3867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0B0F14"/>
                </a:solidFill>
                <a:latin typeface="Helvetica Neue"/>
                <a:ea typeface="Helvetica Neue"/>
                <a:cs typeface="Helvetica Neue"/>
              </a:defRPr>
            </a:pPr>
            <a:r>
              <a:rPr sz="1800" b="1" i="0">
                <a:solidFill>
                  <a:srgbClr val="0B0F14"/>
                </a:solidFill>
                <a:latin typeface="Helvetica Neue"/>
                <a:ea typeface="Helvetica Neue"/>
                <a:cs typeface="Helvetica Neue"/>
              </a:rPr>
              <a:t>Select</a:t>
            </a:r>
          </a:p>
        </p:txBody>
      </p:sp>
      <p:sp>
        <p:nvSpPr>
          <p:cNvPr id="16" name="">
            <a:extLst xmlns:a="http://schemas.openxmlformats.org/drawingml/2006/main">
              <a:ext uri="{FF2B5EF4-FFF2-40B4-BE49-F238E27FC236}">
                <a16:creationId xmlns:a16="http://schemas.microsoft.com/office/drawing/2014/main" id="{400E7491-B35A-4FC7-A6F0-0D88CC94717D}"/>
              </a:ext>
            </a:extLst>
          </p:cNvPr>
          <p:cNvSpPr>
            <a:spLocks xmlns:a="http://schemas.openxmlformats.org/drawingml/2006/main" noGrp="1"/>
          </p:cNvSpPr>
          <p:nvPr/>
        </p:nvSpPr>
        <p:spPr>
          <a:xfrm xmlns:a="http://schemas.openxmlformats.org/drawingml/2006/main">
            <a:off x="6248400" y="4305300"/>
            <a:ext cx="23241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38" b="0" i="0">
                <a:solidFill>
                  <a:srgbClr val="59616D"/>
                </a:solidFill>
                <a:latin typeface="Helvetica Neue"/>
                <a:ea typeface="Helvetica Neue"/>
                <a:cs typeface="Helvetica Neue"/>
              </a:defRPr>
            </a:pPr>
            <a:r>
              <a:rPr sz="1238" b="0" i="0">
                <a:solidFill>
                  <a:srgbClr val="59616D"/>
                </a:solidFill>
                <a:latin typeface="Helvetica Neue"/>
                <a:ea typeface="Helvetica Neue"/>
                <a:cs typeface="Helvetica Neue"/>
              </a:rPr>
              <a:t>Hyperparameters and mixtures are chosen only inside each outer-training context.</a:t>
            </a:r>
          </a:p>
        </p:txBody>
      </p:sp>
      <p:sp>
        <p:nvSpPr>
          <p:cNvPr id="17" name="">
            <a:extLst xmlns:a="http://schemas.openxmlformats.org/drawingml/2006/main">
              <a:ext uri="{FF2B5EF4-FFF2-40B4-BE49-F238E27FC236}">
                <a16:creationId xmlns:a16="http://schemas.microsoft.com/office/drawing/2014/main" id="{2390F8D9-E868-42CA-BD95-E0D121822417}"/>
              </a:ext>
            </a:extLst>
          </p:cNvPr>
          <p:cNvSpPr>
            <a:spLocks xmlns:a="http://schemas.openxmlformats.org/drawingml/2006/main" noGrp="1"/>
          </p:cNvSpPr>
          <p:nvPr/>
        </p:nvSpPr>
        <p:spPr>
          <a:xfrm xmlns:a="http://schemas.openxmlformats.org/drawingml/2006/main">
            <a:off x="9191625" y="2914650"/>
            <a:ext cx="628650" cy="628650"/>
          </a:xfrm>
          <a:prstGeom xmlns:a="http://schemas.openxmlformats.org/drawingml/2006/main" prst="ellipse">
            <a:avLst/>
          </a:prstGeom>
          <a:solidFill xmlns:a="http://schemas.openxmlformats.org/drawingml/2006/main">
            <a:srgbClr val="1E63D5"/>
          </a:solidFill>
          <a:ln xmlns:a="http://schemas.openxmlformats.org/drawingml/2006/main" w="9525">
            <a:solidFill>
              <a:srgbClr val="1E63D5"/>
            </a:solidFill>
            <a:prstDash val="solid"/>
          </a:ln>
        </p:spPr>
      </p:sp>
      <p:sp>
        <p:nvSpPr>
          <p:cNvPr id="18" name="">
            <a:extLst xmlns:a="http://schemas.openxmlformats.org/drawingml/2006/main">
              <a:ext uri="{FF2B5EF4-FFF2-40B4-BE49-F238E27FC236}">
                <a16:creationId xmlns:a16="http://schemas.microsoft.com/office/drawing/2014/main" id="{355C0E2B-C784-46EF-8A7E-56B5DBF2863E}"/>
              </a:ext>
            </a:extLst>
          </p:cNvPr>
          <p:cNvSpPr>
            <a:spLocks xmlns:a="http://schemas.openxmlformats.org/drawingml/2006/main" noGrp="1"/>
          </p:cNvSpPr>
          <p:nvPr/>
        </p:nvSpPr>
        <p:spPr>
          <a:xfrm xmlns:a="http://schemas.openxmlformats.org/drawingml/2006/main">
            <a:off x="9191625" y="3057525"/>
            <a:ext cx="62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i="0">
                <a:solidFill>
                  <a:srgbClr val="FFFFFF"/>
                </a:solidFill>
                <a:latin typeface="Helvetica Neue"/>
                <a:ea typeface="Helvetica Neue"/>
                <a:cs typeface="Helvetica Neue"/>
              </a:defRPr>
            </a:pPr>
            <a:r>
              <a:rPr sz="1875" b="1" i="0">
                <a:solidFill>
                  <a:srgbClr val="FFFFFF"/>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D92AD0BF-32BC-4F73-8F26-DA9D2371B1C6}"/>
              </a:ext>
            </a:extLst>
          </p:cNvPr>
          <p:cNvSpPr>
            <a:spLocks xmlns:a="http://schemas.openxmlformats.org/drawingml/2006/main" noGrp="1"/>
          </p:cNvSpPr>
          <p:nvPr/>
        </p:nvSpPr>
        <p:spPr>
          <a:xfrm xmlns:a="http://schemas.openxmlformats.org/drawingml/2006/main">
            <a:off x="9077325" y="3867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0B0F14"/>
                </a:solidFill>
                <a:latin typeface="Helvetica Neue"/>
                <a:ea typeface="Helvetica Neue"/>
                <a:cs typeface="Helvetica Neue"/>
              </a:defRPr>
            </a:pPr>
            <a:r>
              <a:rPr sz="1800" b="1" i="0">
                <a:solidFill>
                  <a:srgbClr val="0B0F14"/>
                </a:solidFill>
                <a:latin typeface="Helvetica Neue"/>
                <a:ea typeface="Helvetica Neue"/>
                <a:cs typeface="Helvetica Neue"/>
              </a:rPr>
              <a:t>Evaluate</a:t>
            </a:r>
          </a:p>
        </p:txBody>
      </p:sp>
      <p:sp>
        <p:nvSpPr>
          <p:cNvPr id="20" name="">
            <a:extLst xmlns:a="http://schemas.openxmlformats.org/drawingml/2006/main">
              <a:ext uri="{FF2B5EF4-FFF2-40B4-BE49-F238E27FC236}">
                <a16:creationId xmlns:a16="http://schemas.microsoft.com/office/drawing/2014/main" id="{830EFA8A-BF17-426E-AA27-FE5ECFF90682}"/>
              </a:ext>
            </a:extLst>
          </p:cNvPr>
          <p:cNvSpPr>
            <a:spLocks xmlns:a="http://schemas.openxmlformats.org/drawingml/2006/main" noGrp="1"/>
          </p:cNvSpPr>
          <p:nvPr/>
        </p:nvSpPr>
        <p:spPr>
          <a:xfrm xmlns:a="http://schemas.openxmlformats.org/drawingml/2006/main">
            <a:off x="9077325" y="4305300"/>
            <a:ext cx="23241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38" b="0" i="0">
                <a:solidFill>
                  <a:srgbClr val="59616D"/>
                </a:solidFill>
                <a:latin typeface="Helvetica Neue"/>
                <a:ea typeface="Helvetica Neue"/>
                <a:cs typeface="Helvetica Neue"/>
              </a:defRPr>
            </a:pPr>
            <a:r>
              <a:rPr sz="1238" b="0" i="0">
                <a:solidFill>
                  <a:srgbClr val="59616D"/>
                </a:solidFill>
                <a:latin typeface="Helvetica Neue"/>
                <a:ea typeface="Helvetica Neue"/>
                <a:cs typeface="Helvetica Neue"/>
              </a:rPr>
              <a:t>Each compound is predicted once in a held-out scaffold fold; repository validation/test outcomes stay sealed.</a:t>
            </a:r>
          </a:p>
        </p:txBody>
      </p:sp>
      <p:sp>
        <p:nvSpPr>
          <p:cNvPr id="21" name="">
            <a:extLst xmlns:a="http://schemas.openxmlformats.org/drawingml/2006/main">
              <a:ext uri="{FF2B5EF4-FFF2-40B4-BE49-F238E27FC236}">
                <a16:creationId xmlns:a16="http://schemas.microsoft.com/office/drawing/2014/main" id="{0646C2BD-CB01-4049-9386-673FFE1C1937}"/>
              </a:ext>
            </a:extLst>
          </p:cNvPr>
          <p:cNvSpPr>
            <a:spLocks xmlns:a="http://schemas.openxmlformats.org/drawingml/2006/main" noGrp="1"/>
          </p:cNvSpPr>
          <p:nvPr/>
        </p:nvSpPr>
        <p:spPr>
          <a:xfrm xmlns:a="http://schemas.openxmlformats.org/drawingml/2006/main">
            <a:off x="400050" y="1466850"/>
            <a:ext cx="2514600" cy="1123950"/>
          </a:xfrm>
          <a:prstGeom xmlns:a="http://schemas.openxmlformats.org/drawingml/2006/main" prst="roundRect">
            <a:avLst>
              <a:gd name="adj" fmla="val 10169"/>
            </a:avLst>
          </a:prstGeom>
          <a:solidFill xmlns:a="http://schemas.openxmlformats.org/drawingml/2006/main">
            <a:srgbClr val="F2F4F7"/>
          </a:solidFill>
          <a:ln xmlns:a="http://schemas.openxmlformats.org/drawingml/2006/main" w="9525">
            <a:solidFill>
              <a:srgbClr val="D6DAE0"/>
            </a:solidFill>
            <a:prstDash val="solid"/>
          </a:ln>
        </p:spPr>
      </p:sp>
      <p:sp>
        <p:nvSpPr>
          <p:cNvPr id="22" name="">
            <a:extLst xmlns:a="http://schemas.openxmlformats.org/drawingml/2006/main">
              <a:ext uri="{FF2B5EF4-FFF2-40B4-BE49-F238E27FC236}">
                <a16:creationId xmlns:a16="http://schemas.microsoft.com/office/drawing/2014/main" id="{FB266606-E73A-43AD-98AA-CEF0E7B814D7}"/>
              </a:ext>
            </a:extLst>
          </p:cNvPr>
          <p:cNvSpPr>
            <a:spLocks xmlns:a="http://schemas.openxmlformats.org/drawingml/2006/main" noGrp="1"/>
          </p:cNvSpPr>
          <p:nvPr/>
        </p:nvSpPr>
        <p:spPr>
          <a:xfrm xmlns:a="http://schemas.openxmlformats.org/drawingml/2006/main">
            <a:off x="609600" y="16954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450" b="1" i="0">
                <a:solidFill>
                  <a:srgbClr val="1E63D5"/>
                </a:solidFill>
                <a:latin typeface="Helvetica Neue"/>
                <a:ea typeface="Helvetica Neue"/>
                <a:cs typeface="Helvetica Neue"/>
              </a:defRPr>
            </a:pPr>
            <a:r>
              <a:rPr sz="3450" b="1" i="0">
                <a:solidFill>
                  <a:srgbClr val="1E63D5"/>
                </a:solidFill>
                <a:latin typeface="Helvetica Neue"/>
                <a:ea typeface="Helvetica Neue"/>
                <a:cs typeface="Helvetica Neue"/>
              </a:rPr>
              <a:t>18,801</a:t>
            </a:r>
          </a:p>
        </p:txBody>
      </p:sp>
      <p:sp>
        <p:nvSpPr>
          <p:cNvPr id="23" name="">
            <a:extLst xmlns:a="http://schemas.openxmlformats.org/drawingml/2006/main">
              <a:ext uri="{FF2B5EF4-FFF2-40B4-BE49-F238E27FC236}">
                <a16:creationId xmlns:a16="http://schemas.microsoft.com/office/drawing/2014/main" id="{7D6DFA8A-5FE6-4137-B0B3-F89604290639}"/>
              </a:ext>
            </a:extLst>
          </p:cNvPr>
          <p:cNvSpPr>
            <a:spLocks xmlns:a="http://schemas.openxmlformats.org/drawingml/2006/main" noGrp="1"/>
          </p:cNvSpPr>
          <p:nvPr/>
        </p:nvSpPr>
        <p:spPr>
          <a:xfrm xmlns:a="http://schemas.openxmlformats.org/drawingml/2006/main">
            <a:off x="609600" y="2362200"/>
            <a:ext cx="20955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39216"/>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exact training structures</a:t>
            </a:r>
          </a:p>
        </p:txBody>
      </p:sp>
      <p:sp>
        <p:nvSpPr>
          <p:cNvPr id="24" name="">
            <a:extLst xmlns:a="http://schemas.openxmlformats.org/drawingml/2006/main">
              <a:ext uri="{FF2B5EF4-FFF2-40B4-BE49-F238E27FC236}">
                <a16:creationId xmlns:a16="http://schemas.microsoft.com/office/drawing/2014/main" id="{D3AD215D-A031-43F2-B8C4-05ECB99A0AB3}"/>
              </a:ext>
            </a:extLst>
          </p:cNvPr>
          <p:cNvSpPr>
            <a:spLocks xmlns:a="http://schemas.openxmlformats.org/drawingml/2006/main" noGrp="1"/>
          </p:cNvSpPr>
          <p:nvPr/>
        </p:nvSpPr>
        <p:spPr>
          <a:xfrm xmlns:a="http://schemas.openxmlformats.org/drawingml/2006/main">
            <a:off x="3086100" y="1466850"/>
            <a:ext cx="2514600" cy="1123950"/>
          </a:xfrm>
          <a:prstGeom xmlns:a="http://schemas.openxmlformats.org/drawingml/2006/main" prst="roundRect">
            <a:avLst>
              <a:gd name="adj" fmla="val 10169"/>
            </a:avLst>
          </a:prstGeom>
          <a:solidFill xmlns:a="http://schemas.openxmlformats.org/drawingml/2006/main">
            <a:srgbClr val="F2F4F7"/>
          </a:solidFill>
          <a:ln xmlns:a="http://schemas.openxmlformats.org/drawingml/2006/main" w="9525">
            <a:solidFill>
              <a:srgbClr val="D6DAE0"/>
            </a:solidFill>
            <a:prstDash val="solid"/>
          </a:ln>
        </p:spPr>
      </p:sp>
      <p:sp>
        <p:nvSpPr>
          <p:cNvPr id="25" name="">
            <a:extLst xmlns:a="http://schemas.openxmlformats.org/drawingml/2006/main">
              <a:ext uri="{FF2B5EF4-FFF2-40B4-BE49-F238E27FC236}">
                <a16:creationId xmlns:a16="http://schemas.microsoft.com/office/drawing/2014/main" id="{7D3C8883-E8D4-4EA7-85F3-76FA397B349A}"/>
              </a:ext>
            </a:extLst>
          </p:cNvPr>
          <p:cNvSpPr>
            <a:spLocks xmlns:a="http://schemas.openxmlformats.org/drawingml/2006/main" noGrp="1"/>
          </p:cNvSpPr>
          <p:nvPr/>
        </p:nvSpPr>
        <p:spPr>
          <a:xfrm xmlns:a="http://schemas.openxmlformats.org/drawingml/2006/main">
            <a:off x="3295650" y="16954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450" b="1" i="0">
                <a:solidFill>
                  <a:srgbClr val="16805A"/>
                </a:solidFill>
                <a:latin typeface="Helvetica Neue"/>
                <a:ea typeface="Helvetica Neue"/>
                <a:cs typeface="Helvetica Neue"/>
              </a:defRPr>
            </a:pPr>
            <a:r>
              <a:rPr sz="3450" b="1" i="0">
                <a:solidFill>
                  <a:srgbClr val="16805A"/>
                </a:solidFill>
                <a:latin typeface="Helvetica Neue"/>
                <a:ea typeface="Helvetica Neue"/>
                <a:cs typeface="Helvetica Neue"/>
              </a:rPr>
              <a:t>8,455</a:t>
            </a:r>
          </a:p>
        </p:txBody>
      </p:sp>
      <p:sp>
        <p:nvSpPr>
          <p:cNvPr id="26" name="">
            <a:extLst xmlns:a="http://schemas.openxmlformats.org/drawingml/2006/main">
              <a:ext uri="{FF2B5EF4-FFF2-40B4-BE49-F238E27FC236}">
                <a16:creationId xmlns:a16="http://schemas.microsoft.com/office/drawing/2014/main" id="{19BF81F8-9C28-4B18-9B6A-C6A8F6A21F9E}"/>
              </a:ext>
            </a:extLst>
          </p:cNvPr>
          <p:cNvSpPr>
            <a:spLocks xmlns:a="http://schemas.openxmlformats.org/drawingml/2006/main" noGrp="1"/>
          </p:cNvSpPr>
          <p:nvPr/>
        </p:nvSpPr>
        <p:spPr>
          <a:xfrm xmlns:a="http://schemas.openxmlformats.org/drawingml/2006/main">
            <a:off x="3295650" y="2362200"/>
            <a:ext cx="20955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39216"/>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scaffold groups</a:t>
            </a:r>
          </a:p>
        </p:txBody>
      </p:sp>
      <p:sp>
        <p:nvSpPr>
          <p:cNvPr id="27" name="">
            <a:extLst xmlns:a="http://schemas.openxmlformats.org/drawingml/2006/main">
              <a:ext uri="{FF2B5EF4-FFF2-40B4-BE49-F238E27FC236}">
                <a16:creationId xmlns:a16="http://schemas.microsoft.com/office/drawing/2014/main" id="{37FA9F82-EEBF-46E4-90E7-1B7837C33EC5}"/>
              </a:ext>
            </a:extLst>
          </p:cNvPr>
          <p:cNvSpPr>
            <a:spLocks xmlns:a="http://schemas.openxmlformats.org/drawingml/2006/main" noGrp="1"/>
          </p:cNvSpPr>
          <p:nvPr/>
        </p:nvSpPr>
        <p:spPr>
          <a:xfrm xmlns:a="http://schemas.openxmlformats.org/drawingml/2006/main">
            <a:off x="5772150" y="1466850"/>
            <a:ext cx="2514600" cy="1123950"/>
          </a:xfrm>
          <a:prstGeom xmlns:a="http://schemas.openxmlformats.org/drawingml/2006/main" prst="roundRect">
            <a:avLst>
              <a:gd name="adj" fmla="val 10169"/>
            </a:avLst>
          </a:prstGeom>
          <a:solidFill xmlns:a="http://schemas.openxmlformats.org/drawingml/2006/main">
            <a:srgbClr val="F2F4F7"/>
          </a:solidFill>
          <a:ln xmlns:a="http://schemas.openxmlformats.org/drawingml/2006/main" w="9525">
            <a:solidFill>
              <a:srgbClr val="D6DAE0"/>
            </a:solidFill>
            <a:prstDash val="solid"/>
          </a:ln>
        </p:spPr>
      </p:sp>
      <p:sp>
        <p:nvSpPr>
          <p:cNvPr id="28" name="">
            <a:extLst xmlns:a="http://schemas.openxmlformats.org/drawingml/2006/main">
              <a:ext uri="{FF2B5EF4-FFF2-40B4-BE49-F238E27FC236}">
                <a16:creationId xmlns:a16="http://schemas.microsoft.com/office/drawing/2014/main" id="{CE8FA6AB-F467-4733-82C6-BF588555211F}"/>
              </a:ext>
            </a:extLst>
          </p:cNvPr>
          <p:cNvSpPr>
            <a:spLocks xmlns:a="http://schemas.openxmlformats.org/drawingml/2006/main" noGrp="1"/>
          </p:cNvSpPr>
          <p:nvPr/>
        </p:nvSpPr>
        <p:spPr>
          <a:xfrm xmlns:a="http://schemas.openxmlformats.org/drawingml/2006/main">
            <a:off x="5981700" y="16954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450" b="1" i="0">
                <a:solidFill>
                  <a:srgbClr val="C96A18"/>
                </a:solidFill>
                <a:latin typeface="Helvetica Neue"/>
                <a:ea typeface="Helvetica Neue"/>
                <a:cs typeface="Helvetica Neue"/>
              </a:defRPr>
            </a:pPr>
            <a:r>
              <a:rPr sz="3450" b="1" i="0">
                <a:solidFill>
                  <a:srgbClr val="C96A18"/>
                </a:solidFill>
                <a:latin typeface="Helvetica Neue"/>
                <a:ea typeface="Helvetica Neue"/>
                <a:cs typeface="Helvetica Neue"/>
              </a:rPr>
              <a:t>5</a:t>
            </a:r>
          </a:p>
        </p:txBody>
      </p:sp>
      <p:sp>
        <p:nvSpPr>
          <p:cNvPr id="29" name="">
            <a:extLst xmlns:a="http://schemas.openxmlformats.org/drawingml/2006/main">
              <a:ext uri="{FF2B5EF4-FFF2-40B4-BE49-F238E27FC236}">
                <a16:creationId xmlns:a16="http://schemas.microsoft.com/office/drawing/2014/main" id="{DC12D621-1BE7-4CC8-9E9D-50F25F7A8063}"/>
              </a:ext>
            </a:extLst>
          </p:cNvPr>
          <p:cNvSpPr>
            <a:spLocks xmlns:a="http://schemas.openxmlformats.org/drawingml/2006/main" noGrp="1"/>
          </p:cNvSpPr>
          <p:nvPr/>
        </p:nvSpPr>
        <p:spPr>
          <a:xfrm xmlns:a="http://schemas.openxmlformats.org/drawingml/2006/main">
            <a:off x="5981700" y="2362200"/>
            <a:ext cx="20955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39216"/>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nested outer folds</a:t>
            </a:r>
          </a:p>
        </p:txBody>
      </p:sp>
      <p:sp>
        <p:nvSpPr>
          <p:cNvPr id="30" name="">
            <a:extLst xmlns:a="http://schemas.openxmlformats.org/drawingml/2006/main">
              <a:ext uri="{FF2B5EF4-FFF2-40B4-BE49-F238E27FC236}">
                <a16:creationId xmlns:a16="http://schemas.microsoft.com/office/drawing/2014/main" id="{B4A77C76-BFEF-4C63-9A17-97EFB413AA48}"/>
              </a:ext>
            </a:extLst>
          </p:cNvPr>
          <p:cNvSpPr>
            <a:spLocks xmlns:a="http://schemas.openxmlformats.org/drawingml/2006/main" noGrp="1"/>
          </p:cNvSpPr>
          <p:nvPr/>
        </p:nvSpPr>
        <p:spPr>
          <a:xfrm xmlns:a="http://schemas.openxmlformats.org/drawingml/2006/main">
            <a:off x="8458200" y="1466850"/>
            <a:ext cx="3257550" cy="1123950"/>
          </a:xfrm>
          <a:prstGeom xmlns:a="http://schemas.openxmlformats.org/drawingml/2006/main" prst="roundRect">
            <a:avLst>
              <a:gd name="adj" fmla="val 10169"/>
            </a:avLst>
          </a:prstGeom>
          <a:solidFill xmlns:a="http://schemas.openxmlformats.org/drawingml/2006/main">
            <a:srgbClr val="F2F4F7"/>
          </a:solidFill>
          <a:ln xmlns:a="http://schemas.openxmlformats.org/drawingml/2006/main" w="9525">
            <a:solidFill>
              <a:srgbClr val="D6DAE0"/>
            </a:solidFill>
            <a:prstDash val="solid"/>
          </a:ln>
        </p:spPr>
      </p:sp>
      <p:sp>
        <p:nvSpPr>
          <p:cNvPr id="31" name="">
            <a:extLst xmlns:a="http://schemas.openxmlformats.org/drawingml/2006/main">
              <a:ext uri="{FF2B5EF4-FFF2-40B4-BE49-F238E27FC236}">
                <a16:creationId xmlns:a16="http://schemas.microsoft.com/office/drawing/2014/main" id="{458083DF-7BAE-4E4B-9052-EF903566946F}"/>
              </a:ext>
            </a:extLst>
          </p:cNvPr>
          <p:cNvSpPr>
            <a:spLocks xmlns:a="http://schemas.openxmlformats.org/drawingml/2006/main" noGrp="1"/>
          </p:cNvSpPr>
          <p:nvPr/>
        </p:nvSpPr>
        <p:spPr>
          <a:xfrm xmlns:a="http://schemas.openxmlformats.org/drawingml/2006/main">
            <a:off x="8667750" y="1695450"/>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450" b="1" i="0">
                <a:solidFill>
                  <a:srgbClr val="7057C7"/>
                </a:solidFill>
                <a:latin typeface="Helvetica Neue"/>
                <a:ea typeface="Helvetica Neue"/>
                <a:cs typeface="Helvetica Neue"/>
              </a:defRPr>
            </a:pPr>
            <a:r>
              <a:rPr sz="3450" b="1" i="0">
                <a:solidFill>
                  <a:srgbClr val="7057C7"/>
                </a:solidFill>
                <a:latin typeface="Helvetica Neue"/>
                <a:ea typeface="Helvetica Neue"/>
                <a:cs typeface="Helvetica Neue"/>
              </a:rPr>
              <a:t>0</a:t>
            </a:r>
          </a:p>
        </p:txBody>
      </p:sp>
      <p:sp>
        <p:nvSpPr>
          <p:cNvPr id="32" name="">
            <a:extLst xmlns:a="http://schemas.openxmlformats.org/drawingml/2006/main">
              <a:ext uri="{FF2B5EF4-FFF2-40B4-BE49-F238E27FC236}">
                <a16:creationId xmlns:a16="http://schemas.microsoft.com/office/drawing/2014/main" id="{92F6F0BD-74F1-4C33-8993-D1D3FD4B2F18}"/>
              </a:ext>
            </a:extLst>
          </p:cNvPr>
          <p:cNvSpPr>
            <a:spLocks xmlns:a="http://schemas.openxmlformats.org/drawingml/2006/main" noGrp="1"/>
          </p:cNvSpPr>
          <p:nvPr/>
        </p:nvSpPr>
        <p:spPr>
          <a:xfrm xmlns:a="http://schemas.openxmlformats.org/drawingml/2006/main">
            <a:off x="8667750" y="2362200"/>
            <a:ext cx="283845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9608"/>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repository validation/test</a:t>
            </a:r>
          </a:p>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labels opened</a:t>
            </a:r>
          </a:p>
        </p:txBody>
      </p:sp>
      <p:sp>
        <p:nvSpPr>
          <p:cNvPr id="33" name="">
            <a:extLst xmlns:a="http://schemas.openxmlformats.org/drawingml/2006/main">
              <a:ext uri="{FF2B5EF4-FFF2-40B4-BE49-F238E27FC236}">
                <a16:creationId xmlns:a16="http://schemas.microsoft.com/office/drawing/2014/main" id="{CE5C4D5C-BAD7-40C3-881A-F939C6B55AB8}"/>
              </a:ext>
            </a:extLst>
          </p:cNvPr>
          <p:cNvSpPr>
            <a:spLocks xmlns:a="http://schemas.openxmlformats.org/drawingml/2006/main" noGrp="1"/>
          </p:cNvSpPr>
          <p:nvPr/>
        </p:nvSpPr>
        <p:spPr>
          <a:xfrm xmlns:a="http://schemas.openxmlformats.org/drawingml/2006/main">
            <a:off x="400050" y="64579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i="0">
                <a:solidFill>
                  <a:srgbClr val="59616D"/>
                </a:solidFill>
                <a:latin typeface="Helvetica Neue"/>
                <a:ea typeface="Helvetica Neue"/>
                <a:cs typeface="Helvetica Neue"/>
              </a:defRPr>
            </a:pPr>
            <a:r>
              <a:rPr sz="788" b="0" i="0">
                <a:solidFill>
                  <a:srgbClr val="59616D"/>
                </a:solidFill>
                <a:latin typeface="Helvetica Neue"/>
                <a:ea typeface="Helvetica Neue"/>
                <a:cs typeface="Helvetica Neue"/>
              </a:rPr>
              <a:t>Internal analysis | train-only nested scaffold evaluation</a:t>
            </a:r>
          </a:p>
        </p:txBody>
      </p:sp>
      <p:sp>
        <p:nvSpPr>
          <p:cNvPr id="34" name="">
            <a:extLst xmlns:a="http://schemas.openxmlformats.org/drawingml/2006/main">
              <a:ext uri="{FF2B5EF4-FFF2-40B4-BE49-F238E27FC236}">
                <a16:creationId xmlns:a16="http://schemas.microsoft.com/office/drawing/2014/main" id="{974D2E15-CFA5-475F-AC47-B4B503721CEA}"/>
              </a:ext>
            </a:extLst>
          </p:cNvPr>
          <p:cNvSpPr>
            <a:spLocks xmlns:a="http://schemas.openxmlformats.org/drawingml/2006/main" noGrp="1"/>
          </p:cNvSpPr>
          <p:nvPr/>
        </p:nvSpPr>
        <p:spPr>
          <a:xfrm xmlns:a="http://schemas.openxmlformats.org/drawingml/2006/main">
            <a:off x="1125855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0" i="0">
                <a:solidFill>
                  <a:srgbClr val="59616D"/>
                </a:solidFill>
                <a:latin typeface="Helvetica Neue"/>
                <a:ea typeface="Helvetica Neue"/>
                <a:cs typeface="Helvetica Neue"/>
              </a:defRPr>
            </a:pPr>
            <a:r>
              <a:rPr sz="825" b="0" i="0">
                <a:solidFill>
                  <a:srgbClr val="59616D"/>
                </a:solidFill>
                <a:latin typeface="Helvetica Neue"/>
                <a:ea typeface="Helvetica Neue"/>
                <a:cs typeface="Helvetica Neue"/>
              </a:rPr>
              <a:t>03</a:t>
            </a:r>
          </a:p>
        </p:txBody>
      </p:sp>
    </p:spTree>
    <p:extLst>
      <p:ext uri="{BB962C8B-B14F-4D97-AF65-F5344CB8AC3E}">
        <p14:creationId xmlns:p14="http://schemas.microsoft.com/office/powerpoint/2010/main" val="15587039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55E8E3F-53F6-416E-B18E-B098ACC18BCC}"/>
              </a:ext>
            </a:extLst>
          </p:cNvPr>
          <p:cNvSpPr>
            <a:spLocks xmlns:a="http://schemas.openxmlformats.org/drawingml/2006/main" noGrp="1"/>
          </p:cNvSpPr>
          <p:nvPr/>
        </p:nvSpPr>
        <p:spPr>
          <a:xfrm xmlns:a="http://schemas.openxmlformats.org/drawingml/2006/main">
            <a:off x="4000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E63D5"/>
                </a:solidFill>
                <a:latin typeface="Helvetica Neue"/>
                <a:ea typeface="Helvetica Neue"/>
                <a:cs typeface="Helvetica Neue"/>
              </a:defRPr>
            </a:pPr>
            <a:r>
              <a:rPr sz="975" b="1" i="0">
                <a:solidFill>
                  <a:srgbClr val="1E63D5"/>
                </a:solidFill>
                <a:latin typeface="Helvetica Neue"/>
                <a:ea typeface="Helvetica Neue"/>
                <a:cs typeface="Helvetica Neue"/>
              </a:rPr>
              <a:t>FEATURE-FAMILY EVIDENCE</a:t>
            </a:r>
          </a:p>
        </p:txBody>
      </p:sp>
      <p:sp>
        <p:nvSpPr>
          <p:cNvPr id="2" name="">
            <a:extLst xmlns:a="http://schemas.openxmlformats.org/drawingml/2006/main">
              <a:ext uri="{FF2B5EF4-FFF2-40B4-BE49-F238E27FC236}">
                <a16:creationId xmlns:a16="http://schemas.microsoft.com/office/drawing/2014/main" id="{1119DA4C-DE9F-4EF8-9BFF-8D3F4FF396BC}"/>
              </a:ext>
            </a:extLst>
          </p:cNvPr>
          <p:cNvSpPr>
            <a:spLocks xmlns:a="http://schemas.openxmlformats.org/drawingml/2006/main" noGrp="1"/>
          </p:cNvSpPr>
          <p:nvPr/>
        </p:nvSpPr>
        <p:spPr>
          <a:xfrm xmlns:a="http://schemas.openxmlformats.org/drawingml/2006/main">
            <a:off x="400050" y="5143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2D chemistry carries the stable unique signal</a:t>
            </a:r>
          </a:p>
        </p:txBody>
      </p:sp>
      <p:cxnSp>
        <p:nvCxnSpPr>
          <p:cNvPr id="16" name=""/>
          <p:cNvCxnSpPr/>
          <p:nvPr/>
        </p:nvCxnSpPr>
        <p:spPr>
          <a:xfrm xmlns:a="http://schemas.openxmlformats.org/drawingml/2006/main">
            <a:off x="400050" y="1219200"/>
            <a:ext cx="11391900" cy="0"/>
          </a:xfrm>
          <a:prstGeom xmlns:a="http://schemas.openxmlformats.org/drawingml/2006/main" prst="straightConnector1">
            <a:avLst/>
          </a:prstGeom>
          <a:ln xmlns:a="http://schemas.openxmlformats.org/drawingml/2006/main" w="9525">
            <a:solidFill>
              <a:srgbClr val="D6DAE0"/>
            </a:solidFill>
            <a:prstDash val="solid"/>
          </a:ln>
        </p:spPr>
      </p:cxn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dfee240df914a5f"/>
          <a:stretch xmlns:a="http://schemas.openxmlformats.org/drawingml/2006/main"/>
        </p:blipFill>
        <p:spPr>
          <a:xfrm xmlns:a="http://schemas.openxmlformats.org/drawingml/2006/main">
            <a:off x="668621" y="1390650"/>
            <a:ext cx="6892358" cy="4800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4F98543-8F4F-4216-8215-AB03FA04DDFC}"/>
              </a:ext>
            </a:extLst>
          </p:cNvPr>
          <p:cNvSpPr>
            <a:spLocks xmlns:a="http://schemas.openxmlformats.org/drawingml/2006/main" noGrp="1"/>
          </p:cNvSpPr>
          <p:nvPr/>
        </p:nvSpPr>
        <p:spPr>
          <a:xfrm xmlns:a="http://schemas.openxmlformats.org/drawingml/2006/main">
            <a:off x="8096250" y="1428750"/>
            <a:ext cx="3619500" cy="1314450"/>
          </a:xfrm>
          <a:prstGeom xmlns:a="http://schemas.openxmlformats.org/drawingml/2006/main" prst="roundRect">
            <a:avLst>
              <a:gd name="adj" fmla="val 8696"/>
            </a:avLst>
          </a:prstGeom>
          <a:solidFill xmlns:a="http://schemas.openxmlformats.org/drawingml/2006/main">
            <a:srgbClr val="EAF2FF"/>
          </a:solidFill>
          <a:ln xmlns:a="http://schemas.openxmlformats.org/drawingml/2006/main" w="9525">
            <a:solidFill>
              <a:srgbClr val="EAF2FF"/>
            </a:solidFill>
            <a:prstDash val="solid"/>
          </a:ln>
        </p:spPr>
      </p:sp>
      <p:sp>
        <p:nvSpPr>
          <p:cNvPr id="6" name="">
            <a:extLst xmlns:a="http://schemas.openxmlformats.org/drawingml/2006/main">
              <a:ext uri="{FF2B5EF4-FFF2-40B4-BE49-F238E27FC236}">
                <a16:creationId xmlns:a16="http://schemas.microsoft.com/office/drawing/2014/main" id="{1C773545-8DC4-4AA3-B201-C64F7B906C88}"/>
              </a:ext>
            </a:extLst>
          </p:cNvPr>
          <p:cNvSpPr>
            <a:spLocks xmlns:a="http://schemas.openxmlformats.org/drawingml/2006/main" noGrp="1"/>
          </p:cNvSpPr>
          <p:nvPr/>
        </p:nvSpPr>
        <p:spPr>
          <a:xfrm xmlns:a="http://schemas.openxmlformats.org/drawingml/2006/main">
            <a:off x="8324850" y="16573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i="0">
                <a:solidFill>
                  <a:srgbClr val="1E63D5"/>
                </a:solidFill>
                <a:latin typeface="Helvetica Neue"/>
                <a:ea typeface="Helvetica Neue"/>
                <a:cs typeface="Helvetica Neue"/>
              </a:defRPr>
            </a:pPr>
            <a:r>
              <a:rPr sz="2475" b="1" i="0">
                <a:solidFill>
                  <a:srgbClr val="1E63D5"/>
                </a:solidFill>
                <a:latin typeface="Helvetica Neue"/>
                <a:ea typeface="Helvetica Neue"/>
                <a:cs typeface="Helvetica Neue"/>
              </a:rPr>
              <a:t>+0.0250 MAE</a:t>
            </a:r>
          </a:p>
        </p:txBody>
      </p:sp>
      <p:sp>
        <p:nvSpPr>
          <p:cNvPr id="7" name="">
            <a:extLst xmlns:a="http://schemas.openxmlformats.org/drawingml/2006/main">
              <a:ext uri="{FF2B5EF4-FFF2-40B4-BE49-F238E27FC236}">
                <a16:creationId xmlns:a16="http://schemas.microsoft.com/office/drawing/2014/main" id="{930F71C7-C7B1-4C70-A6C5-8B23FF616461}"/>
              </a:ext>
            </a:extLst>
          </p:cNvPr>
          <p:cNvSpPr>
            <a:spLocks xmlns:a="http://schemas.openxmlformats.org/drawingml/2006/main" noGrp="1"/>
          </p:cNvSpPr>
          <p:nvPr/>
        </p:nvSpPr>
        <p:spPr>
          <a:xfrm xmlns:a="http://schemas.openxmlformats.org/drawingml/2006/main">
            <a:off x="8324850" y="21907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when RDKit2D is removed</a:t>
            </a:r>
          </a:p>
        </p:txBody>
      </p:sp>
      <p:sp>
        <p:nvSpPr>
          <p:cNvPr id="8" name="">
            <a:extLst xmlns:a="http://schemas.openxmlformats.org/drawingml/2006/main">
              <a:ext uri="{FF2B5EF4-FFF2-40B4-BE49-F238E27FC236}">
                <a16:creationId xmlns:a16="http://schemas.microsoft.com/office/drawing/2014/main" id="{CF8930E9-DBFE-44DC-9472-FC8077F84CCE}"/>
              </a:ext>
            </a:extLst>
          </p:cNvPr>
          <p:cNvSpPr>
            <a:spLocks xmlns:a="http://schemas.openxmlformats.org/drawingml/2006/main" noGrp="1"/>
          </p:cNvSpPr>
          <p:nvPr/>
        </p:nvSpPr>
        <p:spPr>
          <a:xfrm xmlns:a="http://schemas.openxmlformats.org/drawingml/2006/main">
            <a:off x="8096250" y="2933700"/>
            <a:ext cx="3619500" cy="1314450"/>
          </a:xfrm>
          <a:prstGeom xmlns:a="http://schemas.openxmlformats.org/drawingml/2006/main" prst="roundRect">
            <a:avLst>
              <a:gd name="adj" fmla="val 8696"/>
            </a:avLst>
          </a:prstGeom>
          <a:solidFill xmlns:a="http://schemas.openxmlformats.org/drawingml/2006/main">
            <a:srgbClr val="E9F7F1"/>
          </a:solidFill>
          <a:ln xmlns:a="http://schemas.openxmlformats.org/drawingml/2006/main" w="9525">
            <a:solidFill>
              <a:srgbClr val="E9F7F1"/>
            </a:solidFill>
            <a:prstDash val="solid"/>
          </a:ln>
        </p:spPr>
      </p:sp>
      <p:sp>
        <p:nvSpPr>
          <p:cNvPr id="9" name="">
            <a:extLst xmlns:a="http://schemas.openxmlformats.org/drawingml/2006/main">
              <a:ext uri="{FF2B5EF4-FFF2-40B4-BE49-F238E27FC236}">
                <a16:creationId xmlns:a16="http://schemas.microsoft.com/office/drawing/2014/main" id="{DBE33D11-4A5C-4DBA-8AC2-7D7B0D8890B1}"/>
              </a:ext>
            </a:extLst>
          </p:cNvPr>
          <p:cNvSpPr>
            <a:spLocks xmlns:a="http://schemas.openxmlformats.org/drawingml/2006/main" noGrp="1"/>
          </p:cNvSpPr>
          <p:nvPr/>
        </p:nvSpPr>
        <p:spPr>
          <a:xfrm xmlns:a="http://schemas.openxmlformats.org/drawingml/2006/main">
            <a:off x="8324850" y="31623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i="0">
                <a:solidFill>
                  <a:srgbClr val="16805A"/>
                </a:solidFill>
                <a:latin typeface="Helvetica Neue"/>
                <a:ea typeface="Helvetica Neue"/>
                <a:cs typeface="Helvetica Neue"/>
              </a:defRPr>
            </a:pPr>
            <a:r>
              <a:rPr sz="2475" b="1" i="0">
                <a:solidFill>
                  <a:srgbClr val="16805A"/>
                </a:solidFill>
                <a:latin typeface="Helvetica Neue"/>
                <a:ea typeface="Helvetica Neue"/>
                <a:cs typeface="Helvetica Neue"/>
              </a:rPr>
              <a:t>+0.0065 MAE</a:t>
            </a:r>
          </a:p>
        </p:txBody>
      </p:sp>
      <p:sp>
        <p:nvSpPr>
          <p:cNvPr id="10" name="">
            <a:extLst xmlns:a="http://schemas.openxmlformats.org/drawingml/2006/main">
              <a:ext uri="{FF2B5EF4-FFF2-40B4-BE49-F238E27FC236}">
                <a16:creationId xmlns:a16="http://schemas.microsoft.com/office/drawing/2014/main" id="{1C84598F-9CE6-4056-B209-35219C85F00D}"/>
              </a:ext>
            </a:extLst>
          </p:cNvPr>
          <p:cNvSpPr>
            <a:spLocks xmlns:a="http://schemas.openxmlformats.org/drawingml/2006/main" noGrp="1"/>
          </p:cNvSpPr>
          <p:nvPr/>
        </p:nvSpPr>
        <p:spPr>
          <a:xfrm xmlns:a="http://schemas.openxmlformats.org/drawingml/2006/main">
            <a:off x="8324850" y="36957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when Morgan fingerprints are removed</a:t>
            </a:r>
          </a:p>
        </p:txBody>
      </p:sp>
      <p:sp>
        <p:nvSpPr>
          <p:cNvPr id="11" name="">
            <a:extLst xmlns:a="http://schemas.openxmlformats.org/drawingml/2006/main">
              <a:ext uri="{FF2B5EF4-FFF2-40B4-BE49-F238E27FC236}">
                <a16:creationId xmlns:a16="http://schemas.microsoft.com/office/drawing/2014/main" id="{9665D156-0FE4-40E3-976A-9D86AC35C930}"/>
              </a:ext>
            </a:extLst>
          </p:cNvPr>
          <p:cNvSpPr>
            <a:spLocks xmlns:a="http://schemas.openxmlformats.org/drawingml/2006/main" noGrp="1"/>
          </p:cNvSpPr>
          <p:nvPr/>
        </p:nvSpPr>
        <p:spPr>
          <a:xfrm xmlns:a="http://schemas.openxmlformats.org/drawingml/2006/main">
            <a:off x="8096250" y="4572000"/>
            <a:ext cx="3619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0B0F14"/>
                </a:solidFill>
                <a:latin typeface="Helvetica Neue"/>
                <a:ea typeface="Helvetica Neue"/>
                <a:cs typeface="Helvetica Neue"/>
              </a:defRPr>
            </a:pPr>
            <a:r>
              <a:rPr sz="1425" b="0" i="0">
                <a:solidFill>
                  <a:srgbClr val="0B0F14"/>
                </a:solidFill>
                <a:latin typeface="Helvetica Neue"/>
                <a:ea typeface="Helvetica Neue"/>
                <a:cs typeface="Helvetica Neue"/>
              </a:rPr>
              <a:t>Generic ligand-only 3D, shape, WHIM, energy/flexibility, and polarity/charge blocks did not show a stable independent aggregate gain.</a:t>
            </a:r>
          </a:p>
        </p:txBody>
      </p:sp>
      <p:sp>
        <p:nvSpPr>
          <p:cNvPr id="12" name="">
            <a:extLst xmlns:a="http://schemas.openxmlformats.org/drawingml/2006/main">
              <a:ext uri="{FF2B5EF4-FFF2-40B4-BE49-F238E27FC236}">
                <a16:creationId xmlns:a16="http://schemas.microsoft.com/office/drawing/2014/main" id="{F73AB972-2AE6-484A-A166-F58451361A9C}"/>
              </a:ext>
            </a:extLst>
          </p:cNvPr>
          <p:cNvSpPr>
            <a:spLocks xmlns:a="http://schemas.openxmlformats.org/drawingml/2006/main" noGrp="1"/>
          </p:cNvSpPr>
          <p:nvPr/>
        </p:nvSpPr>
        <p:spPr>
          <a:xfrm xmlns:a="http://schemas.openxmlformats.org/drawingml/2006/main">
            <a:off x="400050" y="64579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i="0">
                <a:solidFill>
                  <a:srgbClr val="59616D"/>
                </a:solidFill>
                <a:latin typeface="Helvetica Neue"/>
                <a:ea typeface="Helvetica Neue"/>
                <a:cs typeface="Helvetica Neue"/>
              </a:defRPr>
            </a:pPr>
            <a:r>
              <a:rPr sz="788" b="0" i="0">
                <a:solidFill>
                  <a:srgbClr val="59616D"/>
                </a:solidFill>
                <a:latin typeface="Helvetica Neue"/>
                <a:ea typeface="Helvetica Neue"/>
                <a:cs typeface="Helvetica Neue"/>
              </a:rPr>
              <a:t>Internal analysis | train-only nested scaffold evaluation</a:t>
            </a:r>
          </a:p>
        </p:txBody>
      </p:sp>
      <p:sp>
        <p:nvSpPr>
          <p:cNvPr id="13" name="">
            <a:extLst xmlns:a="http://schemas.openxmlformats.org/drawingml/2006/main">
              <a:ext uri="{FF2B5EF4-FFF2-40B4-BE49-F238E27FC236}">
                <a16:creationId xmlns:a16="http://schemas.microsoft.com/office/drawing/2014/main" id="{199DD4A7-8404-497D-B6FE-EF1F04B6AE95}"/>
              </a:ext>
            </a:extLst>
          </p:cNvPr>
          <p:cNvSpPr>
            <a:spLocks xmlns:a="http://schemas.openxmlformats.org/drawingml/2006/main" noGrp="1"/>
          </p:cNvSpPr>
          <p:nvPr/>
        </p:nvSpPr>
        <p:spPr>
          <a:xfrm xmlns:a="http://schemas.openxmlformats.org/drawingml/2006/main">
            <a:off x="1125855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0" i="0">
                <a:solidFill>
                  <a:srgbClr val="59616D"/>
                </a:solidFill>
                <a:latin typeface="Helvetica Neue"/>
                <a:ea typeface="Helvetica Neue"/>
                <a:cs typeface="Helvetica Neue"/>
              </a:defRPr>
            </a:pPr>
            <a:r>
              <a:rPr sz="825" b="0" i="0">
                <a:solidFill>
                  <a:srgbClr val="59616D"/>
                </a:solidFill>
                <a:latin typeface="Helvetica Neue"/>
                <a:ea typeface="Helvetica Neue"/>
                <a:cs typeface="Helvetica Neue"/>
              </a:rPr>
              <a:t>04</a:t>
            </a:r>
          </a:p>
        </p:txBody>
      </p:sp>
    </p:spTree>
    <p:extLst>
      <p:ext uri="{BB962C8B-B14F-4D97-AF65-F5344CB8AC3E}">
        <p14:creationId xmlns:p14="http://schemas.microsoft.com/office/powerpoint/2010/main" val="8770093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527F79F-CCB7-4ADC-AACC-564C6DE380C9}"/>
              </a:ext>
            </a:extLst>
          </p:cNvPr>
          <p:cNvSpPr>
            <a:spLocks xmlns:a="http://schemas.openxmlformats.org/drawingml/2006/main" noGrp="1"/>
          </p:cNvSpPr>
          <p:nvPr/>
        </p:nvSpPr>
        <p:spPr>
          <a:xfrm xmlns:a="http://schemas.openxmlformats.org/drawingml/2006/main">
            <a:off x="4000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E63D5"/>
                </a:solidFill>
                <a:latin typeface="Helvetica Neue"/>
                <a:ea typeface="Helvetica Neue"/>
                <a:cs typeface="Helvetica Neue"/>
              </a:defRPr>
            </a:pPr>
            <a:r>
              <a:rPr sz="975" b="1" i="0">
                <a:solidFill>
                  <a:srgbClr val="1E63D5"/>
                </a:solidFill>
                <a:latin typeface="Helvetica Neue"/>
                <a:ea typeface="Helvetica Neue"/>
                <a:cs typeface="Helvetica Neue"/>
              </a:rPr>
              <a:t>OPERATIONAL RELIABILITY</a:t>
            </a:r>
          </a:p>
        </p:txBody>
      </p:sp>
      <p:sp>
        <p:nvSpPr>
          <p:cNvPr id="2" name="">
            <a:extLst xmlns:a="http://schemas.openxmlformats.org/drawingml/2006/main">
              <a:ext uri="{FF2B5EF4-FFF2-40B4-BE49-F238E27FC236}">
                <a16:creationId xmlns:a16="http://schemas.microsoft.com/office/drawing/2014/main" id="{E087CC1F-20FD-49BD-BD0E-380E2201B082}"/>
              </a:ext>
            </a:extLst>
          </p:cNvPr>
          <p:cNvSpPr>
            <a:spLocks xmlns:a="http://schemas.openxmlformats.org/drawingml/2006/main" noGrp="1"/>
          </p:cNvSpPr>
          <p:nvPr/>
        </p:nvSpPr>
        <p:spPr>
          <a:xfrm xmlns:a="http://schemas.openxmlformats.org/drawingml/2006/main">
            <a:off x="400050" y="5143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Confidence is useful when it is tied to domain</a:t>
            </a:r>
          </a:p>
        </p:txBody>
      </p:sp>
      <p:cxnSp>
        <p:nvCxnSpPr>
          <p:cNvPr id="19" name=""/>
          <p:cNvCxnSpPr/>
          <p:nvPr/>
        </p:nvCxnSpPr>
        <p:spPr>
          <a:xfrm xmlns:a="http://schemas.openxmlformats.org/drawingml/2006/main">
            <a:off x="400050" y="1219200"/>
            <a:ext cx="11391900" cy="0"/>
          </a:xfrm>
          <a:prstGeom xmlns:a="http://schemas.openxmlformats.org/drawingml/2006/main" prst="straightConnector1">
            <a:avLst/>
          </a:prstGeom>
          <a:ln xmlns:a="http://schemas.openxmlformats.org/drawingml/2006/main" w="9525">
            <a:solidFill>
              <a:srgbClr val="D6DAE0"/>
            </a:solidFill>
            <a:prstDash val="solid"/>
          </a:ln>
        </p:spPr>
      </p:cxn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c4e7b71c9904d23"/>
          <a:stretch xmlns:a="http://schemas.openxmlformats.org/drawingml/2006/main"/>
        </p:blipFill>
        <p:spPr>
          <a:xfrm xmlns:a="http://schemas.openxmlformats.org/drawingml/2006/main">
            <a:off x="400050" y="1419672"/>
            <a:ext cx="7105650" cy="470445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3FF82BC-13E9-4ADD-831C-BF119B1EEA1D}"/>
              </a:ext>
            </a:extLst>
          </p:cNvPr>
          <p:cNvSpPr>
            <a:spLocks xmlns:a="http://schemas.openxmlformats.org/drawingml/2006/main" noGrp="1"/>
          </p:cNvSpPr>
          <p:nvPr/>
        </p:nvSpPr>
        <p:spPr>
          <a:xfrm xmlns:a="http://schemas.openxmlformats.org/drawingml/2006/main">
            <a:off x="7810500" y="1466850"/>
            <a:ext cx="1847850" cy="1276350"/>
          </a:xfrm>
          <a:prstGeom xmlns:a="http://schemas.openxmlformats.org/drawingml/2006/main" prst="roundRect">
            <a:avLst>
              <a:gd name="adj" fmla="val 8955"/>
            </a:avLst>
          </a:prstGeom>
          <a:solidFill xmlns:a="http://schemas.openxmlformats.org/drawingml/2006/main">
            <a:srgbClr val="F2F4F7"/>
          </a:solidFill>
          <a:ln xmlns:a="http://schemas.openxmlformats.org/drawingml/2006/main" w="9525">
            <a:solidFill>
              <a:srgbClr val="D6DAE0"/>
            </a:solidFill>
            <a:prstDash val="solid"/>
          </a:ln>
        </p:spPr>
      </p:sp>
      <p:sp>
        <p:nvSpPr>
          <p:cNvPr id="6" name="">
            <a:extLst xmlns:a="http://schemas.openxmlformats.org/drawingml/2006/main">
              <a:ext uri="{FF2B5EF4-FFF2-40B4-BE49-F238E27FC236}">
                <a16:creationId xmlns:a16="http://schemas.microsoft.com/office/drawing/2014/main" id="{7D46230B-15A3-4CD9-A73F-DD5D96F1D9AF}"/>
              </a:ext>
            </a:extLst>
          </p:cNvPr>
          <p:cNvSpPr>
            <a:spLocks xmlns:a="http://schemas.openxmlformats.org/drawingml/2006/main" noGrp="1"/>
          </p:cNvSpPr>
          <p:nvPr/>
        </p:nvSpPr>
        <p:spPr>
          <a:xfrm xmlns:a="http://schemas.openxmlformats.org/drawingml/2006/main">
            <a:off x="8020050" y="169545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450" b="1" i="0">
                <a:solidFill>
                  <a:srgbClr val="16805A"/>
                </a:solidFill>
                <a:latin typeface="Helvetica Neue"/>
                <a:ea typeface="Helvetica Neue"/>
                <a:cs typeface="Helvetica Neue"/>
              </a:defRPr>
            </a:pPr>
            <a:r>
              <a:rPr sz="3450" b="1" i="0">
                <a:solidFill>
                  <a:srgbClr val="16805A"/>
                </a:solidFill>
                <a:latin typeface="Helvetica Neue"/>
                <a:ea typeface="Helvetica Neue"/>
                <a:cs typeface="Helvetica Neue"/>
              </a:rPr>
              <a:t>0.379</a:t>
            </a:r>
          </a:p>
        </p:txBody>
      </p:sp>
      <p:sp>
        <p:nvSpPr>
          <p:cNvPr id="7" name="">
            <a:extLst xmlns:a="http://schemas.openxmlformats.org/drawingml/2006/main">
              <a:ext uri="{FF2B5EF4-FFF2-40B4-BE49-F238E27FC236}">
                <a16:creationId xmlns:a16="http://schemas.microsoft.com/office/drawing/2014/main" id="{9C5CA016-555A-4CFF-9B0C-2785C92B744B}"/>
              </a:ext>
            </a:extLst>
          </p:cNvPr>
          <p:cNvSpPr>
            <a:spLocks xmlns:a="http://schemas.openxmlformats.org/drawingml/2006/main" noGrp="1"/>
          </p:cNvSpPr>
          <p:nvPr/>
        </p:nvSpPr>
        <p:spPr>
          <a:xfrm xmlns:a="http://schemas.openxmlformats.org/drawingml/2006/main">
            <a:off x="8020050" y="23622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58823"/>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MAE</a:t>
            </a:r>
          </a:p>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in-domain</a:t>
            </a:r>
          </a:p>
        </p:txBody>
      </p:sp>
      <p:sp>
        <p:nvSpPr>
          <p:cNvPr id="8" name="">
            <a:extLst xmlns:a="http://schemas.openxmlformats.org/drawingml/2006/main">
              <a:ext uri="{FF2B5EF4-FFF2-40B4-BE49-F238E27FC236}">
                <a16:creationId xmlns:a16="http://schemas.microsoft.com/office/drawing/2014/main" id="{6423151D-777A-4B87-810C-828C6EEE19C8}"/>
              </a:ext>
            </a:extLst>
          </p:cNvPr>
          <p:cNvSpPr>
            <a:spLocks xmlns:a="http://schemas.openxmlformats.org/drawingml/2006/main" noGrp="1"/>
          </p:cNvSpPr>
          <p:nvPr/>
        </p:nvSpPr>
        <p:spPr>
          <a:xfrm xmlns:a="http://schemas.openxmlformats.org/drawingml/2006/main">
            <a:off x="9810750" y="1466850"/>
            <a:ext cx="1905000" cy="1276350"/>
          </a:xfrm>
          <a:prstGeom xmlns:a="http://schemas.openxmlformats.org/drawingml/2006/main" prst="roundRect">
            <a:avLst>
              <a:gd name="adj" fmla="val 8955"/>
            </a:avLst>
          </a:prstGeom>
          <a:solidFill xmlns:a="http://schemas.openxmlformats.org/drawingml/2006/main">
            <a:srgbClr val="F2F4F7"/>
          </a:solidFill>
          <a:ln xmlns:a="http://schemas.openxmlformats.org/drawingml/2006/main" w="9525">
            <a:solidFill>
              <a:srgbClr val="D6DAE0"/>
            </a:solidFill>
            <a:prstDash val="solid"/>
          </a:ln>
        </p:spPr>
      </p:sp>
      <p:sp>
        <p:nvSpPr>
          <p:cNvPr id="9" name="">
            <a:extLst xmlns:a="http://schemas.openxmlformats.org/drawingml/2006/main">
              <a:ext uri="{FF2B5EF4-FFF2-40B4-BE49-F238E27FC236}">
                <a16:creationId xmlns:a16="http://schemas.microsoft.com/office/drawing/2014/main" id="{9A5B42A0-5B53-44EA-B7CE-EDC0E33CBD0F}"/>
              </a:ext>
            </a:extLst>
          </p:cNvPr>
          <p:cNvSpPr>
            <a:spLocks xmlns:a="http://schemas.openxmlformats.org/drawingml/2006/main" noGrp="1"/>
          </p:cNvSpPr>
          <p:nvPr/>
        </p:nvSpPr>
        <p:spPr>
          <a:xfrm xmlns:a="http://schemas.openxmlformats.org/drawingml/2006/main">
            <a:off x="10020300" y="1695450"/>
            <a:ext cx="1485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450" b="1" i="0">
                <a:solidFill>
                  <a:srgbClr val="B84040"/>
                </a:solidFill>
                <a:latin typeface="Helvetica Neue"/>
                <a:ea typeface="Helvetica Neue"/>
                <a:cs typeface="Helvetica Neue"/>
              </a:defRPr>
            </a:pPr>
            <a:r>
              <a:rPr sz="3450" b="1" i="0">
                <a:solidFill>
                  <a:srgbClr val="B84040"/>
                </a:solidFill>
                <a:latin typeface="Helvetica Neue"/>
                <a:ea typeface="Helvetica Neue"/>
                <a:cs typeface="Helvetica Neue"/>
              </a:rPr>
              <a:t>0.560</a:t>
            </a:r>
          </a:p>
        </p:txBody>
      </p:sp>
      <p:sp>
        <p:nvSpPr>
          <p:cNvPr id="10" name="">
            <a:extLst xmlns:a="http://schemas.openxmlformats.org/drawingml/2006/main">
              <a:ext uri="{FF2B5EF4-FFF2-40B4-BE49-F238E27FC236}">
                <a16:creationId xmlns:a16="http://schemas.microsoft.com/office/drawing/2014/main" id="{B51525A0-B937-4688-95EB-EEE059A4390F}"/>
              </a:ext>
            </a:extLst>
          </p:cNvPr>
          <p:cNvSpPr>
            <a:spLocks xmlns:a="http://schemas.openxmlformats.org/drawingml/2006/main" noGrp="1"/>
          </p:cNvSpPr>
          <p:nvPr/>
        </p:nvSpPr>
        <p:spPr>
          <a:xfrm xmlns:a="http://schemas.openxmlformats.org/drawingml/2006/main">
            <a:off x="10020300" y="23622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58823"/>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MAE</a:t>
            </a:r>
          </a:p>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flagged</a:t>
            </a:r>
          </a:p>
        </p:txBody>
      </p:sp>
      <p:sp>
        <p:nvSpPr>
          <p:cNvPr id="11" name="">
            <a:extLst xmlns:a="http://schemas.openxmlformats.org/drawingml/2006/main">
              <a:ext uri="{FF2B5EF4-FFF2-40B4-BE49-F238E27FC236}">
                <a16:creationId xmlns:a16="http://schemas.microsoft.com/office/drawing/2014/main" id="{AAD28C75-04F3-4068-99E5-81302299567E}"/>
              </a:ext>
            </a:extLst>
          </p:cNvPr>
          <p:cNvSpPr>
            <a:spLocks xmlns:a="http://schemas.openxmlformats.org/drawingml/2006/main" noGrp="1"/>
          </p:cNvSpPr>
          <p:nvPr/>
        </p:nvSpPr>
        <p:spPr>
          <a:xfrm xmlns:a="http://schemas.openxmlformats.org/drawingml/2006/main">
            <a:off x="7810500" y="2990850"/>
            <a:ext cx="3905250" cy="1314450"/>
          </a:xfrm>
          <a:prstGeom xmlns:a="http://schemas.openxmlformats.org/drawingml/2006/main" prst="roundRect">
            <a:avLst>
              <a:gd name="adj" fmla="val 8696"/>
            </a:avLst>
          </a:prstGeom>
          <a:solidFill xmlns:a="http://schemas.openxmlformats.org/drawingml/2006/main">
            <a:srgbClr val="EAF2FF"/>
          </a:solidFill>
          <a:ln xmlns:a="http://schemas.openxmlformats.org/drawingml/2006/main" w="9525">
            <a:solidFill>
              <a:srgbClr val="EAF2FF"/>
            </a:solidFill>
            <a:prstDash val="solid"/>
          </a:ln>
        </p:spPr>
      </p:sp>
      <p:sp>
        <p:nvSpPr>
          <p:cNvPr id="12" name="">
            <a:extLst xmlns:a="http://schemas.openxmlformats.org/drawingml/2006/main">
              <a:ext uri="{FF2B5EF4-FFF2-40B4-BE49-F238E27FC236}">
                <a16:creationId xmlns:a16="http://schemas.microsoft.com/office/drawing/2014/main" id="{551AD909-586D-4666-93DC-0F24CC75844F}"/>
              </a:ext>
            </a:extLst>
          </p:cNvPr>
          <p:cNvSpPr>
            <a:spLocks xmlns:a="http://schemas.openxmlformats.org/drawingml/2006/main" noGrp="1"/>
          </p:cNvSpPr>
          <p:nvPr/>
        </p:nvSpPr>
        <p:spPr>
          <a:xfrm xmlns:a="http://schemas.openxmlformats.org/drawingml/2006/main">
            <a:off x="8039100" y="3219450"/>
            <a:ext cx="3448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i="0">
                <a:solidFill>
                  <a:srgbClr val="1E63D5"/>
                </a:solidFill>
                <a:latin typeface="Helvetica Neue"/>
                <a:ea typeface="Helvetica Neue"/>
                <a:cs typeface="Helvetica Neue"/>
              </a:defRPr>
            </a:pPr>
            <a:r>
              <a:rPr sz="2400" b="1" i="0">
                <a:solidFill>
                  <a:srgbClr val="1E63D5"/>
                </a:solidFill>
                <a:latin typeface="Helvetica Neue"/>
                <a:ea typeface="Helvetica Neue"/>
                <a:cs typeface="Helvetica Neue"/>
              </a:rPr>
              <a:t>91.3% coverage</a:t>
            </a:r>
          </a:p>
        </p:txBody>
      </p:sp>
      <p:sp>
        <p:nvSpPr>
          <p:cNvPr id="13" name="">
            <a:extLst xmlns:a="http://schemas.openxmlformats.org/drawingml/2006/main">
              <a:ext uri="{FF2B5EF4-FFF2-40B4-BE49-F238E27FC236}">
                <a16:creationId xmlns:a16="http://schemas.microsoft.com/office/drawing/2014/main" id="{EA5C793B-5A43-4AD8-976B-62E6BA25DD6D}"/>
              </a:ext>
            </a:extLst>
          </p:cNvPr>
          <p:cNvSpPr>
            <a:spLocks xmlns:a="http://schemas.openxmlformats.org/drawingml/2006/main" noGrp="1"/>
          </p:cNvSpPr>
          <p:nvPr/>
        </p:nvSpPr>
        <p:spPr>
          <a:xfrm xmlns:a="http://schemas.openxmlformats.org/drawingml/2006/main">
            <a:off x="8039100" y="3733800"/>
            <a:ext cx="3448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for the cross-fitted nominal 90% interval</a:t>
            </a:r>
          </a:p>
        </p:txBody>
      </p:sp>
      <p:sp>
        <p:nvSpPr>
          <p:cNvPr id="14" name="">
            <a:extLst xmlns:a="http://schemas.openxmlformats.org/drawingml/2006/main">
              <a:ext uri="{FF2B5EF4-FFF2-40B4-BE49-F238E27FC236}">
                <a16:creationId xmlns:a16="http://schemas.microsoft.com/office/drawing/2014/main" id="{222C2ADD-6546-4FB8-9262-DD12B9229F8A}"/>
              </a:ext>
            </a:extLst>
          </p:cNvPr>
          <p:cNvSpPr>
            <a:spLocks xmlns:a="http://schemas.openxmlformats.org/drawingml/2006/main" noGrp="1"/>
          </p:cNvSpPr>
          <p:nvPr/>
        </p:nvSpPr>
        <p:spPr>
          <a:xfrm xmlns:a="http://schemas.openxmlformats.org/drawingml/2006/main">
            <a:off x="7810500" y="4629150"/>
            <a:ext cx="3905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Negative control: ranking by interval width alone was nearly flat. The label-blind domain flag is the defensible abstention signal.</a:t>
            </a:r>
          </a:p>
        </p:txBody>
      </p:sp>
      <p:sp>
        <p:nvSpPr>
          <p:cNvPr id="15" name="">
            <a:extLst xmlns:a="http://schemas.openxmlformats.org/drawingml/2006/main">
              <a:ext uri="{FF2B5EF4-FFF2-40B4-BE49-F238E27FC236}">
                <a16:creationId xmlns:a16="http://schemas.microsoft.com/office/drawing/2014/main" id="{48995247-9F3D-4D1C-B49A-C0AFBF4B7A85}"/>
              </a:ext>
            </a:extLst>
          </p:cNvPr>
          <p:cNvSpPr>
            <a:spLocks xmlns:a="http://schemas.openxmlformats.org/drawingml/2006/main" noGrp="1"/>
          </p:cNvSpPr>
          <p:nvPr/>
        </p:nvSpPr>
        <p:spPr>
          <a:xfrm xmlns:a="http://schemas.openxmlformats.org/drawingml/2006/main">
            <a:off x="400050" y="64579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i="0">
                <a:solidFill>
                  <a:srgbClr val="59616D"/>
                </a:solidFill>
                <a:latin typeface="Helvetica Neue"/>
                <a:ea typeface="Helvetica Neue"/>
                <a:cs typeface="Helvetica Neue"/>
              </a:defRPr>
            </a:pPr>
            <a:r>
              <a:rPr sz="788" b="0" i="0">
                <a:solidFill>
                  <a:srgbClr val="59616D"/>
                </a:solidFill>
                <a:latin typeface="Helvetica Neue"/>
                <a:ea typeface="Helvetica Neue"/>
                <a:cs typeface="Helvetica Neue"/>
              </a:rPr>
              <a:t>Internal analysis | train-only nested scaffold evaluation</a:t>
            </a:r>
          </a:p>
        </p:txBody>
      </p:sp>
      <p:sp>
        <p:nvSpPr>
          <p:cNvPr id="16" name="">
            <a:extLst xmlns:a="http://schemas.openxmlformats.org/drawingml/2006/main">
              <a:ext uri="{FF2B5EF4-FFF2-40B4-BE49-F238E27FC236}">
                <a16:creationId xmlns:a16="http://schemas.microsoft.com/office/drawing/2014/main" id="{8A43C8D2-671C-458E-95D3-36B856056ED6}"/>
              </a:ext>
            </a:extLst>
          </p:cNvPr>
          <p:cNvSpPr>
            <a:spLocks xmlns:a="http://schemas.openxmlformats.org/drawingml/2006/main" noGrp="1"/>
          </p:cNvSpPr>
          <p:nvPr/>
        </p:nvSpPr>
        <p:spPr>
          <a:xfrm xmlns:a="http://schemas.openxmlformats.org/drawingml/2006/main">
            <a:off x="1125855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0" i="0">
                <a:solidFill>
                  <a:srgbClr val="59616D"/>
                </a:solidFill>
                <a:latin typeface="Helvetica Neue"/>
                <a:ea typeface="Helvetica Neue"/>
                <a:cs typeface="Helvetica Neue"/>
              </a:defRPr>
            </a:pPr>
            <a:r>
              <a:rPr sz="825" b="0" i="0">
                <a:solidFill>
                  <a:srgbClr val="59616D"/>
                </a:solidFill>
                <a:latin typeface="Helvetica Neue"/>
                <a:ea typeface="Helvetica Neue"/>
                <a:cs typeface="Helvetica Neue"/>
              </a:rPr>
              <a:t>05</a:t>
            </a:r>
          </a:p>
        </p:txBody>
      </p:sp>
    </p:spTree>
    <p:extLst>
      <p:ext uri="{BB962C8B-B14F-4D97-AF65-F5344CB8AC3E}">
        <p14:creationId xmlns:p14="http://schemas.microsoft.com/office/powerpoint/2010/main" val="1963491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DFE67C3-90F0-4CA6-8E82-03CED235E5D3}"/>
              </a:ext>
            </a:extLst>
          </p:cNvPr>
          <p:cNvSpPr>
            <a:spLocks xmlns:a="http://schemas.openxmlformats.org/drawingml/2006/main" noGrp="1"/>
          </p:cNvSpPr>
          <p:nvPr/>
        </p:nvSpPr>
        <p:spPr>
          <a:xfrm xmlns:a="http://schemas.openxmlformats.org/drawingml/2006/main">
            <a:off x="4000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E63D5"/>
                </a:solidFill>
                <a:latin typeface="Helvetica Neue"/>
                <a:ea typeface="Helvetica Neue"/>
                <a:cs typeface="Helvetica Neue"/>
              </a:defRPr>
            </a:pPr>
            <a:r>
              <a:rPr sz="975" b="1" i="0">
                <a:solidFill>
                  <a:srgbClr val="1E63D5"/>
                </a:solidFill>
                <a:latin typeface="Helvetica Neue"/>
                <a:ea typeface="Helvetica Neue"/>
                <a:cs typeface="Helvetica Neue"/>
              </a:rPr>
              <a:t>WHERE THE MODEL STILL FAILS</a:t>
            </a:r>
          </a:p>
        </p:txBody>
      </p:sp>
      <p:sp>
        <p:nvSpPr>
          <p:cNvPr id="2" name="">
            <a:extLst xmlns:a="http://schemas.openxmlformats.org/drawingml/2006/main">
              <a:ext uri="{FF2B5EF4-FFF2-40B4-BE49-F238E27FC236}">
                <a16:creationId xmlns:a16="http://schemas.microsoft.com/office/drawing/2014/main" id="{63263D6A-0F8B-45B1-BD84-E5549AC3B6D2}"/>
              </a:ext>
            </a:extLst>
          </p:cNvPr>
          <p:cNvSpPr>
            <a:spLocks xmlns:a="http://schemas.openxmlformats.org/drawingml/2006/main" noGrp="1"/>
          </p:cNvSpPr>
          <p:nvPr/>
        </p:nvSpPr>
        <p:spPr>
          <a:xfrm xmlns:a="http://schemas.openxmlformats.org/drawingml/2006/main">
            <a:off x="400050" y="5143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The remaining error ceiling is structured</a:t>
            </a:r>
          </a:p>
        </p:txBody>
      </p:sp>
      <p:cxnSp>
        <p:nvCxnSpPr>
          <p:cNvPr id="21" name=""/>
          <p:cNvCxnSpPr/>
          <p:nvPr/>
        </p:nvCxnSpPr>
        <p:spPr>
          <a:xfrm xmlns:a="http://schemas.openxmlformats.org/drawingml/2006/main">
            <a:off x="400050" y="1219200"/>
            <a:ext cx="11391900" cy="0"/>
          </a:xfrm>
          <a:prstGeom xmlns:a="http://schemas.openxmlformats.org/drawingml/2006/main" prst="straightConnector1">
            <a:avLst/>
          </a:prstGeom>
          <a:ln xmlns:a="http://schemas.openxmlformats.org/drawingml/2006/main" w="9525">
            <a:solidFill>
              <a:srgbClr val="D6DAE0"/>
            </a:solidFill>
            <a:prstDash val="solid"/>
          </a:ln>
        </p:spPr>
      </p:cxn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894b01fcd2c4613"/>
          <a:stretch xmlns:a="http://schemas.openxmlformats.org/drawingml/2006/main"/>
        </p:blipFill>
        <p:spPr>
          <a:xfrm xmlns:a="http://schemas.openxmlformats.org/drawingml/2006/main">
            <a:off x="400050" y="1407277"/>
            <a:ext cx="7639050" cy="482449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6449FEF-9953-4FA4-B0FE-15931F6F3C88}"/>
              </a:ext>
            </a:extLst>
          </p:cNvPr>
          <p:cNvSpPr>
            <a:spLocks xmlns:a="http://schemas.openxmlformats.org/drawingml/2006/main" noGrp="1"/>
          </p:cNvSpPr>
          <p:nvPr/>
        </p:nvSpPr>
        <p:spPr>
          <a:xfrm xmlns:a="http://schemas.openxmlformats.org/drawingml/2006/main">
            <a:off x="8305800" y="1466850"/>
            <a:ext cx="3409950" cy="914400"/>
          </a:xfrm>
          <a:prstGeom xmlns:a="http://schemas.openxmlformats.org/drawingml/2006/main" prst="roundRect">
            <a:avLst>
              <a:gd name="adj" fmla="val 12500"/>
            </a:avLst>
          </a:prstGeom>
          <a:solidFill xmlns:a="http://schemas.openxmlformats.org/drawingml/2006/main">
            <a:srgbClr val="FCECEC"/>
          </a:solidFill>
          <a:ln xmlns:a="http://schemas.openxmlformats.org/drawingml/2006/main" w="9525">
            <a:solidFill>
              <a:srgbClr val="FCECEC"/>
            </a:solidFill>
            <a:prstDash val="solid"/>
          </a:ln>
        </p:spPr>
      </p:sp>
      <p:sp>
        <p:nvSpPr>
          <p:cNvPr id="6" name="">
            <a:extLst xmlns:a="http://schemas.openxmlformats.org/drawingml/2006/main">
              <a:ext uri="{FF2B5EF4-FFF2-40B4-BE49-F238E27FC236}">
                <a16:creationId xmlns:a16="http://schemas.microsoft.com/office/drawing/2014/main" id="{B850F897-61FA-4B1D-B719-703981E5BA75}"/>
              </a:ext>
            </a:extLst>
          </p:cNvPr>
          <p:cNvSpPr>
            <a:spLocks xmlns:a="http://schemas.openxmlformats.org/drawingml/2006/main" noGrp="1"/>
          </p:cNvSpPr>
          <p:nvPr/>
        </p:nvSpPr>
        <p:spPr>
          <a:xfrm xmlns:a="http://schemas.openxmlformats.org/drawingml/2006/main">
            <a:off x="8515350" y="16192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B84040"/>
                </a:solidFill>
                <a:latin typeface="Helvetica Neue"/>
                <a:ea typeface="Helvetica Neue"/>
                <a:cs typeface="Helvetica Neue"/>
              </a:defRPr>
            </a:pPr>
            <a:r>
              <a:rPr sz="1500" b="1" i="0">
                <a:solidFill>
                  <a:srgbClr val="B84040"/>
                </a:solidFill>
                <a:latin typeface="Helvetica Neue"/>
                <a:ea typeface="Helvetica Neue"/>
                <a:cs typeface="Helvetica Neue"/>
              </a:rPr>
              <a:t>Label conflict</a:t>
            </a:r>
          </a:p>
        </p:txBody>
      </p:sp>
      <p:sp>
        <p:nvSpPr>
          <p:cNvPr id="7" name="">
            <a:extLst xmlns:a="http://schemas.openxmlformats.org/drawingml/2006/main">
              <a:ext uri="{FF2B5EF4-FFF2-40B4-BE49-F238E27FC236}">
                <a16:creationId xmlns:a16="http://schemas.microsoft.com/office/drawing/2014/main" id="{0DF58CB1-2795-4CF3-BC68-1473729E7623}"/>
              </a:ext>
            </a:extLst>
          </p:cNvPr>
          <p:cNvSpPr>
            <a:spLocks xmlns:a="http://schemas.openxmlformats.org/drawingml/2006/main" noGrp="1"/>
          </p:cNvSpPr>
          <p:nvPr/>
        </p:nvSpPr>
        <p:spPr>
          <a:xfrm xmlns:a="http://schemas.openxmlformats.org/drawingml/2006/main">
            <a:off x="8515350" y="19621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0" i="0">
                <a:solidFill>
                  <a:srgbClr val="59616D"/>
                </a:solidFill>
                <a:latin typeface="Helvetica Neue"/>
                <a:ea typeface="Helvetica Neue"/>
                <a:cs typeface="Helvetica Neue"/>
              </a:defRPr>
            </a:pPr>
            <a:r>
              <a:rPr sz="1163" b="0" i="0">
                <a:solidFill>
                  <a:srgbClr val="59616D"/>
                </a:solidFill>
                <a:latin typeface="Helvetica Neue"/>
                <a:ea typeface="Helvetica Neue"/>
                <a:cs typeface="Helvetica Neue"/>
              </a:rPr>
              <a:t>Replicate spread &gt;1 log: MAE 1.046</a:t>
            </a:r>
          </a:p>
        </p:txBody>
      </p:sp>
      <p:sp>
        <p:nvSpPr>
          <p:cNvPr id="8" name="">
            <a:extLst xmlns:a="http://schemas.openxmlformats.org/drawingml/2006/main">
              <a:ext uri="{FF2B5EF4-FFF2-40B4-BE49-F238E27FC236}">
                <a16:creationId xmlns:a16="http://schemas.microsoft.com/office/drawing/2014/main" id="{ADC15CB8-492C-4866-867A-365E91874632}"/>
              </a:ext>
            </a:extLst>
          </p:cNvPr>
          <p:cNvSpPr>
            <a:spLocks xmlns:a="http://schemas.openxmlformats.org/drawingml/2006/main" noGrp="1"/>
          </p:cNvSpPr>
          <p:nvPr/>
        </p:nvSpPr>
        <p:spPr>
          <a:xfrm xmlns:a="http://schemas.openxmlformats.org/drawingml/2006/main">
            <a:off x="8305800" y="2590800"/>
            <a:ext cx="3409950" cy="914400"/>
          </a:xfrm>
          <a:prstGeom xmlns:a="http://schemas.openxmlformats.org/drawingml/2006/main" prst="roundRect">
            <a:avLst>
              <a:gd name="adj" fmla="val 12500"/>
            </a:avLst>
          </a:prstGeom>
          <a:solidFill xmlns:a="http://schemas.openxmlformats.org/drawingml/2006/main">
            <a:srgbClr val="FFF2E8"/>
          </a:solidFill>
          <a:ln xmlns:a="http://schemas.openxmlformats.org/drawingml/2006/main" w="9525">
            <a:solidFill>
              <a:srgbClr val="FFF2E8"/>
            </a:solidFill>
            <a:prstDash val="solid"/>
          </a:ln>
        </p:spPr>
      </p:sp>
      <p:sp>
        <p:nvSpPr>
          <p:cNvPr id="9" name="">
            <a:extLst xmlns:a="http://schemas.openxmlformats.org/drawingml/2006/main">
              <a:ext uri="{FF2B5EF4-FFF2-40B4-BE49-F238E27FC236}">
                <a16:creationId xmlns:a16="http://schemas.microsoft.com/office/drawing/2014/main" id="{B451B86C-BDD1-46A5-B6A0-EAE4F7D3C2C5}"/>
              </a:ext>
            </a:extLst>
          </p:cNvPr>
          <p:cNvSpPr>
            <a:spLocks xmlns:a="http://schemas.openxmlformats.org/drawingml/2006/main" noGrp="1"/>
          </p:cNvSpPr>
          <p:nvPr/>
        </p:nvSpPr>
        <p:spPr>
          <a:xfrm xmlns:a="http://schemas.openxmlformats.org/drawingml/2006/main">
            <a:off x="8515350" y="27432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C96A18"/>
                </a:solidFill>
                <a:latin typeface="Helvetica Neue"/>
                <a:ea typeface="Helvetica Neue"/>
                <a:cs typeface="Helvetica Neue"/>
              </a:defRPr>
            </a:pPr>
            <a:r>
              <a:rPr sz="1500" b="1" i="0">
                <a:solidFill>
                  <a:srgbClr val="C96A18"/>
                </a:solidFill>
                <a:latin typeface="Helvetica Neue"/>
                <a:ea typeface="Helvetica Neue"/>
                <a:cs typeface="Helvetica Neue"/>
              </a:rPr>
              <a:t>Potency tails</a:t>
            </a:r>
          </a:p>
        </p:txBody>
      </p:sp>
      <p:sp>
        <p:nvSpPr>
          <p:cNvPr id="10" name="">
            <a:extLst xmlns:a="http://schemas.openxmlformats.org/drawingml/2006/main">
              <a:ext uri="{FF2B5EF4-FFF2-40B4-BE49-F238E27FC236}">
                <a16:creationId xmlns:a16="http://schemas.microsoft.com/office/drawing/2014/main" id="{E682CF93-F932-40B4-9757-46D6B5A7C9CC}"/>
              </a:ext>
            </a:extLst>
          </p:cNvPr>
          <p:cNvSpPr>
            <a:spLocks xmlns:a="http://schemas.openxmlformats.org/drawingml/2006/main" noGrp="1"/>
          </p:cNvSpPr>
          <p:nvPr/>
        </p:nvSpPr>
        <p:spPr>
          <a:xfrm xmlns:a="http://schemas.openxmlformats.org/drawingml/2006/main">
            <a:off x="8515350" y="30861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0" i="0">
                <a:solidFill>
                  <a:srgbClr val="59616D"/>
                </a:solidFill>
                <a:latin typeface="Helvetica Neue"/>
                <a:ea typeface="Helvetica Neue"/>
                <a:cs typeface="Helvetica Neue"/>
              </a:defRPr>
            </a:pPr>
            <a:r>
              <a:rPr sz="1163" b="0" i="0">
                <a:solidFill>
                  <a:srgbClr val="59616D"/>
                </a:solidFill>
                <a:latin typeface="Helvetica Neue"/>
                <a:ea typeface="Helvetica Neue"/>
                <a:cs typeface="Helvetica Neue"/>
              </a:rPr>
              <a:t>Strong regression toward the mean</a:t>
            </a:r>
          </a:p>
        </p:txBody>
      </p:sp>
      <p:sp>
        <p:nvSpPr>
          <p:cNvPr id="11" name="">
            <a:extLst xmlns:a="http://schemas.openxmlformats.org/drawingml/2006/main">
              <a:ext uri="{FF2B5EF4-FFF2-40B4-BE49-F238E27FC236}">
                <a16:creationId xmlns:a16="http://schemas.microsoft.com/office/drawing/2014/main" id="{4345041A-5E73-41CB-9A30-B914712A7A52}"/>
              </a:ext>
            </a:extLst>
          </p:cNvPr>
          <p:cNvSpPr>
            <a:spLocks xmlns:a="http://schemas.openxmlformats.org/drawingml/2006/main" noGrp="1"/>
          </p:cNvSpPr>
          <p:nvPr/>
        </p:nvSpPr>
        <p:spPr>
          <a:xfrm xmlns:a="http://schemas.openxmlformats.org/drawingml/2006/main">
            <a:off x="8305800" y="3714750"/>
            <a:ext cx="3409950" cy="914400"/>
          </a:xfrm>
          <a:prstGeom xmlns:a="http://schemas.openxmlformats.org/drawingml/2006/main" prst="roundRect">
            <a:avLst>
              <a:gd name="adj" fmla="val 12500"/>
            </a:avLst>
          </a:prstGeom>
          <a:solidFill xmlns:a="http://schemas.openxmlformats.org/drawingml/2006/main">
            <a:srgbClr val="EAF2FF"/>
          </a:solidFill>
          <a:ln xmlns:a="http://schemas.openxmlformats.org/drawingml/2006/main" w="9525">
            <a:solidFill>
              <a:srgbClr val="EAF2FF"/>
            </a:solidFill>
            <a:prstDash val="solid"/>
          </a:ln>
        </p:spPr>
      </p:sp>
      <p:sp>
        <p:nvSpPr>
          <p:cNvPr id="12" name="">
            <a:extLst xmlns:a="http://schemas.openxmlformats.org/drawingml/2006/main">
              <a:ext uri="{FF2B5EF4-FFF2-40B4-BE49-F238E27FC236}">
                <a16:creationId xmlns:a16="http://schemas.microsoft.com/office/drawing/2014/main" id="{791F7CF8-4CC8-48C3-A036-4E39F71B223F}"/>
              </a:ext>
            </a:extLst>
          </p:cNvPr>
          <p:cNvSpPr>
            <a:spLocks xmlns:a="http://schemas.openxmlformats.org/drawingml/2006/main" noGrp="1"/>
          </p:cNvSpPr>
          <p:nvPr/>
        </p:nvSpPr>
        <p:spPr>
          <a:xfrm xmlns:a="http://schemas.openxmlformats.org/drawingml/2006/main">
            <a:off x="8515350" y="38671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E63D5"/>
                </a:solidFill>
                <a:latin typeface="Helvetica Neue"/>
                <a:ea typeface="Helvetica Neue"/>
                <a:cs typeface="Helvetica Neue"/>
              </a:defRPr>
            </a:pPr>
            <a:r>
              <a:rPr sz="1500" b="1" i="0">
                <a:solidFill>
                  <a:srgbClr val="1E63D5"/>
                </a:solidFill>
                <a:latin typeface="Helvetica Neue"/>
                <a:ea typeface="Helvetica Neue"/>
                <a:cs typeface="Helvetica Neue"/>
              </a:rPr>
              <a:t>Low similarity</a:t>
            </a:r>
          </a:p>
        </p:txBody>
      </p:sp>
      <p:sp>
        <p:nvSpPr>
          <p:cNvPr id="13" name="">
            <a:extLst xmlns:a="http://schemas.openxmlformats.org/drawingml/2006/main">
              <a:ext uri="{FF2B5EF4-FFF2-40B4-BE49-F238E27FC236}">
                <a16:creationId xmlns:a16="http://schemas.microsoft.com/office/drawing/2014/main" id="{63FFB094-07D2-45B4-BEDB-0B88CC64C503}"/>
              </a:ext>
            </a:extLst>
          </p:cNvPr>
          <p:cNvSpPr>
            <a:spLocks xmlns:a="http://schemas.openxmlformats.org/drawingml/2006/main" noGrp="1"/>
          </p:cNvSpPr>
          <p:nvPr/>
        </p:nvSpPr>
        <p:spPr>
          <a:xfrm xmlns:a="http://schemas.openxmlformats.org/drawingml/2006/main">
            <a:off x="8515350" y="42100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0" i="0">
                <a:solidFill>
                  <a:srgbClr val="59616D"/>
                </a:solidFill>
                <a:latin typeface="Helvetica Neue"/>
                <a:ea typeface="Helvetica Neue"/>
                <a:cs typeface="Helvetica Neue"/>
              </a:defRPr>
            </a:pPr>
            <a:r>
              <a:rPr sz="1163" b="0" i="0">
                <a:solidFill>
                  <a:srgbClr val="59616D"/>
                </a:solidFill>
                <a:latin typeface="Helvetica Neue"/>
                <a:ea typeface="Helvetica Neue"/>
                <a:cs typeface="Helvetica Neue"/>
              </a:rPr>
              <a:t>Error rises outside supported chemistry</a:t>
            </a:r>
          </a:p>
        </p:txBody>
      </p:sp>
      <p:sp>
        <p:nvSpPr>
          <p:cNvPr id="14" name="">
            <a:extLst xmlns:a="http://schemas.openxmlformats.org/drawingml/2006/main">
              <a:ext uri="{FF2B5EF4-FFF2-40B4-BE49-F238E27FC236}">
                <a16:creationId xmlns:a16="http://schemas.microsoft.com/office/drawing/2014/main" id="{3083002A-EB67-48E1-B37E-8B3438756941}"/>
              </a:ext>
            </a:extLst>
          </p:cNvPr>
          <p:cNvSpPr>
            <a:spLocks xmlns:a="http://schemas.openxmlformats.org/drawingml/2006/main" noGrp="1"/>
          </p:cNvSpPr>
          <p:nvPr/>
        </p:nvSpPr>
        <p:spPr>
          <a:xfrm xmlns:a="http://schemas.openxmlformats.org/drawingml/2006/main">
            <a:off x="8305800" y="4838700"/>
            <a:ext cx="3409950" cy="914400"/>
          </a:xfrm>
          <a:prstGeom xmlns:a="http://schemas.openxmlformats.org/drawingml/2006/main" prst="roundRect">
            <a:avLst>
              <a:gd name="adj" fmla="val 12500"/>
            </a:avLst>
          </a:prstGeom>
          <a:solidFill xmlns:a="http://schemas.openxmlformats.org/drawingml/2006/main">
            <a:srgbClr val="F2F4F7"/>
          </a:solidFill>
          <a:ln xmlns:a="http://schemas.openxmlformats.org/drawingml/2006/main" w="9525">
            <a:solidFill>
              <a:srgbClr val="F2F4F7"/>
            </a:solidFill>
            <a:prstDash val="solid"/>
          </a:ln>
        </p:spPr>
      </p:sp>
      <p:sp>
        <p:nvSpPr>
          <p:cNvPr id="15" name="">
            <a:extLst xmlns:a="http://schemas.openxmlformats.org/drawingml/2006/main">
              <a:ext uri="{FF2B5EF4-FFF2-40B4-BE49-F238E27FC236}">
                <a16:creationId xmlns:a16="http://schemas.microsoft.com/office/drawing/2014/main" id="{4B4BECEE-FBF0-4156-8322-A6A651D991E0}"/>
              </a:ext>
            </a:extLst>
          </p:cNvPr>
          <p:cNvSpPr>
            <a:spLocks xmlns:a="http://schemas.openxmlformats.org/drawingml/2006/main" noGrp="1"/>
          </p:cNvSpPr>
          <p:nvPr/>
        </p:nvSpPr>
        <p:spPr>
          <a:xfrm xmlns:a="http://schemas.openxmlformats.org/drawingml/2006/main">
            <a:off x="8515350" y="49911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0B0F14"/>
                </a:solidFill>
                <a:latin typeface="Helvetica Neue"/>
                <a:ea typeface="Helvetica Neue"/>
                <a:cs typeface="Helvetica Neue"/>
              </a:defRPr>
            </a:pPr>
            <a:r>
              <a:rPr sz="1500" b="1" i="0">
                <a:solidFill>
                  <a:srgbClr val="0B0F14"/>
                </a:solidFill>
                <a:latin typeface="Helvetica Neue"/>
                <a:ea typeface="Helvetica Neue"/>
                <a:cs typeface="Helvetica Neue"/>
              </a:rPr>
              <a:t>Very heavy</a:t>
            </a:r>
          </a:p>
        </p:txBody>
      </p:sp>
      <p:sp>
        <p:nvSpPr>
          <p:cNvPr id="16" name="">
            <a:extLst xmlns:a="http://schemas.openxmlformats.org/drawingml/2006/main">
              <a:ext uri="{FF2B5EF4-FFF2-40B4-BE49-F238E27FC236}">
                <a16:creationId xmlns:a16="http://schemas.microsoft.com/office/drawing/2014/main" id="{4612440C-59D8-4F1F-B9F4-C06A026CE053}"/>
              </a:ext>
            </a:extLst>
          </p:cNvPr>
          <p:cNvSpPr>
            <a:spLocks xmlns:a="http://schemas.openxmlformats.org/drawingml/2006/main" noGrp="1"/>
          </p:cNvSpPr>
          <p:nvPr/>
        </p:nvSpPr>
        <p:spPr>
          <a:xfrm xmlns:a="http://schemas.openxmlformats.org/drawingml/2006/main">
            <a:off x="8515350" y="53340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0" i="0">
                <a:solidFill>
                  <a:srgbClr val="59616D"/>
                </a:solidFill>
                <a:latin typeface="Helvetica Neue"/>
                <a:ea typeface="Helvetica Neue"/>
                <a:cs typeface="Helvetica Neue"/>
              </a:defRPr>
            </a:pPr>
            <a:r>
              <a:rPr sz="1163" b="0" i="0">
                <a:solidFill>
                  <a:srgbClr val="59616D"/>
                </a:solidFill>
                <a:latin typeface="Helvetica Neue"/>
                <a:ea typeface="Helvetica Neue"/>
                <a:cs typeface="Helvetica Neue"/>
              </a:rPr>
              <a:t>&gt;=700 Da: MAE 0.518 (n=218)</a:t>
            </a:r>
          </a:p>
        </p:txBody>
      </p:sp>
      <p:sp>
        <p:nvSpPr>
          <p:cNvPr id="17" name="">
            <a:extLst xmlns:a="http://schemas.openxmlformats.org/drawingml/2006/main">
              <a:ext uri="{FF2B5EF4-FFF2-40B4-BE49-F238E27FC236}">
                <a16:creationId xmlns:a16="http://schemas.microsoft.com/office/drawing/2014/main" id="{4475BE05-817A-431C-9398-4FF570C008D3}"/>
              </a:ext>
            </a:extLst>
          </p:cNvPr>
          <p:cNvSpPr>
            <a:spLocks xmlns:a="http://schemas.openxmlformats.org/drawingml/2006/main" noGrp="1"/>
          </p:cNvSpPr>
          <p:nvPr/>
        </p:nvSpPr>
        <p:spPr>
          <a:xfrm xmlns:a="http://schemas.openxmlformats.org/drawingml/2006/main">
            <a:off x="400050" y="64579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i="0">
                <a:solidFill>
                  <a:srgbClr val="59616D"/>
                </a:solidFill>
                <a:latin typeface="Helvetica Neue"/>
                <a:ea typeface="Helvetica Neue"/>
                <a:cs typeface="Helvetica Neue"/>
              </a:defRPr>
            </a:pPr>
            <a:r>
              <a:rPr sz="788" b="0" i="0">
                <a:solidFill>
                  <a:srgbClr val="59616D"/>
                </a:solidFill>
                <a:latin typeface="Helvetica Neue"/>
                <a:ea typeface="Helvetica Neue"/>
                <a:cs typeface="Helvetica Neue"/>
              </a:rPr>
              <a:t>Internal analysis | train-only nested scaffold evaluation</a:t>
            </a:r>
          </a:p>
        </p:txBody>
      </p:sp>
      <p:sp>
        <p:nvSpPr>
          <p:cNvPr id="18" name="">
            <a:extLst xmlns:a="http://schemas.openxmlformats.org/drawingml/2006/main">
              <a:ext uri="{FF2B5EF4-FFF2-40B4-BE49-F238E27FC236}">
                <a16:creationId xmlns:a16="http://schemas.microsoft.com/office/drawing/2014/main" id="{749E2889-3A40-4CCE-BEE0-C4AE930E5F3F}"/>
              </a:ext>
            </a:extLst>
          </p:cNvPr>
          <p:cNvSpPr>
            <a:spLocks xmlns:a="http://schemas.openxmlformats.org/drawingml/2006/main" noGrp="1"/>
          </p:cNvSpPr>
          <p:nvPr/>
        </p:nvSpPr>
        <p:spPr>
          <a:xfrm xmlns:a="http://schemas.openxmlformats.org/drawingml/2006/main">
            <a:off x="1125855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0" i="0">
                <a:solidFill>
                  <a:srgbClr val="59616D"/>
                </a:solidFill>
                <a:latin typeface="Helvetica Neue"/>
                <a:ea typeface="Helvetica Neue"/>
                <a:cs typeface="Helvetica Neue"/>
              </a:defRPr>
            </a:pPr>
            <a:r>
              <a:rPr sz="825" b="0" i="0">
                <a:solidFill>
                  <a:srgbClr val="59616D"/>
                </a:solidFill>
                <a:latin typeface="Helvetica Neue"/>
                <a:ea typeface="Helvetica Neue"/>
                <a:cs typeface="Helvetica Neue"/>
              </a:rPr>
              <a:t>06</a:t>
            </a:r>
          </a:p>
        </p:txBody>
      </p:sp>
    </p:spTree>
    <p:extLst>
      <p:ext uri="{BB962C8B-B14F-4D97-AF65-F5344CB8AC3E}">
        <p14:creationId xmlns:p14="http://schemas.microsoft.com/office/powerpoint/2010/main" val="9245176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85407AC-F721-449E-AA73-100881226D50}"/>
              </a:ext>
            </a:extLst>
          </p:cNvPr>
          <p:cNvSpPr>
            <a:spLocks xmlns:a="http://schemas.openxmlformats.org/drawingml/2006/main" noGrp="1"/>
          </p:cNvSpPr>
          <p:nvPr/>
        </p:nvSpPr>
        <p:spPr>
          <a:xfrm xmlns:a="http://schemas.openxmlformats.org/drawingml/2006/main">
            <a:off x="4000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E63D5"/>
                </a:solidFill>
                <a:latin typeface="Helvetica Neue"/>
                <a:ea typeface="Helvetica Neue"/>
                <a:cs typeface="Helvetica Neue"/>
              </a:defRPr>
            </a:pPr>
            <a:r>
              <a:rPr sz="975" b="1" i="0">
                <a:solidFill>
                  <a:srgbClr val="1E63D5"/>
                </a:solidFill>
                <a:latin typeface="Helvetica Neue"/>
                <a:ea typeface="Helvetica Neue"/>
                <a:cs typeface="Helvetica Neue"/>
              </a:rPr>
              <a:t>MATCHED-PAIR RESULT</a:t>
            </a:r>
          </a:p>
        </p:txBody>
      </p:sp>
      <p:sp>
        <p:nvSpPr>
          <p:cNvPr id="2" name="">
            <a:extLst xmlns:a="http://schemas.openxmlformats.org/drawingml/2006/main">
              <a:ext uri="{FF2B5EF4-FFF2-40B4-BE49-F238E27FC236}">
                <a16:creationId xmlns:a16="http://schemas.microsoft.com/office/drawing/2014/main" id="{6200AAF1-ADA3-491C-BF7B-6B6629BC30C9}"/>
              </a:ext>
            </a:extLst>
          </p:cNvPr>
          <p:cNvSpPr>
            <a:spLocks xmlns:a="http://schemas.openxmlformats.org/drawingml/2006/main" noGrp="1"/>
          </p:cNvSpPr>
          <p:nvPr/>
        </p:nvSpPr>
        <p:spPr>
          <a:xfrm xmlns:a="http://schemas.openxmlformats.org/drawingml/2006/main">
            <a:off x="400050" y="5143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Local analog evidence helps—but only where it exists</a:t>
            </a:r>
          </a:p>
        </p:txBody>
      </p:sp>
      <p:cxnSp>
        <p:nvCxnSpPr>
          <p:cNvPr id="19" name=""/>
          <p:cNvCxnSpPr/>
          <p:nvPr/>
        </p:nvCxnSpPr>
        <p:spPr>
          <a:xfrm xmlns:a="http://schemas.openxmlformats.org/drawingml/2006/main">
            <a:off x="400050" y="1219200"/>
            <a:ext cx="11391900" cy="0"/>
          </a:xfrm>
          <a:prstGeom xmlns:a="http://schemas.openxmlformats.org/drawingml/2006/main" prst="straightConnector1">
            <a:avLst/>
          </a:prstGeom>
          <a:ln xmlns:a="http://schemas.openxmlformats.org/drawingml/2006/main" w="9525">
            <a:solidFill>
              <a:srgbClr val="D6DAE0"/>
            </a:solidFill>
            <a:prstDash val="solid"/>
          </a:ln>
        </p:spPr>
      </p:cxn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352bc02c72e4efe"/>
          <a:stretch xmlns:a="http://schemas.openxmlformats.org/drawingml/2006/main"/>
        </p:blipFill>
        <p:spPr>
          <a:xfrm xmlns:a="http://schemas.openxmlformats.org/drawingml/2006/main">
            <a:off x="400050" y="1432285"/>
            <a:ext cx="7067550" cy="467923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932CC09-560C-4738-B705-C93C20C39DEC}"/>
              </a:ext>
            </a:extLst>
          </p:cNvPr>
          <p:cNvSpPr>
            <a:spLocks xmlns:a="http://schemas.openxmlformats.org/drawingml/2006/main" noGrp="1"/>
          </p:cNvSpPr>
          <p:nvPr/>
        </p:nvSpPr>
        <p:spPr>
          <a:xfrm xmlns:a="http://schemas.openxmlformats.org/drawingml/2006/main">
            <a:off x="7810500" y="1466850"/>
            <a:ext cx="1809750" cy="1238250"/>
          </a:xfrm>
          <a:prstGeom xmlns:a="http://schemas.openxmlformats.org/drawingml/2006/main" prst="roundRect">
            <a:avLst>
              <a:gd name="adj" fmla="val 9231"/>
            </a:avLst>
          </a:prstGeom>
          <a:solidFill xmlns:a="http://schemas.openxmlformats.org/drawingml/2006/main">
            <a:srgbClr val="F2F4F7"/>
          </a:solidFill>
          <a:ln xmlns:a="http://schemas.openxmlformats.org/drawingml/2006/main" w="9525">
            <a:solidFill>
              <a:srgbClr val="D6DAE0"/>
            </a:solidFill>
            <a:prstDash val="solid"/>
          </a:ln>
        </p:spPr>
      </p:sp>
      <p:sp>
        <p:nvSpPr>
          <p:cNvPr id="6" name="">
            <a:extLst xmlns:a="http://schemas.openxmlformats.org/drawingml/2006/main">
              <a:ext uri="{FF2B5EF4-FFF2-40B4-BE49-F238E27FC236}">
                <a16:creationId xmlns:a16="http://schemas.microsoft.com/office/drawing/2014/main" id="{BAD7D2B2-1513-49A5-87C7-5353E26B8049}"/>
              </a:ext>
            </a:extLst>
          </p:cNvPr>
          <p:cNvSpPr>
            <a:spLocks xmlns:a="http://schemas.openxmlformats.org/drawingml/2006/main" noGrp="1"/>
          </p:cNvSpPr>
          <p:nvPr/>
        </p:nvSpPr>
        <p:spPr>
          <a:xfrm xmlns:a="http://schemas.openxmlformats.org/drawingml/2006/main">
            <a:off x="8020050" y="1695450"/>
            <a:ext cx="1390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450" b="1" i="0">
                <a:solidFill>
                  <a:srgbClr val="1E63D5"/>
                </a:solidFill>
                <a:latin typeface="Helvetica Neue"/>
                <a:ea typeface="Helvetica Neue"/>
                <a:cs typeface="Helvetica Neue"/>
              </a:defRPr>
            </a:pPr>
            <a:r>
              <a:rPr sz="3450" b="1" i="0">
                <a:solidFill>
                  <a:srgbClr val="1E63D5"/>
                </a:solidFill>
                <a:latin typeface="Helvetica Neue"/>
                <a:ea typeface="Helvetica Neue"/>
                <a:cs typeface="Helvetica Neue"/>
              </a:rPr>
              <a:t>41.7%</a:t>
            </a:r>
          </a:p>
        </p:txBody>
      </p:sp>
      <p:sp>
        <p:nvSpPr>
          <p:cNvPr id="7" name="">
            <a:extLst xmlns:a="http://schemas.openxmlformats.org/drawingml/2006/main">
              <a:ext uri="{FF2B5EF4-FFF2-40B4-BE49-F238E27FC236}">
                <a16:creationId xmlns:a16="http://schemas.microsoft.com/office/drawing/2014/main" id="{7A2AC174-FB0D-4BE1-AE86-656DFBA9C3D5}"/>
              </a:ext>
            </a:extLst>
          </p:cNvPr>
          <p:cNvSpPr>
            <a:spLocks xmlns:a="http://schemas.openxmlformats.org/drawingml/2006/main" noGrp="1"/>
          </p:cNvSpPr>
          <p:nvPr/>
        </p:nvSpPr>
        <p:spPr>
          <a:xfrm xmlns:a="http://schemas.openxmlformats.org/drawingml/2006/main">
            <a:off x="8020050" y="2362200"/>
            <a:ext cx="1390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4902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of structures have</a:t>
            </a:r>
          </a:p>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MMP analog support</a:t>
            </a:r>
          </a:p>
        </p:txBody>
      </p:sp>
      <p:sp>
        <p:nvSpPr>
          <p:cNvPr id="8" name="">
            <a:extLst xmlns:a="http://schemas.openxmlformats.org/drawingml/2006/main">
              <a:ext uri="{FF2B5EF4-FFF2-40B4-BE49-F238E27FC236}">
                <a16:creationId xmlns:a16="http://schemas.microsoft.com/office/drawing/2014/main" id="{AA8AEA91-BED6-4DEB-AE84-367B4B2CB036}"/>
              </a:ext>
            </a:extLst>
          </p:cNvPr>
          <p:cNvSpPr>
            <a:spLocks xmlns:a="http://schemas.openxmlformats.org/drawingml/2006/main" noGrp="1"/>
          </p:cNvSpPr>
          <p:nvPr/>
        </p:nvSpPr>
        <p:spPr>
          <a:xfrm xmlns:a="http://schemas.openxmlformats.org/drawingml/2006/main">
            <a:off x="9810750" y="1466850"/>
            <a:ext cx="1905000" cy="1238250"/>
          </a:xfrm>
          <a:prstGeom xmlns:a="http://schemas.openxmlformats.org/drawingml/2006/main" prst="roundRect">
            <a:avLst>
              <a:gd name="adj" fmla="val 9231"/>
            </a:avLst>
          </a:prstGeom>
          <a:solidFill xmlns:a="http://schemas.openxmlformats.org/drawingml/2006/main">
            <a:srgbClr val="F2F4F7"/>
          </a:solidFill>
          <a:ln xmlns:a="http://schemas.openxmlformats.org/drawingml/2006/main" w="9525">
            <a:solidFill>
              <a:srgbClr val="D6DAE0"/>
            </a:solidFill>
            <a:prstDash val="solid"/>
          </a:ln>
        </p:spPr>
      </p:sp>
      <p:sp>
        <p:nvSpPr>
          <p:cNvPr id="9" name="">
            <a:extLst xmlns:a="http://schemas.openxmlformats.org/drawingml/2006/main">
              <a:ext uri="{FF2B5EF4-FFF2-40B4-BE49-F238E27FC236}">
                <a16:creationId xmlns:a16="http://schemas.microsoft.com/office/drawing/2014/main" id="{2F5A0603-1391-411E-8170-475E7753FD39}"/>
              </a:ext>
            </a:extLst>
          </p:cNvPr>
          <p:cNvSpPr>
            <a:spLocks xmlns:a="http://schemas.openxmlformats.org/drawingml/2006/main" noGrp="1"/>
          </p:cNvSpPr>
          <p:nvPr/>
        </p:nvSpPr>
        <p:spPr>
          <a:xfrm xmlns:a="http://schemas.openxmlformats.org/drawingml/2006/main">
            <a:off x="10020300" y="1695450"/>
            <a:ext cx="1485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450" b="1" i="0">
                <a:solidFill>
                  <a:srgbClr val="16805A"/>
                </a:solidFill>
                <a:latin typeface="Helvetica Neue"/>
                <a:ea typeface="Helvetica Neue"/>
                <a:cs typeface="Helvetica Neue"/>
              </a:defRPr>
            </a:pPr>
            <a:r>
              <a:rPr sz="3450" b="1" i="0">
                <a:solidFill>
                  <a:srgbClr val="16805A"/>
                </a:solidFill>
                <a:latin typeface="Helvetica Neue"/>
                <a:ea typeface="Helvetica Neue"/>
                <a:cs typeface="Helvetica Neue"/>
              </a:rPr>
              <a:t>7,847</a:t>
            </a:r>
          </a:p>
        </p:txBody>
      </p:sp>
      <p:sp>
        <p:nvSpPr>
          <p:cNvPr id="10" name="">
            <a:extLst xmlns:a="http://schemas.openxmlformats.org/drawingml/2006/main">
              <a:ext uri="{FF2B5EF4-FFF2-40B4-BE49-F238E27FC236}">
                <a16:creationId xmlns:a16="http://schemas.microsoft.com/office/drawing/2014/main" id="{67166780-465D-4E66-A53C-AF40828425A7}"/>
              </a:ext>
            </a:extLst>
          </p:cNvPr>
          <p:cNvSpPr>
            <a:spLocks xmlns:a="http://schemas.openxmlformats.org/drawingml/2006/main" noGrp="1"/>
          </p:cNvSpPr>
          <p:nvPr/>
        </p:nvSpPr>
        <p:spPr>
          <a:xfrm xmlns:a="http://schemas.openxmlformats.org/drawingml/2006/main">
            <a:off x="10020300" y="236220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4902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supported</a:t>
            </a:r>
          </a:p>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structures</a:t>
            </a:r>
          </a:p>
        </p:txBody>
      </p:sp>
      <p:sp>
        <p:nvSpPr>
          <p:cNvPr id="11" name="">
            <a:extLst xmlns:a="http://schemas.openxmlformats.org/drawingml/2006/main">
              <a:ext uri="{FF2B5EF4-FFF2-40B4-BE49-F238E27FC236}">
                <a16:creationId xmlns:a16="http://schemas.microsoft.com/office/drawing/2014/main" id="{59152082-A4E1-4E7D-B7EA-2D994AF2E8BE}"/>
              </a:ext>
            </a:extLst>
          </p:cNvPr>
          <p:cNvSpPr>
            <a:spLocks xmlns:a="http://schemas.openxmlformats.org/drawingml/2006/main" noGrp="1"/>
          </p:cNvSpPr>
          <p:nvPr/>
        </p:nvSpPr>
        <p:spPr>
          <a:xfrm xmlns:a="http://schemas.openxmlformats.org/drawingml/2006/main">
            <a:off x="7810500" y="2952750"/>
            <a:ext cx="3905250" cy="1181100"/>
          </a:xfrm>
          <a:prstGeom xmlns:a="http://schemas.openxmlformats.org/drawingml/2006/main" prst="roundRect">
            <a:avLst>
              <a:gd name="adj" fmla="val 9677"/>
            </a:avLst>
          </a:prstGeom>
          <a:solidFill xmlns:a="http://schemas.openxmlformats.org/drawingml/2006/main">
            <a:srgbClr val="E9F7F1"/>
          </a:solidFill>
          <a:ln xmlns:a="http://schemas.openxmlformats.org/drawingml/2006/main" w="9525">
            <a:solidFill>
              <a:srgbClr val="E9F7F1"/>
            </a:solidFill>
            <a:prstDash val="solid"/>
          </a:ln>
        </p:spPr>
      </p:sp>
      <p:sp>
        <p:nvSpPr>
          <p:cNvPr id="12" name="">
            <a:extLst xmlns:a="http://schemas.openxmlformats.org/drawingml/2006/main">
              <a:ext uri="{FF2B5EF4-FFF2-40B4-BE49-F238E27FC236}">
                <a16:creationId xmlns:a16="http://schemas.microsoft.com/office/drawing/2014/main" id="{AC8C2196-206A-492A-A76D-158F405E2BA1}"/>
              </a:ext>
            </a:extLst>
          </p:cNvPr>
          <p:cNvSpPr>
            <a:spLocks xmlns:a="http://schemas.openxmlformats.org/drawingml/2006/main" noGrp="1"/>
          </p:cNvSpPr>
          <p:nvPr/>
        </p:nvSpPr>
        <p:spPr>
          <a:xfrm xmlns:a="http://schemas.openxmlformats.org/drawingml/2006/main">
            <a:off x="8039100" y="3162300"/>
            <a:ext cx="3448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i="0">
                <a:solidFill>
                  <a:srgbClr val="16805A"/>
                </a:solidFill>
                <a:latin typeface="Helvetica Neue"/>
                <a:ea typeface="Helvetica Neue"/>
                <a:cs typeface="Helvetica Neue"/>
              </a:defRPr>
            </a:pPr>
            <a:r>
              <a:rPr sz="2250" b="1" i="0">
                <a:solidFill>
                  <a:srgbClr val="16805A"/>
                </a:solidFill>
                <a:latin typeface="Helvetica Neue"/>
                <a:ea typeface="Helvetica Neue"/>
                <a:cs typeface="Helvetica Neue"/>
              </a:rPr>
              <a:t>0.400 → 0.381 MAE</a:t>
            </a:r>
          </a:p>
        </p:txBody>
      </p:sp>
      <p:sp>
        <p:nvSpPr>
          <p:cNvPr id="13" name="">
            <a:extLst xmlns:a="http://schemas.openxmlformats.org/drawingml/2006/main">
              <a:ext uri="{FF2B5EF4-FFF2-40B4-BE49-F238E27FC236}">
                <a16:creationId xmlns:a16="http://schemas.microsoft.com/office/drawing/2014/main" id="{9A5A0FA2-05F3-431E-BA02-25231A9DD37E}"/>
              </a:ext>
            </a:extLst>
          </p:cNvPr>
          <p:cNvSpPr>
            <a:spLocks xmlns:a="http://schemas.openxmlformats.org/drawingml/2006/main" noGrp="1"/>
          </p:cNvSpPr>
          <p:nvPr/>
        </p:nvSpPr>
        <p:spPr>
          <a:xfrm xmlns:a="http://schemas.openxmlformats.org/drawingml/2006/main">
            <a:off x="8039100" y="363855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9616D"/>
                </a:solidFill>
                <a:latin typeface="Helvetica Neue"/>
                <a:ea typeface="Helvetica Neue"/>
                <a:cs typeface="Helvetica Neue"/>
              </a:defRPr>
            </a:pPr>
            <a:r>
              <a:rPr sz="1200" b="0" i="0">
                <a:solidFill>
                  <a:srgbClr val="59616D"/>
                </a:solidFill>
                <a:latin typeface="Helvetica Neue"/>
                <a:ea typeface="Helvetica Neue"/>
                <a:cs typeface="Helvetica Neue"/>
              </a:rPr>
              <a:t>broad anchor to analog-assisted prediction</a:t>
            </a:r>
          </a:p>
        </p:txBody>
      </p:sp>
      <p:sp>
        <p:nvSpPr>
          <p:cNvPr id="14" name="">
            <a:extLst xmlns:a="http://schemas.openxmlformats.org/drawingml/2006/main">
              <a:ext uri="{FF2B5EF4-FFF2-40B4-BE49-F238E27FC236}">
                <a16:creationId xmlns:a16="http://schemas.microsoft.com/office/drawing/2014/main" id="{8501D576-97E1-4A66-9974-E374136468C7}"/>
              </a:ext>
            </a:extLst>
          </p:cNvPr>
          <p:cNvSpPr>
            <a:spLocks xmlns:a="http://schemas.openxmlformats.org/drawingml/2006/main" noGrp="1"/>
          </p:cNvSpPr>
          <p:nvPr/>
        </p:nvSpPr>
        <p:spPr>
          <a:xfrm xmlns:a="http://schemas.openxmlformats.org/drawingml/2006/main">
            <a:off x="7810500" y="4476750"/>
            <a:ext cx="3905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88" b="0" i="0">
                <a:solidFill>
                  <a:srgbClr val="0B0F14"/>
                </a:solidFill>
                <a:latin typeface="Helvetica Neue"/>
                <a:ea typeface="Helvetica Neue"/>
                <a:cs typeface="Helvetica Neue"/>
              </a:defRPr>
            </a:pPr>
            <a:r>
              <a:rPr sz="1388" b="0" i="0">
                <a:solidFill>
                  <a:srgbClr val="0B0F14"/>
                </a:solidFill>
                <a:latin typeface="Helvetica Neue"/>
                <a:ea typeface="Helvetica Neue"/>
                <a:cs typeface="Helvetica Neue"/>
              </a:rPr>
              <a:t>But cliff-delta direction remains weak. This supports local-context modeling and targeted matched pairs—not causal transformation rules.</a:t>
            </a:r>
          </a:p>
        </p:txBody>
      </p:sp>
      <p:sp>
        <p:nvSpPr>
          <p:cNvPr id="15" name="">
            <a:extLst xmlns:a="http://schemas.openxmlformats.org/drawingml/2006/main">
              <a:ext uri="{FF2B5EF4-FFF2-40B4-BE49-F238E27FC236}">
                <a16:creationId xmlns:a16="http://schemas.microsoft.com/office/drawing/2014/main" id="{CC5134BC-49E0-4CCF-A7E8-AAB5D83AB488}"/>
              </a:ext>
            </a:extLst>
          </p:cNvPr>
          <p:cNvSpPr>
            <a:spLocks xmlns:a="http://schemas.openxmlformats.org/drawingml/2006/main" noGrp="1"/>
          </p:cNvSpPr>
          <p:nvPr/>
        </p:nvSpPr>
        <p:spPr>
          <a:xfrm xmlns:a="http://schemas.openxmlformats.org/drawingml/2006/main">
            <a:off x="400050" y="64579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i="0">
                <a:solidFill>
                  <a:srgbClr val="59616D"/>
                </a:solidFill>
                <a:latin typeface="Helvetica Neue"/>
                <a:ea typeface="Helvetica Neue"/>
                <a:cs typeface="Helvetica Neue"/>
              </a:defRPr>
            </a:pPr>
            <a:r>
              <a:rPr sz="788" b="0" i="0">
                <a:solidFill>
                  <a:srgbClr val="59616D"/>
                </a:solidFill>
                <a:latin typeface="Helvetica Neue"/>
                <a:ea typeface="Helvetica Neue"/>
                <a:cs typeface="Helvetica Neue"/>
              </a:rPr>
              <a:t>Internal analysis | train-only nested scaffold evaluation</a:t>
            </a:r>
          </a:p>
        </p:txBody>
      </p:sp>
      <p:sp>
        <p:nvSpPr>
          <p:cNvPr id="16" name="">
            <a:extLst xmlns:a="http://schemas.openxmlformats.org/drawingml/2006/main">
              <a:ext uri="{FF2B5EF4-FFF2-40B4-BE49-F238E27FC236}">
                <a16:creationId xmlns:a16="http://schemas.microsoft.com/office/drawing/2014/main" id="{A9876453-8C7A-4E7E-9A91-A1D1A0837CDB}"/>
              </a:ext>
            </a:extLst>
          </p:cNvPr>
          <p:cNvSpPr>
            <a:spLocks xmlns:a="http://schemas.openxmlformats.org/drawingml/2006/main" noGrp="1"/>
          </p:cNvSpPr>
          <p:nvPr/>
        </p:nvSpPr>
        <p:spPr>
          <a:xfrm xmlns:a="http://schemas.openxmlformats.org/drawingml/2006/main">
            <a:off x="1125855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0" i="0">
                <a:solidFill>
                  <a:srgbClr val="59616D"/>
                </a:solidFill>
                <a:latin typeface="Helvetica Neue"/>
                <a:ea typeface="Helvetica Neue"/>
                <a:cs typeface="Helvetica Neue"/>
              </a:defRPr>
            </a:pPr>
            <a:r>
              <a:rPr sz="825" b="0" i="0">
                <a:solidFill>
                  <a:srgbClr val="59616D"/>
                </a:solidFill>
                <a:latin typeface="Helvetica Neue"/>
                <a:ea typeface="Helvetica Neue"/>
                <a:cs typeface="Helvetica Neue"/>
              </a:rPr>
              <a:t>07</a:t>
            </a:r>
          </a:p>
        </p:txBody>
      </p:sp>
    </p:spTree>
    <p:extLst>
      <p:ext uri="{BB962C8B-B14F-4D97-AF65-F5344CB8AC3E}">
        <p14:creationId xmlns:p14="http://schemas.microsoft.com/office/powerpoint/2010/main" val="12270443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DA84B7F-9904-4F3E-B880-C9894C8CC194}"/>
              </a:ext>
            </a:extLst>
          </p:cNvPr>
          <p:cNvSpPr>
            <a:spLocks xmlns:a="http://schemas.openxmlformats.org/drawingml/2006/main" noGrp="1"/>
          </p:cNvSpPr>
          <p:nvPr/>
        </p:nvSpPr>
        <p:spPr>
          <a:xfrm xmlns:a="http://schemas.openxmlformats.org/drawingml/2006/main">
            <a:off x="4000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E63D5"/>
                </a:solidFill>
                <a:latin typeface="Helvetica Neue"/>
                <a:ea typeface="Helvetica Neue"/>
                <a:cs typeface="Helvetica Neue"/>
              </a:defRPr>
            </a:pPr>
            <a:r>
              <a:rPr sz="975" b="1" i="0">
                <a:solidFill>
                  <a:srgbClr val="1E63D5"/>
                </a:solidFill>
                <a:latin typeface="Helvetica Neue"/>
                <a:ea typeface="Helvetica Neue"/>
                <a:cs typeface="Helvetica Neue"/>
              </a:rPr>
              <a:t>ACCURACY VERSUS SAFETY OBJECTIVE</a:t>
            </a:r>
          </a:p>
        </p:txBody>
      </p:sp>
      <p:sp>
        <p:nvSpPr>
          <p:cNvPr id="2" name="">
            <a:extLst xmlns:a="http://schemas.openxmlformats.org/drawingml/2006/main">
              <a:ext uri="{FF2B5EF4-FFF2-40B4-BE49-F238E27FC236}">
                <a16:creationId xmlns:a16="http://schemas.microsoft.com/office/drawing/2014/main" id="{FD5C0D1F-E613-4B47-BCB9-1B8A67D81CEC}"/>
              </a:ext>
            </a:extLst>
          </p:cNvPr>
          <p:cNvSpPr>
            <a:spLocks xmlns:a="http://schemas.openxmlformats.org/drawingml/2006/main" noGrp="1"/>
          </p:cNvSpPr>
          <p:nvPr/>
        </p:nvSpPr>
        <p:spPr>
          <a:xfrm xmlns:a="http://schemas.openxmlformats.org/drawingml/2006/main">
            <a:off x="400050" y="5143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There is no single metric-free definition of “best”</a:t>
            </a:r>
          </a:p>
        </p:txBody>
      </p:sp>
      <p:cxnSp>
        <p:nvCxnSpPr>
          <p:cNvPr id="26" name=""/>
          <p:cNvCxnSpPr/>
          <p:nvPr/>
        </p:nvCxnSpPr>
        <p:spPr>
          <a:xfrm xmlns:a="http://schemas.openxmlformats.org/drawingml/2006/main">
            <a:off x="400050" y="1219200"/>
            <a:ext cx="11391900" cy="0"/>
          </a:xfrm>
          <a:prstGeom xmlns:a="http://schemas.openxmlformats.org/drawingml/2006/main" prst="straightConnector1">
            <a:avLst/>
          </a:prstGeom>
          <a:ln xmlns:a="http://schemas.openxmlformats.org/drawingml/2006/main" w="9525">
            <a:solidFill>
              <a:srgbClr val="D6DAE0"/>
            </a:solidFill>
            <a:prstDash val="solid"/>
          </a:ln>
        </p:spPr>
      </p:cxnSp>
      <p:sp>
        <p:nvSpPr>
          <p:cNvPr id="4" name="">
            <a:extLst xmlns:a="http://schemas.openxmlformats.org/drawingml/2006/main">
              <a:ext uri="{FF2B5EF4-FFF2-40B4-BE49-F238E27FC236}">
                <a16:creationId xmlns:a16="http://schemas.microsoft.com/office/drawing/2014/main" id="{9469EA63-4BF4-4B97-B6E1-273C3649ED92}"/>
              </a:ext>
            </a:extLst>
          </p:cNvPr>
          <p:cNvSpPr>
            <a:spLocks xmlns:a="http://schemas.openxmlformats.org/drawingml/2006/main" noGrp="1"/>
          </p:cNvSpPr>
          <p:nvPr/>
        </p:nvSpPr>
        <p:spPr>
          <a:xfrm xmlns:a="http://schemas.openxmlformats.org/drawingml/2006/main">
            <a:off x="400050" y="1466850"/>
            <a:ext cx="5295900" cy="4114800"/>
          </a:xfrm>
          <a:prstGeom xmlns:a="http://schemas.openxmlformats.org/drawingml/2006/main" prst="roundRect">
            <a:avLst>
              <a:gd name="adj" fmla="val 3704"/>
            </a:avLst>
          </a:prstGeom>
          <a:solidFill xmlns:a="http://schemas.openxmlformats.org/drawingml/2006/main">
            <a:srgbClr val="F2F4F7"/>
          </a:solidFill>
          <a:ln xmlns:a="http://schemas.openxmlformats.org/drawingml/2006/main" w="9525">
            <a:solidFill>
              <a:srgbClr val="D6DAE0"/>
            </a:solidFill>
            <a:prstDash val="solid"/>
          </a:ln>
        </p:spPr>
      </p:sp>
      <p:sp>
        <p:nvSpPr>
          <p:cNvPr id="5" name="">
            <a:extLst xmlns:a="http://schemas.openxmlformats.org/drawingml/2006/main">
              <a:ext uri="{FF2B5EF4-FFF2-40B4-BE49-F238E27FC236}">
                <a16:creationId xmlns:a16="http://schemas.microsoft.com/office/drawing/2014/main" id="{83FAB260-83B6-4661-9AC0-6686A664973F}"/>
              </a:ext>
            </a:extLst>
          </p:cNvPr>
          <p:cNvSpPr>
            <a:spLocks xmlns:a="http://schemas.openxmlformats.org/drawingml/2006/main" noGrp="1"/>
          </p:cNvSpPr>
          <p:nvPr/>
        </p:nvSpPr>
        <p:spPr>
          <a:xfrm xmlns:a="http://schemas.openxmlformats.org/drawingml/2006/main">
            <a:off x="685800" y="1752600"/>
            <a:ext cx="4724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i="0">
                <a:solidFill>
                  <a:srgbClr val="0B0F14"/>
                </a:solidFill>
                <a:latin typeface="Helvetica Neue"/>
                <a:ea typeface="Helvetica Neue"/>
                <a:cs typeface="Helvetica Neue"/>
              </a:defRPr>
            </a:pPr>
            <a:r>
              <a:rPr sz="2025" b="1" i="0">
                <a:solidFill>
                  <a:srgbClr val="0B0F14"/>
                </a:solidFill>
                <a:latin typeface="Helvetica Neue"/>
                <a:ea typeface="Helvetica Neue"/>
                <a:cs typeface="Helvetica Neue"/>
              </a:rPr>
              <a:t>Global accuracy model</a:t>
            </a:r>
          </a:p>
        </p:txBody>
      </p:sp>
      <p:sp>
        <p:nvSpPr>
          <p:cNvPr id="6" name="">
            <a:extLst xmlns:a="http://schemas.openxmlformats.org/drawingml/2006/main">
              <a:ext uri="{FF2B5EF4-FFF2-40B4-BE49-F238E27FC236}">
                <a16:creationId xmlns:a16="http://schemas.microsoft.com/office/drawing/2014/main" id="{6F72410C-1081-41DF-92F7-2E1B157E9F18}"/>
              </a:ext>
            </a:extLst>
          </p:cNvPr>
          <p:cNvSpPr>
            <a:spLocks xmlns:a="http://schemas.openxmlformats.org/drawingml/2006/main" noGrp="1"/>
          </p:cNvSpPr>
          <p:nvPr/>
        </p:nvSpPr>
        <p:spPr>
          <a:xfrm xmlns:a="http://schemas.openxmlformats.org/drawingml/2006/main">
            <a:off x="685800" y="2190750"/>
            <a:ext cx="472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Best for broad continuous potency prediction</a:t>
            </a:r>
          </a:p>
        </p:txBody>
      </p:sp>
      <p:sp>
        <p:nvSpPr>
          <p:cNvPr id="7" name="">
            <a:extLst xmlns:a="http://schemas.openxmlformats.org/drawingml/2006/main">
              <a:ext uri="{FF2B5EF4-FFF2-40B4-BE49-F238E27FC236}">
                <a16:creationId xmlns:a16="http://schemas.microsoft.com/office/drawing/2014/main" id="{FEAC025A-624F-4A12-A759-F19733DD25E6}"/>
              </a:ext>
            </a:extLst>
          </p:cNvPr>
          <p:cNvSpPr>
            <a:spLocks xmlns:a="http://schemas.openxmlformats.org/drawingml/2006/main" noGrp="1"/>
          </p:cNvSpPr>
          <p:nvPr/>
        </p:nvSpPr>
        <p:spPr>
          <a:xfrm xmlns:a="http://schemas.openxmlformats.org/drawingml/2006/main">
            <a:off x="685800"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59616D"/>
                </a:solidFill>
                <a:latin typeface="Helvetica Neue"/>
                <a:ea typeface="Helvetica Neue"/>
                <a:cs typeface="Helvetica Neue"/>
              </a:defRPr>
            </a:pPr>
            <a:r>
              <a:rPr sz="900" b="1" i="0">
                <a:solidFill>
                  <a:srgbClr val="59616D"/>
                </a:solidFill>
                <a:latin typeface="Helvetica Neue"/>
                <a:ea typeface="Helvetica Neue"/>
                <a:cs typeface="Helvetica Neue"/>
              </a:rPr>
              <a:t>GLOBAL MAE</a:t>
            </a:r>
          </a:p>
        </p:txBody>
      </p:sp>
      <p:sp>
        <p:nvSpPr>
          <p:cNvPr id="8" name="">
            <a:extLst xmlns:a="http://schemas.openxmlformats.org/drawingml/2006/main">
              <a:ext uri="{FF2B5EF4-FFF2-40B4-BE49-F238E27FC236}">
                <a16:creationId xmlns:a16="http://schemas.microsoft.com/office/drawing/2014/main" id="{A8E59E64-D85B-4612-9C5F-177E1A197A48}"/>
              </a:ext>
            </a:extLst>
          </p:cNvPr>
          <p:cNvSpPr>
            <a:spLocks xmlns:a="http://schemas.openxmlformats.org/drawingml/2006/main" noGrp="1"/>
          </p:cNvSpPr>
          <p:nvPr/>
        </p:nvSpPr>
        <p:spPr>
          <a:xfrm xmlns:a="http://schemas.openxmlformats.org/drawingml/2006/main">
            <a:off x="685800" y="327660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i="0">
                <a:solidFill>
                  <a:srgbClr val="1E63D5"/>
                </a:solidFill>
                <a:latin typeface="Helvetica Neue"/>
                <a:ea typeface="Helvetica Neue"/>
                <a:cs typeface="Helvetica Neue"/>
              </a:defRPr>
            </a:pPr>
            <a:r>
              <a:rPr sz="3975" b="1" i="0">
                <a:solidFill>
                  <a:srgbClr val="1E63D5"/>
                </a:solidFill>
                <a:latin typeface="Helvetica Neue"/>
                <a:ea typeface="Helvetica Neue"/>
                <a:cs typeface="Helvetica Neue"/>
              </a:rPr>
              <a:t>0.433</a:t>
            </a:r>
          </a:p>
        </p:txBody>
      </p:sp>
      <p:sp>
        <p:nvSpPr>
          <p:cNvPr id="9" name="">
            <a:extLst xmlns:a="http://schemas.openxmlformats.org/drawingml/2006/main">
              <a:ext uri="{FF2B5EF4-FFF2-40B4-BE49-F238E27FC236}">
                <a16:creationId xmlns:a16="http://schemas.microsoft.com/office/drawing/2014/main" id="{CE3C2234-7194-44EA-AF8C-7F3321680C77}"/>
              </a:ext>
            </a:extLst>
          </p:cNvPr>
          <p:cNvSpPr>
            <a:spLocks xmlns:a="http://schemas.openxmlformats.org/drawingml/2006/main" noGrp="1"/>
          </p:cNvSpPr>
          <p:nvPr/>
        </p:nvSpPr>
        <p:spPr>
          <a:xfrm xmlns:a="http://schemas.openxmlformats.org/drawingml/2006/main">
            <a:off x="3048000"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59616D"/>
                </a:solidFill>
                <a:latin typeface="Helvetica Neue"/>
                <a:ea typeface="Helvetica Neue"/>
                <a:cs typeface="Helvetica Neue"/>
              </a:defRPr>
            </a:pPr>
            <a:r>
              <a:rPr sz="900" b="1" i="0">
                <a:solidFill>
                  <a:srgbClr val="59616D"/>
                </a:solidFill>
                <a:latin typeface="Helvetica Neue"/>
                <a:ea typeface="Helvetica Neue"/>
                <a:cs typeface="Helvetica Neue"/>
              </a:rPr>
              <a:t>TAIL MAE</a:t>
            </a:r>
          </a:p>
        </p:txBody>
      </p:sp>
      <p:sp>
        <p:nvSpPr>
          <p:cNvPr id="10" name="">
            <a:extLst xmlns:a="http://schemas.openxmlformats.org/drawingml/2006/main">
              <a:ext uri="{FF2B5EF4-FFF2-40B4-BE49-F238E27FC236}">
                <a16:creationId xmlns:a16="http://schemas.microsoft.com/office/drawing/2014/main" id="{7350C17E-7DAB-4B61-8E8D-B17BB1C85F6A}"/>
              </a:ext>
            </a:extLst>
          </p:cNvPr>
          <p:cNvSpPr>
            <a:spLocks xmlns:a="http://schemas.openxmlformats.org/drawingml/2006/main" noGrp="1"/>
          </p:cNvSpPr>
          <p:nvPr/>
        </p:nvSpPr>
        <p:spPr>
          <a:xfrm xmlns:a="http://schemas.openxmlformats.org/drawingml/2006/main">
            <a:off x="3048000" y="327660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i="0">
                <a:solidFill>
                  <a:srgbClr val="B84040"/>
                </a:solidFill>
                <a:latin typeface="Helvetica Neue"/>
                <a:ea typeface="Helvetica Neue"/>
                <a:cs typeface="Helvetica Neue"/>
              </a:defRPr>
            </a:pPr>
            <a:r>
              <a:rPr sz="3975" b="1" i="0">
                <a:solidFill>
                  <a:srgbClr val="B84040"/>
                </a:solidFill>
                <a:latin typeface="Helvetica Neue"/>
                <a:ea typeface="Helvetica Neue"/>
                <a:cs typeface="Helvetica Neue"/>
              </a:rPr>
              <a:t>1.425</a:t>
            </a:r>
          </a:p>
        </p:txBody>
      </p:sp>
      <p:sp>
        <p:nvSpPr>
          <p:cNvPr id="11" name="">
            <a:extLst xmlns:a="http://schemas.openxmlformats.org/drawingml/2006/main">
              <a:ext uri="{FF2B5EF4-FFF2-40B4-BE49-F238E27FC236}">
                <a16:creationId xmlns:a16="http://schemas.microsoft.com/office/drawing/2014/main" id="{9890124E-4588-4571-9DC0-EB2DAD21923E}"/>
              </a:ext>
            </a:extLst>
          </p:cNvPr>
          <p:cNvSpPr>
            <a:spLocks xmlns:a="http://schemas.openxmlformats.org/drawingml/2006/main" noGrp="1"/>
          </p:cNvSpPr>
          <p:nvPr/>
        </p:nvSpPr>
        <p:spPr>
          <a:xfrm xmlns:a="http://schemas.openxmlformats.org/drawingml/2006/main">
            <a:off x="685800" y="4591050"/>
            <a:ext cx="4457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Use as the default reported potency model.</a:t>
            </a:r>
          </a:p>
        </p:txBody>
      </p:sp>
      <p:sp>
        <p:nvSpPr>
          <p:cNvPr id="12" name="">
            <a:extLst xmlns:a="http://schemas.openxmlformats.org/drawingml/2006/main">
              <a:ext uri="{FF2B5EF4-FFF2-40B4-BE49-F238E27FC236}">
                <a16:creationId xmlns:a16="http://schemas.microsoft.com/office/drawing/2014/main" id="{6E99DFA0-4AD2-4937-B871-82BBB2B9BB23}"/>
              </a:ext>
            </a:extLst>
          </p:cNvPr>
          <p:cNvSpPr>
            <a:spLocks xmlns:a="http://schemas.openxmlformats.org/drawingml/2006/main" noGrp="1"/>
          </p:cNvSpPr>
          <p:nvPr/>
        </p:nvSpPr>
        <p:spPr>
          <a:xfrm xmlns:a="http://schemas.openxmlformats.org/drawingml/2006/main">
            <a:off x="5962650" y="1466850"/>
            <a:ext cx="5753100" cy="4114800"/>
          </a:xfrm>
          <a:prstGeom xmlns:a="http://schemas.openxmlformats.org/drawingml/2006/main" prst="roundRect">
            <a:avLst>
              <a:gd name="adj" fmla="val 3704"/>
            </a:avLst>
          </a:prstGeom>
          <a:solidFill xmlns:a="http://schemas.openxmlformats.org/drawingml/2006/main">
            <a:srgbClr val="FFF2E8"/>
          </a:solidFill>
          <a:ln xmlns:a="http://schemas.openxmlformats.org/drawingml/2006/main" w="9525">
            <a:solidFill>
              <a:srgbClr val="FFF2E8"/>
            </a:solidFill>
            <a:prstDash val="solid"/>
          </a:ln>
        </p:spPr>
      </p:sp>
      <p:sp>
        <p:nvSpPr>
          <p:cNvPr id="13" name="">
            <a:extLst xmlns:a="http://schemas.openxmlformats.org/drawingml/2006/main">
              <a:ext uri="{FF2B5EF4-FFF2-40B4-BE49-F238E27FC236}">
                <a16:creationId xmlns:a16="http://schemas.microsoft.com/office/drawing/2014/main" id="{01790D80-4971-4554-948E-705B644C811D}"/>
              </a:ext>
            </a:extLst>
          </p:cNvPr>
          <p:cNvSpPr>
            <a:spLocks xmlns:a="http://schemas.openxmlformats.org/drawingml/2006/main" noGrp="1"/>
          </p:cNvSpPr>
          <p:nvPr/>
        </p:nvSpPr>
        <p:spPr>
          <a:xfrm xmlns:a="http://schemas.openxmlformats.org/drawingml/2006/main">
            <a:off x="6248400" y="1752600"/>
            <a:ext cx="518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i="0">
                <a:solidFill>
                  <a:srgbClr val="C96A18"/>
                </a:solidFill>
                <a:latin typeface="Helvetica Neue"/>
                <a:ea typeface="Helvetica Neue"/>
                <a:cs typeface="Helvetica Neue"/>
              </a:defRPr>
            </a:pPr>
            <a:r>
              <a:rPr sz="2025" b="1" i="0">
                <a:solidFill>
                  <a:srgbClr val="C96A18"/>
                </a:solidFill>
                <a:latin typeface="Helvetica Neue"/>
                <a:ea typeface="Helvetica Neue"/>
                <a:cs typeface="Helvetica Neue"/>
              </a:rPr>
              <a:t>Safety / tail-selected model</a:t>
            </a:r>
          </a:p>
        </p:txBody>
      </p:sp>
      <p:sp>
        <p:nvSpPr>
          <p:cNvPr id="14" name="">
            <a:extLst xmlns:a="http://schemas.openxmlformats.org/drawingml/2006/main">
              <a:ext uri="{FF2B5EF4-FFF2-40B4-BE49-F238E27FC236}">
                <a16:creationId xmlns:a16="http://schemas.microsoft.com/office/drawing/2014/main" id="{ECD3DCC5-64D5-4C23-B5AC-AF3054E5AE19}"/>
              </a:ext>
            </a:extLst>
          </p:cNvPr>
          <p:cNvSpPr>
            <a:spLocks xmlns:a="http://schemas.openxmlformats.org/drawingml/2006/main" noGrp="1"/>
          </p:cNvSpPr>
          <p:nvPr/>
        </p:nvSpPr>
        <p:spPr>
          <a:xfrm xmlns:a="http://schemas.openxmlformats.org/drawingml/2006/main">
            <a:off x="6248400" y="2190750"/>
            <a:ext cx="5181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9616D"/>
                </a:solidFill>
                <a:latin typeface="Helvetica Neue"/>
                <a:ea typeface="Helvetica Neue"/>
                <a:cs typeface="Helvetica Neue"/>
              </a:defRPr>
            </a:pPr>
            <a:r>
              <a:rPr sz="1275" b="0" i="0">
                <a:solidFill>
                  <a:srgbClr val="59616D"/>
                </a:solidFill>
                <a:latin typeface="Helvetica Neue"/>
                <a:ea typeface="Helvetica Neue"/>
                <a:cs typeface="Helvetica Neue"/>
              </a:rPr>
              <a:t>Better balance at potency extremes, worse globally</a:t>
            </a:r>
          </a:p>
        </p:txBody>
      </p:sp>
      <p:sp>
        <p:nvSpPr>
          <p:cNvPr id="15" name="">
            <a:extLst xmlns:a="http://schemas.openxmlformats.org/drawingml/2006/main">
              <a:ext uri="{FF2B5EF4-FFF2-40B4-BE49-F238E27FC236}">
                <a16:creationId xmlns:a16="http://schemas.microsoft.com/office/drawing/2014/main" id="{6437AA08-4CC2-49FA-AE88-5C1532D34EDA}"/>
              </a:ext>
            </a:extLst>
          </p:cNvPr>
          <p:cNvSpPr>
            <a:spLocks xmlns:a="http://schemas.openxmlformats.org/drawingml/2006/main" noGrp="1"/>
          </p:cNvSpPr>
          <p:nvPr/>
        </p:nvSpPr>
        <p:spPr>
          <a:xfrm xmlns:a="http://schemas.openxmlformats.org/drawingml/2006/main">
            <a:off x="6248400" y="29908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59616D"/>
                </a:solidFill>
                <a:latin typeface="Helvetica Neue"/>
                <a:ea typeface="Helvetica Neue"/>
                <a:cs typeface="Helvetica Neue"/>
              </a:defRPr>
            </a:pPr>
            <a:r>
              <a:rPr sz="900" b="1" i="0">
                <a:solidFill>
                  <a:srgbClr val="59616D"/>
                </a:solidFill>
                <a:latin typeface="Helvetica Neue"/>
                <a:ea typeface="Helvetica Neue"/>
                <a:cs typeface="Helvetica Neue"/>
              </a:rPr>
              <a:t>GLOBAL CHANGE</a:t>
            </a:r>
          </a:p>
        </p:txBody>
      </p:sp>
      <p:sp>
        <p:nvSpPr>
          <p:cNvPr id="16" name="">
            <a:extLst xmlns:a="http://schemas.openxmlformats.org/drawingml/2006/main">
              <a:ext uri="{FF2B5EF4-FFF2-40B4-BE49-F238E27FC236}">
                <a16:creationId xmlns:a16="http://schemas.microsoft.com/office/drawing/2014/main" id="{5269F27E-C598-4155-93F8-C67557A6CEAD}"/>
              </a:ext>
            </a:extLst>
          </p:cNvPr>
          <p:cNvSpPr>
            <a:spLocks xmlns:a="http://schemas.openxmlformats.org/drawingml/2006/main" noGrp="1"/>
          </p:cNvSpPr>
          <p:nvPr/>
        </p:nvSpPr>
        <p:spPr>
          <a:xfrm xmlns:a="http://schemas.openxmlformats.org/drawingml/2006/main">
            <a:off x="6248400" y="327660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i="0">
                <a:solidFill>
                  <a:srgbClr val="B84040"/>
                </a:solidFill>
                <a:latin typeface="Helvetica Neue"/>
                <a:ea typeface="Helvetica Neue"/>
                <a:cs typeface="Helvetica Neue"/>
              </a:defRPr>
            </a:pPr>
            <a:r>
              <a:rPr sz="3975" b="1" i="0">
                <a:solidFill>
                  <a:srgbClr val="B84040"/>
                </a:solidFill>
                <a:latin typeface="Helvetica Neue"/>
                <a:ea typeface="Helvetica Neue"/>
                <a:cs typeface="Helvetica Neue"/>
              </a:rPr>
              <a:t>+0.011</a:t>
            </a:r>
          </a:p>
        </p:txBody>
      </p:sp>
      <p:sp>
        <p:nvSpPr>
          <p:cNvPr id="17" name="">
            <a:extLst xmlns:a="http://schemas.openxmlformats.org/drawingml/2006/main">
              <a:ext uri="{FF2B5EF4-FFF2-40B4-BE49-F238E27FC236}">
                <a16:creationId xmlns:a16="http://schemas.microsoft.com/office/drawing/2014/main" id="{8F6DC869-0CAA-4F1C-B856-4DBFB82BA9E3}"/>
              </a:ext>
            </a:extLst>
          </p:cNvPr>
          <p:cNvSpPr>
            <a:spLocks xmlns:a="http://schemas.openxmlformats.org/drawingml/2006/main" noGrp="1"/>
          </p:cNvSpPr>
          <p:nvPr/>
        </p:nvSpPr>
        <p:spPr>
          <a:xfrm xmlns:a="http://schemas.openxmlformats.org/drawingml/2006/main">
            <a:off x="8820150" y="29908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59616D"/>
                </a:solidFill>
                <a:latin typeface="Helvetica Neue"/>
                <a:ea typeface="Helvetica Neue"/>
                <a:cs typeface="Helvetica Neue"/>
              </a:defRPr>
            </a:pPr>
            <a:r>
              <a:rPr sz="900" b="1" i="0">
                <a:solidFill>
                  <a:srgbClr val="59616D"/>
                </a:solidFill>
                <a:latin typeface="Helvetica Neue"/>
                <a:ea typeface="Helvetica Neue"/>
                <a:cs typeface="Helvetica Neue"/>
              </a:rPr>
              <a:t>TAIL MAE</a:t>
            </a:r>
          </a:p>
        </p:txBody>
      </p:sp>
      <p:sp>
        <p:nvSpPr>
          <p:cNvPr id="18" name="">
            <a:extLst xmlns:a="http://schemas.openxmlformats.org/drawingml/2006/main">
              <a:ext uri="{FF2B5EF4-FFF2-40B4-BE49-F238E27FC236}">
                <a16:creationId xmlns:a16="http://schemas.microsoft.com/office/drawing/2014/main" id="{033DFD5F-1EA6-4006-9BE3-A1C93EFA71CD}"/>
              </a:ext>
            </a:extLst>
          </p:cNvPr>
          <p:cNvSpPr>
            <a:spLocks xmlns:a="http://schemas.openxmlformats.org/drawingml/2006/main" noGrp="1"/>
          </p:cNvSpPr>
          <p:nvPr/>
        </p:nvSpPr>
        <p:spPr>
          <a:xfrm xmlns:a="http://schemas.openxmlformats.org/drawingml/2006/main">
            <a:off x="8820150" y="327660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i="0">
                <a:solidFill>
                  <a:srgbClr val="16805A"/>
                </a:solidFill>
                <a:latin typeface="Helvetica Neue"/>
                <a:ea typeface="Helvetica Neue"/>
                <a:cs typeface="Helvetica Neue"/>
              </a:defRPr>
            </a:pPr>
            <a:r>
              <a:rPr sz="3975" b="1" i="0">
                <a:solidFill>
                  <a:srgbClr val="16805A"/>
                </a:solidFill>
                <a:latin typeface="Helvetica Neue"/>
                <a:ea typeface="Helvetica Neue"/>
                <a:cs typeface="Helvetica Neue"/>
              </a:rPr>
              <a:t>1.354</a:t>
            </a:r>
          </a:p>
        </p:txBody>
      </p:sp>
      <p:sp>
        <p:nvSpPr>
          <p:cNvPr id="19" name="">
            <a:extLst xmlns:a="http://schemas.openxmlformats.org/drawingml/2006/main">
              <a:ext uri="{FF2B5EF4-FFF2-40B4-BE49-F238E27FC236}">
                <a16:creationId xmlns:a16="http://schemas.microsoft.com/office/drawing/2014/main" id="{F1C0AF72-7F9E-4CD8-BBA2-E780377DFC60}"/>
              </a:ext>
            </a:extLst>
          </p:cNvPr>
          <p:cNvSpPr>
            <a:spLocks xmlns:a="http://schemas.openxmlformats.org/drawingml/2006/main" noGrp="1"/>
          </p:cNvSpPr>
          <p:nvPr/>
        </p:nvSpPr>
        <p:spPr>
          <a:xfrm xmlns:a="http://schemas.openxmlformats.org/drawingml/2006/main">
            <a:off x="6248400" y="45910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Report as a separate operating mode, not a replacement.</a:t>
            </a:r>
          </a:p>
        </p:txBody>
      </p:sp>
      <p:sp>
        <p:nvSpPr>
          <p:cNvPr id="20" name="">
            <a:extLst xmlns:a="http://schemas.openxmlformats.org/drawingml/2006/main">
              <a:ext uri="{FF2B5EF4-FFF2-40B4-BE49-F238E27FC236}">
                <a16:creationId xmlns:a16="http://schemas.microsoft.com/office/drawing/2014/main" id="{EE87401F-920C-4A5D-90FB-6E5B891C668B}"/>
              </a:ext>
            </a:extLst>
          </p:cNvPr>
          <p:cNvSpPr>
            <a:spLocks xmlns:a="http://schemas.openxmlformats.org/drawingml/2006/main" noGrp="1"/>
          </p:cNvSpPr>
          <p:nvPr/>
        </p:nvSpPr>
        <p:spPr>
          <a:xfrm xmlns:a="http://schemas.openxmlformats.org/drawingml/2006/main">
            <a:off x="2457450" y="5810250"/>
            <a:ext cx="7277100" cy="40005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9525">
            <a:solidFill>
              <a:srgbClr val="EAF2FF"/>
            </a:solidFill>
            <a:prstDash val="solid"/>
          </a:ln>
        </p:spPr>
      </p:sp>
      <p:sp>
        <p:nvSpPr>
          <p:cNvPr id="21" name="">
            <a:extLst xmlns:a="http://schemas.openxmlformats.org/drawingml/2006/main">
              <a:ext uri="{FF2B5EF4-FFF2-40B4-BE49-F238E27FC236}">
                <a16:creationId xmlns:a16="http://schemas.microsoft.com/office/drawing/2014/main" id="{C6F93FD3-AD42-4042-BEE3-469987E26513}"/>
              </a:ext>
            </a:extLst>
          </p:cNvPr>
          <p:cNvSpPr>
            <a:spLocks xmlns:a="http://schemas.openxmlformats.org/drawingml/2006/main" noGrp="1"/>
          </p:cNvSpPr>
          <p:nvPr/>
        </p:nvSpPr>
        <p:spPr>
          <a:xfrm xmlns:a="http://schemas.openxmlformats.org/drawingml/2006/main">
            <a:off x="2647950" y="5915025"/>
            <a:ext cx="689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1E63D5"/>
                </a:solidFill>
                <a:latin typeface="Helvetica Neue"/>
                <a:ea typeface="Helvetica Neue"/>
                <a:cs typeface="Helvetica Neue"/>
              </a:defRPr>
            </a:pPr>
            <a:r>
              <a:rPr sz="1200" b="1" i="0">
                <a:solidFill>
                  <a:srgbClr val="1E63D5"/>
                </a:solidFill>
                <a:latin typeface="Helvetica Neue"/>
                <a:ea typeface="Helvetica Neue"/>
                <a:cs typeface="Helvetica Neue"/>
              </a:rPr>
              <a:t>Recommendation: report both objectives transparently and choose by use case.</a:t>
            </a:r>
          </a:p>
        </p:txBody>
      </p:sp>
      <p:sp>
        <p:nvSpPr>
          <p:cNvPr id="22" name="">
            <a:extLst xmlns:a="http://schemas.openxmlformats.org/drawingml/2006/main">
              <a:ext uri="{FF2B5EF4-FFF2-40B4-BE49-F238E27FC236}">
                <a16:creationId xmlns:a16="http://schemas.microsoft.com/office/drawing/2014/main" id="{0121402A-BEAD-42DD-B6C1-D7F430042406}"/>
              </a:ext>
            </a:extLst>
          </p:cNvPr>
          <p:cNvSpPr>
            <a:spLocks xmlns:a="http://schemas.openxmlformats.org/drawingml/2006/main" noGrp="1"/>
          </p:cNvSpPr>
          <p:nvPr/>
        </p:nvSpPr>
        <p:spPr>
          <a:xfrm xmlns:a="http://schemas.openxmlformats.org/drawingml/2006/main">
            <a:off x="400050" y="64579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i="0">
                <a:solidFill>
                  <a:srgbClr val="59616D"/>
                </a:solidFill>
                <a:latin typeface="Helvetica Neue"/>
                <a:ea typeface="Helvetica Neue"/>
                <a:cs typeface="Helvetica Neue"/>
              </a:defRPr>
            </a:pPr>
            <a:r>
              <a:rPr sz="788" b="0" i="0">
                <a:solidFill>
                  <a:srgbClr val="59616D"/>
                </a:solidFill>
                <a:latin typeface="Helvetica Neue"/>
                <a:ea typeface="Helvetica Neue"/>
                <a:cs typeface="Helvetica Neue"/>
              </a:rPr>
              <a:t>Internal analysis | train-only nested scaffold evaluation</a:t>
            </a:r>
          </a:p>
        </p:txBody>
      </p:sp>
      <p:sp>
        <p:nvSpPr>
          <p:cNvPr id="23" name="">
            <a:extLst xmlns:a="http://schemas.openxmlformats.org/drawingml/2006/main">
              <a:ext uri="{FF2B5EF4-FFF2-40B4-BE49-F238E27FC236}">
                <a16:creationId xmlns:a16="http://schemas.microsoft.com/office/drawing/2014/main" id="{BFF4868B-0EAD-4AEA-AC12-831894D3530C}"/>
              </a:ext>
            </a:extLst>
          </p:cNvPr>
          <p:cNvSpPr>
            <a:spLocks xmlns:a="http://schemas.openxmlformats.org/drawingml/2006/main" noGrp="1"/>
          </p:cNvSpPr>
          <p:nvPr/>
        </p:nvSpPr>
        <p:spPr>
          <a:xfrm xmlns:a="http://schemas.openxmlformats.org/drawingml/2006/main">
            <a:off x="1125855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0" i="0">
                <a:solidFill>
                  <a:srgbClr val="59616D"/>
                </a:solidFill>
                <a:latin typeface="Helvetica Neue"/>
                <a:ea typeface="Helvetica Neue"/>
                <a:cs typeface="Helvetica Neue"/>
              </a:defRPr>
            </a:pPr>
            <a:r>
              <a:rPr sz="825" b="0" i="0">
                <a:solidFill>
                  <a:srgbClr val="59616D"/>
                </a:solidFill>
                <a:latin typeface="Helvetica Neue"/>
                <a:ea typeface="Helvetica Neue"/>
                <a:cs typeface="Helvetica Neue"/>
              </a:rPr>
              <a:t>08</a:t>
            </a:r>
          </a:p>
        </p:txBody>
      </p:sp>
    </p:spTree>
    <p:extLst>
      <p:ext uri="{BB962C8B-B14F-4D97-AF65-F5344CB8AC3E}">
        <p14:creationId xmlns:p14="http://schemas.microsoft.com/office/powerpoint/2010/main" val="8298971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DAABF6D-0380-4983-9A93-9677D236E724}"/>
              </a:ext>
            </a:extLst>
          </p:cNvPr>
          <p:cNvSpPr>
            <a:spLocks xmlns:a="http://schemas.openxmlformats.org/drawingml/2006/main" noGrp="1"/>
          </p:cNvSpPr>
          <p:nvPr/>
        </p:nvSpPr>
        <p:spPr>
          <a:xfrm xmlns:a="http://schemas.openxmlformats.org/drawingml/2006/main">
            <a:off x="4000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E63D5"/>
                </a:solidFill>
                <a:latin typeface="Helvetica Neue"/>
                <a:ea typeface="Helvetica Neue"/>
                <a:cs typeface="Helvetica Neue"/>
              </a:defRPr>
            </a:pPr>
            <a:r>
              <a:rPr sz="975" b="1" i="0">
                <a:solidFill>
                  <a:srgbClr val="1E63D5"/>
                </a:solidFill>
                <a:latin typeface="Helvetica Neue"/>
                <a:ea typeface="Helvetica Neue"/>
                <a:cs typeface="Helvetica Neue"/>
              </a:rPr>
              <a:t>FAIR COMPARISON RULE</a:t>
            </a:r>
          </a:p>
        </p:txBody>
      </p:sp>
      <p:sp>
        <p:nvSpPr>
          <p:cNvPr id="2" name="">
            <a:extLst xmlns:a="http://schemas.openxmlformats.org/drawingml/2006/main">
              <a:ext uri="{FF2B5EF4-FFF2-40B4-BE49-F238E27FC236}">
                <a16:creationId xmlns:a16="http://schemas.microsoft.com/office/drawing/2014/main" id="{8DEA0A06-19E4-4C66-8348-905AD500E427}"/>
              </a:ext>
            </a:extLst>
          </p:cNvPr>
          <p:cNvSpPr>
            <a:spLocks xmlns:a="http://schemas.openxmlformats.org/drawingml/2006/main" noGrp="1"/>
          </p:cNvSpPr>
          <p:nvPr/>
        </p:nvSpPr>
        <p:spPr>
          <a:xfrm xmlns:a="http://schemas.openxmlformats.org/drawingml/2006/main">
            <a:off x="400050" y="5143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Why published headline metrics can look much better</a:t>
            </a:r>
          </a:p>
        </p:txBody>
      </p:sp>
      <p:cxnSp>
        <p:nvCxnSpPr>
          <p:cNvPr id="16" name=""/>
          <p:cNvCxnSpPr/>
          <p:nvPr/>
        </p:nvCxnSpPr>
        <p:spPr>
          <a:xfrm xmlns:a="http://schemas.openxmlformats.org/drawingml/2006/main">
            <a:off x="400050" y="1219200"/>
            <a:ext cx="11391900" cy="0"/>
          </a:xfrm>
          <a:prstGeom xmlns:a="http://schemas.openxmlformats.org/drawingml/2006/main" prst="straightConnector1">
            <a:avLst/>
          </a:prstGeom>
          <a:ln xmlns:a="http://schemas.openxmlformats.org/drawingml/2006/main" w="9525">
            <a:solidFill>
              <a:srgbClr val="D6DAE0"/>
            </a:solidFill>
            <a:prstDash val="solid"/>
          </a:ln>
        </p:spPr>
      </p:cxnSp>
      <p:sp>
        <p:nvSpPr>
          <p:cNvPr id="4" name="">
            <a:extLst xmlns:a="http://schemas.openxmlformats.org/drawingml/2006/main">
              <a:ext uri="{FF2B5EF4-FFF2-40B4-BE49-F238E27FC236}">
                <a16:creationId xmlns:a16="http://schemas.microsoft.com/office/drawing/2014/main" id="{F4C23D9E-D167-43D4-AAD7-4C4A0224CFA7}"/>
              </a:ext>
            </a:extLst>
          </p:cNvPr>
          <p:cNvSpPr>
            <a:spLocks xmlns:a="http://schemas.openxmlformats.org/drawingml/2006/main" noGrp="1"/>
          </p:cNvSpPr>
          <p:nvPr/>
        </p:nvSpPr>
        <p:spPr>
          <a:xfrm xmlns:a="http://schemas.openxmlformats.org/drawingml/2006/main">
            <a:off x="400050" y="1524000"/>
            <a:ext cx="5219700" cy="4057650"/>
          </a:xfrm>
          <a:prstGeom xmlns:a="http://schemas.openxmlformats.org/drawingml/2006/main" prst="roundRect">
            <a:avLst>
              <a:gd name="adj" fmla="val 3756"/>
            </a:avLst>
          </a:prstGeom>
          <a:solidFill xmlns:a="http://schemas.openxmlformats.org/drawingml/2006/main">
            <a:srgbClr val="F2F4F7"/>
          </a:solidFill>
          <a:ln xmlns:a="http://schemas.openxmlformats.org/drawingml/2006/main" w="9525">
            <a:solidFill>
              <a:srgbClr val="D6DAE0"/>
            </a:solidFill>
            <a:prstDash val="solid"/>
          </a:ln>
        </p:spPr>
      </p:sp>
      <p:sp>
        <p:nvSpPr>
          <p:cNvPr id="5" name="">
            <a:extLst xmlns:a="http://schemas.openxmlformats.org/drawingml/2006/main">
              <a:ext uri="{FF2B5EF4-FFF2-40B4-BE49-F238E27FC236}">
                <a16:creationId xmlns:a16="http://schemas.microsoft.com/office/drawing/2014/main" id="{FAEFF995-5134-468A-BF88-C06E58F2E8C4}"/>
              </a:ext>
            </a:extLst>
          </p:cNvPr>
          <p:cNvSpPr>
            <a:spLocks xmlns:a="http://schemas.openxmlformats.org/drawingml/2006/main" noGrp="1"/>
          </p:cNvSpPr>
          <p:nvPr/>
        </p:nvSpPr>
        <p:spPr>
          <a:xfrm xmlns:a="http://schemas.openxmlformats.org/drawingml/2006/main">
            <a:off x="685800" y="1809750"/>
            <a:ext cx="4648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i="0">
                <a:solidFill>
                  <a:srgbClr val="0B0F14"/>
                </a:solidFill>
                <a:latin typeface="Helvetica Neue"/>
                <a:ea typeface="Helvetica Neue"/>
                <a:cs typeface="Helvetica Neue"/>
              </a:defRPr>
            </a:pPr>
            <a:r>
              <a:rPr sz="2025" b="1" i="0">
                <a:solidFill>
                  <a:srgbClr val="0B0F14"/>
                </a:solidFill>
                <a:latin typeface="Helvetica Neue"/>
                <a:ea typeface="Helvetica Neue"/>
                <a:cs typeface="Helvetica Neue"/>
              </a:rPr>
              <a:t>Common published headline</a:t>
            </a:r>
          </a:p>
        </p:txBody>
      </p:sp>
      <p:sp>
        <p:nvSpPr>
          <p:cNvPr id="6" name="">
            <a:extLst xmlns:a="http://schemas.openxmlformats.org/drawingml/2006/main">
              <a:ext uri="{FF2B5EF4-FFF2-40B4-BE49-F238E27FC236}">
                <a16:creationId xmlns:a16="http://schemas.microsoft.com/office/drawing/2014/main" id="{77AE50FC-1CA8-4718-B1C2-F55278A6DE3F}"/>
              </a:ext>
            </a:extLst>
          </p:cNvPr>
          <p:cNvSpPr>
            <a:spLocks xmlns:a="http://schemas.openxmlformats.org/drawingml/2006/main" noGrp="1"/>
          </p:cNvSpPr>
          <p:nvPr/>
        </p:nvSpPr>
        <p:spPr>
          <a:xfrm xmlns:a="http://schemas.openxmlformats.org/drawingml/2006/main">
            <a:off x="685800" y="2476500"/>
            <a:ext cx="44767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 Binary blocker classification</a:t>
            </a:r>
          </a:p>
          <a:p xmlns:a="http://schemas.openxmlformats.org/drawingml/2006/main">
            <a:pPr algn="l">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 Selected potency threshold</a:t>
            </a:r>
          </a:p>
          <a:p xmlns:a="http://schemas.openxmlformats.org/drawingml/2006/main">
            <a:pPr algn="l">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 Random or internal split</a:t>
            </a:r>
          </a:p>
          <a:p xmlns:a="http://schemas.openxmlformats.org/drawingml/2006/main">
            <a:pPr algn="l">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 Dataset-specific deduplication</a:t>
            </a:r>
          </a:p>
          <a:p xmlns:a="http://schemas.openxmlformats.org/drawingml/2006/main">
            <a:pPr algn="l">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 Recall, AUROC, accuracy, or MCC</a:t>
            </a:r>
          </a:p>
        </p:txBody>
      </p:sp>
      <p:sp>
        <p:nvSpPr>
          <p:cNvPr id="7" name="">
            <a:extLst xmlns:a="http://schemas.openxmlformats.org/drawingml/2006/main">
              <a:ext uri="{FF2B5EF4-FFF2-40B4-BE49-F238E27FC236}">
                <a16:creationId xmlns:a16="http://schemas.microsoft.com/office/drawing/2014/main" id="{2402DB36-8BCC-4EB6-878F-B1A91F92233C}"/>
              </a:ext>
            </a:extLst>
          </p:cNvPr>
          <p:cNvSpPr>
            <a:spLocks xmlns:a="http://schemas.openxmlformats.org/drawingml/2006/main" noGrp="1"/>
          </p:cNvSpPr>
          <p:nvPr/>
        </p:nvSpPr>
        <p:spPr>
          <a:xfrm xmlns:a="http://schemas.openxmlformats.org/drawingml/2006/main">
            <a:off x="685800" y="48577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1" i="0">
                <a:solidFill>
                  <a:srgbClr val="0B0F14"/>
                </a:solidFill>
                <a:latin typeface="Helvetica Neue"/>
                <a:ea typeface="Helvetica Neue"/>
                <a:cs typeface="Helvetica Neue"/>
              </a:defRPr>
            </a:pPr>
            <a:r>
              <a:rPr sz="1313" b="1" i="0">
                <a:solidFill>
                  <a:srgbClr val="0B0F14"/>
                </a:solidFill>
                <a:latin typeface="Helvetica Neue"/>
                <a:ea typeface="Helvetica Neue"/>
                <a:cs typeface="Helvetica Neue"/>
              </a:rPr>
              <a:t>These may be valid results—but they answer a different question.</a:t>
            </a:r>
          </a:p>
        </p:txBody>
      </p:sp>
      <p:sp>
        <p:nvSpPr>
          <p:cNvPr id="8" name="">
            <a:extLst xmlns:a="http://schemas.openxmlformats.org/drawingml/2006/main">
              <a:ext uri="{FF2B5EF4-FFF2-40B4-BE49-F238E27FC236}">
                <a16:creationId xmlns:a16="http://schemas.microsoft.com/office/drawing/2014/main" id="{FC6EF95C-2A76-476E-8635-D0B4C0C19243}"/>
              </a:ext>
            </a:extLst>
          </p:cNvPr>
          <p:cNvSpPr>
            <a:spLocks xmlns:a="http://schemas.openxmlformats.org/drawingml/2006/main" noGrp="1"/>
          </p:cNvSpPr>
          <p:nvPr/>
        </p:nvSpPr>
        <p:spPr>
          <a:xfrm xmlns:a="http://schemas.openxmlformats.org/drawingml/2006/main">
            <a:off x="5924550" y="1524000"/>
            <a:ext cx="5791200" cy="4057650"/>
          </a:xfrm>
          <a:prstGeom xmlns:a="http://schemas.openxmlformats.org/drawingml/2006/main" prst="roundRect">
            <a:avLst>
              <a:gd name="adj" fmla="val 3756"/>
            </a:avLst>
          </a:prstGeom>
          <a:solidFill xmlns:a="http://schemas.openxmlformats.org/drawingml/2006/main">
            <a:srgbClr val="EAF2FF"/>
          </a:solidFill>
          <a:ln xmlns:a="http://schemas.openxmlformats.org/drawingml/2006/main" w="9525">
            <a:solidFill>
              <a:srgbClr val="EAF2FF"/>
            </a:solidFill>
            <a:prstDash val="solid"/>
          </a:ln>
        </p:spPr>
      </p:sp>
      <p:sp>
        <p:nvSpPr>
          <p:cNvPr id="9" name="">
            <a:extLst xmlns:a="http://schemas.openxmlformats.org/drawingml/2006/main">
              <a:ext uri="{FF2B5EF4-FFF2-40B4-BE49-F238E27FC236}">
                <a16:creationId xmlns:a16="http://schemas.microsoft.com/office/drawing/2014/main" id="{44777F87-958B-42E1-BF92-6D02B14E56C4}"/>
              </a:ext>
            </a:extLst>
          </p:cNvPr>
          <p:cNvSpPr>
            <a:spLocks xmlns:a="http://schemas.openxmlformats.org/drawingml/2006/main" noGrp="1"/>
          </p:cNvSpPr>
          <p:nvPr/>
        </p:nvSpPr>
        <p:spPr>
          <a:xfrm xmlns:a="http://schemas.openxmlformats.org/drawingml/2006/main">
            <a:off x="6210300" y="180975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i="0">
                <a:solidFill>
                  <a:srgbClr val="1E63D5"/>
                </a:solidFill>
                <a:latin typeface="Helvetica Neue"/>
                <a:ea typeface="Helvetica Neue"/>
                <a:cs typeface="Helvetica Neue"/>
              </a:defRPr>
            </a:pPr>
            <a:r>
              <a:rPr sz="2025" b="1" i="0">
                <a:solidFill>
                  <a:srgbClr val="1E63D5"/>
                </a:solidFill>
                <a:latin typeface="Helvetica Neue"/>
                <a:ea typeface="Helvetica Neue"/>
                <a:cs typeface="Helvetica Neue"/>
              </a:rPr>
              <a:t>Our primary evidence</a:t>
            </a:r>
          </a:p>
        </p:txBody>
      </p:sp>
      <p:sp>
        <p:nvSpPr>
          <p:cNvPr id="10" name="">
            <a:extLst xmlns:a="http://schemas.openxmlformats.org/drawingml/2006/main">
              <a:ext uri="{FF2B5EF4-FFF2-40B4-BE49-F238E27FC236}">
                <a16:creationId xmlns:a16="http://schemas.microsoft.com/office/drawing/2014/main" id="{BF0DD081-381A-4876-A3E5-90A0E1E19413}"/>
              </a:ext>
            </a:extLst>
          </p:cNvPr>
          <p:cNvSpPr>
            <a:spLocks xmlns:a="http://schemas.openxmlformats.org/drawingml/2006/main" noGrp="1"/>
          </p:cNvSpPr>
          <p:nvPr/>
        </p:nvSpPr>
        <p:spPr>
          <a:xfrm xmlns:a="http://schemas.openxmlformats.org/drawingml/2006/main">
            <a:off x="6210300" y="2476500"/>
            <a:ext cx="5143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0">
                <a:solidFill>
                  <a:srgbClr val="0B0F14"/>
                </a:solidFill>
                <a:latin typeface="Helvetica Neue"/>
                <a:ea typeface="Helvetica Neue"/>
                <a:cs typeface="Helvetica Neue"/>
              </a:defRPr>
            </a:pPr>
            <a:r>
              <a:rPr sz="1650" b="0" i="0">
                <a:solidFill>
                  <a:srgbClr val="0B0F14"/>
                </a:solidFill>
                <a:latin typeface="Helvetica Neue"/>
                <a:ea typeface="Helvetica Neue"/>
                <a:cs typeface="Helvetica Neue"/>
              </a:rPr>
              <a:t>• Continuous pIC50 regression</a:t>
            </a:r>
          </a:p>
          <a:p xmlns:a="http://schemas.openxmlformats.org/drawingml/2006/main">
            <a:pPr algn="l">
              <a:defRPr sz="1650" b="0" i="0">
                <a:solidFill>
                  <a:srgbClr val="0B0F14"/>
                </a:solidFill>
                <a:latin typeface="Helvetica Neue"/>
                <a:ea typeface="Helvetica Neue"/>
                <a:cs typeface="Helvetica Neue"/>
              </a:defRPr>
            </a:pPr>
            <a:r>
              <a:rPr sz="1650" b="0" i="0">
                <a:solidFill>
                  <a:srgbClr val="0B0F14"/>
                </a:solidFill>
                <a:latin typeface="Helvetica Neue"/>
                <a:ea typeface="Helvetica Neue"/>
                <a:cs typeface="Helvetica Neue"/>
              </a:rPr>
              <a:t>• Structure-collapsed targets</a:t>
            </a:r>
          </a:p>
          <a:p xmlns:a="http://schemas.openxmlformats.org/drawingml/2006/main">
            <a:pPr algn="l">
              <a:defRPr sz="1650" b="0" i="0">
                <a:solidFill>
                  <a:srgbClr val="0B0F14"/>
                </a:solidFill>
                <a:latin typeface="Helvetica Neue"/>
                <a:ea typeface="Helvetica Neue"/>
                <a:cs typeface="Helvetica Neue"/>
              </a:defRPr>
            </a:pPr>
            <a:r>
              <a:rPr sz="1650" b="0" i="0">
                <a:solidFill>
                  <a:srgbClr val="0B0F14"/>
                </a:solidFill>
                <a:latin typeface="Helvetica Neue"/>
                <a:ea typeface="Helvetica Neue"/>
                <a:cs typeface="Helvetica Neue"/>
              </a:rPr>
              <a:t>• Scaffold-held-out nested selection</a:t>
            </a:r>
          </a:p>
          <a:p xmlns:a="http://schemas.openxmlformats.org/drawingml/2006/main">
            <a:pPr algn="l">
              <a:defRPr sz="1650" b="0" i="0">
                <a:solidFill>
                  <a:srgbClr val="0B0F14"/>
                </a:solidFill>
                <a:latin typeface="Helvetica Neue"/>
                <a:ea typeface="Helvetica Neue"/>
                <a:cs typeface="Helvetica Neue"/>
              </a:defRPr>
            </a:pPr>
            <a:r>
              <a:rPr sz="1650" b="0" i="0">
                <a:solidFill>
                  <a:srgbClr val="0B0F14"/>
                </a:solidFill>
                <a:latin typeface="Helvetica Neue"/>
                <a:ea typeface="Helvetica Neue"/>
                <a:cs typeface="Helvetica Neue"/>
              </a:rPr>
              <a:t>• Assay, source, mass, cliff, and disagreement boundaries</a:t>
            </a:r>
          </a:p>
          <a:p xmlns:a="http://schemas.openxmlformats.org/drawingml/2006/main">
            <a:pPr algn="l">
              <a:defRPr sz="1650" b="0" i="0">
                <a:solidFill>
                  <a:srgbClr val="0B0F14"/>
                </a:solidFill>
                <a:latin typeface="Helvetica Neue"/>
                <a:ea typeface="Helvetica Neue"/>
                <a:cs typeface="Helvetica Neue"/>
              </a:defRPr>
            </a:pPr>
            <a:r>
              <a:rPr sz="1650" b="0" i="0">
                <a:solidFill>
                  <a:srgbClr val="0B0F14"/>
                </a:solidFill>
                <a:latin typeface="Helvetica Neue"/>
                <a:ea typeface="Helvetica Neue"/>
                <a:cs typeface="Helvetica Neue"/>
              </a:rPr>
              <a:t>• Calibration and applicability domain</a:t>
            </a:r>
          </a:p>
        </p:txBody>
      </p:sp>
      <p:sp>
        <p:nvSpPr>
          <p:cNvPr id="11" name="">
            <a:extLst xmlns:a="http://schemas.openxmlformats.org/drawingml/2006/main">
              <a:ext uri="{FF2B5EF4-FFF2-40B4-BE49-F238E27FC236}">
                <a16:creationId xmlns:a16="http://schemas.microsoft.com/office/drawing/2014/main" id="{5D709AE8-6FBA-4AE7-B66D-0AB74AC1AF6B}"/>
              </a:ext>
            </a:extLst>
          </p:cNvPr>
          <p:cNvSpPr>
            <a:spLocks xmlns:a="http://schemas.openxmlformats.org/drawingml/2006/main" noGrp="1"/>
          </p:cNvSpPr>
          <p:nvPr/>
        </p:nvSpPr>
        <p:spPr>
          <a:xfrm xmlns:a="http://schemas.openxmlformats.org/drawingml/2006/main">
            <a:off x="6210300" y="485775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13" b="1" i="0">
                <a:solidFill>
                  <a:srgbClr val="1E63D5"/>
                </a:solidFill>
                <a:latin typeface="Helvetica Neue"/>
                <a:ea typeface="Helvetica Neue"/>
                <a:cs typeface="Helvetica Neue"/>
              </a:defRPr>
            </a:pPr>
            <a:r>
              <a:rPr sz="1313" b="1" i="0">
                <a:solidFill>
                  <a:srgbClr val="1E63D5"/>
                </a:solidFill>
                <a:latin typeface="Helvetica Neue"/>
                <a:ea typeface="Helvetica Neue"/>
                <a:cs typeface="Helvetica Neue"/>
              </a:rPr>
              <a:t>Contribution: broader and more honest measurement—not a copied superiority claim.</a:t>
            </a:r>
          </a:p>
        </p:txBody>
      </p:sp>
      <p:sp>
        <p:nvSpPr>
          <p:cNvPr id="12" name="">
            <a:extLst xmlns:a="http://schemas.openxmlformats.org/drawingml/2006/main">
              <a:ext uri="{FF2B5EF4-FFF2-40B4-BE49-F238E27FC236}">
                <a16:creationId xmlns:a16="http://schemas.microsoft.com/office/drawing/2014/main" id="{B4646E7C-B9FB-4DCF-9CC7-B7BBA74B57B8}"/>
              </a:ext>
            </a:extLst>
          </p:cNvPr>
          <p:cNvSpPr>
            <a:spLocks xmlns:a="http://schemas.openxmlformats.org/drawingml/2006/main" noGrp="1"/>
          </p:cNvSpPr>
          <p:nvPr/>
        </p:nvSpPr>
        <p:spPr>
          <a:xfrm xmlns:a="http://schemas.openxmlformats.org/drawingml/2006/main">
            <a:off x="400050" y="64579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i="0">
                <a:solidFill>
                  <a:srgbClr val="59616D"/>
                </a:solidFill>
                <a:latin typeface="Helvetica Neue"/>
                <a:ea typeface="Helvetica Neue"/>
                <a:cs typeface="Helvetica Neue"/>
              </a:defRPr>
            </a:pPr>
            <a:r>
              <a:rPr sz="788" b="0" i="0">
                <a:solidFill>
                  <a:srgbClr val="59616D"/>
                </a:solidFill>
                <a:latin typeface="Helvetica Neue"/>
                <a:ea typeface="Helvetica Neue"/>
                <a:cs typeface="Helvetica Neue"/>
              </a:rPr>
              <a:t>Published metrics are not head-to-head without a common frozen benchmark</a:t>
            </a:r>
          </a:p>
        </p:txBody>
      </p:sp>
      <p:sp>
        <p:nvSpPr>
          <p:cNvPr id="13" name="">
            <a:extLst xmlns:a="http://schemas.openxmlformats.org/drawingml/2006/main">
              <a:ext uri="{FF2B5EF4-FFF2-40B4-BE49-F238E27FC236}">
                <a16:creationId xmlns:a16="http://schemas.microsoft.com/office/drawing/2014/main" id="{E10F6507-0255-4411-B4D1-926A847DC5B5}"/>
              </a:ext>
            </a:extLst>
          </p:cNvPr>
          <p:cNvSpPr>
            <a:spLocks xmlns:a="http://schemas.openxmlformats.org/drawingml/2006/main" noGrp="1"/>
          </p:cNvSpPr>
          <p:nvPr/>
        </p:nvSpPr>
        <p:spPr>
          <a:xfrm xmlns:a="http://schemas.openxmlformats.org/drawingml/2006/main">
            <a:off x="1125855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0" i="0">
                <a:solidFill>
                  <a:srgbClr val="59616D"/>
                </a:solidFill>
                <a:latin typeface="Helvetica Neue"/>
                <a:ea typeface="Helvetica Neue"/>
                <a:cs typeface="Helvetica Neue"/>
              </a:defRPr>
            </a:pPr>
            <a:r>
              <a:rPr sz="825" b="0" i="0">
                <a:solidFill>
                  <a:srgbClr val="59616D"/>
                </a:solidFill>
                <a:latin typeface="Helvetica Neue"/>
                <a:ea typeface="Helvetica Neue"/>
                <a:cs typeface="Helvetica Neue"/>
              </a:rPr>
              <a:t>09</a:t>
            </a:r>
          </a:p>
        </p:txBody>
      </p:sp>
    </p:spTree>
    <p:extLst>
      <p:ext uri="{BB962C8B-B14F-4D97-AF65-F5344CB8AC3E}">
        <p14:creationId xmlns:p14="http://schemas.microsoft.com/office/powerpoint/2010/main" val="91424143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C6D38EB-1F1C-4577-B701-113541C906F9}"/>
              </a:ext>
            </a:extLst>
          </p:cNvPr>
          <p:cNvSpPr>
            <a:spLocks xmlns:a="http://schemas.openxmlformats.org/drawingml/2006/main" noGrp="1"/>
          </p:cNvSpPr>
          <p:nvPr/>
        </p:nvSpPr>
        <p:spPr>
          <a:xfrm xmlns:a="http://schemas.openxmlformats.org/drawingml/2006/main">
            <a:off x="4000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E63D5"/>
                </a:solidFill>
                <a:latin typeface="Helvetica Neue"/>
                <a:ea typeface="Helvetica Neue"/>
                <a:cs typeface="Helvetica Neue"/>
              </a:defRPr>
            </a:pPr>
            <a:r>
              <a:rPr sz="975" b="1" i="0">
                <a:solidFill>
                  <a:srgbClr val="1E63D5"/>
                </a:solidFill>
                <a:latin typeface="Helvetica Neue"/>
                <a:ea typeface="Helvetica Neue"/>
                <a:cs typeface="Helvetica Neue"/>
              </a:rPr>
              <a:t>DECISION SLIDE</a:t>
            </a:r>
          </a:p>
        </p:txBody>
      </p:sp>
      <p:sp>
        <p:nvSpPr>
          <p:cNvPr id="2" name="">
            <a:extLst xmlns:a="http://schemas.openxmlformats.org/drawingml/2006/main">
              <a:ext uri="{FF2B5EF4-FFF2-40B4-BE49-F238E27FC236}">
                <a16:creationId xmlns:a16="http://schemas.microsoft.com/office/drawing/2014/main" id="{6862BC6D-3FF2-4CF7-B473-64B56D7159C9}"/>
              </a:ext>
            </a:extLst>
          </p:cNvPr>
          <p:cNvSpPr>
            <a:spLocks xmlns:a="http://schemas.openxmlformats.org/drawingml/2006/main" noGrp="1"/>
          </p:cNvSpPr>
          <p:nvPr/>
        </p:nvSpPr>
        <p:spPr>
          <a:xfrm xmlns:a="http://schemas.openxmlformats.org/drawingml/2006/main">
            <a:off x="400050" y="5143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958"/>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The next breakthrough requires better evidence, not just more descriptors</a:t>
            </a:r>
          </a:p>
        </p:txBody>
      </p:sp>
      <p:cxnSp>
        <p:nvCxnSpPr>
          <p:cNvPr id="25" name=""/>
          <p:cNvCxnSpPr/>
          <p:nvPr/>
        </p:nvCxnSpPr>
        <p:spPr>
          <a:xfrm xmlns:a="http://schemas.openxmlformats.org/drawingml/2006/main">
            <a:off x="400050" y="1219200"/>
            <a:ext cx="11391900" cy="0"/>
          </a:xfrm>
          <a:prstGeom xmlns:a="http://schemas.openxmlformats.org/drawingml/2006/main" prst="straightConnector1">
            <a:avLst/>
          </a:prstGeom>
          <a:ln xmlns:a="http://schemas.openxmlformats.org/drawingml/2006/main" w="9525">
            <a:solidFill>
              <a:srgbClr val="D6DAE0"/>
            </a:solidFill>
            <a:prstDash val="solid"/>
          </a:ln>
        </p:spPr>
      </p:cxnSp>
      <p:sp>
        <p:nvSpPr>
          <p:cNvPr id="4" name="">
            <a:extLst xmlns:a="http://schemas.openxmlformats.org/drawingml/2006/main">
              <a:ext uri="{FF2B5EF4-FFF2-40B4-BE49-F238E27FC236}">
                <a16:creationId xmlns:a16="http://schemas.microsoft.com/office/drawing/2014/main" id="{CD179B4B-F67C-4E76-B602-6FDE5D5AE694}"/>
              </a:ext>
            </a:extLst>
          </p:cNvPr>
          <p:cNvSpPr>
            <a:spLocks xmlns:a="http://schemas.openxmlformats.org/drawingml/2006/main" noGrp="1"/>
          </p:cNvSpPr>
          <p:nvPr/>
        </p:nvSpPr>
        <p:spPr>
          <a:xfrm xmlns:a="http://schemas.openxmlformats.org/drawingml/2006/main">
            <a:off x="400050" y="1504950"/>
            <a:ext cx="5562600" cy="1924050"/>
          </a:xfrm>
          <a:prstGeom xmlns:a="http://schemas.openxmlformats.org/drawingml/2006/main" prst="roundRect">
            <a:avLst>
              <a:gd name="adj" fmla="val 7921"/>
            </a:avLst>
          </a:prstGeom>
          <a:solidFill xmlns:a="http://schemas.openxmlformats.org/drawingml/2006/main">
            <a:srgbClr val="EAF2FF"/>
          </a:solidFill>
          <a:ln xmlns:a="http://schemas.openxmlformats.org/drawingml/2006/main" w="9525">
            <a:solidFill>
              <a:srgbClr val="EAF2FF"/>
            </a:solidFill>
            <a:prstDash val="solid"/>
          </a:ln>
        </p:spPr>
      </p:sp>
      <p:sp>
        <p:nvSpPr>
          <p:cNvPr id="5" name="">
            <a:extLst xmlns:a="http://schemas.openxmlformats.org/drawingml/2006/main">
              <a:ext uri="{FF2B5EF4-FFF2-40B4-BE49-F238E27FC236}">
                <a16:creationId xmlns:a16="http://schemas.microsoft.com/office/drawing/2014/main" id="{7BC7630E-3757-488F-9060-36265DF211CE}"/>
              </a:ext>
            </a:extLst>
          </p:cNvPr>
          <p:cNvSpPr>
            <a:spLocks xmlns:a="http://schemas.openxmlformats.org/drawingml/2006/main" noGrp="1"/>
          </p:cNvSpPr>
          <p:nvPr/>
        </p:nvSpPr>
        <p:spPr>
          <a:xfrm xmlns:a="http://schemas.openxmlformats.org/drawingml/2006/main">
            <a:off x="628650" y="17145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i="0">
                <a:solidFill>
                  <a:srgbClr val="1E63D5"/>
                </a:solidFill>
                <a:latin typeface="Helvetica Neue"/>
                <a:ea typeface="Helvetica Neue"/>
                <a:cs typeface="Helvetica Neue"/>
              </a:defRPr>
            </a:pPr>
            <a:r>
              <a:rPr sz="2625" b="1" i="0">
                <a:solidFill>
                  <a:srgbClr val="1E63D5"/>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85E2DB23-EF1E-44A7-A2AF-24020573FB7D}"/>
              </a:ext>
            </a:extLst>
          </p:cNvPr>
          <p:cNvSpPr>
            <a:spLocks xmlns:a="http://schemas.openxmlformats.org/drawingml/2006/main" noGrp="1"/>
          </p:cNvSpPr>
          <p:nvPr/>
        </p:nvSpPr>
        <p:spPr>
          <a:xfrm xmlns:a="http://schemas.openxmlformats.org/drawingml/2006/main">
            <a:off x="1295400" y="1733550"/>
            <a:ext cx="432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E63D5"/>
                </a:solidFill>
                <a:latin typeface="Helvetica Neue"/>
                <a:ea typeface="Helvetica Neue"/>
                <a:cs typeface="Helvetica Neue"/>
              </a:defRPr>
            </a:pPr>
            <a:r>
              <a:rPr sz="1875" b="1" i="0">
                <a:solidFill>
                  <a:srgbClr val="1E63D5"/>
                </a:solidFill>
                <a:latin typeface="Helvetica Neue"/>
                <a:ea typeface="Helvetica Neue"/>
                <a:cs typeface="Helvetica Neue"/>
              </a:rPr>
              <a:t>Freeze an external series</a:t>
            </a:r>
          </a:p>
        </p:txBody>
      </p:sp>
      <p:sp>
        <p:nvSpPr>
          <p:cNvPr id="7" name="">
            <a:extLst xmlns:a="http://schemas.openxmlformats.org/drawingml/2006/main">
              <a:ext uri="{FF2B5EF4-FFF2-40B4-BE49-F238E27FC236}">
                <a16:creationId xmlns:a16="http://schemas.microsoft.com/office/drawing/2014/main" id="{752C805A-8A58-4EC7-AEA5-0BC5C1CC9FCF}"/>
              </a:ext>
            </a:extLst>
          </p:cNvPr>
          <p:cNvSpPr>
            <a:spLocks xmlns:a="http://schemas.openxmlformats.org/drawingml/2006/main" noGrp="1"/>
          </p:cNvSpPr>
          <p:nvPr/>
        </p:nvSpPr>
        <p:spPr>
          <a:xfrm xmlns:a="http://schemas.openxmlformats.org/drawingml/2006/main">
            <a:off x="1295400" y="2286000"/>
            <a:ext cx="4324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Explicit human-WT functional patch clamp, one-time evaluation, protocol-resolved.</a:t>
            </a:r>
          </a:p>
        </p:txBody>
      </p:sp>
      <p:sp>
        <p:nvSpPr>
          <p:cNvPr id="8" name="">
            <a:extLst xmlns:a="http://schemas.openxmlformats.org/drawingml/2006/main">
              <a:ext uri="{FF2B5EF4-FFF2-40B4-BE49-F238E27FC236}">
                <a16:creationId xmlns:a16="http://schemas.microsoft.com/office/drawing/2014/main" id="{EA48DE3E-B892-49AF-98D3-D30947B7DD20}"/>
              </a:ext>
            </a:extLst>
          </p:cNvPr>
          <p:cNvSpPr>
            <a:spLocks xmlns:a="http://schemas.openxmlformats.org/drawingml/2006/main" noGrp="1"/>
          </p:cNvSpPr>
          <p:nvPr/>
        </p:nvSpPr>
        <p:spPr>
          <a:xfrm xmlns:a="http://schemas.openxmlformats.org/drawingml/2006/main">
            <a:off x="6153150" y="1504950"/>
            <a:ext cx="5562600" cy="1924050"/>
          </a:xfrm>
          <a:prstGeom xmlns:a="http://schemas.openxmlformats.org/drawingml/2006/main" prst="roundRect">
            <a:avLst>
              <a:gd name="adj" fmla="val 7921"/>
            </a:avLst>
          </a:prstGeom>
          <a:solidFill xmlns:a="http://schemas.openxmlformats.org/drawingml/2006/main">
            <a:srgbClr val="E9F7F1"/>
          </a:solidFill>
          <a:ln xmlns:a="http://schemas.openxmlformats.org/drawingml/2006/main" w="9525">
            <a:solidFill>
              <a:srgbClr val="E9F7F1"/>
            </a:solidFill>
            <a:prstDash val="solid"/>
          </a:ln>
        </p:spPr>
      </p:sp>
      <p:sp>
        <p:nvSpPr>
          <p:cNvPr id="9" name="">
            <a:extLst xmlns:a="http://schemas.openxmlformats.org/drawingml/2006/main">
              <a:ext uri="{FF2B5EF4-FFF2-40B4-BE49-F238E27FC236}">
                <a16:creationId xmlns:a16="http://schemas.microsoft.com/office/drawing/2014/main" id="{3AF7D07E-0F53-415D-9A02-97998E01ED69}"/>
              </a:ext>
            </a:extLst>
          </p:cNvPr>
          <p:cNvSpPr>
            <a:spLocks xmlns:a="http://schemas.openxmlformats.org/drawingml/2006/main" noGrp="1"/>
          </p:cNvSpPr>
          <p:nvPr/>
        </p:nvSpPr>
        <p:spPr>
          <a:xfrm xmlns:a="http://schemas.openxmlformats.org/drawingml/2006/main">
            <a:off x="6381750" y="17145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i="0">
                <a:solidFill>
                  <a:srgbClr val="16805A"/>
                </a:solidFill>
                <a:latin typeface="Helvetica Neue"/>
                <a:ea typeface="Helvetica Neue"/>
                <a:cs typeface="Helvetica Neue"/>
              </a:defRPr>
            </a:pPr>
            <a:r>
              <a:rPr sz="2625" b="1" i="0">
                <a:solidFill>
                  <a:srgbClr val="16805A"/>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E23E1263-A7BF-47F0-8F25-276093FF29AA}"/>
              </a:ext>
            </a:extLst>
          </p:cNvPr>
          <p:cNvSpPr>
            <a:spLocks xmlns:a="http://schemas.openxmlformats.org/drawingml/2006/main" noGrp="1"/>
          </p:cNvSpPr>
          <p:nvPr/>
        </p:nvSpPr>
        <p:spPr>
          <a:xfrm xmlns:a="http://schemas.openxmlformats.org/drawingml/2006/main">
            <a:off x="7048500" y="1733550"/>
            <a:ext cx="432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6805A"/>
                </a:solidFill>
                <a:latin typeface="Helvetica Neue"/>
                <a:ea typeface="Helvetica Neue"/>
                <a:cs typeface="Helvetica Neue"/>
              </a:defRPr>
            </a:pPr>
            <a:r>
              <a:rPr sz="1875" b="1" i="0">
                <a:solidFill>
                  <a:srgbClr val="16805A"/>
                </a:solidFill>
                <a:latin typeface="Helvetica Neue"/>
                <a:ea typeface="Helvetica Neue"/>
                <a:cs typeface="Helvetica Neue"/>
              </a:rPr>
              <a:t>Model the measurement</a:t>
            </a:r>
          </a:p>
        </p:txBody>
      </p:sp>
      <p:sp>
        <p:nvSpPr>
          <p:cNvPr id="11" name="">
            <a:extLst xmlns:a="http://schemas.openxmlformats.org/drawingml/2006/main">
              <a:ext uri="{FF2B5EF4-FFF2-40B4-BE49-F238E27FC236}">
                <a16:creationId xmlns:a16="http://schemas.microsoft.com/office/drawing/2014/main" id="{628451A3-0E9C-4907-A424-89A41D978695}"/>
              </a:ext>
            </a:extLst>
          </p:cNvPr>
          <p:cNvSpPr>
            <a:spLocks xmlns:a="http://schemas.openxmlformats.org/drawingml/2006/main" noGrp="1"/>
          </p:cNvSpPr>
          <p:nvPr/>
        </p:nvSpPr>
        <p:spPr>
          <a:xfrm xmlns:a="http://schemas.openxmlformats.org/drawingml/2006/main">
            <a:off x="7048500" y="2286000"/>
            <a:ext cx="4324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Assay-conditioned or hierarchical model with construct, modality, source, and protocol context.</a:t>
            </a:r>
          </a:p>
        </p:txBody>
      </p:sp>
      <p:sp>
        <p:nvSpPr>
          <p:cNvPr id="12" name="">
            <a:extLst xmlns:a="http://schemas.openxmlformats.org/drawingml/2006/main">
              <a:ext uri="{FF2B5EF4-FFF2-40B4-BE49-F238E27FC236}">
                <a16:creationId xmlns:a16="http://schemas.microsoft.com/office/drawing/2014/main" id="{83891052-6AF9-40B1-88A6-93C56D602DF5}"/>
              </a:ext>
            </a:extLst>
          </p:cNvPr>
          <p:cNvSpPr>
            <a:spLocks xmlns:a="http://schemas.openxmlformats.org/drawingml/2006/main" noGrp="1"/>
          </p:cNvSpPr>
          <p:nvPr/>
        </p:nvSpPr>
        <p:spPr>
          <a:xfrm xmlns:a="http://schemas.openxmlformats.org/drawingml/2006/main">
            <a:off x="400050" y="3790950"/>
            <a:ext cx="5562600" cy="1924050"/>
          </a:xfrm>
          <a:prstGeom xmlns:a="http://schemas.openxmlformats.org/drawingml/2006/main" prst="roundRect">
            <a:avLst>
              <a:gd name="adj" fmla="val 7921"/>
            </a:avLst>
          </a:prstGeom>
          <a:solidFill xmlns:a="http://schemas.openxmlformats.org/drawingml/2006/main">
            <a:srgbClr val="FFF2E8"/>
          </a:solidFill>
          <a:ln xmlns:a="http://schemas.openxmlformats.org/drawingml/2006/main" w="9525">
            <a:solidFill>
              <a:srgbClr val="FFF2E8"/>
            </a:solidFill>
            <a:prstDash val="solid"/>
          </a:ln>
        </p:spPr>
      </p:sp>
      <p:sp>
        <p:nvSpPr>
          <p:cNvPr id="13" name="">
            <a:extLst xmlns:a="http://schemas.openxmlformats.org/drawingml/2006/main">
              <a:ext uri="{FF2B5EF4-FFF2-40B4-BE49-F238E27FC236}">
                <a16:creationId xmlns:a16="http://schemas.microsoft.com/office/drawing/2014/main" id="{1D489E59-1B61-4F75-93D4-15C6F6920B4A}"/>
              </a:ext>
            </a:extLst>
          </p:cNvPr>
          <p:cNvSpPr>
            <a:spLocks xmlns:a="http://schemas.openxmlformats.org/drawingml/2006/main" noGrp="1"/>
          </p:cNvSpPr>
          <p:nvPr/>
        </p:nvSpPr>
        <p:spPr>
          <a:xfrm xmlns:a="http://schemas.openxmlformats.org/drawingml/2006/main">
            <a:off x="628650" y="40005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i="0">
                <a:solidFill>
                  <a:srgbClr val="C96A18"/>
                </a:solidFill>
                <a:latin typeface="Helvetica Neue"/>
                <a:ea typeface="Helvetica Neue"/>
                <a:cs typeface="Helvetica Neue"/>
              </a:defRPr>
            </a:pPr>
            <a:r>
              <a:rPr sz="2625" b="1" i="0">
                <a:solidFill>
                  <a:srgbClr val="C96A18"/>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6787F8C8-849F-467C-A18E-F683210F32E1}"/>
              </a:ext>
            </a:extLst>
          </p:cNvPr>
          <p:cNvSpPr>
            <a:spLocks xmlns:a="http://schemas.openxmlformats.org/drawingml/2006/main" noGrp="1"/>
          </p:cNvSpPr>
          <p:nvPr/>
        </p:nvSpPr>
        <p:spPr>
          <a:xfrm xmlns:a="http://schemas.openxmlformats.org/drawingml/2006/main">
            <a:off x="1295400" y="4019550"/>
            <a:ext cx="432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C96A18"/>
                </a:solidFill>
                <a:latin typeface="Helvetica Neue"/>
                <a:ea typeface="Helvetica Neue"/>
                <a:cs typeface="Helvetica Neue"/>
              </a:defRPr>
            </a:pPr>
            <a:r>
              <a:rPr sz="1875" b="1" i="0">
                <a:solidFill>
                  <a:srgbClr val="C96A18"/>
                </a:solidFill>
                <a:latin typeface="Helvetica Neue"/>
                <a:ea typeface="Helvetica Neue"/>
                <a:cs typeface="Helvetica Neue"/>
              </a:rPr>
              <a:t>Target activity cliffs</a:t>
            </a:r>
          </a:p>
        </p:txBody>
      </p:sp>
      <p:sp>
        <p:nvSpPr>
          <p:cNvPr id="15" name="">
            <a:extLst xmlns:a="http://schemas.openxmlformats.org/drawingml/2006/main">
              <a:ext uri="{FF2B5EF4-FFF2-40B4-BE49-F238E27FC236}">
                <a16:creationId xmlns:a16="http://schemas.microsoft.com/office/drawing/2014/main" id="{AA4BC923-781C-404B-A760-541E46F59C16}"/>
              </a:ext>
            </a:extLst>
          </p:cNvPr>
          <p:cNvSpPr>
            <a:spLocks xmlns:a="http://schemas.openxmlformats.org/drawingml/2006/main" noGrp="1"/>
          </p:cNvSpPr>
          <p:nvPr/>
        </p:nvSpPr>
        <p:spPr>
          <a:xfrm xmlns:a="http://schemas.openxmlformats.org/drawingml/2006/main">
            <a:off x="1295400" y="4572000"/>
            <a:ext cx="4324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Acquire and model matched pairs where the broad model fails; train local-delta specialists.</a:t>
            </a:r>
          </a:p>
        </p:txBody>
      </p:sp>
      <p:sp>
        <p:nvSpPr>
          <p:cNvPr id="16" name="">
            <a:extLst xmlns:a="http://schemas.openxmlformats.org/drawingml/2006/main">
              <a:ext uri="{FF2B5EF4-FFF2-40B4-BE49-F238E27FC236}">
                <a16:creationId xmlns:a16="http://schemas.microsoft.com/office/drawing/2014/main" id="{2A911EC9-529A-4B92-BE72-741E718B4CE8}"/>
              </a:ext>
            </a:extLst>
          </p:cNvPr>
          <p:cNvSpPr>
            <a:spLocks xmlns:a="http://schemas.openxmlformats.org/drawingml/2006/main" noGrp="1"/>
          </p:cNvSpPr>
          <p:nvPr/>
        </p:nvSpPr>
        <p:spPr>
          <a:xfrm xmlns:a="http://schemas.openxmlformats.org/drawingml/2006/main">
            <a:off x="6153150" y="3790950"/>
            <a:ext cx="5562600" cy="1924050"/>
          </a:xfrm>
          <a:prstGeom xmlns:a="http://schemas.openxmlformats.org/drawingml/2006/main" prst="roundRect">
            <a:avLst>
              <a:gd name="adj" fmla="val 7921"/>
            </a:avLst>
          </a:prstGeom>
          <a:solidFill xmlns:a="http://schemas.openxmlformats.org/drawingml/2006/main">
            <a:srgbClr val="FCECEC"/>
          </a:solidFill>
          <a:ln xmlns:a="http://schemas.openxmlformats.org/drawingml/2006/main" w="9525">
            <a:solidFill>
              <a:srgbClr val="FCECEC"/>
            </a:solidFill>
            <a:prstDash val="solid"/>
          </a:ln>
        </p:spPr>
      </p:sp>
      <p:sp>
        <p:nvSpPr>
          <p:cNvPr id="17" name="">
            <a:extLst xmlns:a="http://schemas.openxmlformats.org/drawingml/2006/main">
              <a:ext uri="{FF2B5EF4-FFF2-40B4-BE49-F238E27FC236}">
                <a16:creationId xmlns:a16="http://schemas.microsoft.com/office/drawing/2014/main" id="{37EAD24E-33B0-4FAA-AFAB-D7E34BC79D88}"/>
              </a:ext>
            </a:extLst>
          </p:cNvPr>
          <p:cNvSpPr>
            <a:spLocks xmlns:a="http://schemas.openxmlformats.org/drawingml/2006/main" noGrp="1"/>
          </p:cNvSpPr>
          <p:nvPr/>
        </p:nvSpPr>
        <p:spPr>
          <a:xfrm xmlns:a="http://schemas.openxmlformats.org/drawingml/2006/main">
            <a:off x="6381750" y="40005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i="0">
                <a:solidFill>
                  <a:srgbClr val="B84040"/>
                </a:solidFill>
                <a:latin typeface="Helvetica Neue"/>
                <a:ea typeface="Helvetica Neue"/>
                <a:cs typeface="Helvetica Neue"/>
              </a:defRPr>
            </a:pPr>
            <a:r>
              <a:rPr sz="2625" b="1" i="0">
                <a:solidFill>
                  <a:srgbClr val="B84040"/>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2A48A51D-E064-4897-817B-9244D8EC0617}"/>
              </a:ext>
            </a:extLst>
          </p:cNvPr>
          <p:cNvSpPr>
            <a:spLocks xmlns:a="http://schemas.openxmlformats.org/drawingml/2006/main" noGrp="1"/>
          </p:cNvSpPr>
          <p:nvPr/>
        </p:nvSpPr>
        <p:spPr>
          <a:xfrm xmlns:a="http://schemas.openxmlformats.org/drawingml/2006/main">
            <a:off x="7048500" y="4019550"/>
            <a:ext cx="432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B84040"/>
                </a:solidFill>
                <a:latin typeface="Helvetica Neue"/>
                <a:ea typeface="Helvetica Neue"/>
                <a:cs typeface="Helvetica Neue"/>
              </a:defRPr>
            </a:pPr>
            <a:r>
              <a:rPr sz="1875" b="1" i="0">
                <a:solidFill>
                  <a:srgbClr val="B84040"/>
                </a:solidFill>
                <a:latin typeface="Helvetica Neue"/>
                <a:ea typeface="Helvetica Neue"/>
                <a:cs typeface="Helvetica Neue"/>
              </a:rPr>
              <a:t>Gate receptor physics</a:t>
            </a:r>
          </a:p>
        </p:txBody>
      </p:sp>
      <p:sp>
        <p:nvSpPr>
          <p:cNvPr id="19" name="">
            <a:extLst xmlns:a="http://schemas.openxmlformats.org/drawingml/2006/main">
              <a:ext uri="{FF2B5EF4-FFF2-40B4-BE49-F238E27FC236}">
                <a16:creationId xmlns:a16="http://schemas.microsoft.com/office/drawing/2014/main" id="{526E2B2D-5F91-40AC-9679-34C26C282E2D}"/>
              </a:ext>
            </a:extLst>
          </p:cNvPr>
          <p:cNvSpPr>
            <a:spLocks xmlns:a="http://schemas.openxmlformats.org/drawingml/2006/main" noGrp="1"/>
          </p:cNvSpPr>
          <p:nvPr/>
        </p:nvSpPr>
        <p:spPr>
          <a:xfrm xmlns:a="http://schemas.openxmlformats.org/drawingml/2006/main">
            <a:off x="7048500" y="4572000"/>
            <a:ext cx="4324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0B0F14"/>
                </a:solidFill>
                <a:latin typeface="Helvetica Neue"/>
                <a:ea typeface="Helvetica Neue"/>
                <a:cs typeface="Helvetica Neue"/>
              </a:defRPr>
            </a:pPr>
            <a:r>
              <a:rPr sz="1350" b="0" i="0">
                <a:solidFill>
                  <a:srgbClr val="0B0F14"/>
                </a:solidFill>
                <a:latin typeface="Helvetica Neue"/>
                <a:ea typeface="Helvetica Neue"/>
                <a:cs typeface="Helvetica Neue"/>
              </a:rPr>
              <a:t>Prepare receptor states, ligand microstates, membrane environment, and software pins before docking/MD claims.</a:t>
            </a:r>
          </a:p>
        </p:txBody>
      </p:sp>
      <p:sp>
        <p:nvSpPr>
          <p:cNvPr id="20" name="">
            <a:extLst xmlns:a="http://schemas.openxmlformats.org/drawingml/2006/main">
              <a:ext uri="{FF2B5EF4-FFF2-40B4-BE49-F238E27FC236}">
                <a16:creationId xmlns:a16="http://schemas.microsoft.com/office/drawing/2014/main" id="{D55B1743-8FBF-4B52-8D67-00D42B2D6BDB}"/>
              </a:ext>
            </a:extLst>
          </p:cNvPr>
          <p:cNvSpPr>
            <a:spLocks xmlns:a="http://schemas.openxmlformats.org/drawingml/2006/main" noGrp="1"/>
          </p:cNvSpPr>
          <p:nvPr/>
        </p:nvSpPr>
        <p:spPr>
          <a:xfrm xmlns:a="http://schemas.openxmlformats.org/drawingml/2006/main">
            <a:off x="1047750" y="596265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636"/>
          </a:bodyPr>
          <a:lstStyle xmlns:a="http://schemas.openxmlformats.org/drawingml/2006/main"/>
          <a:p xmlns:a="http://schemas.openxmlformats.org/drawingml/2006/main">
            <a:pPr algn="ctr">
              <a:defRPr sz="1350" b="1" i="0">
                <a:solidFill>
                  <a:srgbClr val="1E63D5"/>
                </a:solidFill>
                <a:latin typeface="Helvetica Neue"/>
                <a:ea typeface="Helvetica Neue"/>
                <a:cs typeface="Helvetica Neue"/>
              </a:defRPr>
            </a:pPr>
            <a:r>
              <a:rPr sz="1350" b="1" i="0">
                <a:solidFill>
                  <a:srgbClr val="1E63D5"/>
                </a:solidFill>
                <a:latin typeface="Helvetica Neue"/>
                <a:ea typeface="Helvetica Neue"/>
                <a:cs typeface="Helvetica Neue"/>
              </a:rPr>
              <a:t>Meeting ask: prioritize the external series and assay-context adjudication; use those results to decide whether receptor physics is justified.</a:t>
            </a:r>
          </a:p>
        </p:txBody>
      </p:sp>
      <p:sp>
        <p:nvSpPr>
          <p:cNvPr id="21" name="">
            <a:extLst xmlns:a="http://schemas.openxmlformats.org/drawingml/2006/main">
              <a:ext uri="{FF2B5EF4-FFF2-40B4-BE49-F238E27FC236}">
                <a16:creationId xmlns:a16="http://schemas.microsoft.com/office/drawing/2014/main" id="{918A7C5F-5A39-4D13-87AE-4FFDD94A711C}"/>
              </a:ext>
            </a:extLst>
          </p:cNvPr>
          <p:cNvSpPr>
            <a:spLocks xmlns:a="http://schemas.openxmlformats.org/drawingml/2006/main" noGrp="1"/>
          </p:cNvSpPr>
          <p:nvPr/>
        </p:nvSpPr>
        <p:spPr>
          <a:xfrm xmlns:a="http://schemas.openxmlformats.org/drawingml/2006/main">
            <a:off x="400050" y="64579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i="0">
                <a:solidFill>
                  <a:srgbClr val="59616D"/>
                </a:solidFill>
                <a:latin typeface="Helvetica Neue"/>
                <a:ea typeface="Helvetica Neue"/>
                <a:cs typeface="Helvetica Neue"/>
              </a:defRPr>
            </a:pPr>
            <a:r>
              <a:rPr sz="788" b="0" i="0">
                <a:solidFill>
                  <a:srgbClr val="59616D"/>
                </a:solidFill>
                <a:latin typeface="Helvetica Neue"/>
                <a:ea typeface="Helvetica Neue"/>
                <a:cs typeface="Helvetica Neue"/>
              </a:rPr>
              <a:t>Internal analysis | train-only nested scaffold evaluation</a:t>
            </a:r>
          </a:p>
        </p:txBody>
      </p:sp>
      <p:sp>
        <p:nvSpPr>
          <p:cNvPr id="22" name="">
            <a:extLst xmlns:a="http://schemas.openxmlformats.org/drawingml/2006/main">
              <a:ext uri="{FF2B5EF4-FFF2-40B4-BE49-F238E27FC236}">
                <a16:creationId xmlns:a16="http://schemas.microsoft.com/office/drawing/2014/main" id="{1EB1FC76-E4E7-405F-BEB6-CD5333A9D5D5}"/>
              </a:ext>
            </a:extLst>
          </p:cNvPr>
          <p:cNvSpPr>
            <a:spLocks xmlns:a="http://schemas.openxmlformats.org/drawingml/2006/main" noGrp="1"/>
          </p:cNvSpPr>
          <p:nvPr/>
        </p:nvSpPr>
        <p:spPr>
          <a:xfrm xmlns:a="http://schemas.openxmlformats.org/drawingml/2006/main">
            <a:off x="1125855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0" i="0">
                <a:solidFill>
                  <a:srgbClr val="59616D"/>
                </a:solidFill>
                <a:latin typeface="Helvetica Neue"/>
                <a:ea typeface="Helvetica Neue"/>
                <a:cs typeface="Helvetica Neue"/>
              </a:defRPr>
            </a:pPr>
            <a:r>
              <a:rPr sz="825" b="0" i="0">
                <a:solidFill>
                  <a:srgbClr val="59616D"/>
                </a:solidFill>
                <a:latin typeface="Helvetica Neue"/>
                <a:ea typeface="Helvetica Neue"/>
                <a:cs typeface="Helvetica Neue"/>
              </a:rPr>
              <a:t>10</a:t>
            </a:r>
          </a:p>
        </p:txBody>
      </p:sp>
    </p:spTree>
    <p:extLst>
      <p:ext uri="{BB962C8B-B14F-4D97-AF65-F5344CB8AC3E}">
        <p14:creationId xmlns:p14="http://schemas.microsoft.com/office/powerpoint/2010/main" val="3276042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D32CD94-EEB2-4299-8F53-32C25F145285}"/>
              </a:ext>
            </a:extLst>
          </p:cNvPr>
          <p:cNvSpPr>
            <a:spLocks xmlns:a="http://schemas.openxmlformats.org/drawingml/2006/main" noGrp="1"/>
          </p:cNvSpPr>
          <p:nvPr/>
        </p:nvSpPr>
        <p:spPr>
          <a:xfrm xmlns:a="http://schemas.openxmlformats.org/drawingml/2006/main">
            <a:off x="4000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E63D5"/>
                </a:solidFill>
                <a:latin typeface="Helvetica Neue"/>
                <a:ea typeface="Helvetica Neue"/>
                <a:cs typeface="Helvetica Neue"/>
              </a:defRPr>
            </a:pPr>
            <a:r>
              <a:rPr sz="975" b="1" i="0">
                <a:solidFill>
                  <a:srgbClr val="1E63D5"/>
                </a:solidFill>
                <a:latin typeface="Helvetica Neue"/>
                <a:ea typeface="Helvetica Neue"/>
                <a:cs typeface="Helvetica Neue"/>
              </a:rPr>
              <a:t>APPENDIX A</a:t>
            </a:r>
          </a:p>
        </p:txBody>
      </p:sp>
      <p:sp>
        <p:nvSpPr>
          <p:cNvPr id="2" name="">
            <a:extLst xmlns:a="http://schemas.openxmlformats.org/drawingml/2006/main">
              <a:ext uri="{FF2B5EF4-FFF2-40B4-BE49-F238E27FC236}">
                <a16:creationId xmlns:a16="http://schemas.microsoft.com/office/drawing/2014/main" id="{A1BCE873-063C-47A9-AF41-66AFCF8F3354}"/>
              </a:ext>
            </a:extLst>
          </p:cNvPr>
          <p:cNvSpPr>
            <a:spLocks xmlns:a="http://schemas.openxmlformats.org/drawingml/2006/main" noGrp="1"/>
          </p:cNvSpPr>
          <p:nvPr/>
        </p:nvSpPr>
        <p:spPr>
          <a:xfrm xmlns:a="http://schemas.openxmlformats.org/drawingml/2006/main">
            <a:off x="400050" y="5143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063"/>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Threshold views support tool comparisons without changing the primary task</a:t>
            </a:r>
          </a:p>
        </p:txBody>
      </p:sp>
      <p:cxnSp>
        <p:nvCxnSpPr>
          <p:cNvPr id="28" name=""/>
          <p:cNvCxnSpPr/>
          <p:nvPr/>
        </p:nvCxnSpPr>
        <p:spPr>
          <a:xfrm xmlns:a="http://schemas.openxmlformats.org/drawingml/2006/main">
            <a:off x="400050" y="1219200"/>
            <a:ext cx="11391900" cy="0"/>
          </a:xfrm>
          <a:prstGeom xmlns:a="http://schemas.openxmlformats.org/drawingml/2006/main" prst="straightConnector1">
            <a:avLst/>
          </a:prstGeom>
          <a:ln xmlns:a="http://schemas.openxmlformats.org/drawingml/2006/main" w="9525">
            <a:solidFill>
              <a:srgbClr val="D6DAE0"/>
            </a:solidFill>
            <a:prstDash val="solid"/>
          </a:ln>
        </p:spPr>
      </p:cxnSp>
      <p:sp>
        <p:nvSpPr>
          <p:cNvPr id="4" name="">
            <a:extLst xmlns:a="http://schemas.openxmlformats.org/drawingml/2006/main">
              <a:ext uri="{FF2B5EF4-FFF2-40B4-BE49-F238E27FC236}">
                <a16:creationId xmlns:a16="http://schemas.microsoft.com/office/drawing/2014/main" id="{AAD144E5-E909-4963-9D1C-2E114AD123F1}"/>
              </a:ext>
            </a:extLst>
          </p:cNvPr>
          <p:cNvSpPr>
            <a:spLocks xmlns:a="http://schemas.openxmlformats.org/drawingml/2006/main" noGrp="1"/>
          </p:cNvSpPr>
          <p:nvPr/>
        </p:nvSpPr>
        <p:spPr>
          <a:xfrm xmlns:a="http://schemas.openxmlformats.org/drawingml/2006/main">
            <a:off x="628650" y="17716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59616D"/>
                </a:solidFill>
                <a:latin typeface="Helvetica Neue"/>
                <a:ea typeface="Helvetica Neue"/>
                <a:cs typeface="Helvetica Neue"/>
              </a:defRPr>
            </a:pPr>
            <a:r>
              <a:rPr sz="1200" b="1" i="0">
                <a:solidFill>
                  <a:srgbClr val="59616D"/>
                </a:solidFill>
                <a:latin typeface="Helvetica Neue"/>
                <a:ea typeface="Helvetica Neue"/>
                <a:cs typeface="Helvetica Neue"/>
              </a:rPr>
              <a:t>Threshold</a:t>
            </a:r>
          </a:p>
        </p:txBody>
      </p:sp>
      <p:sp>
        <p:nvSpPr>
          <p:cNvPr id="5" name="">
            <a:extLst xmlns:a="http://schemas.openxmlformats.org/drawingml/2006/main">
              <a:ext uri="{FF2B5EF4-FFF2-40B4-BE49-F238E27FC236}">
                <a16:creationId xmlns:a16="http://schemas.microsoft.com/office/drawing/2014/main" id="{87ED1A3F-9D63-48DA-B502-15680AA54FFE}"/>
              </a:ext>
            </a:extLst>
          </p:cNvPr>
          <p:cNvSpPr>
            <a:spLocks xmlns:a="http://schemas.openxmlformats.org/drawingml/2006/main" noGrp="1"/>
          </p:cNvSpPr>
          <p:nvPr/>
        </p:nvSpPr>
        <p:spPr>
          <a:xfrm xmlns:a="http://schemas.openxmlformats.org/drawingml/2006/main">
            <a:off x="2971800" y="17716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59616D"/>
                </a:solidFill>
                <a:latin typeface="Helvetica Neue"/>
                <a:ea typeface="Helvetica Neue"/>
                <a:cs typeface="Helvetica Neue"/>
              </a:defRPr>
            </a:pPr>
            <a:r>
              <a:rPr sz="1200" b="1" i="0">
                <a:solidFill>
                  <a:srgbClr val="59616D"/>
                </a:solidFill>
                <a:latin typeface="Helvetica Neue"/>
                <a:ea typeface="Helvetica Neue"/>
                <a:cs typeface="Helvetica Neue"/>
              </a:rPr>
              <a:t>Sensitivity</a:t>
            </a:r>
          </a:p>
        </p:txBody>
      </p:sp>
      <p:sp>
        <p:nvSpPr>
          <p:cNvPr id="6" name="">
            <a:extLst xmlns:a="http://schemas.openxmlformats.org/drawingml/2006/main">
              <a:ext uri="{FF2B5EF4-FFF2-40B4-BE49-F238E27FC236}">
                <a16:creationId xmlns:a16="http://schemas.microsoft.com/office/drawing/2014/main" id="{EC0DC891-5F2A-4C28-A8F2-80E860270AC1}"/>
              </a:ext>
            </a:extLst>
          </p:cNvPr>
          <p:cNvSpPr>
            <a:spLocks xmlns:a="http://schemas.openxmlformats.org/drawingml/2006/main" noGrp="1"/>
          </p:cNvSpPr>
          <p:nvPr/>
        </p:nvSpPr>
        <p:spPr>
          <a:xfrm xmlns:a="http://schemas.openxmlformats.org/drawingml/2006/main">
            <a:off x="5276850" y="17716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59616D"/>
                </a:solidFill>
                <a:latin typeface="Helvetica Neue"/>
                <a:ea typeface="Helvetica Neue"/>
                <a:cs typeface="Helvetica Neue"/>
              </a:defRPr>
            </a:pPr>
            <a:r>
              <a:rPr sz="1200" b="1" i="0">
                <a:solidFill>
                  <a:srgbClr val="59616D"/>
                </a:solidFill>
                <a:latin typeface="Helvetica Neue"/>
                <a:ea typeface="Helvetica Neue"/>
                <a:cs typeface="Helvetica Neue"/>
              </a:rPr>
              <a:t>Specificity</a:t>
            </a:r>
          </a:p>
        </p:txBody>
      </p:sp>
      <p:sp>
        <p:nvSpPr>
          <p:cNvPr id="7" name="">
            <a:extLst xmlns:a="http://schemas.openxmlformats.org/drawingml/2006/main">
              <a:ext uri="{FF2B5EF4-FFF2-40B4-BE49-F238E27FC236}">
                <a16:creationId xmlns:a16="http://schemas.microsoft.com/office/drawing/2014/main" id="{F66E8538-763C-4BB2-BAC1-666498A092AA}"/>
              </a:ext>
            </a:extLst>
          </p:cNvPr>
          <p:cNvSpPr>
            <a:spLocks xmlns:a="http://schemas.openxmlformats.org/drawingml/2006/main" noGrp="1"/>
          </p:cNvSpPr>
          <p:nvPr/>
        </p:nvSpPr>
        <p:spPr>
          <a:xfrm xmlns:a="http://schemas.openxmlformats.org/drawingml/2006/main">
            <a:off x="7581900" y="17716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59616D"/>
                </a:solidFill>
                <a:latin typeface="Helvetica Neue"/>
                <a:ea typeface="Helvetica Neue"/>
                <a:cs typeface="Helvetica Neue"/>
              </a:defRPr>
            </a:pPr>
            <a:r>
              <a:rPr sz="1200" b="1" i="0">
                <a:solidFill>
                  <a:srgbClr val="59616D"/>
                </a:solidFill>
                <a:latin typeface="Helvetica Neue"/>
                <a:ea typeface="Helvetica Neue"/>
                <a:cs typeface="Helvetica Neue"/>
              </a:rPr>
              <a:t>Balanced accuracy</a:t>
            </a:r>
          </a:p>
        </p:txBody>
      </p:sp>
      <p:sp>
        <p:nvSpPr>
          <p:cNvPr id="8" name="">
            <a:extLst xmlns:a="http://schemas.openxmlformats.org/drawingml/2006/main">
              <a:ext uri="{FF2B5EF4-FFF2-40B4-BE49-F238E27FC236}">
                <a16:creationId xmlns:a16="http://schemas.microsoft.com/office/drawing/2014/main" id="{9003DA51-F706-44F8-BB72-E914DA29E9CA}"/>
              </a:ext>
            </a:extLst>
          </p:cNvPr>
          <p:cNvSpPr>
            <a:spLocks xmlns:a="http://schemas.openxmlformats.org/drawingml/2006/main" noGrp="1"/>
          </p:cNvSpPr>
          <p:nvPr/>
        </p:nvSpPr>
        <p:spPr>
          <a:xfrm xmlns:a="http://schemas.openxmlformats.org/drawingml/2006/main">
            <a:off x="400050" y="2247900"/>
            <a:ext cx="11315700" cy="876300"/>
          </a:xfrm>
          <a:prstGeom xmlns:a="http://schemas.openxmlformats.org/drawingml/2006/main" prst="roundRect">
            <a:avLst>
              <a:gd name="adj" fmla="val 13043"/>
            </a:avLst>
          </a:prstGeom>
          <a:solidFill xmlns:a="http://schemas.openxmlformats.org/drawingml/2006/main">
            <a:srgbClr val="EAF2FF"/>
          </a:solidFill>
          <a:ln xmlns:a="http://schemas.openxmlformats.org/drawingml/2006/main" w="9525">
            <a:solidFill>
              <a:srgbClr val="EAF2FF"/>
            </a:solidFill>
            <a:prstDash val="solid"/>
          </a:ln>
        </p:spPr>
      </p:sp>
      <p:sp>
        <p:nvSpPr>
          <p:cNvPr id="9" name="">
            <a:extLst xmlns:a="http://schemas.openxmlformats.org/drawingml/2006/main">
              <a:ext uri="{FF2B5EF4-FFF2-40B4-BE49-F238E27FC236}">
                <a16:creationId xmlns:a16="http://schemas.microsoft.com/office/drawing/2014/main" id="{61BA8D87-5D09-4049-9AE1-3D1EB197F3B9}"/>
              </a:ext>
            </a:extLst>
          </p:cNvPr>
          <p:cNvSpPr>
            <a:spLocks xmlns:a="http://schemas.openxmlformats.org/drawingml/2006/main" noGrp="1"/>
          </p:cNvSpPr>
          <p:nvPr/>
        </p:nvSpPr>
        <p:spPr>
          <a:xfrm xmlns:a="http://schemas.openxmlformats.org/drawingml/2006/main">
            <a:off x="628650" y="24860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i="0">
                <a:solidFill>
                  <a:srgbClr val="1E63D5"/>
                </a:solidFill>
                <a:latin typeface="Helvetica Neue"/>
                <a:ea typeface="Helvetica Neue"/>
                <a:cs typeface="Helvetica Neue"/>
              </a:defRPr>
            </a:pPr>
            <a:r>
              <a:rPr sz="1950" b="1" i="0">
                <a:solidFill>
                  <a:srgbClr val="1E63D5"/>
                </a:solidFill>
                <a:latin typeface="Helvetica Neue"/>
                <a:ea typeface="Helvetica Neue"/>
                <a:cs typeface="Helvetica Neue"/>
              </a:rPr>
              <a:t>20 μM</a:t>
            </a:r>
          </a:p>
        </p:txBody>
      </p:sp>
      <p:sp>
        <p:nvSpPr>
          <p:cNvPr id="10" name="">
            <a:extLst xmlns:a="http://schemas.openxmlformats.org/drawingml/2006/main">
              <a:ext uri="{FF2B5EF4-FFF2-40B4-BE49-F238E27FC236}">
                <a16:creationId xmlns:a16="http://schemas.microsoft.com/office/drawing/2014/main" id="{81B18532-0C9E-4AF3-BBF4-976D33EB1166}"/>
              </a:ext>
            </a:extLst>
          </p:cNvPr>
          <p:cNvSpPr>
            <a:spLocks xmlns:a="http://schemas.openxmlformats.org/drawingml/2006/main" noGrp="1"/>
          </p:cNvSpPr>
          <p:nvPr/>
        </p:nvSpPr>
        <p:spPr>
          <a:xfrm xmlns:a="http://schemas.openxmlformats.org/drawingml/2006/main">
            <a:off x="2971800" y="24860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i="0">
                <a:solidFill>
                  <a:srgbClr val="0B0F14"/>
                </a:solidFill>
                <a:latin typeface="Helvetica Neue"/>
                <a:ea typeface="Helvetica Neue"/>
                <a:cs typeface="Helvetica Neue"/>
              </a:defRPr>
            </a:pPr>
            <a:r>
              <a:rPr sz="1950" b="1" i="0">
                <a:solidFill>
                  <a:srgbClr val="0B0F14"/>
                </a:solidFill>
                <a:latin typeface="Helvetica Neue"/>
                <a:ea typeface="Helvetica Neue"/>
                <a:cs typeface="Helvetica Neue"/>
              </a:rPr>
              <a:t>94.8%</a:t>
            </a:r>
          </a:p>
        </p:txBody>
      </p:sp>
      <p:sp>
        <p:nvSpPr>
          <p:cNvPr id="11" name="">
            <a:extLst xmlns:a="http://schemas.openxmlformats.org/drawingml/2006/main">
              <a:ext uri="{FF2B5EF4-FFF2-40B4-BE49-F238E27FC236}">
                <a16:creationId xmlns:a16="http://schemas.microsoft.com/office/drawing/2014/main" id="{BE5763AB-2DC5-4601-A192-265A7006B52A}"/>
              </a:ext>
            </a:extLst>
          </p:cNvPr>
          <p:cNvSpPr>
            <a:spLocks xmlns:a="http://schemas.openxmlformats.org/drawingml/2006/main" noGrp="1"/>
          </p:cNvSpPr>
          <p:nvPr/>
        </p:nvSpPr>
        <p:spPr>
          <a:xfrm xmlns:a="http://schemas.openxmlformats.org/drawingml/2006/main">
            <a:off x="5276850" y="24860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i="0">
                <a:solidFill>
                  <a:srgbClr val="0B0F14"/>
                </a:solidFill>
                <a:latin typeface="Helvetica Neue"/>
                <a:ea typeface="Helvetica Neue"/>
                <a:cs typeface="Helvetica Neue"/>
              </a:defRPr>
            </a:pPr>
            <a:r>
              <a:rPr sz="1950" b="1" i="0">
                <a:solidFill>
                  <a:srgbClr val="0B0F14"/>
                </a:solidFill>
                <a:latin typeface="Helvetica Neue"/>
                <a:ea typeface="Helvetica Neue"/>
                <a:cs typeface="Helvetica Neue"/>
              </a:rPr>
              <a:t>43.0%</a:t>
            </a:r>
          </a:p>
        </p:txBody>
      </p:sp>
      <p:sp>
        <p:nvSpPr>
          <p:cNvPr id="12" name="">
            <a:extLst xmlns:a="http://schemas.openxmlformats.org/drawingml/2006/main">
              <a:ext uri="{FF2B5EF4-FFF2-40B4-BE49-F238E27FC236}">
                <a16:creationId xmlns:a16="http://schemas.microsoft.com/office/drawing/2014/main" id="{844007CD-6F20-4734-AD1B-3F642F1B95D3}"/>
              </a:ext>
            </a:extLst>
          </p:cNvPr>
          <p:cNvSpPr>
            <a:spLocks xmlns:a="http://schemas.openxmlformats.org/drawingml/2006/main" noGrp="1"/>
          </p:cNvSpPr>
          <p:nvPr/>
        </p:nvSpPr>
        <p:spPr>
          <a:xfrm xmlns:a="http://schemas.openxmlformats.org/drawingml/2006/main">
            <a:off x="7581900" y="24860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i="0">
                <a:solidFill>
                  <a:srgbClr val="0B0F14"/>
                </a:solidFill>
                <a:latin typeface="Helvetica Neue"/>
                <a:ea typeface="Helvetica Neue"/>
                <a:cs typeface="Helvetica Neue"/>
              </a:defRPr>
            </a:pPr>
            <a:r>
              <a:rPr sz="1950" b="1" i="0">
                <a:solidFill>
                  <a:srgbClr val="0B0F14"/>
                </a:solidFill>
                <a:latin typeface="Helvetica Neue"/>
                <a:ea typeface="Helvetica Neue"/>
                <a:cs typeface="Helvetica Neue"/>
              </a:rPr>
              <a:t>68.9%</a:t>
            </a:r>
          </a:p>
        </p:txBody>
      </p:sp>
      <p:sp>
        <p:nvSpPr>
          <p:cNvPr id="13" name="">
            <a:extLst xmlns:a="http://schemas.openxmlformats.org/drawingml/2006/main">
              <a:ext uri="{FF2B5EF4-FFF2-40B4-BE49-F238E27FC236}">
                <a16:creationId xmlns:a16="http://schemas.microsoft.com/office/drawing/2014/main" id="{5071AD20-33DE-40A5-AE53-A18745E5625D}"/>
              </a:ext>
            </a:extLst>
          </p:cNvPr>
          <p:cNvSpPr>
            <a:spLocks xmlns:a="http://schemas.openxmlformats.org/drawingml/2006/main" noGrp="1"/>
          </p:cNvSpPr>
          <p:nvPr/>
        </p:nvSpPr>
        <p:spPr>
          <a:xfrm xmlns:a="http://schemas.openxmlformats.org/drawingml/2006/main">
            <a:off x="400050" y="3371850"/>
            <a:ext cx="11315700" cy="876300"/>
          </a:xfrm>
          <a:prstGeom xmlns:a="http://schemas.openxmlformats.org/drawingml/2006/main" prst="roundRect">
            <a:avLst>
              <a:gd name="adj" fmla="val 13043"/>
            </a:avLst>
          </a:prstGeom>
          <a:solidFill xmlns:a="http://schemas.openxmlformats.org/drawingml/2006/main">
            <a:srgbClr val="E9F7F1"/>
          </a:solidFill>
          <a:ln xmlns:a="http://schemas.openxmlformats.org/drawingml/2006/main" w="9525">
            <a:solidFill>
              <a:srgbClr val="E9F7F1"/>
            </a:solidFill>
            <a:prstDash val="solid"/>
          </a:ln>
        </p:spPr>
      </p:sp>
      <p:sp>
        <p:nvSpPr>
          <p:cNvPr id="14" name="">
            <a:extLst xmlns:a="http://schemas.openxmlformats.org/drawingml/2006/main">
              <a:ext uri="{FF2B5EF4-FFF2-40B4-BE49-F238E27FC236}">
                <a16:creationId xmlns:a16="http://schemas.microsoft.com/office/drawing/2014/main" id="{A56D91D3-D3A0-479E-9BA4-6C14039154B6}"/>
              </a:ext>
            </a:extLst>
          </p:cNvPr>
          <p:cNvSpPr>
            <a:spLocks xmlns:a="http://schemas.openxmlformats.org/drawingml/2006/main" noGrp="1"/>
          </p:cNvSpPr>
          <p:nvPr/>
        </p:nvSpPr>
        <p:spPr>
          <a:xfrm xmlns:a="http://schemas.openxmlformats.org/drawingml/2006/main">
            <a:off x="628650" y="36099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i="0">
                <a:solidFill>
                  <a:srgbClr val="16805A"/>
                </a:solidFill>
                <a:latin typeface="Helvetica Neue"/>
                <a:ea typeface="Helvetica Neue"/>
                <a:cs typeface="Helvetica Neue"/>
              </a:defRPr>
            </a:pPr>
            <a:r>
              <a:rPr sz="1950" b="1" i="0">
                <a:solidFill>
                  <a:srgbClr val="16805A"/>
                </a:solidFill>
                <a:latin typeface="Helvetica Neue"/>
                <a:ea typeface="Helvetica Neue"/>
                <a:cs typeface="Helvetica Neue"/>
              </a:rPr>
              <a:t>10 μM</a:t>
            </a:r>
          </a:p>
        </p:txBody>
      </p:sp>
      <p:sp>
        <p:nvSpPr>
          <p:cNvPr id="15" name="">
            <a:extLst xmlns:a="http://schemas.openxmlformats.org/drawingml/2006/main">
              <a:ext uri="{FF2B5EF4-FFF2-40B4-BE49-F238E27FC236}">
                <a16:creationId xmlns:a16="http://schemas.microsoft.com/office/drawing/2014/main" id="{FD50993D-BFC7-42CC-8DC2-2366FB4E7BFD}"/>
              </a:ext>
            </a:extLst>
          </p:cNvPr>
          <p:cNvSpPr>
            <a:spLocks xmlns:a="http://schemas.openxmlformats.org/drawingml/2006/main" noGrp="1"/>
          </p:cNvSpPr>
          <p:nvPr/>
        </p:nvSpPr>
        <p:spPr>
          <a:xfrm xmlns:a="http://schemas.openxmlformats.org/drawingml/2006/main">
            <a:off x="2971800" y="36099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i="0">
                <a:solidFill>
                  <a:srgbClr val="0B0F14"/>
                </a:solidFill>
                <a:latin typeface="Helvetica Neue"/>
                <a:ea typeface="Helvetica Neue"/>
                <a:cs typeface="Helvetica Neue"/>
              </a:defRPr>
            </a:pPr>
            <a:r>
              <a:rPr sz="1950" b="1" i="0">
                <a:solidFill>
                  <a:srgbClr val="0B0F14"/>
                </a:solidFill>
                <a:latin typeface="Helvetica Neue"/>
                <a:ea typeface="Helvetica Neue"/>
                <a:cs typeface="Helvetica Neue"/>
              </a:rPr>
              <a:t>80.2%</a:t>
            </a:r>
          </a:p>
        </p:txBody>
      </p:sp>
      <p:sp>
        <p:nvSpPr>
          <p:cNvPr id="16" name="">
            <a:extLst xmlns:a="http://schemas.openxmlformats.org/drawingml/2006/main">
              <a:ext uri="{FF2B5EF4-FFF2-40B4-BE49-F238E27FC236}">
                <a16:creationId xmlns:a16="http://schemas.microsoft.com/office/drawing/2014/main" id="{49BA1962-AD0A-4F50-B11E-A16B0B85C561}"/>
              </a:ext>
            </a:extLst>
          </p:cNvPr>
          <p:cNvSpPr>
            <a:spLocks xmlns:a="http://schemas.openxmlformats.org/drawingml/2006/main" noGrp="1"/>
          </p:cNvSpPr>
          <p:nvPr/>
        </p:nvSpPr>
        <p:spPr>
          <a:xfrm xmlns:a="http://schemas.openxmlformats.org/drawingml/2006/main">
            <a:off x="5276850" y="36099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i="0">
                <a:solidFill>
                  <a:srgbClr val="0B0F14"/>
                </a:solidFill>
                <a:latin typeface="Helvetica Neue"/>
                <a:ea typeface="Helvetica Neue"/>
                <a:cs typeface="Helvetica Neue"/>
              </a:defRPr>
            </a:pPr>
            <a:r>
              <a:rPr sz="1950" b="1" i="0">
                <a:solidFill>
                  <a:srgbClr val="0B0F14"/>
                </a:solidFill>
                <a:latin typeface="Helvetica Neue"/>
                <a:ea typeface="Helvetica Neue"/>
                <a:cs typeface="Helvetica Neue"/>
              </a:rPr>
              <a:t>68.6%</a:t>
            </a:r>
          </a:p>
        </p:txBody>
      </p:sp>
      <p:sp>
        <p:nvSpPr>
          <p:cNvPr id="17" name="">
            <a:extLst xmlns:a="http://schemas.openxmlformats.org/drawingml/2006/main">
              <a:ext uri="{FF2B5EF4-FFF2-40B4-BE49-F238E27FC236}">
                <a16:creationId xmlns:a16="http://schemas.microsoft.com/office/drawing/2014/main" id="{A159EE33-DF9F-462C-A8B0-B7FCF7F8939F}"/>
              </a:ext>
            </a:extLst>
          </p:cNvPr>
          <p:cNvSpPr>
            <a:spLocks xmlns:a="http://schemas.openxmlformats.org/drawingml/2006/main" noGrp="1"/>
          </p:cNvSpPr>
          <p:nvPr/>
        </p:nvSpPr>
        <p:spPr>
          <a:xfrm xmlns:a="http://schemas.openxmlformats.org/drawingml/2006/main">
            <a:off x="7581900" y="360997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i="0">
                <a:solidFill>
                  <a:srgbClr val="0B0F14"/>
                </a:solidFill>
                <a:latin typeface="Helvetica Neue"/>
                <a:ea typeface="Helvetica Neue"/>
                <a:cs typeface="Helvetica Neue"/>
              </a:defRPr>
            </a:pPr>
            <a:r>
              <a:rPr sz="1950" b="1" i="0">
                <a:solidFill>
                  <a:srgbClr val="0B0F14"/>
                </a:solidFill>
                <a:latin typeface="Helvetica Neue"/>
                <a:ea typeface="Helvetica Neue"/>
                <a:cs typeface="Helvetica Neue"/>
              </a:rPr>
              <a:t>74.4%</a:t>
            </a:r>
          </a:p>
        </p:txBody>
      </p:sp>
      <p:sp>
        <p:nvSpPr>
          <p:cNvPr id="18" name="">
            <a:extLst xmlns:a="http://schemas.openxmlformats.org/drawingml/2006/main">
              <a:ext uri="{FF2B5EF4-FFF2-40B4-BE49-F238E27FC236}">
                <a16:creationId xmlns:a16="http://schemas.microsoft.com/office/drawing/2014/main" id="{E88E574A-82D3-429F-B459-9A04C781BDFB}"/>
              </a:ext>
            </a:extLst>
          </p:cNvPr>
          <p:cNvSpPr>
            <a:spLocks xmlns:a="http://schemas.openxmlformats.org/drawingml/2006/main" noGrp="1"/>
          </p:cNvSpPr>
          <p:nvPr/>
        </p:nvSpPr>
        <p:spPr>
          <a:xfrm xmlns:a="http://schemas.openxmlformats.org/drawingml/2006/main">
            <a:off x="400050" y="4495800"/>
            <a:ext cx="11315700" cy="876300"/>
          </a:xfrm>
          <a:prstGeom xmlns:a="http://schemas.openxmlformats.org/drawingml/2006/main" prst="roundRect">
            <a:avLst>
              <a:gd name="adj" fmla="val 13043"/>
            </a:avLst>
          </a:prstGeom>
          <a:solidFill xmlns:a="http://schemas.openxmlformats.org/drawingml/2006/main">
            <a:srgbClr val="FFF2E8"/>
          </a:solidFill>
          <a:ln xmlns:a="http://schemas.openxmlformats.org/drawingml/2006/main" w="9525">
            <a:solidFill>
              <a:srgbClr val="FFF2E8"/>
            </a:solidFill>
            <a:prstDash val="solid"/>
          </a:ln>
        </p:spPr>
      </p:sp>
      <p:sp>
        <p:nvSpPr>
          <p:cNvPr id="19" name="">
            <a:extLst xmlns:a="http://schemas.openxmlformats.org/drawingml/2006/main">
              <a:ext uri="{FF2B5EF4-FFF2-40B4-BE49-F238E27FC236}">
                <a16:creationId xmlns:a16="http://schemas.microsoft.com/office/drawing/2014/main" id="{5A9B5E44-93C2-4C90-B21B-841E2482E795}"/>
              </a:ext>
            </a:extLst>
          </p:cNvPr>
          <p:cNvSpPr>
            <a:spLocks xmlns:a="http://schemas.openxmlformats.org/drawingml/2006/main" noGrp="1"/>
          </p:cNvSpPr>
          <p:nvPr/>
        </p:nvSpPr>
        <p:spPr>
          <a:xfrm xmlns:a="http://schemas.openxmlformats.org/drawingml/2006/main">
            <a:off x="628650" y="47339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i="0">
                <a:solidFill>
                  <a:srgbClr val="C96A18"/>
                </a:solidFill>
                <a:latin typeface="Helvetica Neue"/>
                <a:ea typeface="Helvetica Neue"/>
                <a:cs typeface="Helvetica Neue"/>
              </a:defRPr>
            </a:pPr>
            <a:r>
              <a:rPr sz="1950" b="1" i="0">
                <a:solidFill>
                  <a:srgbClr val="C96A18"/>
                </a:solidFill>
                <a:latin typeface="Helvetica Neue"/>
                <a:ea typeface="Helvetica Neue"/>
                <a:cs typeface="Helvetica Neue"/>
              </a:rPr>
              <a:t>1 μM</a:t>
            </a:r>
          </a:p>
        </p:txBody>
      </p:sp>
      <p:sp>
        <p:nvSpPr>
          <p:cNvPr id="20" name="">
            <a:extLst xmlns:a="http://schemas.openxmlformats.org/drawingml/2006/main">
              <a:ext uri="{FF2B5EF4-FFF2-40B4-BE49-F238E27FC236}">
                <a16:creationId xmlns:a16="http://schemas.microsoft.com/office/drawing/2014/main" id="{348B3519-CBC2-404E-A69A-C1A7B44AC09B}"/>
              </a:ext>
            </a:extLst>
          </p:cNvPr>
          <p:cNvSpPr>
            <a:spLocks xmlns:a="http://schemas.openxmlformats.org/drawingml/2006/main" noGrp="1"/>
          </p:cNvSpPr>
          <p:nvPr/>
        </p:nvSpPr>
        <p:spPr>
          <a:xfrm xmlns:a="http://schemas.openxmlformats.org/drawingml/2006/main">
            <a:off x="2971800" y="47339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i="0">
                <a:solidFill>
                  <a:srgbClr val="0B0F14"/>
                </a:solidFill>
                <a:latin typeface="Helvetica Neue"/>
                <a:ea typeface="Helvetica Neue"/>
                <a:cs typeface="Helvetica Neue"/>
              </a:defRPr>
            </a:pPr>
            <a:r>
              <a:rPr sz="1950" b="1" i="0">
                <a:solidFill>
                  <a:srgbClr val="0B0F14"/>
                </a:solidFill>
                <a:latin typeface="Helvetica Neue"/>
                <a:ea typeface="Helvetica Neue"/>
                <a:cs typeface="Helvetica Neue"/>
              </a:rPr>
              <a:t>43.1%</a:t>
            </a:r>
          </a:p>
        </p:txBody>
      </p:sp>
      <p:sp>
        <p:nvSpPr>
          <p:cNvPr id="21" name="">
            <a:extLst xmlns:a="http://schemas.openxmlformats.org/drawingml/2006/main">
              <a:ext uri="{FF2B5EF4-FFF2-40B4-BE49-F238E27FC236}">
                <a16:creationId xmlns:a16="http://schemas.microsoft.com/office/drawing/2014/main" id="{A5EABD52-4E5E-490B-BFD5-302535F64396}"/>
              </a:ext>
            </a:extLst>
          </p:cNvPr>
          <p:cNvSpPr>
            <a:spLocks xmlns:a="http://schemas.openxmlformats.org/drawingml/2006/main" noGrp="1"/>
          </p:cNvSpPr>
          <p:nvPr/>
        </p:nvSpPr>
        <p:spPr>
          <a:xfrm xmlns:a="http://schemas.openxmlformats.org/drawingml/2006/main">
            <a:off x="5276850" y="47339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i="0">
                <a:solidFill>
                  <a:srgbClr val="0B0F14"/>
                </a:solidFill>
                <a:latin typeface="Helvetica Neue"/>
                <a:ea typeface="Helvetica Neue"/>
                <a:cs typeface="Helvetica Neue"/>
              </a:defRPr>
            </a:pPr>
            <a:r>
              <a:rPr sz="1950" b="1" i="0">
                <a:solidFill>
                  <a:srgbClr val="0B0F14"/>
                </a:solidFill>
                <a:latin typeface="Helvetica Neue"/>
                <a:ea typeface="Helvetica Neue"/>
                <a:cs typeface="Helvetica Neue"/>
              </a:rPr>
              <a:t>96.8%</a:t>
            </a:r>
          </a:p>
        </p:txBody>
      </p:sp>
      <p:sp>
        <p:nvSpPr>
          <p:cNvPr id="22" name="">
            <a:extLst xmlns:a="http://schemas.openxmlformats.org/drawingml/2006/main">
              <a:ext uri="{FF2B5EF4-FFF2-40B4-BE49-F238E27FC236}">
                <a16:creationId xmlns:a16="http://schemas.microsoft.com/office/drawing/2014/main" id="{3AD3AF24-6137-44E4-BEEF-0EA56E68E0DD}"/>
              </a:ext>
            </a:extLst>
          </p:cNvPr>
          <p:cNvSpPr>
            <a:spLocks xmlns:a="http://schemas.openxmlformats.org/drawingml/2006/main" noGrp="1"/>
          </p:cNvSpPr>
          <p:nvPr/>
        </p:nvSpPr>
        <p:spPr>
          <a:xfrm xmlns:a="http://schemas.openxmlformats.org/drawingml/2006/main">
            <a:off x="7581900" y="47339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i="0">
                <a:solidFill>
                  <a:srgbClr val="0B0F14"/>
                </a:solidFill>
                <a:latin typeface="Helvetica Neue"/>
                <a:ea typeface="Helvetica Neue"/>
                <a:cs typeface="Helvetica Neue"/>
              </a:defRPr>
            </a:pPr>
            <a:r>
              <a:rPr sz="1950" b="1" i="0">
                <a:solidFill>
                  <a:srgbClr val="0B0F14"/>
                </a:solidFill>
                <a:latin typeface="Helvetica Neue"/>
                <a:ea typeface="Helvetica Neue"/>
                <a:cs typeface="Helvetica Neue"/>
              </a:rPr>
              <a:t>70.0%</a:t>
            </a:r>
          </a:p>
        </p:txBody>
      </p:sp>
      <p:sp>
        <p:nvSpPr>
          <p:cNvPr id="23" name="">
            <a:extLst xmlns:a="http://schemas.openxmlformats.org/drawingml/2006/main">
              <a:ext uri="{FF2B5EF4-FFF2-40B4-BE49-F238E27FC236}">
                <a16:creationId xmlns:a16="http://schemas.microsoft.com/office/drawing/2014/main" id="{802F2180-F1FC-401A-9FE5-F117768EB3F1}"/>
              </a:ext>
            </a:extLst>
          </p:cNvPr>
          <p:cNvSpPr>
            <a:spLocks xmlns:a="http://schemas.openxmlformats.org/drawingml/2006/main" noGrp="1"/>
          </p:cNvSpPr>
          <p:nvPr/>
        </p:nvSpPr>
        <p:spPr>
          <a:xfrm xmlns:a="http://schemas.openxmlformats.org/drawingml/2006/main">
            <a:off x="1066800" y="5886450"/>
            <a:ext cx="10058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62"/>
          </a:bodyPr>
          <a:lstStyle xmlns:a="http://schemas.openxmlformats.org/drawingml/2006/main"/>
          <a:p xmlns:a="http://schemas.openxmlformats.org/drawingml/2006/main">
            <a:pPr algn="ctr">
              <a:defRPr sz="1313" b="0" i="0">
                <a:solidFill>
                  <a:srgbClr val="59616D"/>
                </a:solidFill>
                <a:latin typeface="Helvetica Neue"/>
                <a:ea typeface="Helvetica Neue"/>
                <a:cs typeface="Helvetica Neue"/>
              </a:defRPr>
            </a:pPr>
            <a:r>
              <a:rPr sz="1313" b="0" i="0">
                <a:solidFill>
                  <a:srgbClr val="59616D"/>
                </a:solidFill>
                <a:latin typeface="Helvetica Neue"/>
                <a:ea typeface="Helvetica Neue"/>
                <a:cs typeface="Helvetica Neue"/>
              </a:rPr>
              <a:t>These operating points are derived from the continuous model. They are secondary views—not a redefinition of the primary continuous-potency task.</a:t>
            </a:r>
          </a:p>
        </p:txBody>
      </p:sp>
      <p:sp>
        <p:nvSpPr>
          <p:cNvPr id="24" name="">
            <a:extLst xmlns:a="http://schemas.openxmlformats.org/drawingml/2006/main">
              <a:ext uri="{FF2B5EF4-FFF2-40B4-BE49-F238E27FC236}">
                <a16:creationId xmlns:a16="http://schemas.microsoft.com/office/drawing/2014/main" id="{43807778-ED25-4341-B9AE-9A67B6B216F0}"/>
              </a:ext>
            </a:extLst>
          </p:cNvPr>
          <p:cNvSpPr>
            <a:spLocks xmlns:a="http://schemas.openxmlformats.org/drawingml/2006/main" noGrp="1"/>
          </p:cNvSpPr>
          <p:nvPr/>
        </p:nvSpPr>
        <p:spPr>
          <a:xfrm xmlns:a="http://schemas.openxmlformats.org/drawingml/2006/main">
            <a:off x="400050" y="64579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i="0">
                <a:solidFill>
                  <a:srgbClr val="59616D"/>
                </a:solidFill>
                <a:latin typeface="Helvetica Neue"/>
                <a:ea typeface="Helvetica Neue"/>
                <a:cs typeface="Helvetica Neue"/>
              </a:defRPr>
            </a:pPr>
            <a:r>
              <a:rPr sz="788" b="0" i="0">
                <a:solidFill>
                  <a:srgbClr val="59616D"/>
                </a:solidFill>
                <a:latin typeface="Helvetica Neue"/>
                <a:ea typeface="Helvetica Neue"/>
                <a:cs typeface="Helvetica Neue"/>
              </a:rPr>
              <a:t>Internal analysis | train-only nested scaffold evaluation</a:t>
            </a:r>
          </a:p>
        </p:txBody>
      </p:sp>
      <p:sp>
        <p:nvSpPr>
          <p:cNvPr id="25" name="">
            <a:extLst xmlns:a="http://schemas.openxmlformats.org/drawingml/2006/main">
              <a:ext uri="{FF2B5EF4-FFF2-40B4-BE49-F238E27FC236}">
                <a16:creationId xmlns:a16="http://schemas.microsoft.com/office/drawing/2014/main" id="{F040666A-4868-422F-ABA1-B8A07BCC0D73}"/>
              </a:ext>
            </a:extLst>
          </p:cNvPr>
          <p:cNvSpPr>
            <a:spLocks xmlns:a="http://schemas.openxmlformats.org/drawingml/2006/main" noGrp="1"/>
          </p:cNvSpPr>
          <p:nvPr/>
        </p:nvSpPr>
        <p:spPr>
          <a:xfrm xmlns:a="http://schemas.openxmlformats.org/drawingml/2006/main">
            <a:off x="1125855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0" i="0">
                <a:solidFill>
                  <a:srgbClr val="59616D"/>
                </a:solidFill>
                <a:latin typeface="Helvetica Neue"/>
                <a:ea typeface="Helvetica Neue"/>
                <a:cs typeface="Helvetica Neue"/>
              </a:defRPr>
            </a:pPr>
            <a:r>
              <a:rPr sz="825" b="0" i="0">
                <a:solidFill>
                  <a:srgbClr val="59616D"/>
                </a:solidFill>
                <a:latin typeface="Helvetica Neue"/>
                <a:ea typeface="Helvetica Neue"/>
                <a:cs typeface="Helvetica Neue"/>
              </a:rPr>
              <a:t>11</a:t>
            </a:r>
          </a:p>
        </p:txBody>
      </p:sp>
    </p:spTree>
    <p:extLst>
      <p:ext uri="{BB962C8B-B14F-4D97-AF65-F5344CB8AC3E}">
        <p14:creationId xmlns:p14="http://schemas.microsoft.com/office/powerpoint/2010/main" val="2301888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06D2DE2-771F-4AB5-BC28-292552AC07CA}"/>
              </a:ext>
            </a:extLst>
          </p:cNvPr>
          <p:cNvSpPr>
            <a:spLocks xmlns:a="http://schemas.openxmlformats.org/drawingml/2006/main" noGrp="1"/>
          </p:cNvSpPr>
          <p:nvPr/>
        </p:nvSpPr>
        <p:spPr>
          <a:xfrm xmlns:a="http://schemas.openxmlformats.org/drawingml/2006/main">
            <a:off x="4000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E63D5"/>
                </a:solidFill>
                <a:latin typeface="Helvetica Neue"/>
                <a:ea typeface="Helvetica Neue"/>
                <a:cs typeface="Helvetica Neue"/>
              </a:defRPr>
            </a:pPr>
            <a:r>
              <a:rPr sz="975" b="1" i="0">
                <a:solidFill>
                  <a:srgbClr val="1E63D5"/>
                </a:solidFill>
                <a:latin typeface="Helvetica Neue"/>
                <a:ea typeface="Helvetica Neue"/>
                <a:cs typeface="Helvetica Neue"/>
              </a:rPr>
              <a:t>APPENDIX B</a:t>
            </a:r>
          </a:p>
        </p:txBody>
      </p:sp>
      <p:sp>
        <p:nvSpPr>
          <p:cNvPr id="2" name="">
            <a:extLst xmlns:a="http://schemas.openxmlformats.org/drawingml/2006/main">
              <a:ext uri="{FF2B5EF4-FFF2-40B4-BE49-F238E27FC236}">
                <a16:creationId xmlns:a16="http://schemas.microsoft.com/office/drawing/2014/main" id="{A5068884-9AA9-44C6-822B-78C8C6D8F0BD}"/>
              </a:ext>
            </a:extLst>
          </p:cNvPr>
          <p:cNvSpPr>
            <a:spLocks xmlns:a="http://schemas.openxmlformats.org/drawingml/2006/main" noGrp="1"/>
          </p:cNvSpPr>
          <p:nvPr/>
        </p:nvSpPr>
        <p:spPr>
          <a:xfrm xmlns:a="http://schemas.openxmlformats.org/drawingml/2006/main">
            <a:off x="400050" y="5143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0B0F14"/>
                </a:solidFill>
                <a:latin typeface="Helvetica Neue"/>
                <a:ea typeface="Helvetica Neue"/>
                <a:cs typeface="Helvetica Neue"/>
              </a:defRPr>
            </a:pPr>
            <a:r>
              <a:rPr sz="2925" b="1" i="0">
                <a:solidFill>
                  <a:srgbClr val="0B0F14"/>
                </a:solidFill>
                <a:latin typeface="Helvetica Neue"/>
                <a:ea typeface="Helvetica Neue"/>
                <a:cs typeface="Helvetica Neue"/>
              </a:rPr>
              <a:t>What the evidence supports—and what it does not</a:t>
            </a:r>
          </a:p>
        </p:txBody>
      </p:sp>
      <p:cxnSp>
        <p:nvCxnSpPr>
          <p:cNvPr id="15" name=""/>
          <p:cNvCxnSpPr/>
          <p:nvPr/>
        </p:nvCxnSpPr>
        <p:spPr>
          <a:xfrm xmlns:a="http://schemas.openxmlformats.org/drawingml/2006/main">
            <a:off x="400050" y="1219200"/>
            <a:ext cx="11391900" cy="0"/>
          </a:xfrm>
          <a:prstGeom xmlns:a="http://schemas.openxmlformats.org/drawingml/2006/main" prst="straightConnector1">
            <a:avLst/>
          </a:prstGeom>
          <a:ln xmlns:a="http://schemas.openxmlformats.org/drawingml/2006/main" w="9525">
            <a:solidFill>
              <a:srgbClr val="D6DAE0"/>
            </a:solidFill>
            <a:prstDash val="solid"/>
          </a:ln>
        </p:spPr>
      </p:cxnSp>
      <p:sp>
        <p:nvSpPr>
          <p:cNvPr id="4" name="">
            <a:extLst xmlns:a="http://schemas.openxmlformats.org/drawingml/2006/main">
              <a:ext uri="{FF2B5EF4-FFF2-40B4-BE49-F238E27FC236}">
                <a16:creationId xmlns:a16="http://schemas.microsoft.com/office/drawing/2014/main" id="{7EFCD54C-232B-4248-9C31-2CF95F0432E9}"/>
              </a:ext>
            </a:extLst>
          </p:cNvPr>
          <p:cNvSpPr>
            <a:spLocks xmlns:a="http://schemas.openxmlformats.org/drawingml/2006/main" noGrp="1"/>
          </p:cNvSpPr>
          <p:nvPr/>
        </p:nvSpPr>
        <p:spPr>
          <a:xfrm xmlns:a="http://schemas.openxmlformats.org/drawingml/2006/main">
            <a:off x="400050" y="1504950"/>
            <a:ext cx="5448300" cy="3714750"/>
          </a:xfrm>
          <a:prstGeom xmlns:a="http://schemas.openxmlformats.org/drawingml/2006/main" prst="roundRect">
            <a:avLst>
              <a:gd name="adj" fmla="val 4103"/>
            </a:avLst>
          </a:prstGeom>
          <a:solidFill xmlns:a="http://schemas.openxmlformats.org/drawingml/2006/main">
            <a:srgbClr val="E9F7F1"/>
          </a:solidFill>
          <a:ln xmlns:a="http://schemas.openxmlformats.org/drawingml/2006/main" w="9525">
            <a:solidFill>
              <a:srgbClr val="E9F7F1"/>
            </a:solidFill>
            <a:prstDash val="solid"/>
          </a:ln>
        </p:spPr>
      </p:sp>
      <p:sp>
        <p:nvSpPr>
          <p:cNvPr id="5" name="">
            <a:extLst xmlns:a="http://schemas.openxmlformats.org/drawingml/2006/main">
              <a:ext uri="{FF2B5EF4-FFF2-40B4-BE49-F238E27FC236}">
                <a16:creationId xmlns:a16="http://schemas.microsoft.com/office/drawing/2014/main" id="{72BB8DD5-7DD1-4600-A55F-84FCBBEAE371}"/>
              </a:ext>
            </a:extLst>
          </p:cNvPr>
          <p:cNvSpPr>
            <a:spLocks xmlns:a="http://schemas.openxmlformats.org/drawingml/2006/main" noGrp="1"/>
          </p:cNvSpPr>
          <p:nvPr/>
        </p:nvSpPr>
        <p:spPr>
          <a:xfrm xmlns:a="http://schemas.openxmlformats.org/drawingml/2006/main">
            <a:off x="685800" y="1752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16805A"/>
                </a:solidFill>
                <a:latin typeface="Helvetica Neue"/>
                <a:ea typeface="Helvetica Neue"/>
                <a:cs typeface="Helvetica Neue"/>
              </a:defRPr>
            </a:pPr>
            <a:r>
              <a:rPr sz="1050" b="1" i="0">
                <a:solidFill>
                  <a:srgbClr val="16805A"/>
                </a:solidFill>
                <a:latin typeface="Helvetica Neue"/>
                <a:ea typeface="Helvetica Neue"/>
                <a:cs typeface="Helvetica Neue"/>
              </a:rPr>
              <a:t>SUPPORTED</a:t>
            </a:r>
          </a:p>
        </p:txBody>
      </p:sp>
      <p:sp>
        <p:nvSpPr>
          <p:cNvPr id="6" name="">
            <a:extLst xmlns:a="http://schemas.openxmlformats.org/drawingml/2006/main">
              <a:ext uri="{FF2B5EF4-FFF2-40B4-BE49-F238E27FC236}">
                <a16:creationId xmlns:a16="http://schemas.microsoft.com/office/drawing/2014/main" id="{3CF31616-417F-45DB-8ACF-B93617ECF09E}"/>
              </a:ext>
            </a:extLst>
          </p:cNvPr>
          <p:cNvSpPr>
            <a:spLocks xmlns:a="http://schemas.openxmlformats.org/drawingml/2006/main" noGrp="1"/>
          </p:cNvSpPr>
          <p:nvPr/>
        </p:nvSpPr>
        <p:spPr>
          <a:xfrm xmlns:a="http://schemas.openxmlformats.org/drawingml/2006/main">
            <a:off x="685800" y="2247900"/>
            <a:ext cx="47625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0B0F14"/>
                </a:solidFill>
                <a:latin typeface="Helvetica Neue"/>
                <a:ea typeface="Helvetica Neue"/>
                <a:cs typeface="Helvetica Neue"/>
              </a:defRPr>
            </a:pPr>
            <a:r>
              <a:rPr sz="1500" b="0" i="0">
                <a:solidFill>
                  <a:srgbClr val="0B0F14"/>
                </a:solidFill>
                <a:latin typeface="Helvetica Neue"/>
                <a:ea typeface="Helvetica Neue"/>
                <a:cs typeface="Helvetica Neue"/>
              </a:rPr>
              <a:t>• Robust internal nested-scaffold improvement</a:t>
            </a:r>
          </a:p>
          <a:p xmlns:a="http://schemas.openxmlformats.org/drawingml/2006/main">
            <a:pPr algn="l">
              <a:defRPr sz="1500" b="0" i="0">
                <a:solidFill>
                  <a:srgbClr val="0B0F14"/>
                </a:solidFill>
                <a:latin typeface="Helvetica Neue"/>
                <a:ea typeface="Helvetica Neue"/>
                <a:cs typeface="Helvetica Neue"/>
              </a:defRPr>
            </a:pPr>
            <a:r>
              <a:rPr sz="1500" b="0" i="0">
                <a:solidFill>
                  <a:srgbClr val="0B0F14"/>
                </a:solidFill>
                <a:latin typeface="Helvetica Neue"/>
                <a:ea typeface="Helvetica Neue"/>
                <a:cs typeface="Helvetica Neue"/>
              </a:rPr>
              <a:t>• Stable unique value from RDKit2D and Morgan</a:t>
            </a:r>
          </a:p>
          <a:p xmlns:a="http://schemas.openxmlformats.org/drawingml/2006/main">
            <a:pPr algn="l">
              <a:defRPr sz="1500" b="0" i="0">
                <a:solidFill>
                  <a:srgbClr val="0B0F14"/>
                </a:solidFill>
                <a:latin typeface="Helvetica Neue"/>
                <a:ea typeface="Helvetica Neue"/>
                <a:cs typeface="Helvetica Neue"/>
              </a:defRPr>
            </a:pPr>
            <a:r>
              <a:rPr sz="1500" b="0" i="0">
                <a:solidFill>
                  <a:srgbClr val="0B0F14"/>
                </a:solidFill>
                <a:latin typeface="Helvetica Neue"/>
                <a:ea typeface="Helvetica Neue"/>
                <a:cs typeface="Helvetica Neue"/>
              </a:rPr>
              <a:t>• Calibrated cross-fitted intervals</a:t>
            </a:r>
          </a:p>
          <a:p xmlns:a="http://schemas.openxmlformats.org/drawingml/2006/main">
            <a:pPr algn="l">
              <a:defRPr sz="1500" b="0" i="0">
                <a:solidFill>
                  <a:srgbClr val="0B0F14"/>
                </a:solidFill>
                <a:latin typeface="Helvetica Neue"/>
                <a:ea typeface="Helvetica Neue"/>
                <a:cs typeface="Helvetica Neue"/>
              </a:defRPr>
            </a:pPr>
            <a:r>
              <a:rPr sz="1500" b="0" i="0">
                <a:solidFill>
                  <a:srgbClr val="0B0F14"/>
                </a:solidFill>
                <a:latin typeface="Helvetica Neue"/>
                <a:ea typeface="Helvetica Neue"/>
                <a:cs typeface="Helvetica Neue"/>
              </a:rPr>
              <a:t>• Label-blind applicability-domain stratification</a:t>
            </a:r>
          </a:p>
          <a:p xmlns:a="http://schemas.openxmlformats.org/drawingml/2006/main">
            <a:pPr algn="l">
              <a:defRPr sz="1500" b="0" i="0">
                <a:solidFill>
                  <a:srgbClr val="0B0F14"/>
                </a:solidFill>
                <a:latin typeface="Helvetica Neue"/>
                <a:ea typeface="Helvetica Neue"/>
                <a:cs typeface="Helvetica Neue"/>
              </a:defRPr>
            </a:pPr>
            <a:r>
              <a:rPr sz="1500" b="0" i="0">
                <a:solidFill>
                  <a:srgbClr val="0B0F14"/>
                </a:solidFill>
                <a:latin typeface="Helvetica Neue"/>
                <a:ea typeface="Helvetica Neue"/>
                <a:cs typeface="Helvetica Neue"/>
              </a:rPr>
              <a:t>• Local analog assistance on supported chemistry</a:t>
            </a:r>
          </a:p>
          <a:p xmlns:a="http://schemas.openxmlformats.org/drawingml/2006/main">
            <a:pPr algn="l">
              <a:defRPr sz="1500" b="0" i="0">
                <a:solidFill>
                  <a:srgbClr val="0B0F14"/>
                </a:solidFill>
                <a:latin typeface="Helvetica Neue"/>
                <a:ea typeface="Helvetica Neue"/>
                <a:cs typeface="Helvetica Neue"/>
              </a:defRPr>
            </a:pPr>
            <a:r>
              <a:rPr sz="1500" b="0" i="0">
                <a:solidFill>
                  <a:srgbClr val="0B0F14"/>
                </a:solidFill>
                <a:latin typeface="Helvetica Neue"/>
                <a:ea typeface="Helvetica Neue"/>
                <a:cs typeface="Helvetica Neue"/>
              </a:rPr>
              <a:t>• Explicit accuracy–safety tradeoff</a:t>
            </a:r>
          </a:p>
        </p:txBody>
      </p:sp>
      <p:sp>
        <p:nvSpPr>
          <p:cNvPr id="7" name="">
            <a:extLst xmlns:a="http://schemas.openxmlformats.org/drawingml/2006/main">
              <a:ext uri="{FF2B5EF4-FFF2-40B4-BE49-F238E27FC236}">
                <a16:creationId xmlns:a16="http://schemas.microsoft.com/office/drawing/2014/main" id="{210AA8D3-4423-47A0-9CA0-8DFB9A6D78B6}"/>
              </a:ext>
            </a:extLst>
          </p:cNvPr>
          <p:cNvSpPr>
            <a:spLocks xmlns:a="http://schemas.openxmlformats.org/drawingml/2006/main" noGrp="1"/>
          </p:cNvSpPr>
          <p:nvPr/>
        </p:nvSpPr>
        <p:spPr>
          <a:xfrm xmlns:a="http://schemas.openxmlformats.org/drawingml/2006/main">
            <a:off x="6153150" y="1504950"/>
            <a:ext cx="5562600" cy="3714750"/>
          </a:xfrm>
          <a:prstGeom xmlns:a="http://schemas.openxmlformats.org/drawingml/2006/main" prst="roundRect">
            <a:avLst>
              <a:gd name="adj" fmla="val 4103"/>
            </a:avLst>
          </a:prstGeom>
          <a:solidFill xmlns:a="http://schemas.openxmlformats.org/drawingml/2006/main">
            <a:srgbClr val="FCECEC"/>
          </a:solidFill>
          <a:ln xmlns:a="http://schemas.openxmlformats.org/drawingml/2006/main" w="9525">
            <a:solidFill>
              <a:srgbClr val="FCECEC"/>
            </a:solidFill>
            <a:prstDash val="solid"/>
          </a:ln>
        </p:spPr>
      </p:sp>
      <p:sp>
        <p:nvSpPr>
          <p:cNvPr id="8" name="">
            <a:extLst xmlns:a="http://schemas.openxmlformats.org/drawingml/2006/main">
              <a:ext uri="{FF2B5EF4-FFF2-40B4-BE49-F238E27FC236}">
                <a16:creationId xmlns:a16="http://schemas.microsoft.com/office/drawing/2014/main" id="{C08B77F5-248D-4B43-95F1-7B96A99AB560}"/>
              </a:ext>
            </a:extLst>
          </p:cNvPr>
          <p:cNvSpPr>
            <a:spLocks xmlns:a="http://schemas.openxmlformats.org/drawingml/2006/main" noGrp="1"/>
          </p:cNvSpPr>
          <p:nvPr/>
        </p:nvSpPr>
        <p:spPr>
          <a:xfrm xmlns:a="http://schemas.openxmlformats.org/drawingml/2006/main">
            <a:off x="6438900" y="17526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B84040"/>
                </a:solidFill>
                <a:latin typeface="Helvetica Neue"/>
                <a:ea typeface="Helvetica Neue"/>
                <a:cs typeface="Helvetica Neue"/>
              </a:defRPr>
            </a:pPr>
            <a:r>
              <a:rPr sz="1050" b="1" i="0">
                <a:solidFill>
                  <a:srgbClr val="B84040"/>
                </a:solidFill>
                <a:latin typeface="Helvetica Neue"/>
                <a:ea typeface="Helvetica Neue"/>
                <a:cs typeface="Helvetica Neue"/>
              </a:rPr>
              <a:t>NOT YET SUPPORTED</a:t>
            </a:r>
          </a:p>
        </p:txBody>
      </p:sp>
      <p:sp>
        <p:nvSpPr>
          <p:cNvPr id="9" name="">
            <a:extLst xmlns:a="http://schemas.openxmlformats.org/drawingml/2006/main">
              <a:ext uri="{FF2B5EF4-FFF2-40B4-BE49-F238E27FC236}">
                <a16:creationId xmlns:a16="http://schemas.microsoft.com/office/drawing/2014/main" id="{FEE5A3E2-E3F7-44C9-8706-E55F58BB632D}"/>
              </a:ext>
            </a:extLst>
          </p:cNvPr>
          <p:cNvSpPr>
            <a:spLocks xmlns:a="http://schemas.openxmlformats.org/drawingml/2006/main" noGrp="1"/>
          </p:cNvSpPr>
          <p:nvPr/>
        </p:nvSpPr>
        <p:spPr>
          <a:xfrm xmlns:a="http://schemas.openxmlformats.org/drawingml/2006/main">
            <a:off x="6438900" y="2247900"/>
            <a:ext cx="49530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0B0F14"/>
                </a:solidFill>
                <a:latin typeface="Helvetica Neue"/>
                <a:ea typeface="Helvetica Neue"/>
                <a:cs typeface="Helvetica Neue"/>
              </a:defRPr>
            </a:pPr>
            <a:r>
              <a:rPr sz="1500" b="0" i="0">
                <a:solidFill>
                  <a:srgbClr val="0B0F14"/>
                </a:solidFill>
                <a:latin typeface="Helvetica Neue"/>
                <a:ea typeface="Helvetica Neue"/>
                <a:cs typeface="Helvetica Neue"/>
              </a:rPr>
              <a:t>• External or prospective superiority</a:t>
            </a:r>
          </a:p>
          <a:p xmlns:a="http://schemas.openxmlformats.org/drawingml/2006/main">
            <a:pPr algn="l">
              <a:defRPr sz="1500" b="0" i="0">
                <a:solidFill>
                  <a:srgbClr val="0B0F14"/>
                </a:solidFill>
                <a:latin typeface="Helvetica Neue"/>
                <a:ea typeface="Helvetica Neue"/>
                <a:cs typeface="Helvetica Neue"/>
              </a:defRPr>
            </a:pPr>
            <a:r>
              <a:rPr sz="1500" b="0" i="0">
                <a:solidFill>
                  <a:srgbClr val="0B0F14"/>
                </a:solidFill>
                <a:latin typeface="Helvetica Neue"/>
                <a:ea typeface="Helvetica Neue"/>
                <a:cs typeface="Helvetica Neue"/>
              </a:rPr>
              <a:t>• Fully adjudicated explicit human-WT scope</a:t>
            </a:r>
          </a:p>
          <a:p xmlns:a="http://schemas.openxmlformats.org/drawingml/2006/main">
            <a:pPr algn="l">
              <a:defRPr sz="1500" b="0" i="0">
                <a:solidFill>
                  <a:srgbClr val="0B0F14"/>
                </a:solidFill>
                <a:latin typeface="Helvetica Neue"/>
                <a:ea typeface="Helvetica Neue"/>
                <a:cs typeface="Helvetica Neue"/>
              </a:defRPr>
            </a:pPr>
            <a:r>
              <a:rPr sz="1500" b="0" i="0">
                <a:solidFill>
                  <a:srgbClr val="0B0F14"/>
                </a:solidFill>
                <a:latin typeface="Helvetica Neue"/>
                <a:ea typeface="Helvetica Neue"/>
                <a:cs typeface="Helvetica Neue"/>
              </a:rPr>
              <a:t>• Clinical QT-risk prediction</a:t>
            </a:r>
          </a:p>
          <a:p xmlns:a="http://schemas.openxmlformats.org/drawingml/2006/main">
            <a:pPr algn="l">
              <a:defRPr sz="1500" b="0" i="0">
                <a:solidFill>
                  <a:srgbClr val="0B0F14"/>
                </a:solidFill>
                <a:latin typeface="Helvetica Neue"/>
                <a:ea typeface="Helvetica Neue"/>
                <a:cs typeface="Helvetica Neue"/>
              </a:defRPr>
            </a:pPr>
            <a:r>
              <a:rPr sz="1500" b="0" i="0">
                <a:solidFill>
                  <a:srgbClr val="0B0F14"/>
                </a:solidFill>
                <a:latin typeface="Helvetica Neue"/>
                <a:ea typeface="Helvetica Neue"/>
                <a:cs typeface="Helvetica Neue"/>
              </a:rPr>
              <a:t>• Causal feature or MMP transformation rules</a:t>
            </a:r>
          </a:p>
          <a:p xmlns:a="http://schemas.openxmlformats.org/drawingml/2006/main">
            <a:pPr algn="l">
              <a:defRPr sz="1500" b="0" i="0">
                <a:solidFill>
                  <a:srgbClr val="0B0F14"/>
                </a:solidFill>
                <a:latin typeface="Helvetica Neue"/>
                <a:ea typeface="Helvetica Neue"/>
                <a:cs typeface="Helvetica Neue"/>
              </a:defRPr>
            </a:pPr>
            <a:r>
              <a:rPr sz="1500" b="0" i="0">
                <a:solidFill>
                  <a:srgbClr val="0B0F14"/>
                </a:solidFill>
                <a:latin typeface="Helvetica Neue"/>
                <a:ea typeface="Helvetica Neue"/>
                <a:cs typeface="Helvetica Neue"/>
              </a:rPr>
              <a:t>• Receptor-binding mechanism from ligand-only 3D</a:t>
            </a:r>
          </a:p>
          <a:p xmlns:a="http://schemas.openxmlformats.org/drawingml/2006/main">
            <a:pPr algn="l">
              <a:defRPr sz="1500" b="0" i="0">
                <a:solidFill>
                  <a:srgbClr val="0B0F14"/>
                </a:solidFill>
                <a:latin typeface="Helvetica Neue"/>
                <a:ea typeface="Helvetica Neue"/>
                <a:cs typeface="Helvetica Neue"/>
              </a:defRPr>
            </a:pPr>
            <a:r>
              <a:rPr sz="1500" b="0" i="0">
                <a:solidFill>
                  <a:srgbClr val="0B0F14"/>
                </a:solidFill>
                <a:latin typeface="Helvetica Neue"/>
                <a:ea typeface="Helvetica Neue"/>
                <a:cs typeface="Helvetica Neue"/>
              </a:rPr>
              <a:t>• Universal performance above 700 Da</a:t>
            </a:r>
          </a:p>
        </p:txBody>
      </p:sp>
      <p:sp>
        <p:nvSpPr>
          <p:cNvPr id="10" name="">
            <a:extLst xmlns:a="http://schemas.openxmlformats.org/drawingml/2006/main">
              <a:ext uri="{FF2B5EF4-FFF2-40B4-BE49-F238E27FC236}">
                <a16:creationId xmlns:a16="http://schemas.microsoft.com/office/drawing/2014/main" id="{490EEC0B-1D61-4CF2-9FCC-AC617C066FF9}"/>
              </a:ext>
            </a:extLst>
          </p:cNvPr>
          <p:cNvSpPr>
            <a:spLocks xmlns:a="http://schemas.openxmlformats.org/drawingml/2006/main" noGrp="1"/>
          </p:cNvSpPr>
          <p:nvPr/>
        </p:nvSpPr>
        <p:spPr>
          <a:xfrm xmlns:a="http://schemas.openxmlformats.org/drawingml/2006/main">
            <a:off x="1066800" y="5619750"/>
            <a:ext cx="1005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i="0">
                <a:solidFill>
                  <a:srgbClr val="1E63D5"/>
                </a:solidFill>
                <a:latin typeface="Helvetica Neue"/>
                <a:ea typeface="Helvetica Neue"/>
                <a:cs typeface="Helvetica Neue"/>
              </a:defRPr>
            </a:pPr>
            <a:r>
              <a:rPr sz="2100" b="1" i="0">
                <a:solidFill>
                  <a:srgbClr val="1E63D5"/>
                </a:solidFill>
                <a:latin typeface="Helvetica Neue"/>
                <a:ea typeface="Helvetica Neue"/>
                <a:cs typeface="Helvetica Neue"/>
              </a:rPr>
              <a:t>The platform is ready for a decisive external measurement campaign.</a:t>
            </a:r>
          </a:p>
        </p:txBody>
      </p:sp>
      <p:sp>
        <p:nvSpPr>
          <p:cNvPr id="11" name="">
            <a:extLst xmlns:a="http://schemas.openxmlformats.org/drawingml/2006/main">
              <a:ext uri="{FF2B5EF4-FFF2-40B4-BE49-F238E27FC236}">
                <a16:creationId xmlns:a16="http://schemas.microsoft.com/office/drawing/2014/main" id="{3D3E0C2B-776A-4866-B35F-CCEC53390FCD}"/>
              </a:ext>
            </a:extLst>
          </p:cNvPr>
          <p:cNvSpPr>
            <a:spLocks xmlns:a="http://schemas.openxmlformats.org/drawingml/2006/main" noGrp="1"/>
          </p:cNvSpPr>
          <p:nvPr/>
        </p:nvSpPr>
        <p:spPr>
          <a:xfrm xmlns:a="http://schemas.openxmlformats.org/drawingml/2006/main">
            <a:off x="400050" y="64579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i="0">
                <a:solidFill>
                  <a:srgbClr val="59616D"/>
                </a:solidFill>
                <a:latin typeface="Helvetica Neue"/>
                <a:ea typeface="Helvetica Neue"/>
                <a:cs typeface="Helvetica Neue"/>
              </a:defRPr>
            </a:pPr>
            <a:r>
              <a:rPr sz="788" b="0" i="0">
                <a:solidFill>
                  <a:srgbClr val="59616D"/>
                </a:solidFill>
                <a:latin typeface="Helvetica Neue"/>
                <a:ea typeface="Helvetica Neue"/>
                <a:cs typeface="Helvetica Neue"/>
              </a:rPr>
              <a:t>Use RESULT_TRACEABILITY.csv and TECHNICAL_QA.md for exact questions</a:t>
            </a:r>
          </a:p>
        </p:txBody>
      </p:sp>
      <p:sp>
        <p:nvSpPr>
          <p:cNvPr id="12" name="">
            <a:extLst xmlns:a="http://schemas.openxmlformats.org/drawingml/2006/main">
              <a:ext uri="{FF2B5EF4-FFF2-40B4-BE49-F238E27FC236}">
                <a16:creationId xmlns:a16="http://schemas.microsoft.com/office/drawing/2014/main" id="{EA039A2B-9AC1-45C9-9601-DE8CD8BC854D}"/>
              </a:ext>
            </a:extLst>
          </p:cNvPr>
          <p:cNvSpPr>
            <a:spLocks xmlns:a="http://schemas.openxmlformats.org/drawingml/2006/main" noGrp="1"/>
          </p:cNvSpPr>
          <p:nvPr/>
        </p:nvSpPr>
        <p:spPr>
          <a:xfrm xmlns:a="http://schemas.openxmlformats.org/drawingml/2006/main">
            <a:off x="1125855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0" i="0">
                <a:solidFill>
                  <a:srgbClr val="59616D"/>
                </a:solidFill>
                <a:latin typeface="Helvetica Neue"/>
                <a:ea typeface="Helvetica Neue"/>
                <a:cs typeface="Helvetica Neue"/>
              </a:defRPr>
            </a:pPr>
            <a:r>
              <a:rPr sz="825" b="0" i="0">
                <a:solidFill>
                  <a:srgbClr val="59616D"/>
                </a:solidFill>
                <a:latin typeface="Helvetica Neue"/>
                <a:ea typeface="Helvetica Neue"/>
                <a:cs typeface="Helvetica Neue"/>
              </a:rPr>
              <a:t>12</a:t>
            </a:r>
          </a:p>
        </p:txBody>
      </p:sp>
    </p:spTree>
    <p:extLst>
      <p:ext uri="{BB962C8B-B14F-4D97-AF65-F5344CB8AC3E}">
        <p14:creationId xmlns:p14="http://schemas.microsoft.com/office/powerpoint/2010/main" val="8593680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2026-08-17T23:36:30.7420000Z</dcterms:created>
  <dcterms:modified xsi:type="dcterms:W3CDTF">2026-08-17T23:36:30.7420000Z</dcterms:modified>
</coreProperties>
</file>