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aaf4e11ffc497b" /><Relationship Type="http://schemas.openxmlformats.org/officeDocument/2006/relationships/extended-properties" Target="/docProps/app.xml" Id="R5d6e129fe8c04414" /><Relationship Type="http://schemas.openxmlformats.org/officeDocument/2006/relationships/officeDocument" Target="/ppt/presentation.xml" Id="R4c7a929a2ba541bd" /></Relationships>
</file>

<file path=ppt/presentation.xml><?xml version="1.0" encoding="utf-8"?>
<p:presentation xmlns:p="http://schemas.openxmlformats.org/presentationml/2006/main">
  <p:sldMasterIdLst>
    <p:sldMasterId xmlns:r="http://schemas.openxmlformats.org/officeDocument/2006/relationships" id="2147483648" r:id="R1a2707393c1d46a5"/>
  </p:sldMasterIdLst>
  <p:notesMasterIdLst>
    <p:notesMasterId xmlns:r="http://schemas.openxmlformats.org/officeDocument/2006/relationships" r:id="R9a7a42cb8607495f"/>
  </p:notesMasterIdLst>
  <p:sldIdLst>
    <p:sldId xmlns:r="http://schemas.openxmlformats.org/officeDocument/2006/relationships" id="256" r:id="R1df24ab968b34415"/>
    <p:sldId xmlns:r="http://schemas.openxmlformats.org/officeDocument/2006/relationships" id="257" r:id="Rd7f1c797a8ca4ac4"/>
    <p:sldId xmlns:r="http://schemas.openxmlformats.org/officeDocument/2006/relationships" id="258" r:id="R9557600c9e7945aa"/>
    <p:sldId xmlns:r="http://schemas.openxmlformats.org/officeDocument/2006/relationships" id="259" r:id="Rea245fa6be7e4312"/>
    <p:sldId xmlns:r="http://schemas.openxmlformats.org/officeDocument/2006/relationships" id="260" r:id="R6b9a8c41055340e5"/>
    <p:sldId xmlns:r="http://schemas.openxmlformats.org/officeDocument/2006/relationships" id="261" r:id="Rd8c47007d1cf48fc"/>
    <p:sldId xmlns:r="http://schemas.openxmlformats.org/officeDocument/2006/relationships" id="262" r:id="Rde2e95440e784bd3"/>
    <p:sldId xmlns:r="http://schemas.openxmlformats.org/officeDocument/2006/relationships" id="263" r:id="R68bca75f509f49e6"/>
    <p:sldId xmlns:r="http://schemas.openxmlformats.org/officeDocument/2006/relationships" id="264" r:id="R12eb4badd8a143d7"/>
    <p:sldId xmlns:r="http://schemas.openxmlformats.org/officeDocument/2006/relationships" id="265" r:id="R82fa3dc8a9be47d3"/>
    <p:sldId xmlns:r="http://schemas.openxmlformats.org/officeDocument/2006/relationships" id="266" r:id="Re2171d73ff304c8c"/>
    <p:sldId xmlns:r="http://schemas.openxmlformats.org/officeDocument/2006/relationships" id="267" r:id="R6b9ba489090b4a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901000f58640c2" /><Relationship Type="http://schemas.openxmlformats.org/officeDocument/2006/relationships/slideMaster" Target="/ppt/slideMasters/slideMaster1.xml" Id="R1a2707393c1d46a5" /><Relationship Type="http://schemas.openxmlformats.org/officeDocument/2006/relationships/notesMaster" Target="/ppt/notesMasters/notesMaster1.xml" Id="R9a7a42cb8607495f" /><Relationship Type="http://schemas.openxmlformats.org/officeDocument/2006/relationships/presProps" Target="/ppt/presProps.xml" Id="R5f994d2dea8f4cfe" /><Relationship Type="http://schemas.openxmlformats.org/officeDocument/2006/relationships/tableStyles" Target="/ppt/tableStyles.xml" Id="R08e01fb45ec0468a" /><Relationship Type="http://schemas.openxmlformats.org/officeDocument/2006/relationships/slide" Target="/ppt/slides/slide1.xml" Id="R1df24ab968b34415" /><Relationship Type="http://schemas.openxmlformats.org/officeDocument/2006/relationships/slide" Target="/ppt/slides/slide2.xml" Id="Rd7f1c797a8ca4ac4" /><Relationship Type="http://schemas.openxmlformats.org/officeDocument/2006/relationships/slide" Target="/ppt/slides/slide3.xml" Id="R9557600c9e7945aa" /><Relationship Type="http://schemas.openxmlformats.org/officeDocument/2006/relationships/slide" Target="/ppt/slides/slide4.xml" Id="Rea245fa6be7e4312" /><Relationship Type="http://schemas.openxmlformats.org/officeDocument/2006/relationships/slide" Target="/ppt/slides/slide5.xml" Id="R6b9a8c41055340e5" /><Relationship Type="http://schemas.openxmlformats.org/officeDocument/2006/relationships/slide" Target="/ppt/slides/slide6.xml" Id="Rd8c47007d1cf48fc" /><Relationship Type="http://schemas.openxmlformats.org/officeDocument/2006/relationships/slide" Target="/ppt/slides/slide7.xml" Id="Rde2e95440e784bd3" /><Relationship Type="http://schemas.openxmlformats.org/officeDocument/2006/relationships/slide" Target="/ppt/slides/slide8.xml" Id="R68bca75f509f49e6" /><Relationship Type="http://schemas.openxmlformats.org/officeDocument/2006/relationships/slide" Target="/ppt/slides/slide9.xml" Id="R12eb4badd8a143d7" /><Relationship Type="http://schemas.openxmlformats.org/officeDocument/2006/relationships/slide" Target="/ppt/slides/slide10.xml" Id="R82fa3dc8a9be47d3" /><Relationship Type="http://schemas.openxmlformats.org/officeDocument/2006/relationships/slide" Target="/ppt/slides/slide11.xml" Id="Re2171d73ff304c8c" /><Relationship Type="http://schemas.openxmlformats.org/officeDocument/2006/relationships/slide" Target="/ppt/slides/slide12.xml" Id="R6b9ba489090b4a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78686718fd45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74e44d91ce4ddc" /><Relationship Type="http://schemas.openxmlformats.org/officeDocument/2006/relationships/notesMaster" Target="/ppt/notesMasters/notesMaster1.xml" Id="R5ae47faf19d947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65d1313ed8432d" /><Relationship Type="http://schemas.openxmlformats.org/officeDocument/2006/relationships/notesMaster" Target="/ppt/notesMasters/notesMaster1.xml" Id="R4374c7729a8f47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ec4bf9340541b6" /><Relationship Type="http://schemas.openxmlformats.org/officeDocument/2006/relationships/notesMaster" Target="/ppt/notesMasters/notesMaster1.xml" Id="Ra82f6458dab94a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e4b7c5f995415f" /><Relationship Type="http://schemas.openxmlformats.org/officeDocument/2006/relationships/notesMaster" Target="/ppt/notesMasters/notesMaster1.xml" Id="R4bef9db8189647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6dee4a7ee94f45" /><Relationship Type="http://schemas.openxmlformats.org/officeDocument/2006/relationships/notesMaster" Target="/ppt/notesMasters/notesMaster1.xml" Id="R633b3ad81c5e41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7aeae310dd4ac7" /><Relationship Type="http://schemas.openxmlformats.org/officeDocument/2006/relationships/notesMaster" Target="/ppt/notesMasters/notesMaster1.xml" Id="Ra62768cf485e41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c0d7d9085a4414" /><Relationship Type="http://schemas.openxmlformats.org/officeDocument/2006/relationships/notesMaster" Target="/ppt/notesMasters/notesMaster1.xml" Id="Rf1185c33ec1f47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ecc36a8e5d4a87" /><Relationship Type="http://schemas.openxmlformats.org/officeDocument/2006/relationships/notesMaster" Target="/ppt/notesMasters/notesMaster1.xml" Id="R152c894f974347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fe8f453cb743d9" /><Relationship Type="http://schemas.openxmlformats.org/officeDocument/2006/relationships/notesMaster" Target="/ppt/notesMasters/notesMaster1.xml" Id="R312d12391fab4a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ce23a4b9d641a2" /><Relationship Type="http://schemas.openxmlformats.org/officeDocument/2006/relationships/notesMaster" Target="/ppt/notesMasters/notesMaster1.xml" Id="R8b0b2ee56e624a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4fe06e345d46cd" /><Relationship Type="http://schemas.openxmlformats.org/officeDocument/2006/relationships/notesMaster" Target="/ppt/notesMasters/notesMaster1.xml" Id="R7eb45c18966745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1604c7aabc4555" /><Relationship Type="http://schemas.openxmlformats.org/officeDocument/2006/relationships/notesMaster" Target="/ppt/notesMasters/notesMaster1.xml" Id="R4704704ab9ef47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development arc: the work moved from data governance and 2D baselines through physics, measurement modeling, exhaustive feature combinations, and domain specialists. The core contribution is an honest broad prediction platform with clearly measured limits.</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/Users/shivanshsahni/Downloads/Personal/Wang/Menin/research/reports/platform/herg_meeting_2026_08_18/figures/06_graphical_summary.png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narrative spine for the meeting. V1 to V3 established the governed baseline. V4 to V6 tested ligand-only physics and feature causality. V7 to V9 focused on measurement heterogeneity, exhaustive combinations, domain specialists, and local evidence.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/Users/shivanshsahni/Downloads/Personal/Wang/Menin/research/local_runs/herg_feature_lattice_analysis_v81_superseded_cross_fold_mmp/ANALYSIS.md</a:t>
            </a:r>
          </a:p>
          <a:p xmlns:a="http://schemas.openxmlformats.org/drawingml/2006/main">
            <a:r>
              <a:t>- /Users/shivanshsahni/Downloads/Personal/Wang/Menin/research/local_runs/herg_honest_measurement_campaign_v7_1/analysis.json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nested stack is the strongest unbiased internal evidence. The frozen deployable molecular model is a single XGBoost artifact and is slightly weaker. Do not present the stack as an external or prospective result.</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/Users/shivanshsahni/Downloads/Personal/Wang/Menin/research/reports/platform/herg_meeting_2026_08_18/RESULT_TRACEABILITY.csv</a:t>
            </a:r>
          </a:p>
          <a:p xmlns:a="http://schemas.openxmlformats.org/drawingml/2006/main">
            <a:r>
              <a:t>- /Users/shivanshsahni/Downloads/Personal/Wang/Menin/research/reports/platform/herg_meeting_2026_08_18/figures/01_model_progress.png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design deliberately produces harder and more transferable estimates than random splitting. It prevents replicated measurements and close scaffold relatives from appearing as independent evidence.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/Users/shivanshsahni/Downloads/Personal/Wang/Menin/research/reports/platform/herg_meeting_2026_08_18/TECHNICAL_QA.md</a:t>
            </a:r>
          </a:p>
          <a:p xmlns:a="http://schemas.openxmlformats.org/drawingml/2006/main">
            <a:r>
              <a:t>- /Users/shivanshsahni/Downloads/Personal/Wang/Menin/research/reports/platform/herg_meeting_2026_08_18/MEETING_BRIEF.md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Positive MAE change means prediction worsened when an included block was removed or improved when an omitted block was added, depending on the named test. The decisive positive evidence is RDKit2D and Morgan. The generic 3D and physics blocks did not show broad independent value.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/Users/shivanshsahni/Downloads/Personal/Wang/Menin/research/reports/platform/herg_meeting_2026_08_18/tables/feature_family_effects.csv</a:t>
            </a:r>
          </a:p>
          <a:p xmlns:a="http://schemas.openxmlformats.org/drawingml/2006/main">
            <a:r>
              <a:t>- /Users/shivanshsahni/Downloads/Personal/Wang/Menin/research/reports/platform/herg_meeting_2026_08_18/MEETING_BRIEF.md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evidence that physics is unimportant. It is evidence that generic ligand-only conformer summaries do not add stable global information after strong 2D representations. Receptor-aware and microstate-aware physics remain untested because preparation and environment contracts were not yet satisfied.</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/Users/shivanshsahni/Downloads/Personal/Wang/Menin/research/reports/platform/herg_meeting_2026_08_18/tables/feature_family_effects.csv</a:t>
            </a:r>
          </a:p>
          <a:p xmlns:a="http://schemas.openxmlformats.org/drawingml/2006/main">
            <a:r>
              <a:t>- /Users/shivanshsahni/Downloads/Personal/Wang/Menin/research/local_runs/herg_quantitative_24conformer_v4/manifest.json</a:t>
            </a:r>
          </a:p>
          <a:p xmlns:a="http://schemas.openxmlformats.org/drawingml/2006/main">
            <a:r>
              <a:t>- /Users/shivanshsahni/Downloads/Personal/Wang/Menin/research/reports/platform/herg_meeting_2026_08_18/figures/02_feature_family_effects.png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flag is label blind and operationally meaningful. It identifies a 0.181 MAE gap between supported and extrapolative predictions. Global interval coverage is calibrated, but interval width alone does not rank errors well.</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/Users/shivanshsahni/Downloads/Personal/Wang/Menin/research/reports/platform/herg_meeting_2026_08_18/tables/domain_flag_performance.csv</a:t>
            </a:r>
          </a:p>
          <a:p xmlns:a="http://schemas.openxmlformats.org/drawingml/2006/main">
            <a:r>
              <a:t>- /Users/shivanshsahni/Downloads/Personal/Wang/Menin/research/reports/platform/herg_meeting_2026_08_18/tables/risk_coverage.csv</a:t>
            </a:r>
          </a:p>
          <a:p xmlns:a="http://schemas.openxmlformats.org/drawingml/2006/main">
            <a:r>
              <a:t>- /Users/shivanshsahni/Downloads/Personal/Wang/Menin/research/reports/platform/herg_meeting_2026_08_18/figures/03_risk_coverage.png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largest errors are not random. Label disagreement, potency extremes, lower similarity, flexibility, and the very heavy tail dominate. Performance through 500 to 700 Da remains credible; the 700 Da and higher subgroup is small and should be reported with uncertainty.</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/Users/shivanshsahni/Downloads/Personal/Wang/Menin/research/reports/platform/herg_meeting_2026_08_18/tables/label_disagreement_summary.csv</a:t>
            </a:r>
          </a:p>
          <a:p xmlns:a="http://schemas.openxmlformats.org/drawingml/2006/main">
            <a:r>
              <a:t>- /Users/shivanshsahni/Downloads/Personal/Wang/Menin/research/reports/platform/herg_meeting_2026_08_18/tables/subgroup_sensitivity.csv</a:t>
            </a:r>
          </a:p>
          <a:p xmlns:a="http://schemas.openxmlformats.org/drawingml/2006/main">
            <a:r>
              <a:t>- /Users/shivanshsahni/Downloads/Personal/Wang/Menin/research/local_runs/herg_heavy_compound_sidecar_v9/HEAVY_COMPOUND_REPORT.md</a:t>
            </a:r>
          </a:p>
          <a:p xmlns:a="http://schemas.openxmlformats.org/drawingml/2006/main">
            <a:r>
              <a:t>- /Users/shivanshsahni/Downloads/Personal/Wang/Menin/research/reports/platform/herg_meeting_2026_08_18/figures/04_failure_modes.png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Analog support produces a useful local prediction improvement, but only on 41.7 percent of the structures. The remaining transformation-direction results are not strong enough for causal medicinal chemistry rules.</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/Users/shivanshsahni/Downloads/Personal/Wang/Menin/research/reports/platform/herg_meeting_2026_08_18/tables/mmp_covered_structure_performance.csv</a:t>
            </a:r>
          </a:p>
          <a:p xmlns:a="http://schemas.openxmlformats.org/drawingml/2006/main">
            <a:r>
              <a:t>- /Users/shivanshsahni/Downloads/Personal/Wang/Menin/research/reports/platform/herg_meeting_2026_08_18/figures/05_mmp_analog_assistance.png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tailoring is a neutral description of how much the reported result depends on curation, split choice, thresholding, selective coverage, or class construction. It is not an accusation of misconduct. Use the exact published task beside every number.</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/Users/shivanshsahni/Downloads/Personal/Wang/Menin/research/reports/platform/herg_meeting_2026_08_18/LITERATURE_COMPARABILITY.md</a:t>
            </a:r>
          </a:p>
          <a:p xmlns:a="http://schemas.openxmlformats.org/drawingml/2006/main">
            <a:r>
              <a:t>- /Users/shivanshsahni/Downloads/Personal/Wang/Menin/research/reports/platform/herg_paper/model_landscape_v2/model_comparison_matrix.csv</a:t>
            </a:r>
          </a:p>
          <a:p xmlns:a="http://schemas.openxmlformats.org/drawingml/2006/main">
            <a:r>
              <a:t>- https://pmc.ncbi.nlm.nih.gov/articles/PMC11187631/</a:t>
            </a:r>
          </a:p>
          <a:p xmlns:a="http://schemas.openxmlformats.org/drawingml/2006/main">
            <a:r>
              <a:t>- https://doi.org/10.1016/j.compbiomed.2024.109416</a:t>
            </a:r>
          </a:p>
          <a:p xmlns:a="http://schemas.openxmlformats.org/drawingml/2006/main">
            <a:r>
              <a:t>- https://doi.org/10.1186/s13321-025-01063-8</a:t>
            </a:r>
          </a:p>
          <a:p xmlns:a="http://schemas.openxmlformats.org/drawingml/2006/main">
            <a:r>
              <a:t>- https://doi.org/10.1038/s41598-025-99766-3</a:t>
            </a:r>
          </a:p>
          <a:p xmlns:a="http://schemas.openxmlformats.org/drawingml/2006/main">
            <a:r>
              <a:t>- Sun, Wang, and Shen (2026), Modeling hERG Channel Liability, DOI: https://doi.org/10.1021/acs.jcim.6c00163</a:t>
            </a:r>
          </a:p>
          <a:p xmlns:a="http://schemas.openxmlformats.org/drawingml/2006/main">
            <a:r>
              <a:t>- Local evidence audit: /Users/shivanshsahni/Downloads/Personal/Wang/Menin/research/literature/herg/predictive_modeling/2026_sun_wang_shen_jcim_6c00163/evidence_review.md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safety-selected objective improves the potency tails but pays a statistically supported global cost. The defensible product design is two transparent modes rather than one hidden objective.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/Users/shivanshsahni/Downloads/Personal/Wang/Menin/research/reports/platform/herg_meeting_2026_08_18/tables/safety_objective_tradeoff.csv</a:t>
            </a:r>
          </a:p>
          <a:p xmlns:a="http://schemas.openxmlformats.org/drawingml/2006/main">
            <a:r>
              <a:t>- /Users/shivanshsahni/Downloads/Personal/Wang/Menin/research/reports/platform/herg_meeting_2026_08_18/MEETING_BRIEF.md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an explicit decision request. The first two experiments address the largest evidence gaps. Activity-cliff modeling builds on the successful local-analog signal. Receptor physics should start only after receptor, microstate, membrane, and environment preparation is complete.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/Users/shivanshsahni/Downloads/Personal/Wang/Menin/research/reports/platform/herg_meeting_2026_08_18/TECHNICAL_QA.md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2d53f334e04c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b39b3f9fc44325" /><Relationship Type="http://schemas.openxmlformats.org/officeDocument/2006/relationships/slideLayout" Target="/ppt/slideLayouts/slideLayout1.xml" Id="R8b7379b0ba3d49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7379b0ba3d49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193fd620274388" /><Relationship Type="http://schemas.openxmlformats.org/officeDocument/2006/relationships/image" Target="/ppt/media/image.png" Id="R2c2636092ec0433c" /><Relationship Type="http://schemas.openxmlformats.org/officeDocument/2006/relationships/notesSlide" Target="/ppt/notesSlides/notesSlide1.xml" Id="R507320a3c319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98a3bc882b44fb" /><Relationship Type="http://schemas.openxmlformats.org/officeDocument/2006/relationships/notesSlide" Target="/ppt/notesSlides/notesSlide2.xml" Id="R29737278051e47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262b3b836347f6" /><Relationship Type="http://schemas.openxmlformats.org/officeDocument/2006/relationships/image" Target="/ppt/media/image2.png" Id="Rc133f309c26e4a23" /><Relationship Type="http://schemas.openxmlformats.org/officeDocument/2006/relationships/notesSlide" Target="/ppt/notesSlides/notesSlide3.xml" Id="R5e04df706d554f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ae0462f12a45e9" /><Relationship Type="http://schemas.openxmlformats.org/officeDocument/2006/relationships/notesSlide" Target="/ppt/notesSlides/notesSlide4.xml" Id="R9066942fd6ef40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a6992f351d4862" /><Relationship Type="http://schemas.openxmlformats.org/officeDocument/2006/relationships/notesSlide" Target="/ppt/notesSlides/notesSlide5.xml" Id="R2d653cc5cd6543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33f26239504486" /><Relationship Type="http://schemas.openxmlformats.org/officeDocument/2006/relationships/image" Target="/ppt/media/image3.png" Id="R356c6cd1475b486b" /><Relationship Type="http://schemas.openxmlformats.org/officeDocument/2006/relationships/notesSlide" Target="/ppt/notesSlides/notesSlide6.xml" Id="R499bd2b7d6244d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68b558ea3d4bc3" /><Relationship Type="http://schemas.openxmlformats.org/officeDocument/2006/relationships/image" Target="/ppt/media/image4.png" Id="Ra33a2013a98e432b" /><Relationship Type="http://schemas.openxmlformats.org/officeDocument/2006/relationships/notesSlide" Target="/ppt/notesSlides/notesSlide7.xml" Id="Rcb6ef537ce1146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8f2e0ef6ad4397" /><Relationship Type="http://schemas.openxmlformats.org/officeDocument/2006/relationships/image" Target="/ppt/media/image5.png" Id="Rab8bb95e53ba4f3b" /><Relationship Type="http://schemas.openxmlformats.org/officeDocument/2006/relationships/notesSlide" Target="/ppt/notesSlides/notesSlide8.xml" Id="Rf808a61711d34a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c9b6923a774e45" /><Relationship Type="http://schemas.openxmlformats.org/officeDocument/2006/relationships/image" Target="/ppt/media/image6.png" Id="R71456abacea3436b" /><Relationship Type="http://schemas.openxmlformats.org/officeDocument/2006/relationships/notesSlide" Target="/ppt/notesSlides/notesSlide9.xml" Id="R6a5cd000a5ef4a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b3c6a408dc4319" /><Relationship Type="http://schemas.openxmlformats.org/officeDocument/2006/relationships/notesSlide" Target="/ppt/notesSlides/notesSlide10.xml" Id="Ra76a080d3ca243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6a0e6e6c3f490c" /><Relationship Type="http://schemas.openxmlformats.org/officeDocument/2006/relationships/notesSlide" Target="/ppt/notesSlides/notesSlide11.xml" Id="Rfacc20ad137746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3adba31849240cc" /><Relationship Type="http://schemas.openxmlformats.org/officeDocument/2006/relationships/notesSlide" Target="/ppt/notesSlides/notesSlide12.xml" Id="Rbce29bcfc20c4d4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B3D60D-D983-474B-9B56-CC7ABAC451F8}"/>
              </a:ext>
            </a:extLst>
          </p:cNvPr>
          <p:cNvSpPr>
            <a:spLocks xmlns:a="http://schemas.openxmlformats.org/drawingml/2006/main" noGrp="1"/>
          </p:cNvSpPr>
          <p:nvPr/>
        </p:nvSpPr>
        <p:spPr>
          <a:xfrm xmlns:a="http://schemas.openxmlformats.org/drawingml/2006/main">
            <a:off x="457200" y="800100"/>
            <a:ext cx="5143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4350" b="1" i="0">
                <a:solidFill>
                  <a:srgbClr val="0B0F14"/>
                </a:solidFill>
                <a:latin typeface="Helvetica Neue"/>
                <a:ea typeface="Helvetica Neue"/>
                <a:cs typeface="Helvetica Neue"/>
              </a:defRPr>
            </a:pPr>
            <a:r>
              <a:rPr sz="4350" b="1" i="0">
                <a:solidFill>
                  <a:srgbClr val="0B0F14"/>
                </a:solidFill>
                <a:latin typeface="Helvetica Neue"/>
                <a:ea typeface="Helvetica Neue"/>
                <a:cs typeface="Helvetica Neue"/>
              </a:rPr>
              <a:t>hERG Prediction Platform</a:t>
            </a:r>
          </a:p>
        </p:txBody>
      </p:sp>
      <p:sp>
        <p:nvSpPr>
          <p:cNvPr id="2" name="">
            <a:extLst xmlns:a="http://schemas.openxmlformats.org/drawingml/2006/main">
              <a:ext uri="{FF2B5EF4-FFF2-40B4-BE49-F238E27FC236}">
                <a16:creationId xmlns:a16="http://schemas.microsoft.com/office/drawing/2014/main" id="{17466AF0-0F4C-4895-9171-9659DAEB2893}"/>
              </a:ext>
            </a:extLst>
          </p:cNvPr>
          <p:cNvSpPr>
            <a:spLocks xmlns:a="http://schemas.openxmlformats.org/drawingml/2006/main" noGrp="1"/>
          </p:cNvSpPr>
          <p:nvPr/>
        </p:nvSpPr>
        <p:spPr>
          <a:xfrm xmlns:a="http://schemas.openxmlformats.org/drawingml/2006/main">
            <a:off x="457200" y="22479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722"/>
          </a:bodyPr>
          <a:lstStyle xmlns:a="http://schemas.openxmlformats.org/drawingml/2006/main"/>
          <a:p xmlns:a="http://schemas.openxmlformats.org/drawingml/2006/main">
            <a:pPr algn="l">
              <a:buNone/>
              <a:defRPr sz="2175" b="1" i="0">
                <a:solidFill>
                  <a:srgbClr val="1E63D5"/>
                </a:solidFill>
                <a:latin typeface="Helvetica Neue"/>
                <a:ea typeface="Helvetica Neue"/>
                <a:cs typeface="Helvetica Neue"/>
              </a:defRPr>
            </a:pPr>
            <a:r>
              <a:rPr sz="2175" b="1" i="0">
                <a:solidFill>
                  <a:srgbClr val="1E63D5"/>
                </a:solidFill>
                <a:latin typeface="Helvetica Neue"/>
                <a:ea typeface="Helvetica Neue"/>
                <a:cs typeface="Helvetica Neue"/>
              </a:rPr>
              <a:t>Nine Iterations of Honest Model Development</a:t>
            </a:r>
          </a:p>
        </p:txBody>
      </p:sp>
      <p:sp>
        <p:nvSpPr>
          <p:cNvPr id="3" name="">
            <a:extLst xmlns:a="http://schemas.openxmlformats.org/drawingml/2006/main">
              <a:ext uri="{FF2B5EF4-FFF2-40B4-BE49-F238E27FC236}">
                <a16:creationId xmlns:a16="http://schemas.microsoft.com/office/drawing/2014/main" id="{D972F885-20C5-4653-9FE1-15B5DCA38F62}"/>
              </a:ext>
            </a:extLst>
          </p:cNvPr>
          <p:cNvSpPr>
            <a:spLocks xmlns:a="http://schemas.openxmlformats.org/drawingml/2006/main" noGrp="1"/>
          </p:cNvSpPr>
          <p:nvPr/>
        </p:nvSpPr>
        <p:spPr>
          <a:xfrm xmlns:a="http://schemas.openxmlformats.org/drawingml/2006/main">
            <a:off x="457200" y="302895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Continuous potency prediction, transparent failure domains, and a clear experimental path</a:t>
            </a:r>
          </a:p>
        </p:txBody>
      </p:sp>
      <p:sp>
        <p:nvSpPr>
          <p:cNvPr id="4" name="">
            <a:extLst xmlns:a="http://schemas.openxmlformats.org/drawingml/2006/main">
              <a:ext uri="{FF2B5EF4-FFF2-40B4-BE49-F238E27FC236}">
                <a16:creationId xmlns:a16="http://schemas.microsoft.com/office/drawing/2014/main" id="{D159216C-4C34-4066-A122-F23BD071C0AC}"/>
              </a:ext>
            </a:extLst>
          </p:cNvPr>
          <p:cNvSpPr>
            <a:spLocks xmlns:a="http://schemas.openxmlformats.org/drawingml/2006/main" noGrp="1"/>
          </p:cNvSpPr>
          <p:nvPr/>
        </p:nvSpPr>
        <p:spPr>
          <a:xfrm xmlns:a="http://schemas.openxmlformats.org/drawingml/2006/main">
            <a:off x="457200" y="46482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1E63D5"/>
                </a:solidFill>
                <a:latin typeface="Helvetica Neue"/>
                <a:ea typeface="Helvetica Neue"/>
                <a:cs typeface="Helvetica Neue"/>
              </a:defRPr>
            </a:pPr>
            <a:r>
              <a:rPr sz="1575" b="1" i="0">
                <a:solidFill>
                  <a:srgbClr val="1E63D5"/>
                </a:solidFill>
                <a:latin typeface="Helvetica Neue"/>
                <a:ea typeface="Helvetica Neue"/>
                <a:cs typeface="Helvetica Neue"/>
              </a:rPr>
              <a:t>18,801 Structures</a:t>
            </a:r>
          </a:p>
        </p:txBody>
      </p:sp>
      <p:sp>
        <p:nvSpPr>
          <p:cNvPr id="5" name="">
            <a:extLst xmlns:a="http://schemas.openxmlformats.org/drawingml/2006/main">
              <a:ext uri="{FF2B5EF4-FFF2-40B4-BE49-F238E27FC236}">
                <a16:creationId xmlns:a16="http://schemas.microsoft.com/office/drawing/2014/main" id="{8A0BDA97-EF2E-425A-91AC-4CECB5E1B2AF}"/>
              </a:ext>
            </a:extLst>
          </p:cNvPr>
          <p:cNvSpPr>
            <a:spLocks xmlns:a="http://schemas.openxmlformats.org/drawingml/2006/main" noGrp="1"/>
          </p:cNvSpPr>
          <p:nvPr/>
        </p:nvSpPr>
        <p:spPr>
          <a:xfrm xmlns:a="http://schemas.openxmlformats.org/drawingml/2006/main">
            <a:off x="2571750" y="46482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16805A"/>
                </a:solidFill>
                <a:latin typeface="Helvetica Neue"/>
                <a:ea typeface="Helvetica Neue"/>
                <a:cs typeface="Helvetica Neue"/>
              </a:defRPr>
            </a:pPr>
            <a:r>
              <a:rPr sz="1575" b="1" i="0">
                <a:solidFill>
                  <a:srgbClr val="16805A"/>
                </a:solidFill>
                <a:latin typeface="Helvetica Neue"/>
                <a:ea typeface="Helvetica Neue"/>
                <a:cs typeface="Helvetica Neue"/>
              </a:rPr>
              <a:t>8,455 Scaffolds</a:t>
            </a:r>
          </a:p>
        </p:txBody>
      </p:sp>
      <p:sp>
        <p:nvSpPr>
          <p:cNvPr id="6" name="">
            <a:extLst xmlns:a="http://schemas.openxmlformats.org/drawingml/2006/main">
              <a:ext uri="{FF2B5EF4-FFF2-40B4-BE49-F238E27FC236}">
                <a16:creationId xmlns:a16="http://schemas.microsoft.com/office/drawing/2014/main" id="{562CC80A-5E52-4E79-9422-92269AAE2618}"/>
              </a:ext>
            </a:extLst>
          </p:cNvPr>
          <p:cNvSpPr>
            <a:spLocks xmlns:a="http://schemas.openxmlformats.org/drawingml/2006/main" noGrp="1"/>
          </p:cNvSpPr>
          <p:nvPr/>
        </p:nvSpPr>
        <p:spPr>
          <a:xfrm xmlns:a="http://schemas.openxmlformats.org/drawingml/2006/main">
            <a:off x="457200" y="5105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C96A18"/>
                </a:solidFill>
                <a:latin typeface="Helvetica Neue"/>
                <a:ea typeface="Helvetica Neue"/>
                <a:cs typeface="Helvetica Neue"/>
              </a:defRPr>
            </a:pPr>
            <a:r>
              <a:rPr sz="1575" b="1" i="0">
                <a:solidFill>
                  <a:srgbClr val="C96A18"/>
                </a:solidFill>
                <a:latin typeface="Helvetica Neue"/>
                <a:ea typeface="Helvetica Neue"/>
                <a:cs typeface="Helvetica Neue"/>
              </a:rPr>
              <a:t>5 Nested Folds</a:t>
            </a:r>
          </a:p>
        </p:txBody>
      </p:sp>
      <p:sp>
        <p:nvSpPr>
          <p:cNvPr id="7" name="">
            <a:extLst xmlns:a="http://schemas.openxmlformats.org/drawingml/2006/main">
              <a:ext uri="{FF2B5EF4-FFF2-40B4-BE49-F238E27FC236}">
                <a16:creationId xmlns:a16="http://schemas.microsoft.com/office/drawing/2014/main" id="{2071DBFD-87D7-4E54-A18E-A85018587BE1}"/>
              </a:ext>
            </a:extLst>
          </p:cNvPr>
          <p:cNvSpPr>
            <a:spLocks xmlns:a="http://schemas.openxmlformats.org/drawingml/2006/main" noGrp="1"/>
          </p:cNvSpPr>
          <p:nvPr/>
        </p:nvSpPr>
        <p:spPr>
          <a:xfrm xmlns:a="http://schemas.openxmlformats.org/drawingml/2006/main">
            <a:off x="5905500" y="400050"/>
            <a:ext cx="5848350" cy="5829300"/>
          </a:xfrm>
          <a:prstGeom xmlns:a="http://schemas.openxmlformats.org/drawingml/2006/main" prst="roundRect">
            <a:avLst>
              <a:gd name="adj" fmla="val 2614"/>
            </a:avLst>
          </a:prstGeom>
          <a:solidFill xmlns:a="http://schemas.openxmlformats.org/drawingml/2006/main">
            <a:srgbClr val="F2F4F7"/>
          </a:solidFill>
          <a:ln xmlns:a="http://schemas.openxmlformats.org/drawingml/2006/main" w="9525">
            <a:solidFill>
              <a:srgbClr val="D6DAE0"/>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c2636092ec0433c"/>
          <a:stretch xmlns:a="http://schemas.openxmlformats.org/drawingml/2006/main"/>
        </p:blipFill>
        <p:spPr>
          <a:xfrm xmlns:a="http://schemas.openxmlformats.org/drawingml/2006/main">
            <a:off x="6096000" y="1379054"/>
            <a:ext cx="5467350" cy="3871291"/>
          </a:xfrm>
          <a:prstGeom xmlns:a="http://schemas.openxmlformats.org/drawingml/2006/main" prst="rect">
            <a:avLst/>
          </a:prstGeom>
        </p:spPr>
      </p:pic>
    </p:spTree>
    <p:extLst>
      <p:ext uri="{BB962C8B-B14F-4D97-AF65-F5344CB8AC3E}">
        <p14:creationId xmlns:p14="http://schemas.microsoft.com/office/powerpoint/2010/main" val="7725756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63188DE-97F2-4673-93FF-93C64C972E49}"/>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Nine Iterations of Model Development</a:t>
            </a:r>
          </a:p>
        </p:txBody>
      </p:sp>
      <p:cxnSp>
        <p:nvCxnSpPr>
          <p:cNvPr id="44"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A5EBB8AD-46D1-4144-9017-42D5BD1F872C}"/>
              </a:ext>
            </a:extLst>
          </p:cNvPr>
          <p:cNvSpPr>
            <a:spLocks xmlns:a="http://schemas.openxmlformats.org/drawingml/2006/main" noGrp="1"/>
          </p:cNvSpPr>
          <p:nvPr/>
        </p:nvSpPr>
        <p:spPr>
          <a:xfrm xmlns:a="http://schemas.openxmlformats.org/drawingml/2006/main">
            <a:off x="438150" y="1257300"/>
            <a:ext cx="3543300" cy="1485900"/>
          </a:xfrm>
          <a:prstGeom xmlns:a="http://schemas.openxmlformats.org/drawingml/2006/main" prst="roundRect">
            <a:avLst>
              <a:gd name="adj" fmla="val 7692"/>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1039150E-CF6E-4EF9-BC20-1FFDBBB79AEB}"/>
              </a:ext>
            </a:extLst>
          </p:cNvPr>
          <p:cNvSpPr>
            <a:spLocks xmlns:a="http://schemas.openxmlformats.org/drawingml/2006/main" noGrp="1"/>
          </p:cNvSpPr>
          <p:nvPr/>
        </p:nvSpPr>
        <p:spPr>
          <a:xfrm xmlns:a="http://schemas.openxmlformats.org/drawingml/2006/main">
            <a:off x="609600" y="14097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V1</a:t>
            </a:r>
          </a:p>
        </p:txBody>
      </p:sp>
      <p:sp>
        <p:nvSpPr>
          <p:cNvPr id="5" name="">
            <a:extLst xmlns:a="http://schemas.openxmlformats.org/drawingml/2006/main">
              <a:ext uri="{FF2B5EF4-FFF2-40B4-BE49-F238E27FC236}">
                <a16:creationId xmlns:a16="http://schemas.microsoft.com/office/drawing/2014/main" id="{72A1FA7F-5635-4489-8419-2F399ECB0790}"/>
              </a:ext>
            </a:extLst>
          </p:cNvPr>
          <p:cNvSpPr>
            <a:spLocks xmlns:a="http://schemas.openxmlformats.org/drawingml/2006/main" noGrp="1"/>
          </p:cNvSpPr>
          <p:nvPr/>
        </p:nvSpPr>
        <p:spPr>
          <a:xfrm xmlns:a="http://schemas.openxmlformats.org/drawingml/2006/main">
            <a:off x="1162050" y="14097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Dataset Governance</a:t>
            </a:r>
          </a:p>
        </p:txBody>
      </p:sp>
      <p:sp>
        <p:nvSpPr>
          <p:cNvPr id="6" name="">
            <a:extLst xmlns:a="http://schemas.openxmlformats.org/drawingml/2006/main">
              <a:ext uri="{FF2B5EF4-FFF2-40B4-BE49-F238E27FC236}">
                <a16:creationId xmlns:a16="http://schemas.microsoft.com/office/drawing/2014/main" id="{0AA3628E-B7C9-4AE2-9007-A92777D5B441}"/>
              </a:ext>
            </a:extLst>
          </p:cNvPr>
          <p:cNvSpPr>
            <a:spLocks xmlns:a="http://schemas.openxmlformats.org/drawingml/2006/main" noGrp="1"/>
          </p:cNvSpPr>
          <p:nvPr/>
        </p:nvSpPr>
        <p:spPr>
          <a:xfrm xmlns:a="http://schemas.openxmlformats.org/drawingml/2006/main">
            <a:off x="609600" y="18288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Structure identities, provenance, frozen splits, and leakage controls.</a:t>
            </a:r>
          </a:p>
        </p:txBody>
      </p:sp>
      <p:sp>
        <p:nvSpPr>
          <p:cNvPr id="7" name="">
            <a:extLst xmlns:a="http://schemas.openxmlformats.org/drawingml/2006/main">
              <a:ext uri="{FF2B5EF4-FFF2-40B4-BE49-F238E27FC236}">
                <a16:creationId xmlns:a16="http://schemas.microsoft.com/office/drawing/2014/main" id="{461AD611-A401-471A-A4B2-7CD9EFF09934}"/>
              </a:ext>
            </a:extLst>
          </p:cNvPr>
          <p:cNvSpPr>
            <a:spLocks xmlns:a="http://schemas.openxmlformats.org/drawingml/2006/main" noGrp="1"/>
          </p:cNvSpPr>
          <p:nvPr/>
        </p:nvSpPr>
        <p:spPr>
          <a:xfrm xmlns:a="http://schemas.openxmlformats.org/drawingml/2006/main">
            <a:off x="4248150" y="1257300"/>
            <a:ext cx="3543300" cy="1485900"/>
          </a:xfrm>
          <a:prstGeom xmlns:a="http://schemas.openxmlformats.org/drawingml/2006/main" prst="roundRect">
            <a:avLst>
              <a:gd name="adj" fmla="val 7692"/>
            </a:avLst>
          </a:prstGeom>
          <a:solidFill xmlns:a="http://schemas.openxmlformats.org/drawingml/2006/main">
            <a:srgbClr val="EAF2FF"/>
          </a:solidFill>
          <a:ln xmlns:a="http://schemas.openxmlformats.org/drawingml/2006/main" w="9525">
            <a:solidFill>
              <a:srgbClr val="EAF2FF"/>
            </a:solidFill>
            <a:prstDash val="solid"/>
          </a:ln>
        </p:spPr>
      </p:sp>
      <p:sp>
        <p:nvSpPr>
          <p:cNvPr id="8" name="">
            <a:extLst xmlns:a="http://schemas.openxmlformats.org/drawingml/2006/main">
              <a:ext uri="{FF2B5EF4-FFF2-40B4-BE49-F238E27FC236}">
                <a16:creationId xmlns:a16="http://schemas.microsoft.com/office/drawing/2014/main" id="{825E5E0A-404D-4D9B-9E7B-83D8A0C89DF1}"/>
              </a:ext>
            </a:extLst>
          </p:cNvPr>
          <p:cNvSpPr>
            <a:spLocks xmlns:a="http://schemas.openxmlformats.org/drawingml/2006/main" noGrp="1"/>
          </p:cNvSpPr>
          <p:nvPr/>
        </p:nvSpPr>
        <p:spPr>
          <a:xfrm xmlns:a="http://schemas.openxmlformats.org/drawingml/2006/main">
            <a:off x="4419600" y="14097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V2</a:t>
            </a:r>
          </a:p>
        </p:txBody>
      </p:sp>
      <p:sp>
        <p:nvSpPr>
          <p:cNvPr id="9" name="">
            <a:extLst xmlns:a="http://schemas.openxmlformats.org/drawingml/2006/main">
              <a:ext uri="{FF2B5EF4-FFF2-40B4-BE49-F238E27FC236}">
                <a16:creationId xmlns:a16="http://schemas.microsoft.com/office/drawing/2014/main" id="{F3692B3B-0494-46C0-9864-C0866587F034}"/>
              </a:ext>
            </a:extLst>
          </p:cNvPr>
          <p:cNvSpPr>
            <a:spLocks xmlns:a="http://schemas.openxmlformats.org/drawingml/2006/main" noGrp="1"/>
          </p:cNvSpPr>
          <p:nvPr/>
        </p:nvSpPr>
        <p:spPr>
          <a:xfrm xmlns:a="http://schemas.openxmlformats.org/drawingml/2006/main">
            <a:off x="4972050" y="14097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Tuned 2D XGBoost</a:t>
            </a:r>
          </a:p>
        </p:txBody>
      </p:sp>
      <p:sp>
        <p:nvSpPr>
          <p:cNvPr id="10" name="">
            <a:extLst xmlns:a="http://schemas.openxmlformats.org/drawingml/2006/main">
              <a:ext uri="{FF2B5EF4-FFF2-40B4-BE49-F238E27FC236}">
                <a16:creationId xmlns:a16="http://schemas.microsoft.com/office/drawing/2014/main" id="{E0AAE8B5-1E65-414B-8F41-1F20AD1191B0}"/>
              </a:ext>
            </a:extLst>
          </p:cNvPr>
          <p:cNvSpPr>
            <a:spLocks xmlns:a="http://schemas.openxmlformats.org/drawingml/2006/main" noGrp="1"/>
          </p:cNvSpPr>
          <p:nvPr/>
        </p:nvSpPr>
        <p:spPr>
          <a:xfrm xmlns:a="http://schemas.openxmlformats.org/drawingml/2006/main">
            <a:off x="4419600" y="18288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First strong scaffold anchor at approximately 0.446 MAE.</a:t>
            </a:r>
          </a:p>
        </p:txBody>
      </p:sp>
      <p:sp>
        <p:nvSpPr>
          <p:cNvPr id="11" name="">
            <a:extLst xmlns:a="http://schemas.openxmlformats.org/drawingml/2006/main">
              <a:ext uri="{FF2B5EF4-FFF2-40B4-BE49-F238E27FC236}">
                <a16:creationId xmlns:a16="http://schemas.microsoft.com/office/drawing/2014/main" id="{BE2FE71D-8151-4129-ACBB-FEA510FE2142}"/>
              </a:ext>
            </a:extLst>
          </p:cNvPr>
          <p:cNvSpPr>
            <a:spLocks xmlns:a="http://schemas.openxmlformats.org/drawingml/2006/main" noGrp="1"/>
          </p:cNvSpPr>
          <p:nvPr/>
        </p:nvSpPr>
        <p:spPr>
          <a:xfrm xmlns:a="http://schemas.openxmlformats.org/drawingml/2006/main">
            <a:off x="8058150" y="1257300"/>
            <a:ext cx="3543300" cy="1485900"/>
          </a:xfrm>
          <a:prstGeom xmlns:a="http://schemas.openxmlformats.org/drawingml/2006/main" prst="roundRect">
            <a:avLst>
              <a:gd name="adj" fmla="val 7692"/>
            </a:avLst>
          </a:prstGeom>
          <a:solidFill xmlns:a="http://schemas.openxmlformats.org/drawingml/2006/main">
            <a:srgbClr val="EAF2FF"/>
          </a:solidFill>
          <a:ln xmlns:a="http://schemas.openxmlformats.org/drawingml/2006/main" w="9525">
            <a:solidFill>
              <a:srgbClr val="EAF2FF"/>
            </a:solidFill>
            <a:prstDash val="solid"/>
          </a:ln>
        </p:spPr>
      </p:sp>
      <p:sp>
        <p:nvSpPr>
          <p:cNvPr id="12" name="">
            <a:extLst xmlns:a="http://schemas.openxmlformats.org/drawingml/2006/main">
              <a:ext uri="{FF2B5EF4-FFF2-40B4-BE49-F238E27FC236}">
                <a16:creationId xmlns:a16="http://schemas.microsoft.com/office/drawing/2014/main" id="{9AD5FC49-DD8E-4E84-9A9A-8C976A53965B}"/>
              </a:ext>
            </a:extLst>
          </p:cNvPr>
          <p:cNvSpPr>
            <a:spLocks xmlns:a="http://schemas.openxmlformats.org/drawingml/2006/main" noGrp="1"/>
          </p:cNvSpPr>
          <p:nvPr/>
        </p:nvSpPr>
        <p:spPr>
          <a:xfrm xmlns:a="http://schemas.openxmlformats.org/drawingml/2006/main">
            <a:off x="8229600" y="14097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V3</a:t>
            </a:r>
          </a:p>
        </p:txBody>
      </p:sp>
      <p:sp>
        <p:nvSpPr>
          <p:cNvPr id="13" name="">
            <a:extLst xmlns:a="http://schemas.openxmlformats.org/drawingml/2006/main">
              <a:ext uri="{FF2B5EF4-FFF2-40B4-BE49-F238E27FC236}">
                <a16:creationId xmlns:a16="http://schemas.microsoft.com/office/drawing/2014/main" id="{B45ADC39-8739-4937-8691-61301F6DB11D}"/>
              </a:ext>
            </a:extLst>
          </p:cNvPr>
          <p:cNvSpPr>
            <a:spLocks xmlns:a="http://schemas.openxmlformats.org/drawingml/2006/main" noGrp="1"/>
          </p:cNvSpPr>
          <p:nvPr/>
        </p:nvSpPr>
        <p:spPr>
          <a:xfrm xmlns:a="http://schemas.openxmlformats.org/drawingml/2006/main">
            <a:off x="8782050" y="14097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Broader Model Search</a:t>
            </a:r>
          </a:p>
        </p:txBody>
      </p:sp>
      <p:sp>
        <p:nvSpPr>
          <p:cNvPr id="14" name="">
            <a:extLst xmlns:a="http://schemas.openxmlformats.org/drawingml/2006/main">
              <a:ext uri="{FF2B5EF4-FFF2-40B4-BE49-F238E27FC236}">
                <a16:creationId xmlns:a16="http://schemas.microsoft.com/office/drawing/2014/main" id="{B1A5AEFB-45A5-4179-8DB0-D9134A5A7719}"/>
              </a:ext>
            </a:extLst>
          </p:cNvPr>
          <p:cNvSpPr>
            <a:spLocks xmlns:a="http://schemas.openxmlformats.org/drawingml/2006/main" noGrp="1"/>
          </p:cNvSpPr>
          <p:nvPr/>
        </p:nvSpPr>
        <p:spPr>
          <a:xfrm xmlns:a="http://schemas.openxmlformats.org/drawingml/2006/main">
            <a:off x="8229600" y="18288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More model families and features did not improve the honest anchor.</a:t>
            </a:r>
          </a:p>
        </p:txBody>
      </p:sp>
      <p:sp>
        <p:nvSpPr>
          <p:cNvPr id="15" name="">
            <a:extLst xmlns:a="http://schemas.openxmlformats.org/drawingml/2006/main">
              <a:ext uri="{FF2B5EF4-FFF2-40B4-BE49-F238E27FC236}">
                <a16:creationId xmlns:a16="http://schemas.microsoft.com/office/drawing/2014/main" id="{234E24D0-D5F0-465E-9E53-97CA8AFE9D01}"/>
              </a:ext>
            </a:extLst>
          </p:cNvPr>
          <p:cNvSpPr>
            <a:spLocks xmlns:a="http://schemas.openxmlformats.org/drawingml/2006/main" noGrp="1"/>
          </p:cNvSpPr>
          <p:nvPr/>
        </p:nvSpPr>
        <p:spPr>
          <a:xfrm xmlns:a="http://schemas.openxmlformats.org/drawingml/2006/main">
            <a:off x="438150" y="3009900"/>
            <a:ext cx="3543300" cy="1485900"/>
          </a:xfrm>
          <a:prstGeom xmlns:a="http://schemas.openxmlformats.org/drawingml/2006/main" prst="roundRect">
            <a:avLst>
              <a:gd name="adj" fmla="val 7692"/>
            </a:avLst>
          </a:prstGeom>
          <a:solidFill xmlns:a="http://schemas.openxmlformats.org/drawingml/2006/main">
            <a:srgbClr val="F1EDFF"/>
          </a:solidFill>
          <a:ln xmlns:a="http://schemas.openxmlformats.org/drawingml/2006/main" w="9525">
            <a:solidFill>
              <a:srgbClr val="F1EDFF"/>
            </a:solidFill>
            <a:prstDash val="solid"/>
          </a:ln>
        </p:spPr>
      </p:sp>
      <p:sp>
        <p:nvSpPr>
          <p:cNvPr id="16" name="">
            <a:extLst xmlns:a="http://schemas.openxmlformats.org/drawingml/2006/main">
              <a:ext uri="{FF2B5EF4-FFF2-40B4-BE49-F238E27FC236}">
                <a16:creationId xmlns:a16="http://schemas.microsoft.com/office/drawing/2014/main" id="{7F647348-10CC-4CD6-A288-DA470336B7F8}"/>
              </a:ext>
            </a:extLst>
          </p:cNvPr>
          <p:cNvSpPr>
            <a:spLocks xmlns:a="http://schemas.openxmlformats.org/drawingml/2006/main" noGrp="1"/>
          </p:cNvSpPr>
          <p:nvPr/>
        </p:nvSpPr>
        <p:spPr>
          <a:xfrm xmlns:a="http://schemas.openxmlformats.org/drawingml/2006/main">
            <a:off x="609600" y="31623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7057C7"/>
                </a:solidFill>
                <a:latin typeface="Helvetica Neue"/>
                <a:ea typeface="Helvetica Neue"/>
                <a:cs typeface="Helvetica Neue"/>
              </a:defRPr>
            </a:pPr>
            <a:r>
              <a:rPr sz="1800" b="1" i="0">
                <a:solidFill>
                  <a:srgbClr val="7057C7"/>
                </a:solidFill>
                <a:latin typeface="Helvetica Neue"/>
                <a:ea typeface="Helvetica Neue"/>
                <a:cs typeface="Helvetica Neue"/>
              </a:rPr>
              <a:t>V4</a:t>
            </a:r>
          </a:p>
        </p:txBody>
      </p:sp>
      <p:sp>
        <p:nvSpPr>
          <p:cNvPr id="17" name="">
            <a:extLst xmlns:a="http://schemas.openxmlformats.org/drawingml/2006/main">
              <a:ext uri="{FF2B5EF4-FFF2-40B4-BE49-F238E27FC236}">
                <a16:creationId xmlns:a16="http://schemas.microsoft.com/office/drawing/2014/main" id="{6D483ED5-1A12-47A7-80CC-82458624D8FE}"/>
              </a:ext>
            </a:extLst>
          </p:cNvPr>
          <p:cNvSpPr>
            <a:spLocks xmlns:a="http://schemas.openxmlformats.org/drawingml/2006/main" noGrp="1"/>
          </p:cNvSpPr>
          <p:nvPr/>
        </p:nvSpPr>
        <p:spPr>
          <a:xfrm xmlns:a="http://schemas.openxmlformats.org/drawingml/2006/main">
            <a:off x="11620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24-Conformer Surface</a:t>
            </a:r>
          </a:p>
        </p:txBody>
      </p:sp>
      <p:sp>
        <p:nvSpPr>
          <p:cNvPr id="18" name="">
            <a:extLst xmlns:a="http://schemas.openxmlformats.org/drawingml/2006/main">
              <a:ext uri="{FF2B5EF4-FFF2-40B4-BE49-F238E27FC236}">
                <a16:creationId xmlns:a16="http://schemas.microsoft.com/office/drawing/2014/main" id="{5CEB6385-5323-41D3-8D6D-04B21A270ACE}"/>
              </a:ext>
            </a:extLst>
          </p:cNvPr>
          <p:cNvSpPr>
            <a:spLocks xmlns:a="http://schemas.openxmlformats.org/drawingml/2006/main" noGrp="1"/>
          </p:cNvSpPr>
          <p:nvPr/>
        </p:nvSpPr>
        <p:spPr>
          <a:xfrm xmlns:a="http://schemas.openxmlformats.org/drawingml/2006/main">
            <a:off x="609600" y="35814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Fresh ligand 3D features generated across 24,901 quantitative structures.</a:t>
            </a:r>
          </a:p>
        </p:txBody>
      </p:sp>
      <p:sp>
        <p:nvSpPr>
          <p:cNvPr id="19" name="">
            <a:extLst xmlns:a="http://schemas.openxmlformats.org/drawingml/2006/main">
              <a:ext uri="{FF2B5EF4-FFF2-40B4-BE49-F238E27FC236}">
                <a16:creationId xmlns:a16="http://schemas.microsoft.com/office/drawing/2014/main" id="{0925A3CB-84E8-4276-A074-B90CA4AE12AE}"/>
              </a:ext>
            </a:extLst>
          </p:cNvPr>
          <p:cNvSpPr>
            <a:spLocks xmlns:a="http://schemas.openxmlformats.org/drawingml/2006/main" noGrp="1"/>
          </p:cNvSpPr>
          <p:nvPr/>
        </p:nvSpPr>
        <p:spPr>
          <a:xfrm xmlns:a="http://schemas.openxmlformats.org/drawingml/2006/main">
            <a:off x="4248150" y="3009900"/>
            <a:ext cx="3543300" cy="1485900"/>
          </a:xfrm>
          <a:prstGeom xmlns:a="http://schemas.openxmlformats.org/drawingml/2006/main" prst="roundRect">
            <a:avLst>
              <a:gd name="adj" fmla="val 7692"/>
            </a:avLst>
          </a:prstGeom>
          <a:solidFill xmlns:a="http://schemas.openxmlformats.org/drawingml/2006/main">
            <a:srgbClr val="F1EDFF"/>
          </a:solidFill>
          <a:ln xmlns:a="http://schemas.openxmlformats.org/drawingml/2006/main" w="9525">
            <a:solidFill>
              <a:srgbClr val="F1EDFF"/>
            </a:solidFill>
            <a:prstDash val="solid"/>
          </a:ln>
        </p:spPr>
      </p:sp>
      <p:sp>
        <p:nvSpPr>
          <p:cNvPr id="20" name="">
            <a:extLst xmlns:a="http://schemas.openxmlformats.org/drawingml/2006/main">
              <a:ext uri="{FF2B5EF4-FFF2-40B4-BE49-F238E27FC236}">
                <a16:creationId xmlns:a16="http://schemas.microsoft.com/office/drawing/2014/main" id="{BEF1021A-ED1D-4F11-97D8-1E9FB44B40F7}"/>
              </a:ext>
            </a:extLst>
          </p:cNvPr>
          <p:cNvSpPr>
            <a:spLocks xmlns:a="http://schemas.openxmlformats.org/drawingml/2006/main" noGrp="1"/>
          </p:cNvSpPr>
          <p:nvPr/>
        </p:nvSpPr>
        <p:spPr>
          <a:xfrm xmlns:a="http://schemas.openxmlformats.org/drawingml/2006/main">
            <a:off x="4419600" y="31623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7057C7"/>
                </a:solidFill>
                <a:latin typeface="Helvetica Neue"/>
                <a:ea typeface="Helvetica Neue"/>
                <a:cs typeface="Helvetica Neue"/>
              </a:defRPr>
            </a:pPr>
            <a:r>
              <a:rPr sz="1800" b="1" i="0">
                <a:solidFill>
                  <a:srgbClr val="7057C7"/>
                </a:solidFill>
                <a:latin typeface="Helvetica Neue"/>
                <a:ea typeface="Helvetica Neue"/>
                <a:cs typeface="Helvetica Neue"/>
              </a:rPr>
              <a:t>V5</a:t>
            </a:r>
          </a:p>
        </p:txBody>
      </p:sp>
      <p:sp>
        <p:nvSpPr>
          <p:cNvPr id="21" name="">
            <a:extLst xmlns:a="http://schemas.openxmlformats.org/drawingml/2006/main">
              <a:ext uri="{FF2B5EF4-FFF2-40B4-BE49-F238E27FC236}">
                <a16:creationId xmlns:a16="http://schemas.microsoft.com/office/drawing/2014/main" id="{F05829AF-2A82-4BF0-8D98-03ECDCE6D917}"/>
              </a:ext>
            </a:extLst>
          </p:cNvPr>
          <p:cNvSpPr>
            <a:spLocks xmlns:a="http://schemas.openxmlformats.org/drawingml/2006/main" noGrp="1"/>
          </p:cNvSpPr>
          <p:nvPr/>
        </p:nvSpPr>
        <p:spPr>
          <a:xfrm xmlns:a="http://schemas.openxmlformats.org/drawingml/2006/main">
            <a:off x="49720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Feature Attribution</a:t>
            </a:r>
          </a:p>
        </p:txBody>
      </p:sp>
      <p:sp>
        <p:nvSpPr>
          <p:cNvPr id="22" name="">
            <a:extLst xmlns:a="http://schemas.openxmlformats.org/drawingml/2006/main">
              <a:ext uri="{FF2B5EF4-FFF2-40B4-BE49-F238E27FC236}">
                <a16:creationId xmlns:a16="http://schemas.microsoft.com/office/drawing/2014/main" id="{9791DC50-0FD0-43BA-B7D5-9C7F4FD20923}"/>
              </a:ext>
            </a:extLst>
          </p:cNvPr>
          <p:cNvSpPr>
            <a:spLocks xmlns:a="http://schemas.openxmlformats.org/drawingml/2006/main" noGrp="1"/>
          </p:cNvSpPr>
          <p:nvPr/>
        </p:nvSpPr>
        <p:spPr>
          <a:xfrm xmlns:a="http://schemas.openxmlformats.org/drawingml/2006/main">
            <a:off x="4419600" y="35814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Held-out ablations isolated the unique contribution of each block.</a:t>
            </a:r>
          </a:p>
        </p:txBody>
      </p:sp>
      <p:sp>
        <p:nvSpPr>
          <p:cNvPr id="23" name="">
            <a:extLst xmlns:a="http://schemas.openxmlformats.org/drawingml/2006/main">
              <a:ext uri="{FF2B5EF4-FFF2-40B4-BE49-F238E27FC236}">
                <a16:creationId xmlns:a16="http://schemas.microsoft.com/office/drawing/2014/main" id="{60CD7841-2275-4C5E-A901-2D73C8CE9A06}"/>
              </a:ext>
            </a:extLst>
          </p:cNvPr>
          <p:cNvSpPr>
            <a:spLocks xmlns:a="http://schemas.openxmlformats.org/drawingml/2006/main" noGrp="1"/>
          </p:cNvSpPr>
          <p:nvPr/>
        </p:nvSpPr>
        <p:spPr>
          <a:xfrm xmlns:a="http://schemas.openxmlformats.org/drawingml/2006/main">
            <a:off x="8058150" y="3009900"/>
            <a:ext cx="3543300" cy="1485900"/>
          </a:xfrm>
          <a:prstGeom xmlns:a="http://schemas.openxmlformats.org/drawingml/2006/main" prst="roundRect">
            <a:avLst>
              <a:gd name="adj" fmla="val 7692"/>
            </a:avLst>
          </a:prstGeom>
          <a:solidFill xmlns:a="http://schemas.openxmlformats.org/drawingml/2006/main">
            <a:srgbClr val="F1EDFF"/>
          </a:solidFill>
          <a:ln xmlns:a="http://schemas.openxmlformats.org/drawingml/2006/main" w="9525">
            <a:solidFill>
              <a:srgbClr val="F1EDFF"/>
            </a:solidFill>
            <a:prstDash val="solid"/>
          </a:ln>
        </p:spPr>
      </p:sp>
      <p:sp>
        <p:nvSpPr>
          <p:cNvPr id="24" name="">
            <a:extLst xmlns:a="http://schemas.openxmlformats.org/drawingml/2006/main">
              <a:ext uri="{FF2B5EF4-FFF2-40B4-BE49-F238E27FC236}">
                <a16:creationId xmlns:a16="http://schemas.microsoft.com/office/drawing/2014/main" id="{4CA43827-EE90-4070-A852-6A9670F69E01}"/>
              </a:ext>
            </a:extLst>
          </p:cNvPr>
          <p:cNvSpPr>
            <a:spLocks xmlns:a="http://schemas.openxmlformats.org/drawingml/2006/main" noGrp="1"/>
          </p:cNvSpPr>
          <p:nvPr/>
        </p:nvSpPr>
        <p:spPr>
          <a:xfrm xmlns:a="http://schemas.openxmlformats.org/drawingml/2006/main">
            <a:off x="8229600" y="31623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7057C7"/>
                </a:solidFill>
                <a:latin typeface="Helvetica Neue"/>
                <a:ea typeface="Helvetica Neue"/>
                <a:cs typeface="Helvetica Neue"/>
              </a:defRPr>
            </a:pPr>
            <a:r>
              <a:rPr sz="1800" b="1" i="0">
                <a:solidFill>
                  <a:srgbClr val="7057C7"/>
                </a:solidFill>
                <a:latin typeface="Helvetica Neue"/>
                <a:ea typeface="Helvetica Neue"/>
                <a:cs typeface="Helvetica Neue"/>
              </a:rPr>
              <a:t>V6</a:t>
            </a:r>
          </a:p>
        </p:txBody>
      </p:sp>
      <p:sp>
        <p:nvSpPr>
          <p:cNvPr id="25" name="">
            <a:extLst xmlns:a="http://schemas.openxmlformats.org/drawingml/2006/main">
              <a:ext uri="{FF2B5EF4-FFF2-40B4-BE49-F238E27FC236}">
                <a16:creationId xmlns:a16="http://schemas.microsoft.com/office/drawing/2014/main" id="{1CC98BD0-6AF7-40E6-BA44-998E4A53C816}"/>
              </a:ext>
            </a:extLst>
          </p:cNvPr>
          <p:cNvSpPr>
            <a:spLocks xmlns:a="http://schemas.openxmlformats.org/drawingml/2006/main" noGrp="1"/>
          </p:cNvSpPr>
          <p:nvPr/>
        </p:nvSpPr>
        <p:spPr>
          <a:xfrm xmlns:a="http://schemas.openxmlformats.org/drawingml/2006/main">
            <a:off x="87820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Fundamental Optimization</a:t>
            </a:r>
          </a:p>
        </p:txBody>
      </p:sp>
      <p:sp>
        <p:nvSpPr>
          <p:cNvPr id="26" name="">
            <a:extLst xmlns:a="http://schemas.openxmlformats.org/drawingml/2006/main">
              <a:ext uri="{FF2B5EF4-FFF2-40B4-BE49-F238E27FC236}">
                <a16:creationId xmlns:a16="http://schemas.microsoft.com/office/drawing/2014/main" id="{F3CD99C8-78FD-49E7-A064-065577A6310C}"/>
              </a:ext>
            </a:extLst>
          </p:cNvPr>
          <p:cNvSpPr>
            <a:spLocks xmlns:a="http://schemas.openxmlformats.org/drawingml/2006/main" noGrp="1"/>
          </p:cNvSpPr>
          <p:nvPr/>
        </p:nvSpPr>
        <p:spPr>
          <a:xfrm xmlns:a="http://schemas.openxmlformats.org/drawingml/2006/main">
            <a:off x="8229600" y="35814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Physics-focused combinations tested redundancy and failure modes.</a:t>
            </a:r>
          </a:p>
        </p:txBody>
      </p:sp>
      <p:sp>
        <p:nvSpPr>
          <p:cNvPr id="27" name="">
            <a:extLst xmlns:a="http://schemas.openxmlformats.org/drawingml/2006/main">
              <a:ext uri="{FF2B5EF4-FFF2-40B4-BE49-F238E27FC236}">
                <a16:creationId xmlns:a16="http://schemas.microsoft.com/office/drawing/2014/main" id="{EA531643-CBB9-40C8-B8D8-D1B292786A48}"/>
              </a:ext>
            </a:extLst>
          </p:cNvPr>
          <p:cNvSpPr>
            <a:spLocks xmlns:a="http://schemas.openxmlformats.org/drawingml/2006/main" noGrp="1"/>
          </p:cNvSpPr>
          <p:nvPr/>
        </p:nvSpPr>
        <p:spPr>
          <a:xfrm xmlns:a="http://schemas.openxmlformats.org/drawingml/2006/main">
            <a:off x="438150" y="4762500"/>
            <a:ext cx="3543300" cy="1485900"/>
          </a:xfrm>
          <a:prstGeom xmlns:a="http://schemas.openxmlformats.org/drawingml/2006/main" prst="roundRect">
            <a:avLst>
              <a:gd name="adj" fmla="val 7692"/>
            </a:avLst>
          </a:prstGeom>
          <a:solidFill xmlns:a="http://schemas.openxmlformats.org/drawingml/2006/main">
            <a:srgbClr val="E9F7F1"/>
          </a:solidFill>
          <a:ln xmlns:a="http://schemas.openxmlformats.org/drawingml/2006/main" w="9525">
            <a:solidFill>
              <a:srgbClr val="E9F7F1"/>
            </a:solidFill>
            <a:prstDash val="solid"/>
          </a:ln>
        </p:spPr>
      </p:sp>
      <p:sp>
        <p:nvSpPr>
          <p:cNvPr id="28" name="">
            <a:extLst xmlns:a="http://schemas.openxmlformats.org/drawingml/2006/main">
              <a:ext uri="{FF2B5EF4-FFF2-40B4-BE49-F238E27FC236}">
                <a16:creationId xmlns:a16="http://schemas.microsoft.com/office/drawing/2014/main" id="{970F4EE4-95E4-462F-A79D-A73D3F5B69AB}"/>
              </a:ext>
            </a:extLst>
          </p:cNvPr>
          <p:cNvSpPr>
            <a:spLocks xmlns:a="http://schemas.openxmlformats.org/drawingml/2006/main" noGrp="1"/>
          </p:cNvSpPr>
          <p:nvPr/>
        </p:nvSpPr>
        <p:spPr>
          <a:xfrm xmlns:a="http://schemas.openxmlformats.org/drawingml/2006/main">
            <a:off x="609600" y="49149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V7</a:t>
            </a:r>
          </a:p>
        </p:txBody>
      </p:sp>
      <p:sp>
        <p:nvSpPr>
          <p:cNvPr id="29" name="">
            <a:extLst xmlns:a="http://schemas.openxmlformats.org/drawingml/2006/main">
              <a:ext uri="{FF2B5EF4-FFF2-40B4-BE49-F238E27FC236}">
                <a16:creationId xmlns:a16="http://schemas.microsoft.com/office/drawing/2014/main" id="{E1735089-8147-4350-AC7B-8BF2864571FD}"/>
              </a:ext>
            </a:extLst>
          </p:cNvPr>
          <p:cNvSpPr>
            <a:spLocks xmlns:a="http://schemas.openxmlformats.org/drawingml/2006/main" noGrp="1"/>
          </p:cNvSpPr>
          <p:nvPr/>
        </p:nvSpPr>
        <p:spPr>
          <a:xfrm xmlns:a="http://schemas.openxmlformats.org/drawingml/2006/main">
            <a:off x="1162050" y="4914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Measurement Objectives</a:t>
            </a:r>
          </a:p>
        </p:txBody>
      </p:sp>
      <p:sp>
        <p:nvSpPr>
          <p:cNvPr id="30" name="">
            <a:extLst xmlns:a="http://schemas.openxmlformats.org/drawingml/2006/main">
              <a:ext uri="{FF2B5EF4-FFF2-40B4-BE49-F238E27FC236}">
                <a16:creationId xmlns:a16="http://schemas.microsoft.com/office/drawing/2014/main" id="{8B441ED9-F3FB-463B-9B08-5CBCA5945B05}"/>
              </a:ext>
            </a:extLst>
          </p:cNvPr>
          <p:cNvSpPr>
            <a:spLocks xmlns:a="http://schemas.openxmlformats.org/drawingml/2006/main" noGrp="1"/>
          </p:cNvSpPr>
          <p:nvPr/>
        </p:nvSpPr>
        <p:spPr>
          <a:xfrm xmlns:a="http://schemas.openxmlformats.org/drawingml/2006/main">
            <a:off x="609600" y="53340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Accuracy and safety-tail objectives separated instead of hidden.</a:t>
            </a:r>
          </a:p>
        </p:txBody>
      </p:sp>
      <p:sp>
        <p:nvSpPr>
          <p:cNvPr id="31" name="">
            <a:extLst xmlns:a="http://schemas.openxmlformats.org/drawingml/2006/main">
              <a:ext uri="{FF2B5EF4-FFF2-40B4-BE49-F238E27FC236}">
                <a16:creationId xmlns:a16="http://schemas.microsoft.com/office/drawing/2014/main" id="{7FDC6AF5-EE25-420A-B6BF-E78A053D78C9}"/>
              </a:ext>
            </a:extLst>
          </p:cNvPr>
          <p:cNvSpPr>
            <a:spLocks xmlns:a="http://schemas.openxmlformats.org/drawingml/2006/main" noGrp="1"/>
          </p:cNvSpPr>
          <p:nvPr/>
        </p:nvSpPr>
        <p:spPr>
          <a:xfrm xmlns:a="http://schemas.openxmlformats.org/drawingml/2006/main">
            <a:off x="4248150" y="4762500"/>
            <a:ext cx="3543300" cy="1485900"/>
          </a:xfrm>
          <a:prstGeom xmlns:a="http://schemas.openxmlformats.org/drawingml/2006/main" prst="roundRect">
            <a:avLst>
              <a:gd name="adj" fmla="val 7692"/>
            </a:avLst>
          </a:prstGeom>
          <a:solidFill xmlns:a="http://schemas.openxmlformats.org/drawingml/2006/main">
            <a:srgbClr val="E9F7F1"/>
          </a:solidFill>
          <a:ln xmlns:a="http://schemas.openxmlformats.org/drawingml/2006/main" w="9525">
            <a:solidFill>
              <a:srgbClr val="E9F7F1"/>
            </a:solidFill>
            <a:prstDash val="solid"/>
          </a:ln>
        </p:spPr>
      </p:sp>
      <p:sp>
        <p:nvSpPr>
          <p:cNvPr id="32" name="">
            <a:extLst xmlns:a="http://schemas.openxmlformats.org/drawingml/2006/main">
              <a:ext uri="{FF2B5EF4-FFF2-40B4-BE49-F238E27FC236}">
                <a16:creationId xmlns:a16="http://schemas.microsoft.com/office/drawing/2014/main" id="{21B4E138-26CD-44E3-9F7D-3F465EF7DE97}"/>
              </a:ext>
            </a:extLst>
          </p:cNvPr>
          <p:cNvSpPr>
            <a:spLocks xmlns:a="http://schemas.openxmlformats.org/drawingml/2006/main" noGrp="1"/>
          </p:cNvSpPr>
          <p:nvPr/>
        </p:nvSpPr>
        <p:spPr>
          <a:xfrm xmlns:a="http://schemas.openxmlformats.org/drawingml/2006/main">
            <a:off x="4419600" y="49149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V8</a:t>
            </a:r>
          </a:p>
        </p:txBody>
      </p:sp>
      <p:sp>
        <p:nvSpPr>
          <p:cNvPr id="33" name="">
            <a:extLst xmlns:a="http://schemas.openxmlformats.org/drawingml/2006/main">
              <a:ext uri="{FF2B5EF4-FFF2-40B4-BE49-F238E27FC236}">
                <a16:creationId xmlns:a16="http://schemas.microsoft.com/office/drawing/2014/main" id="{750DA158-F93E-4815-94A3-C41E5436799E}"/>
              </a:ext>
            </a:extLst>
          </p:cNvPr>
          <p:cNvSpPr>
            <a:spLocks xmlns:a="http://schemas.openxmlformats.org/drawingml/2006/main" noGrp="1"/>
          </p:cNvSpPr>
          <p:nvPr/>
        </p:nvSpPr>
        <p:spPr>
          <a:xfrm xmlns:a="http://schemas.openxmlformats.org/drawingml/2006/main">
            <a:off x="4972050" y="4914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Feature Lattice</a:t>
            </a:r>
          </a:p>
        </p:txBody>
      </p:sp>
      <p:sp>
        <p:nvSpPr>
          <p:cNvPr id="34" name="">
            <a:extLst xmlns:a="http://schemas.openxmlformats.org/drawingml/2006/main">
              <a:ext uri="{FF2B5EF4-FFF2-40B4-BE49-F238E27FC236}">
                <a16:creationId xmlns:a16="http://schemas.microsoft.com/office/drawing/2014/main" id="{8152B748-9C24-471E-B912-F578D5557291}"/>
              </a:ext>
            </a:extLst>
          </p:cNvPr>
          <p:cNvSpPr>
            <a:spLocks xmlns:a="http://schemas.openxmlformats.org/drawingml/2006/main" noGrp="1"/>
          </p:cNvSpPr>
          <p:nvPr/>
        </p:nvSpPr>
        <p:spPr>
          <a:xfrm xmlns:a="http://schemas.openxmlformats.org/drawingml/2006/main">
            <a:off x="4419600" y="53340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2,048 coalitions mapped what works, what fails, and for whom.</a:t>
            </a:r>
          </a:p>
        </p:txBody>
      </p:sp>
      <p:sp>
        <p:nvSpPr>
          <p:cNvPr id="35" name="">
            <a:extLst xmlns:a="http://schemas.openxmlformats.org/drawingml/2006/main">
              <a:ext uri="{FF2B5EF4-FFF2-40B4-BE49-F238E27FC236}">
                <a16:creationId xmlns:a16="http://schemas.microsoft.com/office/drawing/2014/main" id="{D3DEE637-A9E6-4FEA-B5D1-ECAF42F45ECE}"/>
              </a:ext>
            </a:extLst>
          </p:cNvPr>
          <p:cNvSpPr>
            <a:spLocks xmlns:a="http://schemas.openxmlformats.org/drawingml/2006/main" noGrp="1"/>
          </p:cNvSpPr>
          <p:nvPr/>
        </p:nvSpPr>
        <p:spPr>
          <a:xfrm xmlns:a="http://schemas.openxmlformats.org/drawingml/2006/main">
            <a:off x="8058150" y="4762500"/>
            <a:ext cx="3543300" cy="1485900"/>
          </a:xfrm>
          <a:prstGeom xmlns:a="http://schemas.openxmlformats.org/drawingml/2006/main" prst="roundRect">
            <a:avLst>
              <a:gd name="adj" fmla="val 7692"/>
            </a:avLst>
          </a:prstGeom>
          <a:solidFill xmlns:a="http://schemas.openxmlformats.org/drawingml/2006/main">
            <a:srgbClr val="E9F7F1"/>
          </a:solidFill>
          <a:ln xmlns:a="http://schemas.openxmlformats.org/drawingml/2006/main" w="9525">
            <a:solidFill>
              <a:srgbClr val="E9F7F1"/>
            </a:solidFill>
            <a:prstDash val="solid"/>
          </a:ln>
        </p:spPr>
      </p:sp>
      <p:sp>
        <p:nvSpPr>
          <p:cNvPr id="36" name="">
            <a:extLst xmlns:a="http://schemas.openxmlformats.org/drawingml/2006/main">
              <a:ext uri="{FF2B5EF4-FFF2-40B4-BE49-F238E27FC236}">
                <a16:creationId xmlns:a16="http://schemas.microsoft.com/office/drawing/2014/main" id="{A88AA334-4815-490A-B86F-C0878F78AB91}"/>
              </a:ext>
            </a:extLst>
          </p:cNvPr>
          <p:cNvSpPr>
            <a:spLocks xmlns:a="http://schemas.openxmlformats.org/drawingml/2006/main" noGrp="1"/>
          </p:cNvSpPr>
          <p:nvPr/>
        </p:nvSpPr>
        <p:spPr>
          <a:xfrm xmlns:a="http://schemas.openxmlformats.org/drawingml/2006/main">
            <a:off x="8229600" y="49149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V9</a:t>
            </a:r>
          </a:p>
        </p:txBody>
      </p:sp>
      <p:sp>
        <p:nvSpPr>
          <p:cNvPr id="37" name="">
            <a:extLst xmlns:a="http://schemas.openxmlformats.org/drawingml/2006/main">
              <a:ext uri="{FF2B5EF4-FFF2-40B4-BE49-F238E27FC236}">
                <a16:creationId xmlns:a16="http://schemas.microsoft.com/office/drawing/2014/main" id="{02CD9F9A-08E3-40AE-A6CF-033490967524}"/>
              </a:ext>
            </a:extLst>
          </p:cNvPr>
          <p:cNvSpPr>
            <a:spLocks xmlns:a="http://schemas.openxmlformats.org/drawingml/2006/main" noGrp="1"/>
          </p:cNvSpPr>
          <p:nvPr/>
        </p:nvSpPr>
        <p:spPr>
          <a:xfrm xmlns:a="http://schemas.openxmlformats.org/drawingml/2006/main">
            <a:off x="8782050" y="4914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0B0F14"/>
                </a:solidFill>
                <a:latin typeface="Helvetica Neue"/>
                <a:ea typeface="Helvetica Neue"/>
                <a:cs typeface="Helvetica Neue"/>
              </a:defRPr>
            </a:pPr>
            <a:r>
              <a:rPr sz="1575" b="1" i="0">
                <a:solidFill>
                  <a:srgbClr val="0B0F14"/>
                </a:solidFill>
                <a:latin typeface="Helvetica Neue"/>
                <a:ea typeface="Helvetica Neue"/>
                <a:cs typeface="Helvetica Neue"/>
              </a:rPr>
              <a:t>Domain Mixture</a:t>
            </a:r>
          </a:p>
        </p:txBody>
      </p:sp>
      <p:sp>
        <p:nvSpPr>
          <p:cNvPr id="38" name="">
            <a:extLst xmlns:a="http://schemas.openxmlformats.org/drawingml/2006/main">
              <a:ext uri="{FF2B5EF4-FFF2-40B4-BE49-F238E27FC236}">
                <a16:creationId xmlns:a16="http://schemas.microsoft.com/office/drawing/2014/main" id="{5226FF92-C779-4B51-859E-05FDF82CE72F}"/>
              </a:ext>
            </a:extLst>
          </p:cNvPr>
          <p:cNvSpPr>
            <a:spLocks xmlns:a="http://schemas.openxmlformats.org/drawingml/2006/main" noGrp="1"/>
          </p:cNvSpPr>
          <p:nvPr/>
        </p:nvSpPr>
        <p:spPr>
          <a:xfrm xmlns:a="http://schemas.openxmlformats.org/drawingml/2006/main">
            <a:off x="8229600" y="5334000"/>
            <a:ext cx="320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Specialists, local analogs, and applicability context reached 0.4328 MAE.</a:t>
            </a:r>
          </a:p>
        </p:txBody>
      </p:sp>
    </p:spTree>
    <p:extLst>
      <p:ext uri="{BB962C8B-B14F-4D97-AF65-F5344CB8AC3E}">
        <p14:creationId xmlns:p14="http://schemas.microsoft.com/office/powerpoint/2010/main" val="13056334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55CE763-8F88-4F75-8865-5FE1B3A065D9}"/>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Best Honest Internal Performance</a:t>
            </a:r>
          </a:p>
        </p:txBody>
      </p:sp>
      <p:cxnSp>
        <p:nvCxnSpPr>
          <p:cNvPr id="26"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133f309c26e4a23"/>
          <a:stretch xmlns:a="http://schemas.openxmlformats.org/drawingml/2006/main"/>
        </p:blipFill>
        <p:spPr>
          <a:xfrm xmlns:a="http://schemas.openxmlformats.org/drawingml/2006/main">
            <a:off x="438150" y="1716321"/>
            <a:ext cx="6705600" cy="399685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121D47-F35F-4E55-92C0-1DDF946FA52C}"/>
              </a:ext>
            </a:extLst>
          </p:cNvPr>
          <p:cNvSpPr>
            <a:spLocks xmlns:a="http://schemas.openxmlformats.org/drawingml/2006/main" noGrp="1"/>
          </p:cNvSpPr>
          <p:nvPr/>
        </p:nvSpPr>
        <p:spPr>
          <a:xfrm xmlns:a="http://schemas.openxmlformats.org/drawingml/2006/main">
            <a:off x="7467600" y="1295400"/>
            <a:ext cx="2038350" cy="1409700"/>
          </a:xfrm>
          <a:prstGeom xmlns:a="http://schemas.openxmlformats.org/drawingml/2006/main" prst="roundRect">
            <a:avLst>
              <a:gd name="adj" fmla="val 8108"/>
            </a:avLst>
          </a:prstGeom>
          <a:solidFill xmlns:a="http://schemas.openxmlformats.org/drawingml/2006/main">
            <a:srgbClr val="EAF2FF"/>
          </a:solidFill>
          <a:ln xmlns:a="http://schemas.openxmlformats.org/drawingml/2006/main" w="9525">
            <a:solidFill>
              <a:srgbClr val="EAF2FF"/>
            </a:solidFill>
            <a:prstDash val="solid"/>
          </a:ln>
        </p:spPr>
      </p:sp>
      <p:sp>
        <p:nvSpPr>
          <p:cNvPr id="5" name="">
            <a:extLst xmlns:a="http://schemas.openxmlformats.org/drawingml/2006/main">
              <a:ext uri="{FF2B5EF4-FFF2-40B4-BE49-F238E27FC236}">
                <a16:creationId xmlns:a16="http://schemas.microsoft.com/office/drawing/2014/main" id="{1EB422F1-FA34-4B7E-9590-098B25B953DD}"/>
              </a:ext>
            </a:extLst>
          </p:cNvPr>
          <p:cNvSpPr>
            <a:spLocks xmlns:a="http://schemas.openxmlformats.org/drawingml/2006/main" noGrp="1"/>
          </p:cNvSpPr>
          <p:nvPr/>
        </p:nvSpPr>
        <p:spPr>
          <a:xfrm xmlns:a="http://schemas.openxmlformats.org/drawingml/2006/main">
            <a:off x="7658100" y="146685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0.4328</a:t>
            </a:r>
          </a:p>
        </p:txBody>
      </p:sp>
      <p:sp>
        <p:nvSpPr>
          <p:cNvPr id="6" name="">
            <a:extLst xmlns:a="http://schemas.openxmlformats.org/drawingml/2006/main">
              <a:ext uri="{FF2B5EF4-FFF2-40B4-BE49-F238E27FC236}">
                <a16:creationId xmlns:a16="http://schemas.microsoft.com/office/drawing/2014/main" id="{22C42102-A0AC-4499-9E89-D9FC2140D219}"/>
              </a:ext>
            </a:extLst>
          </p:cNvPr>
          <p:cNvSpPr>
            <a:spLocks xmlns:a="http://schemas.openxmlformats.org/drawingml/2006/main" noGrp="1"/>
          </p:cNvSpPr>
          <p:nvPr/>
        </p:nvSpPr>
        <p:spPr>
          <a:xfrm xmlns:a="http://schemas.openxmlformats.org/drawingml/2006/main">
            <a:off x="7658100" y="20764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Nested Stack MAE</a:t>
            </a:r>
          </a:p>
        </p:txBody>
      </p:sp>
      <p:sp>
        <p:nvSpPr>
          <p:cNvPr id="7" name="">
            <a:extLst xmlns:a="http://schemas.openxmlformats.org/drawingml/2006/main">
              <a:ext uri="{FF2B5EF4-FFF2-40B4-BE49-F238E27FC236}">
                <a16:creationId xmlns:a16="http://schemas.microsoft.com/office/drawing/2014/main" id="{D20CC011-ACFF-455E-9E0F-A7E96CAFA362}"/>
              </a:ext>
            </a:extLst>
          </p:cNvPr>
          <p:cNvSpPr>
            <a:spLocks xmlns:a="http://schemas.openxmlformats.org/drawingml/2006/main" noGrp="1"/>
          </p:cNvSpPr>
          <p:nvPr/>
        </p:nvSpPr>
        <p:spPr>
          <a:xfrm xmlns:a="http://schemas.openxmlformats.org/drawingml/2006/main">
            <a:off x="9696450" y="1295400"/>
            <a:ext cx="2038350" cy="1409700"/>
          </a:xfrm>
          <a:prstGeom xmlns:a="http://schemas.openxmlformats.org/drawingml/2006/main" prst="roundRect">
            <a:avLst>
              <a:gd name="adj" fmla="val 8108"/>
            </a:avLst>
          </a:prstGeom>
          <a:solidFill xmlns:a="http://schemas.openxmlformats.org/drawingml/2006/main">
            <a:srgbClr val="E9F7F1"/>
          </a:solidFill>
          <a:ln xmlns:a="http://schemas.openxmlformats.org/drawingml/2006/main" w="9525">
            <a:solidFill>
              <a:srgbClr val="E9F7F1"/>
            </a:solidFill>
            <a:prstDash val="solid"/>
          </a:ln>
        </p:spPr>
      </p:sp>
      <p:sp>
        <p:nvSpPr>
          <p:cNvPr id="8" name="">
            <a:extLst xmlns:a="http://schemas.openxmlformats.org/drawingml/2006/main">
              <a:ext uri="{FF2B5EF4-FFF2-40B4-BE49-F238E27FC236}">
                <a16:creationId xmlns:a16="http://schemas.microsoft.com/office/drawing/2014/main" id="{106F9A90-C91B-4A7D-AA18-8E931B602F10}"/>
              </a:ext>
            </a:extLst>
          </p:cNvPr>
          <p:cNvSpPr>
            <a:spLocks xmlns:a="http://schemas.openxmlformats.org/drawingml/2006/main" noGrp="1"/>
          </p:cNvSpPr>
          <p:nvPr/>
        </p:nvSpPr>
        <p:spPr>
          <a:xfrm xmlns:a="http://schemas.openxmlformats.org/drawingml/2006/main">
            <a:off x="9886950" y="146685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91.8%</a:t>
            </a:r>
          </a:p>
        </p:txBody>
      </p:sp>
      <p:sp>
        <p:nvSpPr>
          <p:cNvPr id="9" name="">
            <a:extLst xmlns:a="http://schemas.openxmlformats.org/drawingml/2006/main">
              <a:ext uri="{FF2B5EF4-FFF2-40B4-BE49-F238E27FC236}">
                <a16:creationId xmlns:a16="http://schemas.microsoft.com/office/drawing/2014/main" id="{40DF5019-7B0C-4415-A3AD-B9C59A0CA0E6}"/>
              </a:ext>
            </a:extLst>
          </p:cNvPr>
          <p:cNvSpPr>
            <a:spLocks xmlns:a="http://schemas.openxmlformats.org/drawingml/2006/main" noGrp="1"/>
          </p:cNvSpPr>
          <p:nvPr/>
        </p:nvSpPr>
        <p:spPr>
          <a:xfrm xmlns:a="http://schemas.openxmlformats.org/drawingml/2006/main">
            <a:off x="9886950" y="20764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Within 1.0 Log</a:t>
            </a:r>
          </a:p>
        </p:txBody>
      </p:sp>
      <p:sp>
        <p:nvSpPr>
          <p:cNvPr id="10" name="">
            <a:extLst xmlns:a="http://schemas.openxmlformats.org/drawingml/2006/main">
              <a:ext uri="{FF2B5EF4-FFF2-40B4-BE49-F238E27FC236}">
                <a16:creationId xmlns:a16="http://schemas.microsoft.com/office/drawing/2014/main" id="{9E895D05-CE47-4288-B733-63E3AE9CF8CB}"/>
              </a:ext>
            </a:extLst>
          </p:cNvPr>
          <p:cNvSpPr>
            <a:spLocks xmlns:a="http://schemas.openxmlformats.org/drawingml/2006/main" noGrp="1"/>
          </p:cNvSpPr>
          <p:nvPr/>
        </p:nvSpPr>
        <p:spPr>
          <a:xfrm xmlns:a="http://schemas.openxmlformats.org/drawingml/2006/main">
            <a:off x="7467600" y="2914650"/>
            <a:ext cx="2038350" cy="1409700"/>
          </a:xfrm>
          <a:prstGeom xmlns:a="http://schemas.openxmlformats.org/drawingml/2006/main" prst="roundRect">
            <a:avLst>
              <a:gd name="adj" fmla="val 8108"/>
            </a:avLst>
          </a:prstGeom>
          <a:solidFill xmlns:a="http://schemas.openxmlformats.org/drawingml/2006/main">
            <a:srgbClr val="FFF2E8"/>
          </a:solidFill>
          <a:ln xmlns:a="http://schemas.openxmlformats.org/drawingml/2006/main" w="9525">
            <a:solidFill>
              <a:srgbClr val="FFF2E8"/>
            </a:solidFill>
            <a:prstDash val="solid"/>
          </a:ln>
        </p:spPr>
      </p:sp>
      <p:sp>
        <p:nvSpPr>
          <p:cNvPr id="11" name="">
            <a:extLst xmlns:a="http://schemas.openxmlformats.org/drawingml/2006/main">
              <a:ext uri="{FF2B5EF4-FFF2-40B4-BE49-F238E27FC236}">
                <a16:creationId xmlns:a16="http://schemas.microsoft.com/office/drawing/2014/main" id="{92C3C1AD-7A5E-4697-8447-4E36558AAF45}"/>
              </a:ext>
            </a:extLst>
          </p:cNvPr>
          <p:cNvSpPr>
            <a:spLocks xmlns:a="http://schemas.openxmlformats.org/drawingml/2006/main" noGrp="1"/>
          </p:cNvSpPr>
          <p:nvPr/>
        </p:nvSpPr>
        <p:spPr>
          <a:xfrm xmlns:a="http://schemas.openxmlformats.org/drawingml/2006/main">
            <a:off x="7658100" y="308610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C96A18"/>
                </a:solidFill>
                <a:latin typeface="Helvetica Neue"/>
                <a:ea typeface="Helvetica Neue"/>
                <a:cs typeface="Helvetica Neue"/>
              </a:defRPr>
            </a:pPr>
            <a:r>
              <a:rPr sz="3375" b="1" i="0">
                <a:solidFill>
                  <a:srgbClr val="C96A18"/>
                </a:solidFill>
                <a:latin typeface="Helvetica Neue"/>
                <a:ea typeface="Helvetica Neue"/>
                <a:cs typeface="Helvetica Neue"/>
              </a:rPr>
              <a:t>69.8%</a:t>
            </a:r>
          </a:p>
        </p:txBody>
      </p:sp>
      <p:sp>
        <p:nvSpPr>
          <p:cNvPr id="12" name="">
            <a:extLst xmlns:a="http://schemas.openxmlformats.org/drawingml/2006/main">
              <a:ext uri="{FF2B5EF4-FFF2-40B4-BE49-F238E27FC236}">
                <a16:creationId xmlns:a16="http://schemas.microsoft.com/office/drawing/2014/main" id="{646E5BEF-977F-41B4-A6E5-694030813C4C}"/>
              </a:ext>
            </a:extLst>
          </p:cNvPr>
          <p:cNvSpPr>
            <a:spLocks xmlns:a="http://schemas.openxmlformats.org/drawingml/2006/main" noGrp="1"/>
          </p:cNvSpPr>
          <p:nvPr/>
        </p:nvSpPr>
        <p:spPr>
          <a:xfrm xmlns:a="http://schemas.openxmlformats.org/drawingml/2006/main">
            <a:off x="7658100" y="36957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Within 0.5 Log</a:t>
            </a:r>
          </a:p>
        </p:txBody>
      </p:sp>
      <p:sp>
        <p:nvSpPr>
          <p:cNvPr id="13" name="">
            <a:extLst xmlns:a="http://schemas.openxmlformats.org/drawingml/2006/main">
              <a:ext uri="{FF2B5EF4-FFF2-40B4-BE49-F238E27FC236}">
                <a16:creationId xmlns:a16="http://schemas.microsoft.com/office/drawing/2014/main" id="{F5DA9508-9C59-420E-9EA2-0589583FE6FB}"/>
              </a:ext>
            </a:extLst>
          </p:cNvPr>
          <p:cNvSpPr>
            <a:spLocks xmlns:a="http://schemas.openxmlformats.org/drawingml/2006/main" noGrp="1"/>
          </p:cNvSpPr>
          <p:nvPr/>
        </p:nvSpPr>
        <p:spPr>
          <a:xfrm xmlns:a="http://schemas.openxmlformats.org/drawingml/2006/main">
            <a:off x="9696450" y="2914650"/>
            <a:ext cx="2038350" cy="1409700"/>
          </a:xfrm>
          <a:prstGeom xmlns:a="http://schemas.openxmlformats.org/drawingml/2006/main" prst="roundRect">
            <a:avLst>
              <a:gd name="adj" fmla="val 8108"/>
            </a:avLst>
          </a:prstGeom>
          <a:solidFill xmlns:a="http://schemas.openxmlformats.org/drawingml/2006/main">
            <a:srgbClr val="F1EDFF"/>
          </a:solidFill>
          <a:ln xmlns:a="http://schemas.openxmlformats.org/drawingml/2006/main" w="9525">
            <a:solidFill>
              <a:srgbClr val="F1EDFF"/>
            </a:solidFill>
            <a:prstDash val="solid"/>
          </a:ln>
        </p:spPr>
      </p:sp>
      <p:sp>
        <p:nvSpPr>
          <p:cNvPr id="14" name="">
            <a:extLst xmlns:a="http://schemas.openxmlformats.org/drawingml/2006/main">
              <a:ext uri="{FF2B5EF4-FFF2-40B4-BE49-F238E27FC236}">
                <a16:creationId xmlns:a16="http://schemas.microsoft.com/office/drawing/2014/main" id="{70AD3AEE-BD36-4CF6-AC1D-B9D16357D2B5}"/>
              </a:ext>
            </a:extLst>
          </p:cNvPr>
          <p:cNvSpPr>
            <a:spLocks xmlns:a="http://schemas.openxmlformats.org/drawingml/2006/main" noGrp="1"/>
          </p:cNvSpPr>
          <p:nvPr/>
        </p:nvSpPr>
        <p:spPr>
          <a:xfrm xmlns:a="http://schemas.openxmlformats.org/drawingml/2006/main">
            <a:off x="9886950" y="3086100"/>
            <a:ext cx="1657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7057C7"/>
                </a:solidFill>
                <a:latin typeface="Helvetica Neue"/>
                <a:ea typeface="Helvetica Neue"/>
                <a:cs typeface="Helvetica Neue"/>
              </a:defRPr>
            </a:pPr>
            <a:r>
              <a:rPr sz="3375" b="1" i="0">
                <a:solidFill>
                  <a:srgbClr val="7057C7"/>
                </a:solidFill>
                <a:latin typeface="Helvetica Neue"/>
                <a:ea typeface="Helvetica Neue"/>
                <a:cs typeface="Helvetica Neue"/>
              </a:rPr>
              <a:t>0.4370</a:t>
            </a:r>
          </a:p>
        </p:txBody>
      </p:sp>
      <p:sp>
        <p:nvSpPr>
          <p:cNvPr id="15" name="">
            <a:extLst xmlns:a="http://schemas.openxmlformats.org/drawingml/2006/main">
              <a:ext uri="{FF2B5EF4-FFF2-40B4-BE49-F238E27FC236}">
                <a16:creationId xmlns:a16="http://schemas.microsoft.com/office/drawing/2014/main" id="{F1363986-36E1-403A-B6EF-014A6AA31939}"/>
              </a:ext>
            </a:extLst>
          </p:cNvPr>
          <p:cNvSpPr>
            <a:spLocks xmlns:a="http://schemas.openxmlformats.org/drawingml/2006/main" noGrp="1"/>
          </p:cNvSpPr>
          <p:nvPr/>
        </p:nvSpPr>
        <p:spPr>
          <a:xfrm xmlns:a="http://schemas.openxmlformats.org/drawingml/2006/main">
            <a:off x="9886950" y="36957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Deployable XGBoost MAE</a:t>
            </a:r>
          </a:p>
        </p:txBody>
      </p:sp>
      <p:sp>
        <p:nvSpPr>
          <p:cNvPr id="16" name="">
            <a:extLst xmlns:a="http://schemas.openxmlformats.org/drawingml/2006/main">
              <a:ext uri="{FF2B5EF4-FFF2-40B4-BE49-F238E27FC236}">
                <a16:creationId xmlns:a16="http://schemas.microsoft.com/office/drawing/2014/main" id="{00B1DF43-66C2-44A1-B1EC-E8874F1D70DD}"/>
              </a:ext>
            </a:extLst>
          </p:cNvPr>
          <p:cNvSpPr>
            <a:spLocks xmlns:a="http://schemas.openxmlformats.org/drawingml/2006/main" noGrp="1"/>
          </p:cNvSpPr>
          <p:nvPr/>
        </p:nvSpPr>
        <p:spPr>
          <a:xfrm xmlns:a="http://schemas.openxmlformats.org/drawingml/2006/main">
            <a:off x="7467600" y="4610100"/>
            <a:ext cx="4267200" cy="1238250"/>
          </a:xfrm>
          <a:prstGeom xmlns:a="http://schemas.openxmlformats.org/drawingml/2006/main" prst="roundRect">
            <a:avLst>
              <a:gd name="adj" fmla="val 9231"/>
            </a:avLst>
          </a:prstGeom>
          <a:solidFill xmlns:a="http://schemas.openxmlformats.org/drawingml/2006/main">
            <a:srgbClr val="F2F4F7"/>
          </a:solidFill>
          <a:ln xmlns:a="http://schemas.openxmlformats.org/drawingml/2006/main" w="9525">
            <a:solidFill>
              <a:srgbClr val="D6DAE0"/>
            </a:solidFill>
            <a:prstDash val="solid"/>
          </a:ln>
        </p:spPr>
      </p:sp>
      <p:sp>
        <p:nvSpPr>
          <p:cNvPr id="17" name="">
            <a:extLst xmlns:a="http://schemas.openxmlformats.org/drawingml/2006/main">
              <a:ext uri="{FF2B5EF4-FFF2-40B4-BE49-F238E27FC236}">
                <a16:creationId xmlns:a16="http://schemas.microsoft.com/office/drawing/2014/main" id="{EB99D454-5B9D-4C28-884F-F8D6012B5B73}"/>
              </a:ext>
            </a:extLst>
          </p:cNvPr>
          <p:cNvSpPr>
            <a:spLocks xmlns:a="http://schemas.openxmlformats.org/drawingml/2006/main" noGrp="1"/>
          </p:cNvSpPr>
          <p:nvPr/>
        </p:nvSpPr>
        <p:spPr>
          <a:xfrm xmlns:a="http://schemas.openxmlformats.org/drawingml/2006/main">
            <a:off x="7677150" y="4800600"/>
            <a:ext cx="3848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75" b="1" i="0">
                <a:solidFill>
                  <a:srgbClr val="1E63D5"/>
                </a:solidFill>
                <a:latin typeface="Helvetica Neue"/>
                <a:ea typeface="Helvetica Neue"/>
                <a:cs typeface="Helvetica Neue"/>
              </a:defRPr>
            </a:pPr>
            <a:r>
              <a:rPr sz="2175" b="1" i="0">
                <a:solidFill>
                  <a:srgbClr val="1E63D5"/>
                </a:solidFill>
                <a:latin typeface="Helvetica Neue"/>
                <a:ea typeface="Helvetica Neue"/>
                <a:cs typeface="Helvetica Neue"/>
              </a:rPr>
              <a:t>0.0114 MAE Improvement</a:t>
            </a:r>
          </a:p>
        </p:txBody>
      </p:sp>
      <p:sp>
        <p:nvSpPr>
          <p:cNvPr id="18" name="">
            <a:extLst xmlns:a="http://schemas.openxmlformats.org/drawingml/2006/main">
              <a:ext uri="{FF2B5EF4-FFF2-40B4-BE49-F238E27FC236}">
                <a16:creationId xmlns:a16="http://schemas.microsoft.com/office/drawing/2014/main" id="{37DC6A27-7B35-466A-B3E9-789E07B587D0}"/>
              </a:ext>
            </a:extLst>
          </p:cNvPr>
          <p:cNvSpPr>
            <a:spLocks xmlns:a="http://schemas.openxmlformats.org/drawingml/2006/main" noGrp="1"/>
          </p:cNvSpPr>
          <p:nvPr/>
        </p:nvSpPr>
        <p:spPr>
          <a:xfrm xmlns:a="http://schemas.openxmlformats.org/drawingml/2006/main">
            <a:off x="7677150" y="5276850"/>
            <a:ext cx="3848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V9 versus V8; 95% scaffold CI 0.0086 to 0.0141. Every outer fold improved.</a:t>
            </a:r>
          </a:p>
        </p:txBody>
      </p:sp>
    </p:spTree>
    <p:extLst>
      <p:ext uri="{BB962C8B-B14F-4D97-AF65-F5344CB8AC3E}">
        <p14:creationId xmlns:p14="http://schemas.microsoft.com/office/powerpoint/2010/main" val="20768755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ED5001B-5C2D-4499-83AB-C4B7B50D372A}"/>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Evaluation Designed to Resist Leakage</a:t>
            </a:r>
          </a:p>
        </p:txBody>
      </p:sp>
      <p:cxnSp>
        <p:nvCxnSpPr>
          <p:cNvPr id="63"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1C5C1D84-F806-49B0-9D0B-A355EAFBA40F}"/>
              </a:ext>
            </a:extLst>
          </p:cNvPr>
          <p:cNvSpPr>
            <a:spLocks xmlns:a="http://schemas.openxmlformats.org/drawingml/2006/main" noGrp="1"/>
          </p:cNvSpPr>
          <p:nvPr/>
        </p:nvSpPr>
        <p:spPr>
          <a:xfrm xmlns:a="http://schemas.openxmlformats.org/drawingml/2006/main">
            <a:off x="438150" y="1257300"/>
            <a:ext cx="2552700" cy="1219200"/>
          </a:xfrm>
          <a:prstGeom xmlns:a="http://schemas.openxmlformats.org/drawingml/2006/main" prst="roundRect">
            <a:avLst>
              <a:gd name="adj" fmla="val 9375"/>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C53423A6-792B-49C7-A748-CEC2F23A50C9}"/>
              </a:ext>
            </a:extLst>
          </p:cNvPr>
          <p:cNvSpPr>
            <a:spLocks xmlns:a="http://schemas.openxmlformats.org/drawingml/2006/main" noGrp="1"/>
          </p:cNvSpPr>
          <p:nvPr/>
        </p:nvSpPr>
        <p:spPr>
          <a:xfrm xmlns:a="http://schemas.openxmlformats.org/drawingml/2006/main">
            <a:off x="628650" y="1428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18,801</a:t>
            </a:r>
          </a:p>
        </p:txBody>
      </p:sp>
      <p:sp>
        <p:nvSpPr>
          <p:cNvPr id="5" name="">
            <a:extLst xmlns:a="http://schemas.openxmlformats.org/drawingml/2006/main">
              <a:ext uri="{FF2B5EF4-FFF2-40B4-BE49-F238E27FC236}">
                <a16:creationId xmlns:a16="http://schemas.microsoft.com/office/drawing/2014/main" id="{81935755-05C5-4649-8831-5AF2F769D529}"/>
              </a:ext>
            </a:extLst>
          </p:cNvPr>
          <p:cNvSpPr>
            <a:spLocks xmlns:a="http://schemas.openxmlformats.org/drawingml/2006/main" noGrp="1"/>
          </p:cNvSpPr>
          <p:nvPr/>
        </p:nvSpPr>
        <p:spPr>
          <a:xfrm xmlns:a="http://schemas.openxmlformats.org/drawingml/2006/main">
            <a:off x="628650" y="2038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57"/>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Exact Training Structures</a:t>
            </a:r>
          </a:p>
        </p:txBody>
      </p:sp>
      <p:sp>
        <p:nvSpPr>
          <p:cNvPr id="6" name="">
            <a:extLst xmlns:a="http://schemas.openxmlformats.org/drawingml/2006/main">
              <a:ext uri="{FF2B5EF4-FFF2-40B4-BE49-F238E27FC236}">
                <a16:creationId xmlns:a16="http://schemas.microsoft.com/office/drawing/2014/main" id="{278E49B5-5FDB-4C25-9E4E-40D0BED0DEB6}"/>
              </a:ext>
            </a:extLst>
          </p:cNvPr>
          <p:cNvSpPr>
            <a:spLocks xmlns:a="http://schemas.openxmlformats.org/drawingml/2006/main" noGrp="1"/>
          </p:cNvSpPr>
          <p:nvPr/>
        </p:nvSpPr>
        <p:spPr>
          <a:xfrm xmlns:a="http://schemas.openxmlformats.org/drawingml/2006/main">
            <a:off x="3162300" y="1257300"/>
            <a:ext cx="2552700" cy="1219200"/>
          </a:xfrm>
          <a:prstGeom xmlns:a="http://schemas.openxmlformats.org/drawingml/2006/main" prst="roundRect">
            <a:avLst>
              <a:gd name="adj" fmla="val 9375"/>
            </a:avLst>
          </a:prstGeom>
          <a:solidFill xmlns:a="http://schemas.openxmlformats.org/drawingml/2006/main">
            <a:srgbClr val="E9F7F1"/>
          </a:solidFill>
          <a:ln xmlns:a="http://schemas.openxmlformats.org/drawingml/2006/main" w="9525">
            <a:solidFill>
              <a:srgbClr val="E9F7F1"/>
            </a:solidFill>
            <a:prstDash val="solid"/>
          </a:ln>
        </p:spPr>
      </p:sp>
      <p:sp>
        <p:nvSpPr>
          <p:cNvPr id="7" name="">
            <a:extLst xmlns:a="http://schemas.openxmlformats.org/drawingml/2006/main">
              <a:ext uri="{FF2B5EF4-FFF2-40B4-BE49-F238E27FC236}">
                <a16:creationId xmlns:a16="http://schemas.microsoft.com/office/drawing/2014/main" id="{DF667E57-AA6A-4BD7-93AA-62CAD80F724C}"/>
              </a:ext>
            </a:extLst>
          </p:cNvPr>
          <p:cNvSpPr>
            <a:spLocks xmlns:a="http://schemas.openxmlformats.org/drawingml/2006/main" noGrp="1"/>
          </p:cNvSpPr>
          <p:nvPr/>
        </p:nvSpPr>
        <p:spPr>
          <a:xfrm xmlns:a="http://schemas.openxmlformats.org/drawingml/2006/main">
            <a:off x="3352800" y="1428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8,455</a:t>
            </a:r>
          </a:p>
        </p:txBody>
      </p:sp>
      <p:sp>
        <p:nvSpPr>
          <p:cNvPr id="8" name="">
            <a:extLst xmlns:a="http://schemas.openxmlformats.org/drawingml/2006/main">
              <a:ext uri="{FF2B5EF4-FFF2-40B4-BE49-F238E27FC236}">
                <a16:creationId xmlns:a16="http://schemas.microsoft.com/office/drawing/2014/main" id="{D31EE7E7-AD72-4A8B-854F-BECF79AD98C4}"/>
              </a:ext>
            </a:extLst>
          </p:cNvPr>
          <p:cNvSpPr>
            <a:spLocks xmlns:a="http://schemas.openxmlformats.org/drawingml/2006/main" noGrp="1"/>
          </p:cNvSpPr>
          <p:nvPr/>
        </p:nvSpPr>
        <p:spPr>
          <a:xfrm xmlns:a="http://schemas.openxmlformats.org/drawingml/2006/main">
            <a:off x="3352800" y="2038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Scaffold Groups</a:t>
            </a:r>
          </a:p>
        </p:txBody>
      </p:sp>
      <p:sp>
        <p:nvSpPr>
          <p:cNvPr id="9" name="">
            <a:extLst xmlns:a="http://schemas.openxmlformats.org/drawingml/2006/main">
              <a:ext uri="{FF2B5EF4-FFF2-40B4-BE49-F238E27FC236}">
                <a16:creationId xmlns:a16="http://schemas.microsoft.com/office/drawing/2014/main" id="{FFA64E7C-E190-476B-B728-2F3F1A8C0EC1}"/>
              </a:ext>
            </a:extLst>
          </p:cNvPr>
          <p:cNvSpPr>
            <a:spLocks xmlns:a="http://schemas.openxmlformats.org/drawingml/2006/main" noGrp="1"/>
          </p:cNvSpPr>
          <p:nvPr/>
        </p:nvSpPr>
        <p:spPr>
          <a:xfrm xmlns:a="http://schemas.openxmlformats.org/drawingml/2006/main">
            <a:off x="5886450" y="1257300"/>
            <a:ext cx="2552700" cy="1219200"/>
          </a:xfrm>
          <a:prstGeom xmlns:a="http://schemas.openxmlformats.org/drawingml/2006/main" prst="roundRect">
            <a:avLst>
              <a:gd name="adj" fmla="val 9375"/>
            </a:avLst>
          </a:prstGeom>
          <a:solidFill xmlns:a="http://schemas.openxmlformats.org/drawingml/2006/main">
            <a:srgbClr val="FFF2E8"/>
          </a:solidFill>
          <a:ln xmlns:a="http://schemas.openxmlformats.org/drawingml/2006/main" w="9525">
            <a:solidFill>
              <a:srgbClr val="FFF2E8"/>
            </a:solidFill>
            <a:prstDash val="solid"/>
          </a:ln>
        </p:spPr>
      </p:sp>
      <p:sp>
        <p:nvSpPr>
          <p:cNvPr id="10" name="">
            <a:extLst xmlns:a="http://schemas.openxmlformats.org/drawingml/2006/main">
              <a:ext uri="{FF2B5EF4-FFF2-40B4-BE49-F238E27FC236}">
                <a16:creationId xmlns:a16="http://schemas.microsoft.com/office/drawing/2014/main" id="{40E50C11-D7E2-4467-84D6-228722AB6C04}"/>
              </a:ext>
            </a:extLst>
          </p:cNvPr>
          <p:cNvSpPr>
            <a:spLocks xmlns:a="http://schemas.openxmlformats.org/drawingml/2006/main" noGrp="1"/>
          </p:cNvSpPr>
          <p:nvPr/>
        </p:nvSpPr>
        <p:spPr>
          <a:xfrm xmlns:a="http://schemas.openxmlformats.org/drawingml/2006/main">
            <a:off x="6076950" y="1428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C96A18"/>
                </a:solidFill>
                <a:latin typeface="Helvetica Neue"/>
                <a:ea typeface="Helvetica Neue"/>
                <a:cs typeface="Helvetica Neue"/>
              </a:defRPr>
            </a:pPr>
            <a:r>
              <a:rPr sz="3375" b="1" i="0">
                <a:solidFill>
                  <a:srgbClr val="C96A18"/>
                </a:solidFill>
                <a:latin typeface="Helvetica Neue"/>
                <a:ea typeface="Helvetica Neue"/>
                <a:cs typeface="Helvetica Neue"/>
              </a:rPr>
              <a:t>5</a:t>
            </a:r>
          </a:p>
        </p:txBody>
      </p:sp>
      <p:sp>
        <p:nvSpPr>
          <p:cNvPr id="11" name="">
            <a:extLst xmlns:a="http://schemas.openxmlformats.org/drawingml/2006/main">
              <a:ext uri="{FF2B5EF4-FFF2-40B4-BE49-F238E27FC236}">
                <a16:creationId xmlns:a16="http://schemas.microsoft.com/office/drawing/2014/main" id="{0617DBDE-1866-49A7-A145-C3A862E51BDE}"/>
              </a:ext>
            </a:extLst>
          </p:cNvPr>
          <p:cNvSpPr>
            <a:spLocks xmlns:a="http://schemas.openxmlformats.org/drawingml/2006/main" noGrp="1"/>
          </p:cNvSpPr>
          <p:nvPr/>
        </p:nvSpPr>
        <p:spPr>
          <a:xfrm xmlns:a="http://schemas.openxmlformats.org/drawingml/2006/main">
            <a:off x="6076950" y="2038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Nested Outer Folds</a:t>
            </a:r>
          </a:p>
        </p:txBody>
      </p:sp>
      <p:sp>
        <p:nvSpPr>
          <p:cNvPr id="12" name="">
            <a:extLst xmlns:a="http://schemas.openxmlformats.org/drawingml/2006/main">
              <a:ext uri="{FF2B5EF4-FFF2-40B4-BE49-F238E27FC236}">
                <a16:creationId xmlns:a16="http://schemas.microsoft.com/office/drawing/2014/main" id="{AC1BE16E-476B-4B11-889E-6DE5508320E2}"/>
              </a:ext>
            </a:extLst>
          </p:cNvPr>
          <p:cNvSpPr>
            <a:spLocks xmlns:a="http://schemas.openxmlformats.org/drawingml/2006/main" noGrp="1"/>
          </p:cNvSpPr>
          <p:nvPr/>
        </p:nvSpPr>
        <p:spPr>
          <a:xfrm xmlns:a="http://schemas.openxmlformats.org/drawingml/2006/main">
            <a:off x="8610600" y="1257300"/>
            <a:ext cx="3124200" cy="1219200"/>
          </a:xfrm>
          <a:prstGeom xmlns:a="http://schemas.openxmlformats.org/drawingml/2006/main" prst="roundRect">
            <a:avLst>
              <a:gd name="adj" fmla="val 9375"/>
            </a:avLst>
          </a:prstGeom>
          <a:solidFill xmlns:a="http://schemas.openxmlformats.org/drawingml/2006/main">
            <a:srgbClr val="F1EDFF"/>
          </a:solidFill>
          <a:ln xmlns:a="http://schemas.openxmlformats.org/drawingml/2006/main" w="9525">
            <a:solidFill>
              <a:srgbClr val="F1EDFF"/>
            </a:solidFill>
            <a:prstDash val="solid"/>
          </a:ln>
        </p:spPr>
      </p:sp>
      <p:sp>
        <p:nvSpPr>
          <p:cNvPr id="13" name="">
            <a:extLst xmlns:a="http://schemas.openxmlformats.org/drawingml/2006/main">
              <a:ext uri="{FF2B5EF4-FFF2-40B4-BE49-F238E27FC236}">
                <a16:creationId xmlns:a16="http://schemas.microsoft.com/office/drawing/2014/main" id="{4201E263-EEC0-4649-A3E7-5B8719B3DDDC}"/>
              </a:ext>
            </a:extLst>
          </p:cNvPr>
          <p:cNvSpPr>
            <a:spLocks xmlns:a="http://schemas.openxmlformats.org/drawingml/2006/main" noGrp="1"/>
          </p:cNvSpPr>
          <p:nvPr/>
        </p:nvSpPr>
        <p:spPr>
          <a:xfrm xmlns:a="http://schemas.openxmlformats.org/drawingml/2006/main">
            <a:off x="8801100" y="1428750"/>
            <a:ext cx="2743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7057C7"/>
                </a:solidFill>
                <a:latin typeface="Helvetica Neue"/>
                <a:ea typeface="Helvetica Neue"/>
                <a:cs typeface="Helvetica Neue"/>
              </a:defRPr>
            </a:pPr>
            <a:r>
              <a:rPr sz="3375" b="1" i="0">
                <a:solidFill>
                  <a:srgbClr val="7057C7"/>
                </a:solidFill>
                <a:latin typeface="Helvetica Neue"/>
                <a:ea typeface="Helvetica Neue"/>
                <a:cs typeface="Helvetica Neue"/>
              </a:rPr>
              <a:t>0</a:t>
            </a:r>
          </a:p>
        </p:txBody>
      </p:sp>
      <p:sp>
        <p:nvSpPr>
          <p:cNvPr id="14" name="">
            <a:extLst xmlns:a="http://schemas.openxmlformats.org/drawingml/2006/main">
              <a:ext uri="{FF2B5EF4-FFF2-40B4-BE49-F238E27FC236}">
                <a16:creationId xmlns:a16="http://schemas.microsoft.com/office/drawing/2014/main" id="{EA25F7FF-0E8F-4C29-BAED-CC57644DDDC2}"/>
              </a:ext>
            </a:extLst>
          </p:cNvPr>
          <p:cNvSpPr>
            <a:spLocks xmlns:a="http://schemas.openxmlformats.org/drawingml/2006/main" noGrp="1"/>
          </p:cNvSpPr>
          <p:nvPr/>
        </p:nvSpPr>
        <p:spPr>
          <a:xfrm xmlns:a="http://schemas.openxmlformats.org/drawingml/2006/main">
            <a:off x="8801100" y="2038350"/>
            <a:ext cx="274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7"/>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Validation Or Test Labels Opened</a:t>
            </a:r>
          </a:p>
        </p:txBody>
      </p:sp>
      <p:cxnSp>
        <p:nvCxnSpPr>
          <p:cNvPr id="76" name=""/>
          <p:cNvCxnSpPr/>
          <p:nvPr/>
        </p:nvCxnSpPr>
        <p:spPr>
          <a:xfrm xmlns:a="http://schemas.openxmlformats.org/drawingml/2006/main">
            <a:off x="876300" y="3638550"/>
            <a:ext cx="10363200" cy="0"/>
          </a:xfrm>
          <a:prstGeom xmlns:a="http://schemas.openxmlformats.org/drawingml/2006/main" prst="straightConnector1">
            <a:avLst/>
          </a:prstGeom>
          <a:ln xmlns:a="http://schemas.openxmlformats.org/drawingml/2006/main" w="38100">
            <a:solidFill>
              <a:srgbClr val="D6DAE0"/>
            </a:solidFill>
            <a:prstDash val="solid"/>
          </a:ln>
        </p:spPr>
      </p:cxnSp>
      <p:sp>
        <p:nvSpPr>
          <p:cNvPr id="16" name="">
            <a:extLst xmlns:a="http://schemas.openxmlformats.org/drawingml/2006/main">
              <a:ext uri="{FF2B5EF4-FFF2-40B4-BE49-F238E27FC236}">
                <a16:creationId xmlns:a16="http://schemas.microsoft.com/office/drawing/2014/main" id="{5051834E-A3D2-42C8-93A3-07D735B6BB1E}"/>
              </a:ext>
            </a:extLst>
          </p:cNvPr>
          <p:cNvSpPr>
            <a:spLocks xmlns:a="http://schemas.openxmlformats.org/drawingml/2006/main" noGrp="1"/>
          </p:cNvSpPr>
          <p:nvPr/>
        </p:nvSpPr>
        <p:spPr>
          <a:xfrm xmlns:a="http://schemas.openxmlformats.org/drawingml/2006/main">
            <a:off x="514350" y="3314700"/>
            <a:ext cx="647700" cy="6477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17" name="">
            <a:extLst xmlns:a="http://schemas.openxmlformats.org/drawingml/2006/main">
              <a:ext uri="{FF2B5EF4-FFF2-40B4-BE49-F238E27FC236}">
                <a16:creationId xmlns:a16="http://schemas.microsoft.com/office/drawing/2014/main" id="{B9A0575B-8A74-4747-B5C5-2954A39C1FE4}"/>
              </a:ext>
            </a:extLst>
          </p:cNvPr>
          <p:cNvSpPr>
            <a:spLocks xmlns:a="http://schemas.openxmlformats.org/drawingml/2006/main" noGrp="1"/>
          </p:cNvSpPr>
          <p:nvPr/>
        </p:nvSpPr>
        <p:spPr>
          <a:xfrm xmlns:a="http://schemas.openxmlformats.org/drawingml/2006/main">
            <a:off x="5143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AF5BA71D-BA8B-4496-8FA7-D769A8F9B022}"/>
              </a:ext>
            </a:extLst>
          </p:cNvPr>
          <p:cNvSpPr>
            <a:spLocks xmlns:a="http://schemas.openxmlformats.org/drawingml/2006/main" noGrp="1"/>
          </p:cNvSpPr>
          <p:nvPr/>
        </p:nvSpPr>
        <p:spPr>
          <a:xfrm xmlns:a="http://schemas.openxmlformats.org/drawingml/2006/main">
            <a:off x="5143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Structure Collapse</a:t>
            </a:r>
          </a:p>
        </p:txBody>
      </p:sp>
      <p:sp>
        <p:nvSpPr>
          <p:cNvPr id="19" name="">
            <a:extLst xmlns:a="http://schemas.openxmlformats.org/drawingml/2006/main">
              <a:ext uri="{FF2B5EF4-FFF2-40B4-BE49-F238E27FC236}">
                <a16:creationId xmlns:a16="http://schemas.microsoft.com/office/drawing/2014/main" id="{444AA35E-D411-465D-A9F0-AAA5C4CAEBA2}"/>
              </a:ext>
            </a:extLst>
          </p:cNvPr>
          <p:cNvSpPr>
            <a:spLocks xmlns:a="http://schemas.openxmlformats.org/drawingml/2006/main" noGrp="1"/>
          </p:cNvSpPr>
          <p:nvPr/>
        </p:nvSpPr>
        <p:spPr>
          <a:xfrm xmlns:a="http://schemas.openxmlformats.org/drawingml/2006/main">
            <a:off x="5143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Replicate observations become one structure-level target.</a:t>
            </a:r>
          </a:p>
        </p:txBody>
      </p:sp>
      <p:sp>
        <p:nvSpPr>
          <p:cNvPr id="20" name="">
            <a:extLst xmlns:a="http://schemas.openxmlformats.org/drawingml/2006/main">
              <a:ext uri="{FF2B5EF4-FFF2-40B4-BE49-F238E27FC236}">
                <a16:creationId xmlns:a16="http://schemas.microsoft.com/office/drawing/2014/main" id="{EF0ABEC2-EC6B-455A-8A84-8BBE141A0F1C}"/>
              </a:ext>
            </a:extLst>
          </p:cNvPr>
          <p:cNvSpPr>
            <a:spLocks xmlns:a="http://schemas.openxmlformats.org/drawingml/2006/main" noGrp="1"/>
          </p:cNvSpPr>
          <p:nvPr/>
        </p:nvSpPr>
        <p:spPr>
          <a:xfrm xmlns:a="http://schemas.openxmlformats.org/drawingml/2006/main">
            <a:off x="3371850" y="3314700"/>
            <a:ext cx="647700" cy="6477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21" name="">
            <a:extLst xmlns:a="http://schemas.openxmlformats.org/drawingml/2006/main">
              <a:ext uri="{FF2B5EF4-FFF2-40B4-BE49-F238E27FC236}">
                <a16:creationId xmlns:a16="http://schemas.microsoft.com/office/drawing/2014/main" id="{3599713D-968D-4056-97CC-908976B223C8}"/>
              </a:ext>
            </a:extLst>
          </p:cNvPr>
          <p:cNvSpPr>
            <a:spLocks xmlns:a="http://schemas.openxmlformats.org/drawingml/2006/main" noGrp="1"/>
          </p:cNvSpPr>
          <p:nvPr/>
        </p:nvSpPr>
        <p:spPr>
          <a:xfrm xmlns:a="http://schemas.openxmlformats.org/drawingml/2006/main">
            <a:off x="33718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77A1FA67-F7B4-4B71-9377-BD08C132D14C}"/>
              </a:ext>
            </a:extLst>
          </p:cNvPr>
          <p:cNvSpPr>
            <a:spLocks xmlns:a="http://schemas.openxmlformats.org/drawingml/2006/main" noGrp="1"/>
          </p:cNvSpPr>
          <p:nvPr/>
        </p:nvSpPr>
        <p:spPr>
          <a:xfrm xmlns:a="http://schemas.openxmlformats.org/drawingml/2006/main">
            <a:off x="33718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Scaffold Separation</a:t>
            </a:r>
          </a:p>
        </p:txBody>
      </p:sp>
      <p:sp>
        <p:nvSpPr>
          <p:cNvPr id="23" name="">
            <a:extLst xmlns:a="http://schemas.openxmlformats.org/drawingml/2006/main">
              <a:ext uri="{FF2B5EF4-FFF2-40B4-BE49-F238E27FC236}">
                <a16:creationId xmlns:a16="http://schemas.microsoft.com/office/drawing/2014/main" id="{23D815AC-69AE-4626-A4F4-3B2B72EB4298}"/>
              </a:ext>
            </a:extLst>
          </p:cNvPr>
          <p:cNvSpPr>
            <a:spLocks xmlns:a="http://schemas.openxmlformats.org/drawingml/2006/main" noGrp="1"/>
          </p:cNvSpPr>
          <p:nvPr/>
        </p:nvSpPr>
        <p:spPr>
          <a:xfrm xmlns:a="http://schemas.openxmlformats.org/drawingml/2006/main">
            <a:off x="33718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Related chemotypes stay together in a single held-out fold.</a:t>
            </a:r>
          </a:p>
        </p:txBody>
      </p:sp>
      <p:sp>
        <p:nvSpPr>
          <p:cNvPr id="24" name="">
            <a:extLst xmlns:a="http://schemas.openxmlformats.org/drawingml/2006/main">
              <a:ext uri="{FF2B5EF4-FFF2-40B4-BE49-F238E27FC236}">
                <a16:creationId xmlns:a16="http://schemas.microsoft.com/office/drawing/2014/main" id="{B19E18E6-B232-4CA6-B223-4724F85218F9}"/>
              </a:ext>
            </a:extLst>
          </p:cNvPr>
          <p:cNvSpPr>
            <a:spLocks xmlns:a="http://schemas.openxmlformats.org/drawingml/2006/main" noGrp="1"/>
          </p:cNvSpPr>
          <p:nvPr/>
        </p:nvSpPr>
        <p:spPr>
          <a:xfrm xmlns:a="http://schemas.openxmlformats.org/drawingml/2006/main">
            <a:off x="6229350" y="3314700"/>
            <a:ext cx="647700" cy="6477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25" name="">
            <a:extLst xmlns:a="http://schemas.openxmlformats.org/drawingml/2006/main">
              <a:ext uri="{FF2B5EF4-FFF2-40B4-BE49-F238E27FC236}">
                <a16:creationId xmlns:a16="http://schemas.microsoft.com/office/drawing/2014/main" id="{0C8E2A5C-BB8C-4C06-B7D3-AD008D2C61BA}"/>
              </a:ext>
            </a:extLst>
          </p:cNvPr>
          <p:cNvSpPr>
            <a:spLocks xmlns:a="http://schemas.openxmlformats.org/drawingml/2006/main" noGrp="1"/>
          </p:cNvSpPr>
          <p:nvPr/>
        </p:nvSpPr>
        <p:spPr>
          <a:xfrm xmlns:a="http://schemas.openxmlformats.org/drawingml/2006/main">
            <a:off x="62293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C19493CD-D950-4E28-A662-850DD00EB02F}"/>
              </a:ext>
            </a:extLst>
          </p:cNvPr>
          <p:cNvSpPr>
            <a:spLocks xmlns:a="http://schemas.openxmlformats.org/drawingml/2006/main" noGrp="1"/>
          </p:cNvSpPr>
          <p:nvPr/>
        </p:nvSpPr>
        <p:spPr>
          <a:xfrm xmlns:a="http://schemas.openxmlformats.org/drawingml/2006/main">
            <a:off x="62293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Inner Selection</a:t>
            </a:r>
          </a:p>
        </p:txBody>
      </p:sp>
      <p:sp>
        <p:nvSpPr>
          <p:cNvPr id="27" name="">
            <a:extLst xmlns:a="http://schemas.openxmlformats.org/drawingml/2006/main">
              <a:ext uri="{FF2B5EF4-FFF2-40B4-BE49-F238E27FC236}">
                <a16:creationId xmlns:a16="http://schemas.microsoft.com/office/drawing/2014/main" id="{64A0F0A4-5C0C-47FE-BFA4-9828404980D5}"/>
              </a:ext>
            </a:extLst>
          </p:cNvPr>
          <p:cNvSpPr>
            <a:spLocks xmlns:a="http://schemas.openxmlformats.org/drawingml/2006/main" noGrp="1"/>
          </p:cNvSpPr>
          <p:nvPr/>
        </p:nvSpPr>
        <p:spPr>
          <a:xfrm xmlns:a="http://schemas.openxmlformats.org/drawingml/2006/main">
            <a:off x="62293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Features, parameters, and mixtures are chosen without outer labels.</a:t>
            </a:r>
          </a:p>
        </p:txBody>
      </p:sp>
      <p:sp>
        <p:nvSpPr>
          <p:cNvPr id="28" name="">
            <a:extLst xmlns:a="http://schemas.openxmlformats.org/drawingml/2006/main">
              <a:ext uri="{FF2B5EF4-FFF2-40B4-BE49-F238E27FC236}">
                <a16:creationId xmlns:a16="http://schemas.microsoft.com/office/drawing/2014/main" id="{A0C421D4-856B-4B3B-8305-356B2C7A1BC2}"/>
              </a:ext>
            </a:extLst>
          </p:cNvPr>
          <p:cNvSpPr>
            <a:spLocks xmlns:a="http://schemas.openxmlformats.org/drawingml/2006/main" noGrp="1"/>
          </p:cNvSpPr>
          <p:nvPr/>
        </p:nvSpPr>
        <p:spPr>
          <a:xfrm xmlns:a="http://schemas.openxmlformats.org/drawingml/2006/main">
            <a:off x="9086850" y="3314700"/>
            <a:ext cx="647700" cy="647700"/>
          </a:xfrm>
          <a:prstGeom xmlns:a="http://schemas.openxmlformats.org/drawingml/2006/main" prst="ellipse">
            <a:avLst/>
          </a:prstGeom>
          <a:solidFill xmlns:a="http://schemas.openxmlformats.org/drawingml/2006/main">
            <a:srgbClr val="1E63D5"/>
          </a:solidFill>
          <a:ln xmlns:a="http://schemas.openxmlformats.org/drawingml/2006/main" w="9525">
            <a:solidFill>
              <a:srgbClr val="1E63D5"/>
            </a:solidFill>
            <a:prstDash val="solid"/>
          </a:ln>
        </p:spPr>
      </p:sp>
      <p:sp>
        <p:nvSpPr>
          <p:cNvPr id="29" name="">
            <a:extLst xmlns:a="http://schemas.openxmlformats.org/drawingml/2006/main">
              <a:ext uri="{FF2B5EF4-FFF2-40B4-BE49-F238E27FC236}">
                <a16:creationId xmlns:a16="http://schemas.microsoft.com/office/drawing/2014/main" id="{5036045D-F4DD-4316-8DDB-697F80BBB3AE}"/>
              </a:ext>
            </a:extLst>
          </p:cNvPr>
          <p:cNvSpPr>
            <a:spLocks xmlns:a="http://schemas.openxmlformats.org/drawingml/2006/main" noGrp="1"/>
          </p:cNvSpPr>
          <p:nvPr/>
        </p:nvSpPr>
        <p:spPr>
          <a:xfrm xmlns:a="http://schemas.openxmlformats.org/drawingml/2006/main">
            <a:off x="9086850" y="3476625"/>
            <a:ext cx="647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4</a:t>
            </a:r>
          </a:p>
        </p:txBody>
      </p:sp>
      <p:sp>
        <p:nvSpPr>
          <p:cNvPr id="30" name="">
            <a:extLst xmlns:a="http://schemas.openxmlformats.org/drawingml/2006/main">
              <a:ext uri="{FF2B5EF4-FFF2-40B4-BE49-F238E27FC236}">
                <a16:creationId xmlns:a16="http://schemas.microsoft.com/office/drawing/2014/main" id="{3FC76120-66E5-4F64-9870-CB90A6086ED7}"/>
              </a:ext>
            </a:extLst>
          </p:cNvPr>
          <p:cNvSpPr>
            <a:spLocks xmlns:a="http://schemas.openxmlformats.org/drawingml/2006/main" noGrp="1"/>
          </p:cNvSpPr>
          <p:nvPr/>
        </p:nvSpPr>
        <p:spPr>
          <a:xfrm xmlns:a="http://schemas.openxmlformats.org/drawingml/2006/main">
            <a:off x="9086850" y="4229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Single Outer Prediction</a:t>
            </a:r>
          </a:p>
        </p:txBody>
      </p:sp>
      <p:sp>
        <p:nvSpPr>
          <p:cNvPr id="31" name="">
            <a:extLst xmlns:a="http://schemas.openxmlformats.org/drawingml/2006/main">
              <a:ext uri="{FF2B5EF4-FFF2-40B4-BE49-F238E27FC236}">
                <a16:creationId xmlns:a16="http://schemas.microsoft.com/office/drawing/2014/main" id="{63A49E46-F500-4773-BF5D-773524F412DC}"/>
              </a:ext>
            </a:extLst>
          </p:cNvPr>
          <p:cNvSpPr>
            <a:spLocks xmlns:a="http://schemas.openxmlformats.org/drawingml/2006/main" noGrp="1"/>
          </p:cNvSpPr>
          <p:nvPr/>
        </p:nvSpPr>
        <p:spPr>
          <a:xfrm xmlns:a="http://schemas.openxmlformats.org/drawingml/2006/main">
            <a:off x="9086850" y="4667250"/>
            <a:ext cx="2457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Every structure is evaluated once in its untouched scaffold context.</a:t>
            </a:r>
          </a:p>
        </p:txBody>
      </p:sp>
    </p:spTree>
    <p:extLst>
      <p:ext uri="{BB962C8B-B14F-4D97-AF65-F5344CB8AC3E}">
        <p14:creationId xmlns:p14="http://schemas.microsoft.com/office/powerpoint/2010/main" val="1742177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54E0ECA2-CD76-4E9F-8C90-2F1C7A5B375B}"/>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Feature Families Ranked by Unique Held-Out Impact</a:t>
            </a:r>
          </a:p>
        </p:txBody>
      </p:sp>
      <p:cxnSp>
        <p:nvCxnSpPr>
          <p:cNvPr id="78"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09FFE2DE-9DB6-4D4A-A08D-A91F3D57C823}"/>
              </a:ext>
            </a:extLst>
          </p:cNvPr>
          <p:cNvSpPr>
            <a:spLocks xmlns:a="http://schemas.openxmlformats.org/drawingml/2006/main" noGrp="1"/>
          </p:cNvSpPr>
          <p:nvPr/>
        </p:nvSpPr>
        <p:spPr>
          <a:xfrm xmlns:a="http://schemas.openxmlformats.org/drawingml/2006/main">
            <a:off x="438150" y="1276350"/>
            <a:ext cx="20002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4" name="">
            <a:extLst xmlns:a="http://schemas.openxmlformats.org/drawingml/2006/main">
              <a:ext uri="{FF2B5EF4-FFF2-40B4-BE49-F238E27FC236}">
                <a16:creationId xmlns:a16="http://schemas.microsoft.com/office/drawing/2014/main" id="{F5537D5A-FD98-4515-8A58-DC0C79489699}"/>
              </a:ext>
            </a:extLst>
          </p:cNvPr>
          <p:cNvSpPr>
            <a:spLocks xmlns:a="http://schemas.openxmlformats.org/drawingml/2006/main" noGrp="1"/>
          </p:cNvSpPr>
          <p:nvPr/>
        </p:nvSpPr>
        <p:spPr>
          <a:xfrm xmlns:a="http://schemas.openxmlformats.org/drawingml/2006/main">
            <a:off x="533400" y="13525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Feature Test</a:t>
            </a:r>
          </a:p>
        </p:txBody>
      </p:sp>
      <p:sp>
        <p:nvSpPr>
          <p:cNvPr id="5" name="">
            <a:extLst xmlns:a="http://schemas.openxmlformats.org/drawingml/2006/main">
              <a:ext uri="{FF2B5EF4-FFF2-40B4-BE49-F238E27FC236}">
                <a16:creationId xmlns:a16="http://schemas.microsoft.com/office/drawing/2014/main" id="{8C89F1E6-37E5-48D8-840C-5CEF7D56ACA8}"/>
              </a:ext>
            </a:extLst>
          </p:cNvPr>
          <p:cNvSpPr>
            <a:spLocks xmlns:a="http://schemas.openxmlformats.org/drawingml/2006/main" noGrp="1"/>
          </p:cNvSpPr>
          <p:nvPr/>
        </p:nvSpPr>
        <p:spPr>
          <a:xfrm xmlns:a="http://schemas.openxmlformats.org/drawingml/2006/main">
            <a:off x="2438400" y="1276350"/>
            <a:ext cx="21145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6" name="">
            <a:extLst xmlns:a="http://schemas.openxmlformats.org/drawingml/2006/main">
              <a:ext uri="{FF2B5EF4-FFF2-40B4-BE49-F238E27FC236}">
                <a16:creationId xmlns:a16="http://schemas.microsoft.com/office/drawing/2014/main" id="{A9582C5D-8A7F-4659-B5C8-34C6AEB6B89D}"/>
              </a:ext>
            </a:extLst>
          </p:cNvPr>
          <p:cNvSpPr>
            <a:spLocks xmlns:a="http://schemas.openxmlformats.org/drawingml/2006/main" noGrp="1"/>
          </p:cNvSpPr>
          <p:nvPr/>
        </p:nvSpPr>
        <p:spPr>
          <a:xfrm xmlns:a="http://schemas.openxmlformats.org/drawingml/2006/main">
            <a:off x="2533650" y="13525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MAE Change</a:t>
            </a:r>
          </a:p>
        </p:txBody>
      </p:sp>
      <p:sp>
        <p:nvSpPr>
          <p:cNvPr id="7" name="">
            <a:extLst xmlns:a="http://schemas.openxmlformats.org/drawingml/2006/main">
              <a:ext uri="{FF2B5EF4-FFF2-40B4-BE49-F238E27FC236}">
                <a16:creationId xmlns:a16="http://schemas.microsoft.com/office/drawing/2014/main" id="{F089908C-B9F1-4639-A0FA-092B39515F33}"/>
              </a:ext>
            </a:extLst>
          </p:cNvPr>
          <p:cNvSpPr>
            <a:spLocks xmlns:a="http://schemas.openxmlformats.org/drawingml/2006/main" noGrp="1"/>
          </p:cNvSpPr>
          <p:nvPr/>
        </p:nvSpPr>
        <p:spPr>
          <a:xfrm xmlns:a="http://schemas.openxmlformats.org/drawingml/2006/main">
            <a:off x="4552950" y="1276350"/>
            <a:ext cx="17716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8" name="">
            <a:extLst xmlns:a="http://schemas.openxmlformats.org/drawingml/2006/main">
              <a:ext uri="{FF2B5EF4-FFF2-40B4-BE49-F238E27FC236}">
                <a16:creationId xmlns:a16="http://schemas.microsoft.com/office/drawing/2014/main" id="{BC700BFF-F217-4655-80C1-A79E7D22050D}"/>
              </a:ext>
            </a:extLst>
          </p:cNvPr>
          <p:cNvSpPr>
            <a:spLocks xmlns:a="http://schemas.openxmlformats.org/drawingml/2006/main" noGrp="1"/>
          </p:cNvSpPr>
          <p:nvPr/>
        </p:nvSpPr>
        <p:spPr>
          <a:xfrm xmlns:a="http://schemas.openxmlformats.org/drawingml/2006/main">
            <a:off x="4648200" y="1352550"/>
            <a:ext cx="158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95% Scaffold CI</a:t>
            </a:r>
          </a:p>
        </p:txBody>
      </p:sp>
      <p:sp>
        <p:nvSpPr>
          <p:cNvPr id="9" name="">
            <a:extLst xmlns:a="http://schemas.openxmlformats.org/drawingml/2006/main">
              <a:ext uri="{FF2B5EF4-FFF2-40B4-BE49-F238E27FC236}">
                <a16:creationId xmlns:a16="http://schemas.microsoft.com/office/drawing/2014/main" id="{10FE23B6-D131-4398-8DBC-B96D4D1FC37F}"/>
              </a:ext>
            </a:extLst>
          </p:cNvPr>
          <p:cNvSpPr>
            <a:spLocks xmlns:a="http://schemas.openxmlformats.org/drawingml/2006/main" noGrp="1"/>
          </p:cNvSpPr>
          <p:nvPr/>
        </p:nvSpPr>
        <p:spPr>
          <a:xfrm xmlns:a="http://schemas.openxmlformats.org/drawingml/2006/main">
            <a:off x="6324600" y="1276350"/>
            <a:ext cx="260985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0" name="">
            <a:extLst xmlns:a="http://schemas.openxmlformats.org/drawingml/2006/main">
              <a:ext uri="{FF2B5EF4-FFF2-40B4-BE49-F238E27FC236}">
                <a16:creationId xmlns:a16="http://schemas.microsoft.com/office/drawing/2014/main" id="{C9967C39-1708-43EB-A025-C4D064DA75BA}"/>
              </a:ext>
            </a:extLst>
          </p:cNvPr>
          <p:cNvSpPr>
            <a:spLocks xmlns:a="http://schemas.openxmlformats.org/drawingml/2006/main" noGrp="1"/>
          </p:cNvSpPr>
          <p:nvPr/>
        </p:nvSpPr>
        <p:spPr>
          <a:xfrm xmlns:a="http://schemas.openxmlformats.org/drawingml/2006/main">
            <a:off x="6419850" y="1352550"/>
            <a:ext cx="2419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Evidence</a:t>
            </a:r>
          </a:p>
        </p:txBody>
      </p:sp>
      <p:sp>
        <p:nvSpPr>
          <p:cNvPr id="11" name="">
            <a:extLst xmlns:a="http://schemas.openxmlformats.org/drawingml/2006/main">
              <a:ext uri="{FF2B5EF4-FFF2-40B4-BE49-F238E27FC236}">
                <a16:creationId xmlns:a16="http://schemas.microsoft.com/office/drawing/2014/main" id="{A67D0C1F-0B4D-424E-B753-946A7D0034DB}"/>
              </a:ext>
            </a:extLst>
          </p:cNvPr>
          <p:cNvSpPr>
            <a:spLocks xmlns:a="http://schemas.openxmlformats.org/drawingml/2006/main" noGrp="1"/>
          </p:cNvSpPr>
          <p:nvPr/>
        </p:nvSpPr>
        <p:spPr>
          <a:xfrm xmlns:a="http://schemas.openxmlformats.org/drawingml/2006/main">
            <a:off x="8934450" y="1276350"/>
            <a:ext cx="2819400" cy="49530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2" name="">
            <a:extLst xmlns:a="http://schemas.openxmlformats.org/drawingml/2006/main">
              <a:ext uri="{FF2B5EF4-FFF2-40B4-BE49-F238E27FC236}">
                <a16:creationId xmlns:a16="http://schemas.microsoft.com/office/drawing/2014/main" id="{A4973D72-38F7-4AAA-AB9E-6A8E7AD604B8}"/>
              </a:ext>
            </a:extLst>
          </p:cNvPr>
          <p:cNvSpPr>
            <a:spLocks xmlns:a="http://schemas.openxmlformats.org/drawingml/2006/main" noGrp="1"/>
          </p:cNvSpPr>
          <p:nvPr/>
        </p:nvSpPr>
        <p:spPr>
          <a:xfrm xmlns:a="http://schemas.openxmlformats.org/drawingml/2006/main">
            <a:off x="9029700" y="1352550"/>
            <a:ext cx="2628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What We Learn</a:t>
            </a:r>
          </a:p>
        </p:txBody>
      </p:sp>
      <p:sp>
        <p:nvSpPr>
          <p:cNvPr id="13" name="">
            <a:extLst xmlns:a="http://schemas.openxmlformats.org/drawingml/2006/main">
              <a:ext uri="{FF2B5EF4-FFF2-40B4-BE49-F238E27FC236}">
                <a16:creationId xmlns:a16="http://schemas.microsoft.com/office/drawing/2014/main" id="{AE4E35E1-CB44-4491-A0EC-4DFF0975B875}"/>
              </a:ext>
            </a:extLst>
          </p:cNvPr>
          <p:cNvSpPr>
            <a:spLocks xmlns:a="http://schemas.openxmlformats.org/drawingml/2006/main" noGrp="1"/>
          </p:cNvSpPr>
          <p:nvPr/>
        </p:nvSpPr>
        <p:spPr>
          <a:xfrm xmlns:a="http://schemas.openxmlformats.org/drawingml/2006/main">
            <a:off x="438150" y="1771650"/>
            <a:ext cx="20002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19FF64AA-9528-4C88-8B81-3DB57FAC89F8}"/>
              </a:ext>
            </a:extLst>
          </p:cNvPr>
          <p:cNvSpPr>
            <a:spLocks xmlns:a="http://schemas.openxmlformats.org/drawingml/2006/main" noGrp="1"/>
          </p:cNvSpPr>
          <p:nvPr/>
        </p:nvSpPr>
        <p:spPr>
          <a:xfrm xmlns:a="http://schemas.openxmlformats.org/drawingml/2006/main">
            <a:off x="533400" y="18478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Remove RDKit2D</a:t>
            </a:r>
          </a:p>
        </p:txBody>
      </p:sp>
      <p:sp>
        <p:nvSpPr>
          <p:cNvPr id="15" name="">
            <a:extLst xmlns:a="http://schemas.openxmlformats.org/drawingml/2006/main">
              <a:ext uri="{FF2B5EF4-FFF2-40B4-BE49-F238E27FC236}">
                <a16:creationId xmlns:a16="http://schemas.microsoft.com/office/drawing/2014/main" id="{18D18820-3B04-4F06-ACE4-06E1C6E20A34}"/>
              </a:ext>
            </a:extLst>
          </p:cNvPr>
          <p:cNvSpPr>
            <a:spLocks xmlns:a="http://schemas.openxmlformats.org/drawingml/2006/main" noGrp="1"/>
          </p:cNvSpPr>
          <p:nvPr/>
        </p:nvSpPr>
        <p:spPr>
          <a:xfrm xmlns:a="http://schemas.openxmlformats.org/drawingml/2006/main">
            <a:off x="2438400" y="1771650"/>
            <a:ext cx="21145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6" name="">
            <a:extLst xmlns:a="http://schemas.openxmlformats.org/drawingml/2006/main">
              <a:ext uri="{FF2B5EF4-FFF2-40B4-BE49-F238E27FC236}">
                <a16:creationId xmlns:a16="http://schemas.microsoft.com/office/drawing/2014/main" id="{28CEB8D1-0DD7-403D-A7EA-D9208B8F1E9B}"/>
              </a:ext>
            </a:extLst>
          </p:cNvPr>
          <p:cNvSpPr>
            <a:spLocks xmlns:a="http://schemas.openxmlformats.org/drawingml/2006/main" noGrp="1"/>
          </p:cNvSpPr>
          <p:nvPr/>
        </p:nvSpPr>
        <p:spPr>
          <a:xfrm xmlns:a="http://schemas.openxmlformats.org/drawingml/2006/main">
            <a:off x="2533650" y="18478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1E63D5"/>
                </a:solidFill>
                <a:latin typeface="Helvetica Neue"/>
                <a:ea typeface="Helvetica Neue"/>
                <a:cs typeface="Helvetica Neue"/>
              </a:defRPr>
            </a:pPr>
            <a:r>
              <a:rPr sz="1275" b="1" i="0">
                <a:solidFill>
                  <a:srgbClr val="1E63D5"/>
                </a:solidFill>
                <a:latin typeface="Helvetica Neue"/>
                <a:ea typeface="Helvetica Neue"/>
                <a:cs typeface="Helvetica Neue"/>
              </a:rPr>
              <a:t>+0.0250</a:t>
            </a:r>
          </a:p>
        </p:txBody>
      </p:sp>
      <p:sp>
        <p:nvSpPr>
          <p:cNvPr id="17" name="">
            <a:extLst xmlns:a="http://schemas.openxmlformats.org/drawingml/2006/main">
              <a:ext uri="{FF2B5EF4-FFF2-40B4-BE49-F238E27FC236}">
                <a16:creationId xmlns:a16="http://schemas.microsoft.com/office/drawing/2014/main" id="{E06A0F5E-E5DD-425C-B981-45405903ADD4}"/>
              </a:ext>
            </a:extLst>
          </p:cNvPr>
          <p:cNvSpPr>
            <a:spLocks xmlns:a="http://schemas.openxmlformats.org/drawingml/2006/main" noGrp="1"/>
          </p:cNvSpPr>
          <p:nvPr/>
        </p:nvSpPr>
        <p:spPr>
          <a:xfrm xmlns:a="http://schemas.openxmlformats.org/drawingml/2006/main">
            <a:off x="4552950" y="1771650"/>
            <a:ext cx="17716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8" name="">
            <a:extLst xmlns:a="http://schemas.openxmlformats.org/drawingml/2006/main">
              <a:ext uri="{FF2B5EF4-FFF2-40B4-BE49-F238E27FC236}">
                <a16:creationId xmlns:a16="http://schemas.microsoft.com/office/drawing/2014/main" id="{7D05E8DE-7320-478E-A039-884D16D5691E}"/>
              </a:ext>
            </a:extLst>
          </p:cNvPr>
          <p:cNvSpPr>
            <a:spLocks xmlns:a="http://schemas.openxmlformats.org/drawingml/2006/main" noGrp="1"/>
          </p:cNvSpPr>
          <p:nvPr/>
        </p:nvSpPr>
        <p:spPr>
          <a:xfrm xmlns:a="http://schemas.openxmlformats.org/drawingml/2006/main">
            <a:off x="4648200" y="18478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+0.0204 to +0.0295</a:t>
            </a:r>
          </a:p>
        </p:txBody>
      </p:sp>
      <p:sp>
        <p:nvSpPr>
          <p:cNvPr id="19" name="">
            <a:extLst xmlns:a="http://schemas.openxmlformats.org/drawingml/2006/main">
              <a:ext uri="{FF2B5EF4-FFF2-40B4-BE49-F238E27FC236}">
                <a16:creationId xmlns:a16="http://schemas.microsoft.com/office/drawing/2014/main" id="{3165FB61-A1F9-4291-B032-9150671B05DF}"/>
              </a:ext>
            </a:extLst>
          </p:cNvPr>
          <p:cNvSpPr>
            <a:spLocks xmlns:a="http://schemas.openxmlformats.org/drawingml/2006/main" noGrp="1"/>
          </p:cNvSpPr>
          <p:nvPr/>
        </p:nvSpPr>
        <p:spPr>
          <a:xfrm xmlns:a="http://schemas.openxmlformats.org/drawingml/2006/main">
            <a:off x="6324600" y="1771650"/>
            <a:ext cx="26098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0" name="">
            <a:extLst xmlns:a="http://schemas.openxmlformats.org/drawingml/2006/main">
              <a:ext uri="{FF2B5EF4-FFF2-40B4-BE49-F238E27FC236}">
                <a16:creationId xmlns:a16="http://schemas.microsoft.com/office/drawing/2014/main" id="{D49DC2F8-9544-4A3D-AAFE-50F7DDE8630A}"/>
              </a:ext>
            </a:extLst>
          </p:cNvPr>
          <p:cNvSpPr>
            <a:spLocks xmlns:a="http://schemas.openxmlformats.org/drawingml/2006/main" noGrp="1"/>
          </p:cNvSpPr>
          <p:nvPr/>
        </p:nvSpPr>
        <p:spPr>
          <a:xfrm xmlns:a="http://schemas.openxmlformats.org/drawingml/2006/main">
            <a:off x="6419850" y="18478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Reliable In 5 Of 5 Folds</a:t>
            </a:r>
          </a:p>
        </p:txBody>
      </p:sp>
      <p:sp>
        <p:nvSpPr>
          <p:cNvPr id="21" name="">
            <a:extLst xmlns:a="http://schemas.openxmlformats.org/drawingml/2006/main">
              <a:ext uri="{FF2B5EF4-FFF2-40B4-BE49-F238E27FC236}">
                <a16:creationId xmlns:a16="http://schemas.microsoft.com/office/drawing/2014/main" id="{BA18B573-8205-4E66-8B98-300ED8F2C566}"/>
              </a:ext>
            </a:extLst>
          </p:cNvPr>
          <p:cNvSpPr>
            <a:spLocks xmlns:a="http://schemas.openxmlformats.org/drawingml/2006/main" noGrp="1"/>
          </p:cNvSpPr>
          <p:nvPr/>
        </p:nvSpPr>
        <p:spPr>
          <a:xfrm xmlns:a="http://schemas.openxmlformats.org/drawingml/2006/main">
            <a:off x="8934450" y="1771650"/>
            <a:ext cx="281940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2" name="">
            <a:extLst xmlns:a="http://schemas.openxmlformats.org/drawingml/2006/main">
              <a:ext uri="{FF2B5EF4-FFF2-40B4-BE49-F238E27FC236}">
                <a16:creationId xmlns:a16="http://schemas.microsoft.com/office/drawing/2014/main" id="{DF07F350-8CED-491E-B5B9-3765A957E6AF}"/>
              </a:ext>
            </a:extLst>
          </p:cNvPr>
          <p:cNvSpPr>
            <a:spLocks xmlns:a="http://schemas.openxmlformats.org/drawingml/2006/main" noGrp="1"/>
          </p:cNvSpPr>
          <p:nvPr/>
        </p:nvSpPr>
        <p:spPr>
          <a:xfrm xmlns:a="http://schemas.openxmlformats.org/drawingml/2006/main">
            <a:off x="9029700" y="18478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Global physicochemical structure is the strongest unique foundation.</a:t>
            </a:r>
          </a:p>
        </p:txBody>
      </p:sp>
      <p:sp>
        <p:nvSpPr>
          <p:cNvPr id="23" name="">
            <a:extLst xmlns:a="http://schemas.openxmlformats.org/drawingml/2006/main">
              <a:ext uri="{FF2B5EF4-FFF2-40B4-BE49-F238E27FC236}">
                <a16:creationId xmlns:a16="http://schemas.microsoft.com/office/drawing/2014/main" id="{4290FD77-05E1-40FE-8CF5-422ADB20F39A}"/>
              </a:ext>
            </a:extLst>
          </p:cNvPr>
          <p:cNvSpPr>
            <a:spLocks xmlns:a="http://schemas.openxmlformats.org/drawingml/2006/main" noGrp="1"/>
          </p:cNvSpPr>
          <p:nvPr/>
        </p:nvSpPr>
        <p:spPr>
          <a:xfrm xmlns:a="http://schemas.openxmlformats.org/drawingml/2006/main">
            <a:off x="438150" y="2495550"/>
            <a:ext cx="20002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24" name="">
            <a:extLst xmlns:a="http://schemas.openxmlformats.org/drawingml/2006/main">
              <a:ext uri="{FF2B5EF4-FFF2-40B4-BE49-F238E27FC236}">
                <a16:creationId xmlns:a16="http://schemas.microsoft.com/office/drawing/2014/main" id="{F9B002B3-FC42-4F67-AE4B-0BFBD2F0C660}"/>
              </a:ext>
            </a:extLst>
          </p:cNvPr>
          <p:cNvSpPr>
            <a:spLocks xmlns:a="http://schemas.openxmlformats.org/drawingml/2006/main" noGrp="1"/>
          </p:cNvSpPr>
          <p:nvPr/>
        </p:nvSpPr>
        <p:spPr>
          <a:xfrm xmlns:a="http://schemas.openxmlformats.org/drawingml/2006/main">
            <a:off x="533400" y="25717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Remove Morgan</a:t>
            </a:r>
          </a:p>
        </p:txBody>
      </p:sp>
      <p:sp>
        <p:nvSpPr>
          <p:cNvPr id="25" name="">
            <a:extLst xmlns:a="http://schemas.openxmlformats.org/drawingml/2006/main">
              <a:ext uri="{FF2B5EF4-FFF2-40B4-BE49-F238E27FC236}">
                <a16:creationId xmlns:a16="http://schemas.microsoft.com/office/drawing/2014/main" id="{E2BBD14D-A2F3-4652-BA47-D59B5C09A1E9}"/>
              </a:ext>
            </a:extLst>
          </p:cNvPr>
          <p:cNvSpPr>
            <a:spLocks xmlns:a="http://schemas.openxmlformats.org/drawingml/2006/main" noGrp="1"/>
          </p:cNvSpPr>
          <p:nvPr/>
        </p:nvSpPr>
        <p:spPr>
          <a:xfrm xmlns:a="http://schemas.openxmlformats.org/drawingml/2006/main">
            <a:off x="2438400" y="2495550"/>
            <a:ext cx="21145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26" name="">
            <a:extLst xmlns:a="http://schemas.openxmlformats.org/drawingml/2006/main">
              <a:ext uri="{FF2B5EF4-FFF2-40B4-BE49-F238E27FC236}">
                <a16:creationId xmlns:a16="http://schemas.microsoft.com/office/drawing/2014/main" id="{45AC7F3E-F5BA-49AF-B681-14523CB1CA66}"/>
              </a:ext>
            </a:extLst>
          </p:cNvPr>
          <p:cNvSpPr>
            <a:spLocks xmlns:a="http://schemas.openxmlformats.org/drawingml/2006/main" noGrp="1"/>
          </p:cNvSpPr>
          <p:nvPr/>
        </p:nvSpPr>
        <p:spPr>
          <a:xfrm xmlns:a="http://schemas.openxmlformats.org/drawingml/2006/main">
            <a:off x="2533650" y="25717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16805A"/>
                </a:solidFill>
                <a:latin typeface="Helvetica Neue"/>
                <a:ea typeface="Helvetica Neue"/>
                <a:cs typeface="Helvetica Neue"/>
              </a:defRPr>
            </a:pPr>
            <a:r>
              <a:rPr sz="1275" b="1" i="0">
                <a:solidFill>
                  <a:srgbClr val="16805A"/>
                </a:solidFill>
                <a:latin typeface="Helvetica Neue"/>
                <a:ea typeface="Helvetica Neue"/>
                <a:cs typeface="Helvetica Neue"/>
              </a:rPr>
              <a:t>+0.0065</a:t>
            </a:r>
          </a:p>
        </p:txBody>
      </p:sp>
      <p:sp>
        <p:nvSpPr>
          <p:cNvPr id="27" name="">
            <a:extLst xmlns:a="http://schemas.openxmlformats.org/drawingml/2006/main">
              <a:ext uri="{FF2B5EF4-FFF2-40B4-BE49-F238E27FC236}">
                <a16:creationId xmlns:a16="http://schemas.microsoft.com/office/drawing/2014/main" id="{48A3CE29-6E5E-4A52-A970-30E621541396}"/>
              </a:ext>
            </a:extLst>
          </p:cNvPr>
          <p:cNvSpPr>
            <a:spLocks xmlns:a="http://schemas.openxmlformats.org/drawingml/2006/main" noGrp="1"/>
          </p:cNvSpPr>
          <p:nvPr/>
        </p:nvSpPr>
        <p:spPr>
          <a:xfrm xmlns:a="http://schemas.openxmlformats.org/drawingml/2006/main">
            <a:off x="4552950" y="2495550"/>
            <a:ext cx="17716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28" name="">
            <a:extLst xmlns:a="http://schemas.openxmlformats.org/drawingml/2006/main">
              <a:ext uri="{FF2B5EF4-FFF2-40B4-BE49-F238E27FC236}">
                <a16:creationId xmlns:a16="http://schemas.microsoft.com/office/drawing/2014/main" id="{C76CB770-1E5E-462D-9FF1-E8ACEEAD7CAE}"/>
              </a:ext>
            </a:extLst>
          </p:cNvPr>
          <p:cNvSpPr>
            <a:spLocks xmlns:a="http://schemas.openxmlformats.org/drawingml/2006/main" noGrp="1"/>
          </p:cNvSpPr>
          <p:nvPr/>
        </p:nvSpPr>
        <p:spPr>
          <a:xfrm xmlns:a="http://schemas.openxmlformats.org/drawingml/2006/main">
            <a:off x="4648200" y="25717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+0.0031 to +0.0101</a:t>
            </a:r>
          </a:p>
        </p:txBody>
      </p:sp>
      <p:sp>
        <p:nvSpPr>
          <p:cNvPr id="29" name="">
            <a:extLst xmlns:a="http://schemas.openxmlformats.org/drawingml/2006/main">
              <a:ext uri="{FF2B5EF4-FFF2-40B4-BE49-F238E27FC236}">
                <a16:creationId xmlns:a16="http://schemas.microsoft.com/office/drawing/2014/main" id="{7CBB9693-D45F-4EB3-8394-0F2265045748}"/>
              </a:ext>
            </a:extLst>
          </p:cNvPr>
          <p:cNvSpPr>
            <a:spLocks xmlns:a="http://schemas.openxmlformats.org/drawingml/2006/main" noGrp="1"/>
          </p:cNvSpPr>
          <p:nvPr/>
        </p:nvSpPr>
        <p:spPr>
          <a:xfrm xmlns:a="http://schemas.openxmlformats.org/drawingml/2006/main">
            <a:off x="6324600" y="2495550"/>
            <a:ext cx="260985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30" name="">
            <a:extLst xmlns:a="http://schemas.openxmlformats.org/drawingml/2006/main">
              <a:ext uri="{FF2B5EF4-FFF2-40B4-BE49-F238E27FC236}">
                <a16:creationId xmlns:a16="http://schemas.microsoft.com/office/drawing/2014/main" id="{90EDFBD3-D697-401B-AC1D-FB914B88F557}"/>
              </a:ext>
            </a:extLst>
          </p:cNvPr>
          <p:cNvSpPr>
            <a:spLocks xmlns:a="http://schemas.openxmlformats.org/drawingml/2006/main" noGrp="1"/>
          </p:cNvSpPr>
          <p:nvPr/>
        </p:nvSpPr>
        <p:spPr>
          <a:xfrm xmlns:a="http://schemas.openxmlformats.org/drawingml/2006/main">
            <a:off x="6419850" y="25717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Reliable In 4 Of 5 Folds</a:t>
            </a:r>
          </a:p>
        </p:txBody>
      </p:sp>
      <p:sp>
        <p:nvSpPr>
          <p:cNvPr id="31" name="">
            <a:extLst xmlns:a="http://schemas.openxmlformats.org/drawingml/2006/main">
              <a:ext uri="{FF2B5EF4-FFF2-40B4-BE49-F238E27FC236}">
                <a16:creationId xmlns:a16="http://schemas.microsoft.com/office/drawing/2014/main" id="{BAA47D23-48A0-4448-8B44-40A36061C804}"/>
              </a:ext>
            </a:extLst>
          </p:cNvPr>
          <p:cNvSpPr>
            <a:spLocks xmlns:a="http://schemas.openxmlformats.org/drawingml/2006/main" noGrp="1"/>
          </p:cNvSpPr>
          <p:nvPr/>
        </p:nvSpPr>
        <p:spPr>
          <a:xfrm xmlns:a="http://schemas.openxmlformats.org/drawingml/2006/main">
            <a:off x="8934450" y="2495550"/>
            <a:ext cx="2819400" cy="723900"/>
          </a:xfrm>
          <a:prstGeom xmlns:a="http://schemas.openxmlformats.org/drawingml/2006/main" prst="rect">
            <a:avLst/>
          </a:prstGeom>
          <a:solidFill xmlns:a="http://schemas.openxmlformats.org/drawingml/2006/main">
            <a:srgbClr val="E9F7F1"/>
          </a:solidFill>
          <a:ln xmlns:a="http://schemas.openxmlformats.org/drawingml/2006/main" w="9525">
            <a:solidFill>
              <a:srgbClr val="D6DAE0"/>
            </a:solidFill>
            <a:prstDash val="solid"/>
          </a:ln>
        </p:spPr>
      </p:sp>
      <p:sp>
        <p:nvSpPr>
          <p:cNvPr id="32" name="">
            <a:extLst xmlns:a="http://schemas.openxmlformats.org/drawingml/2006/main">
              <a:ext uri="{FF2B5EF4-FFF2-40B4-BE49-F238E27FC236}">
                <a16:creationId xmlns:a16="http://schemas.microsoft.com/office/drawing/2014/main" id="{2C615539-DB08-4B76-8032-5111FD67F12F}"/>
              </a:ext>
            </a:extLst>
          </p:cNvPr>
          <p:cNvSpPr>
            <a:spLocks xmlns:a="http://schemas.openxmlformats.org/drawingml/2006/main" noGrp="1"/>
          </p:cNvSpPr>
          <p:nvPr/>
        </p:nvSpPr>
        <p:spPr>
          <a:xfrm xmlns:a="http://schemas.openxmlformats.org/drawingml/2006/main">
            <a:off x="9029700" y="25717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Local substructure context adds independent scaffold-transfer signal.</a:t>
            </a:r>
          </a:p>
        </p:txBody>
      </p:sp>
      <p:sp>
        <p:nvSpPr>
          <p:cNvPr id="33" name="">
            <a:extLst xmlns:a="http://schemas.openxmlformats.org/drawingml/2006/main">
              <a:ext uri="{FF2B5EF4-FFF2-40B4-BE49-F238E27FC236}">
                <a16:creationId xmlns:a16="http://schemas.microsoft.com/office/drawing/2014/main" id="{37E4AFA3-C8D0-4353-B18A-87C4208460AF}"/>
              </a:ext>
            </a:extLst>
          </p:cNvPr>
          <p:cNvSpPr>
            <a:spLocks xmlns:a="http://schemas.openxmlformats.org/drawingml/2006/main" noGrp="1"/>
          </p:cNvSpPr>
          <p:nvPr/>
        </p:nvSpPr>
        <p:spPr>
          <a:xfrm xmlns:a="http://schemas.openxmlformats.org/drawingml/2006/main">
            <a:off x="438150" y="3219450"/>
            <a:ext cx="20002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34" name="">
            <a:extLst xmlns:a="http://schemas.openxmlformats.org/drawingml/2006/main">
              <a:ext uri="{FF2B5EF4-FFF2-40B4-BE49-F238E27FC236}">
                <a16:creationId xmlns:a16="http://schemas.microsoft.com/office/drawing/2014/main" id="{130485E2-E540-459E-BB8C-4BCFA26661F7}"/>
              </a:ext>
            </a:extLst>
          </p:cNvPr>
          <p:cNvSpPr>
            <a:spLocks xmlns:a="http://schemas.openxmlformats.org/drawingml/2006/main" noGrp="1"/>
          </p:cNvSpPr>
          <p:nvPr/>
        </p:nvSpPr>
        <p:spPr>
          <a:xfrm xmlns:a="http://schemas.openxmlformats.org/drawingml/2006/main">
            <a:off x="533400" y="32956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Old Ligand 3D</a:t>
            </a:r>
          </a:p>
        </p:txBody>
      </p:sp>
      <p:sp>
        <p:nvSpPr>
          <p:cNvPr id="35" name="">
            <a:extLst xmlns:a="http://schemas.openxmlformats.org/drawingml/2006/main">
              <a:ext uri="{FF2B5EF4-FFF2-40B4-BE49-F238E27FC236}">
                <a16:creationId xmlns:a16="http://schemas.microsoft.com/office/drawing/2014/main" id="{BA9AF3B9-966F-4900-A6C6-A31B8F34B487}"/>
              </a:ext>
            </a:extLst>
          </p:cNvPr>
          <p:cNvSpPr>
            <a:spLocks xmlns:a="http://schemas.openxmlformats.org/drawingml/2006/main" noGrp="1"/>
          </p:cNvSpPr>
          <p:nvPr/>
        </p:nvSpPr>
        <p:spPr>
          <a:xfrm xmlns:a="http://schemas.openxmlformats.org/drawingml/2006/main">
            <a:off x="2438400" y="3219450"/>
            <a:ext cx="21145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36" name="">
            <a:extLst xmlns:a="http://schemas.openxmlformats.org/drawingml/2006/main">
              <a:ext uri="{FF2B5EF4-FFF2-40B4-BE49-F238E27FC236}">
                <a16:creationId xmlns:a16="http://schemas.microsoft.com/office/drawing/2014/main" id="{7645B137-3561-41BA-B536-C3DA202F377B}"/>
              </a:ext>
            </a:extLst>
          </p:cNvPr>
          <p:cNvSpPr>
            <a:spLocks xmlns:a="http://schemas.openxmlformats.org/drawingml/2006/main" noGrp="1"/>
          </p:cNvSpPr>
          <p:nvPr/>
        </p:nvSpPr>
        <p:spPr>
          <a:xfrm xmlns:a="http://schemas.openxmlformats.org/drawingml/2006/main">
            <a:off x="2533650" y="32956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B84040"/>
                </a:solidFill>
                <a:latin typeface="Helvetica Neue"/>
                <a:ea typeface="Helvetica Neue"/>
                <a:cs typeface="Helvetica Neue"/>
              </a:defRPr>
            </a:pPr>
            <a:r>
              <a:rPr sz="1275" b="1" i="0">
                <a:solidFill>
                  <a:srgbClr val="B84040"/>
                </a:solidFill>
                <a:latin typeface="Helvetica Neue"/>
                <a:ea typeface="Helvetica Neue"/>
                <a:cs typeface="Helvetica Neue"/>
              </a:rPr>
              <a:t>-0.0052</a:t>
            </a:r>
          </a:p>
        </p:txBody>
      </p:sp>
      <p:sp>
        <p:nvSpPr>
          <p:cNvPr id="37" name="">
            <a:extLst xmlns:a="http://schemas.openxmlformats.org/drawingml/2006/main">
              <a:ext uri="{FF2B5EF4-FFF2-40B4-BE49-F238E27FC236}">
                <a16:creationId xmlns:a16="http://schemas.microsoft.com/office/drawing/2014/main" id="{9A6EE041-365C-4ACB-B9A2-299BD35E1F04}"/>
              </a:ext>
            </a:extLst>
          </p:cNvPr>
          <p:cNvSpPr>
            <a:spLocks xmlns:a="http://schemas.openxmlformats.org/drawingml/2006/main" noGrp="1"/>
          </p:cNvSpPr>
          <p:nvPr/>
        </p:nvSpPr>
        <p:spPr>
          <a:xfrm xmlns:a="http://schemas.openxmlformats.org/drawingml/2006/main">
            <a:off x="4552950" y="3219450"/>
            <a:ext cx="17716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38" name="">
            <a:extLst xmlns:a="http://schemas.openxmlformats.org/drawingml/2006/main">
              <a:ext uri="{FF2B5EF4-FFF2-40B4-BE49-F238E27FC236}">
                <a16:creationId xmlns:a16="http://schemas.microsoft.com/office/drawing/2014/main" id="{4C24C559-9F72-4DF0-B704-3B482EF506D4}"/>
              </a:ext>
            </a:extLst>
          </p:cNvPr>
          <p:cNvSpPr>
            <a:spLocks xmlns:a="http://schemas.openxmlformats.org/drawingml/2006/main" noGrp="1"/>
          </p:cNvSpPr>
          <p:nvPr/>
        </p:nvSpPr>
        <p:spPr>
          <a:xfrm xmlns:a="http://schemas.openxmlformats.org/drawingml/2006/main">
            <a:off x="4648200" y="32956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-0.0078 to -0.0026</a:t>
            </a:r>
          </a:p>
        </p:txBody>
      </p:sp>
      <p:sp>
        <p:nvSpPr>
          <p:cNvPr id="39" name="">
            <a:extLst xmlns:a="http://schemas.openxmlformats.org/drawingml/2006/main">
              <a:ext uri="{FF2B5EF4-FFF2-40B4-BE49-F238E27FC236}">
                <a16:creationId xmlns:a16="http://schemas.microsoft.com/office/drawing/2014/main" id="{7C26FE71-3E21-45D7-AF4C-4D21BD09FF19}"/>
              </a:ext>
            </a:extLst>
          </p:cNvPr>
          <p:cNvSpPr>
            <a:spLocks xmlns:a="http://schemas.openxmlformats.org/drawingml/2006/main" noGrp="1"/>
          </p:cNvSpPr>
          <p:nvPr/>
        </p:nvSpPr>
        <p:spPr>
          <a:xfrm xmlns:a="http://schemas.openxmlformats.org/drawingml/2006/main">
            <a:off x="6324600" y="3219450"/>
            <a:ext cx="260985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40" name="">
            <a:extLst xmlns:a="http://schemas.openxmlformats.org/drawingml/2006/main">
              <a:ext uri="{FF2B5EF4-FFF2-40B4-BE49-F238E27FC236}">
                <a16:creationId xmlns:a16="http://schemas.microsoft.com/office/drawing/2014/main" id="{92C96692-F856-4369-ADF5-51DEE3198165}"/>
              </a:ext>
            </a:extLst>
          </p:cNvPr>
          <p:cNvSpPr>
            <a:spLocks xmlns:a="http://schemas.openxmlformats.org/drawingml/2006/main" noGrp="1"/>
          </p:cNvSpPr>
          <p:nvPr/>
        </p:nvSpPr>
        <p:spPr>
          <a:xfrm xmlns:a="http://schemas.openxmlformats.org/drawingml/2006/main">
            <a:off x="6419850" y="32956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Reliable Deterioration</a:t>
            </a:r>
          </a:p>
        </p:txBody>
      </p:sp>
      <p:sp>
        <p:nvSpPr>
          <p:cNvPr id="41" name="">
            <a:extLst xmlns:a="http://schemas.openxmlformats.org/drawingml/2006/main">
              <a:ext uri="{FF2B5EF4-FFF2-40B4-BE49-F238E27FC236}">
                <a16:creationId xmlns:a16="http://schemas.microsoft.com/office/drawing/2014/main" id="{91479DFC-9AA7-4FE1-82EC-C2695C93C51F}"/>
              </a:ext>
            </a:extLst>
          </p:cNvPr>
          <p:cNvSpPr>
            <a:spLocks xmlns:a="http://schemas.openxmlformats.org/drawingml/2006/main" noGrp="1"/>
          </p:cNvSpPr>
          <p:nvPr/>
        </p:nvSpPr>
        <p:spPr>
          <a:xfrm xmlns:a="http://schemas.openxmlformats.org/drawingml/2006/main">
            <a:off x="8934450" y="3219450"/>
            <a:ext cx="2819400" cy="723900"/>
          </a:xfrm>
          <a:prstGeom xmlns:a="http://schemas.openxmlformats.org/drawingml/2006/main" prst="rect">
            <a:avLst/>
          </a:prstGeom>
          <a:solidFill xmlns:a="http://schemas.openxmlformats.org/drawingml/2006/main">
            <a:srgbClr val="FCECEC"/>
          </a:solidFill>
          <a:ln xmlns:a="http://schemas.openxmlformats.org/drawingml/2006/main" w="9525">
            <a:solidFill>
              <a:srgbClr val="D6DAE0"/>
            </a:solidFill>
            <a:prstDash val="solid"/>
          </a:ln>
        </p:spPr>
      </p:sp>
      <p:sp>
        <p:nvSpPr>
          <p:cNvPr id="42" name="">
            <a:extLst xmlns:a="http://schemas.openxmlformats.org/drawingml/2006/main">
              <a:ext uri="{FF2B5EF4-FFF2-40B4-BE49-F238E27FC236}">
                <a16:creationId xmlns:a16="http://schemas.microsoft.com/office/drawing/2014/main" id="{CBB46D80-53E7-4D84-9BB5-B19EC92AE8C4}"/>
              </a:ext>
            </a:extLst>
          </p:cNvPr>
          <p:cNvSpPr>
            <a:spLocks xmlns:a="http://schemas.openxmlformats.org/drawingml/2006/main" noGrp="1"/>
          </p:cNvSpPr>
          <p:nvPr/>
        </p:nvSpPr>
        <p:spPr>
          <a:xfrm xmlns:a="http://schemas.openxmlformats.org/drawingml/2006/main">
            <a:off x="9029700" y="32956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Generic or unstable 3D can actively dilute a strong 2D model.</a:t>
            </a:r>
          </a:p>
        </p:txBody>
      </p:sp>
      <p:sp>
        <p:nvSpPr>
          <p:cNvPr id="43" name="">
            <a:extLst xmlns:a="http://schemas.openxmlformats.org/drawingml/2006/main">
              <a:ext uri="{FF2B5EF4-FFF2-40B4-BE49-F238E27FC236}">
                <a16:creationId xmlns:a16="http://schemas.microsoft.com/office/drawing/2014/main" id="{A7517C5B-8397-4796-9FE1-D37159183B97}"/>
              </a:ext>
            </a:extLst>
          </p:cNvPr>
          <p:cNvSpPr>
            <a:spLocks xmlns:a="http://schemas.openxmlformats.org/drawingml/2006/main" noGrp="1"/>
          </p:cNvSpPr>
          <p:nvPr/>
        </p:nvSpPr>
        <p:spPr>
          <a:xfrm xmlns:a="http://schemas.openxmlformats.org/drawingml/2006/main">
            <a:off x="438150" y="39433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4" name="">
            <a:extLst xmlns:a="http://schemas.openxmlformats.org/drawingml/2006/main">
              <a:ext uri="{FF2B5EF4-FFF2-40B4-BE49-F238E27FC236}">
                <a16:creationId xmlns:a16="http://schemas.microsoft.com/office/drawing/2014/main" id="{6B98D4A5-0053-454F-85CC-263075C0EA19}"/>
              </a:ext>
            </a:extLst>
          </p:cNvPr>
          <p:cNvSpPr>
            <a:spLocks xmlns:a="http://schemas.openxmlformats.org/drawingml/2006/main" noGrp="1"/>
          </p:cNvSpPr>
          <p:nvPr/>
        </p:nvSpPr>
        <p:spPr>
          <a:xfrm xmlns:a="http://schemas.openxmlformats.org/drawingml/2006/main">
            <a:off x="533400" y="40195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Polarity and Contacts</a:t>
            </a:r>
          </a:p>
        </p:txBody>
      </p:sp>
      <p:sp>
        <p:nvSpPr>
          <p:cNvPr id="45" name="">
            <a:extLst xmlns:a="http://schemas.openxmlformats.org/drawingml/2006/main">
              <a:ext uri="{FF2B5EF4-FFF2-40B4-BE49-F238E27FC236}">
                <a16:creationId xmlns:a16="http://schemas.microsoft.com/office/drawing/2014/main" id="{B13FC6EA-007F-4AEF-8325-05B003C0090A}"/>
              </a:ext>
            </a:extLst>
          </p:cNvPr>
          <p:cNvSpPr>
            <a:spLocks xmlns:a="http://schemas.openxmlformats.org/drawingml/2006/main" noGrp="1"/>
          </p:cNvSpPr>
          <p:nvPr/>
        </p:nvSpPr>
        <p:spPr>
          <a:xfrm xmlns:a="http://schemas.openxmlformats.org/drawingml/2006/main">
            <a:off x="2438400" y="39433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6" name="">
            <a:extLst xmlns:a="http://schemas.openxmlformats.org/drawingml/2006/main">
              <a:ext uri="{FF2B5EF4-FFF2-40B4-BE49-F238E27FC236}">
                <a16:creationId xmlns:a16="http://schemas.microsoft.com/office/drawing/2014/main" id="{97B266A9-5E8B-4668-9B8B-4672C3FB9F0D}"/>
              </a:ext>
            </a:extLst>
          </p:cNvPr>
          <p:cNvSpPr>
            <a:spLocks xmlns:a="http://schemas.openxmlformats.org/drawingml/2006/main" noGrp="1"/>
          </p:cNvSpPr>
          <p:nvPr/>
        </p:nvSpPr>
        <p:spPr>
          <a:xfrm xmlns:a="http://schemas.openxmlformats.org/drawingml/2006/main">
            <a:off x="2533650" y="40195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-0.0007</a:t>
            </a:r>
          </a:p>
        </p:txBody>
      </p:sp>
      <p:sp>
        <p:nvSpPr>
          <p:cNvPr id="47" name="">
            <a:extLst xmlns:a="http://schemas.openxmlformats.org/drawingml/2006/main">
              <a:ext uri="{FF2B5EF4-FFF2-40B4-BE49-F238E27FC236}">
                <a16:creationId xmlns:a16="http://schemas.microsoft.com/office/drawing/2014/main" id="{8FD12F6A-2671-456D-8646-219D38247CA9}"/>
              </a:ext>
            </a:extLst>
          </p:cNvPr>
          <p:cNvSpPr>
            <a:spLocks xmlns:a="http://schemas.openxmlformats.org/drawingml/2006/main" noGrp="1"/>
          </p:cNvSpPr>
          <p:nvPr/>
        </p:nvSpPr>
        <p:spPr>
          <a:xfrm xmlns:a="http://schemas.openxmlformats.org/drawingml/2006/main">
            <a:off x="4552950" y="3943350"/>
            <a:ext cx="17716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8" name="">
            <a:extLst xmlns:a="http://schemas.openxmlformats.org/drawingml/2006/main">
              <a:ext uri="{FF2B5EF4-FFF2-40B4-BE49-F238E27FC236}">
                <a16:creationId xmlns:a16="http://schemas.microsoft.com/office/drawing/2014/main" id="{0DF094A5-F854-44C3-BE12-31C415651229}"/>
              </a:ext>
            </a:extLst>
          </p:cNvPr>
          <p:cNvSpPr>
            <a:spLocks xmlns:a="http://schemas.openxmlformats.org/drawingml/2006/main" noGrp="1"/>
          </p:cNvSpPr>
          <p:nvPr/>
        </p:nvSpPr>
        <p:spPr>
          <a:xfrm xmlns:a="http://schemas.openxmlformats.org/drawingml/2006/main">
            <a:off x="4648200" y="40195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-0.0022 to +0.0008</a:t>
            </a:r>
          </a:p>
        </p:txBody>
      </p:sp>
      <p:sp>
        <p:nvSpPr>
          <p:cNvPr id="49" name="">
            <a:extLst xmlns:a="http://schemas.openxmlformats.org/drawingml/2006/main">
              <a:ext uri="{FF2B5EF4-FFF2-40B4-BE49-F238E27FC236}">
                <a16:creationId xmlns:a16="http://schemas.microsoft.com/office/drawing/2014/main" id="{46DA6E53-79FA-442C-BDF7-D747C4CFDC55}"/>
              </a:ext>
            </a:extLst>
          </p:cNvPr>
          <p:cNvSpPr>
            <a:spLocks xmlns:a="http://schemas.openxmlformats.org/drawingml/2006/main" noGrp="1"/>
          </p:cNvSpPr>
          <p:nvPr/>
        </p:nvSpPr>
        <p:spPr>
          <a:xfrm xmlns:a="http://schemas.openxmlformats.org/drawingml/2006/main">
            <a:off x="6324600" y="3943350"/>
            <a:ext cx="26098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0" name="">
            <a:extLst xmlns:a="http://schemas.openxmlformats.org/drawingml/2006/main">
              <a:ext uri="{FF2B5EF4-FFF2-40B4-BE49-F238E27FC236}">
                <a16:creationId xmlns:a16="http://schemas.microsoft.com/office/drawing/2014/main" id="{E0969068-83EE-434E-BB9D-9CC19C62F730}"/>
              </a:ext>
            </a:extLst>
          </p:cNvPr>
          <p:cNvSpPr>
            <a:spLocks xmlns:a="http://schemas.openxmlformats.org/drawingml/2006/main" noGrp="1"/>
          </p:cNvSpPr>
          <p:nvPr/>
        </p:nvSpPr>
        <p:spPr>
          <a:xfrm xmlns:a="http://schemas.openxmlformats.org/drawingml/2006/main">
            <a:off x="6419850" y="40195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No Stable Gain</a:t>
            </a:r>
          </a:p>
        </p:txBody>
      </p:sp>
      <p:sp>
        <p:nvSpPr>
          <p:cNvPr id="51" name="">
            <a:extLst xmlns:a="http://schemas.openxmlformats.org/drawingml/2006/main">
              <a:ext uri="{FF2B5EF4-FFF2-40B4-BE49-F238E27FC236}">
                <a16:creationId xmlns:a16="http://schemas.microsoft.com/office/drawing/2014/main" id="{C7ACA893-12C3-4158-8B5D-21570EBBAB80}"/>
              </a:ext>
            </a:extLst>
          </p:cNvPr>
          <p:cNvSpPr>
            <a:spLocks xmlns:a="http://schemas.openxmlformats.org/drawingml/2006/main" noGrp="1"/>
          </p:cNvSpPr>
          <p:nvPr/>
        </p:nvSpPr>
        <p:spPr>
          <a:xfrm xmlns:a="http://schemas.openxmlformats.org/drawingml/2006/main">
            <a:off x="8934450" y="3943350"/>
            <a:ext cx="28194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2" name="">
            <a:extLst xmlns:a="http://schemas.openxmlformats.org/drawingml/2006/main">
              <a:ext uri="{FF2B5EF4-FFF2-40B4-BE49-F238E27FC236}">
                <a16:creationId xmlns:a16="http://schemas.microsoft.com/office/drawing/2014/main" id="{7C452A46-4DEF-492D-B329-5B53BF40633C}"/>
              </a:ext>
            </a:extLst>
          </p:cNvPr>
          <p:cNvSpPr>
            <a:spLocks xmlns:a="http://schemas.openxmlformats.org/drawingml/2006/main" noGrp="1"/>
          </p:cNvSpPr>
          <p:nvPr/>
        </p:nvSpPr>
        <p:spPr>
          <a:xfrm xmlns:a="http://schemas.openxmlformats.org/drawingml/2006/main">
            <a:off x="9029700" y="40195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These ligand-only physics proxies are mostly redundant after 2D chemistry.</a:t>
            </a:r>
          </a:p>
        </p:txBody>
      </p:sp>
      <p:sp>
        <p:nvSpPr>
          <p:cNvPr id="53" name="">
            <a:extLst xmlns:a="http://schemas.openxmlformats.org/drawingml/2006/main">
              <a:ext uri="{FF2B5EF4-FFF2-40B4-BE49-F238E27FC236}">
                <a16:creationId xmlns:a16="http://schemas.microsoft.com/office/drawing/2014/main" id="{D8C99EAF-CB94-40DD-815C-4A22D749D7F8}"/>
              </a:ext>
            </a:extLst>
          </p:cNvPr>
          <p:cNvSpPr>
            <a:spLocks xmlns:a="http://schemas.openxmlformats.org/drawingml/2006/main" noGrp="1"/>
          </p:cNvSpPr>
          <p:nvPr/>
        </p:nvSpPr>
        <p:spPr>
          <a:xfrm xmlns:a="http://schemas.openxmlformats.org/drawingml/2006/main">
            <a:off x="438150" y="46672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4" name="">
            <a:extLst xmlns:a="http://schemas.openxmlformats.org/drawingml/2006/main">
              <a:ext uri="{FF2B5EF4-FFF2-40B4-BE49-F238E27FC236}">
                <a16:creationId xmlns:a16="http://schemas.microsoft.com/office/drawing/2014/main" id="{2430484D-23E2-4B99-8346-6CF0A5D66C70}"/>
              </a:ext>
            </a:extLst>
          </p:cNvPr>
          <p:cNvSpPr>
            <a:spLocks xmlns:a="http://schemas.openxmlformats.org/drawingml/2006/main" noGrp="1"/>
          </p:cNvSpPr>
          <p:nvPr/>
        </p:nvSpPr>
        <p:spPr>
          <a:xfrm xmlns:a="http://schemas.openxmlformats.org/drawingml/2006/main">
            <a:off x="533400" y="47434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Energy and Flexibility</a:t>
            </a:r>
          </a:p>
        </p:txBody>
      </p:sp>
      <p:sp>
        <p:nvSpPr>
          <p:cNvPr id="55" name="">
            <a:extLst xmlns:a="http://schemas.openxmlformats.org/drawingml/2006/main">
              <a:ext uri="{FF2B5EF4-FFF2-40B4-BE49-F238E27FC236}">
                <a16:creationId xmlns:a16="http://schemas.microsoft.com/office/drawing/2014/main" id="{67D0EF25-3BB1-4106-BFB8-67E12F17FC15}"/>
              </a:ext>
            </a:extLst>
          </p:cNvPr>
          <p:cNvSpPr>
            <a:spLocks xmlns:a="http://schemas.openxmlformats.org/drawingml/2006/main" noGrp="1"/>
          </p:cNvSpPr>
          <p:nvPr/>
        </p:nvSpPr>
        <p:spPr>
          <a:xfrm xmlns:a="http://schemas.openxmlformats.org/drawingml/2006/main">
            <a:off x="2438400" y="46672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6" name="">
            <a:extLst xmlns:a="http://schemas.openxmlformats.org/drawingml/2006/main">
              <a:ext uri="{FF2B5EF4-FFF2-40B4-BE49-F238E27FC236}">
                <a16:creationId xmlns:a16="http://schemas.microsoft.com/office/drawing/2014/main" id="{CB557F96-BB0F-4338-8DD0-0E0892D684E7}"/>
              </a:ext>
            </a:extLst>
          </p:cNvPr>
          <p:cNvSpPr>
            <a:spLocks xmlns:a="http://schemas.openxmlformats.org/drawingml/2006/main" noGrp="1"/>
          </p:cNvSpPr>
          <p:nvPr/>
        </p:nvSpPr>
        <p:spPr>
          <a:xfrm xmlns:a="http://schemas.openxmlformats.org/drawingml/2006/main">
            <a:off x="2533650" y="47434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-0.0004</a:t>
            </a:r>
          </a:p>
        </p:txBody>
      </p:sp>
      <p:sp>
        <p:nvSpPr>
          <p:cNvPr id="57" name="">
            <a:extLst xmlns:a="http://schemas.openxmlformats.org/drawingml/2006/main">
              <a:ext uri="{FF2B5EF4-FFF2-40B4-BE49-F238E27FC236}">
                <a16:creationId xmlns:a16="http://schemas.microsoft.com/office/drawing/2014/main" id="{5433D34D-9C1D-4BCC-A1D2-34A53C141276}"/>
              </a:ext>
            </a:extLst>
          </p:cNvPr>
          <p:cNvSpPr>
            <a:spLocks xmlns:a="http://schemas.openxmlformats.org/drawingml/2006/main" noGrp="1"/>
          </p:cNvSpPr>
          <p:nvPr/>
        </p:nvSpPr>
        <p:spPr>
          <a:xfrm xmlns:a="http://schemas.openxmlformats.org/drawingml/2006/main">
            <a:off x="4552950" y="4667250"/>
            <a:ext cx="17716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8" name="">
            <a:extLst xmlns:a="http://schemas.openxmlformats.org/drawingml/2006/main">
              <a:ext uri="{FF2B5EF4-FFF2-40B4-BE49-F238E27FC236}">
                <a16:creationId xmlns:a16="http://schemas.microsoft.com/office/drawing/2014/main" id="{F9DF0100-207E-419E-BFFE-D60E0FE2FCB4}"/>
              </a:ext>
            </a:extLst>
          </p:cNvPr>
          <p:cNvSpPr>
            <a:spLocks xmlns:a="http://schemas.openxmlformats.org/drawingml/2006/main" noGrp="1"/>
          </p:cNvSpPr>
          <p:nvPr/>
        </p:nvSpPr>
        <p:spPr>
          <a:xfrm xmlns:a="http://schemas.openxmlformats.org/drawingml/2006/main">
            <a:off x="4648200" y="47434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-0.0019 to +0.0012</a:t>
            </a:r>
          </a:p>
        </p:txBody>
      </p:sp>
      <p:sp>
        <p:nvSpPr>
          <p:cNvPr id="59" name="">
            <a:extLst xmlns:a="http://schemas.openxmlformats.org/drawingml/2006/main">
              <a:ext uri="{FF2B5EF4-FFF2-40B4-BE49-F238E27FC236}">
                <a16:creationId xmlns:a16="http://schemas.microsoft.com/office/drawing/2014/main" id="{5C78C74B-565D-436E-BAFB-8219EB5A2571}"/>
              </a:ext>
            </a:extLst>
          </p:cNvPr>
          <p:cNvSpPr>
            <a:spLocks xmlns:a="http://schemas.openxmlformats.org/drawingml/2006/main" noGrp="1"/>
          </p:cNvSpPr>
          <p:nvPr/>
        </p:nvSpPr>
        <p:spPr>
          <a:xfrm xmlns:a="http://schemas.openxmlformats.org/drawingml/2006/main">
            <a:off x="6324600" y="4667250"/>
            <a:ext cx="26098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0" name="">
            <a:extLst xmlns:a="http://schemas.openxmlformats.org/drawingml/2006/main">
              <a:ext uri="{FF2B5EF4-FFF2-40B4-BE49-F238E27FC236}">
                <a16:creationId xmlns:a16="http://schemas.microsoft.com/office/drawing/2014/main" id="{ACD2E299-DB66-45D5-B2C6-F1B0A2D16AF0}"/>
              </a:ext>
            </a:extLst>
          </p:cNvPr>
          <p:cNvSpPr>
            <a:spLocks xmlns:a="http://schemas.openxmlformats.org/drawingml/2006/main" noGrp="1"/>
          </p:cNvSpPr>
          <p:nvPr/>
        </p:nvSpPr>
        <p:spPr>
          <a:xfrm xmlns:a="http://schemas.openxmlformats.org/drawingml/2006/main">
            <a:off x="6419850" y="47434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No Stable Gain</a:t>
            </a:r>
          </a:p>
        </p:txBody>
      </p:sp>
      <p:sp>
        <p:nvSpPr>
          <p:cNvPr id="61" name="">
            <a:extLst xmlns:a="http://schemas.openxmlformats.org/drawingml/2006/main">
              <a:ext uri="{FF2B5EF4-FFF2-40B4-BE49-F238E27FC236}">
                <a16:creationId xmlns:a16="http://schemas.microsoft.com/office/drawing/2014/main" id="{3D4580A2-D9D7-4ED6-9EB1-AC1B2C0B4222}"/>
              </a:ext>
            </a:extLst>
          </p:cNvPr>
          <p:cNvSpPr>
            <a:spLocks xmlns:a="http://schemas.openxmlformats.org/drawingml/2006/main" noGrp="1"/>
          </p:cNvSpPr>
          <p:nvPr/>
        </p:nvSpPr>
        <p:spPr>
          <a:xfrm xmlns:a="http://schemas.openxmlformats.org/drawingml/2006/main">
            <a:off x="8934450" y="4667250"/>
            <a:ext cx="28194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2" name="">
            <a:extLst xmlns:a="http://schemas.openxmlformats.org/drawingml/2006/main">
              <a:ext uri="{FF2B5EF4-FFF2-40B4-BE49-F238E27FC236}">
                <a16:creationId xmlns:a16="http://schemas.microsoft.com/office/drawing/2014/main" id="{2E4E03F6-C5F7-4202-B06C-1100480F5DB5}"/>
              </a:ext>
            </a:extLst>
          </p:cNvPr>
          <p:cNvSpPr>
            <a:spLocks xmlns:a="http://schemas.openxmlformats.org/drawingml/2006/main" noGrp="1"/>
          </p:cNvSpPr>
          <p:nvPr/>
        </p:nvSpPr>
        <p:spPr>
          <a:xfrm xmlns:a="http://schemas.openxmlformats.org/drawingml/2006/main">
            <a:off x="9029700" y="47434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Force-field summaries do not improve broad aggregate transfer.</a:t>
            </a:r>
          </a:p>
        </p:txBody>
      </p:sp>
      <p:sp>
        <p:nvSpPr>
          <p:cNvPr id="63" name="">
            <a:extLst xmlns:a="http://schemas.openxmlformats.org/drawingml/2006/main">
              <a:ext uri="{FF2B5EF4-FFF2-40B4-BE49-F238E27FC236}">
                <a16:creationId xmlns:a16="http://schemas.microsoft.com/office/drawing/2014/main" id="{7C2E26BF-FD34-4FB1-884B-45E26FFE07F5}"/>
              </a:ext>
            </a:extLst>
          </p:cNvPr>
          <p:cNvSpPr>
            <a:spLocks xmlns:a="http://schemas.openxmlformats.org/drawingml/2006/main" noGrp="1"/>
          </p:cNvSpPr>
          <p:nvPr/>
        </p:nvSpPr>
        <p:spPr>
          <a:xfrm xmlns:a="http://schemas.openxmlformats.org/drawingml/2006/main">
            <a:off x="438150" y="53911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4" name="">
            <a:extLst xmlns:a="http://schemas.openxmlformats.org/drawingml/2006/main">
              <a:ext uri="{FF2B5EF4-FFF2-40B4-BE49-F238E27FC236}">
                <a16:creationId xmlns:a16="http://schemas.microsoft.com/office/drawing/2014/main" id="{5589E2FD-98C3-4831-AB8F-3913AAA44944}"/>
              </a:ext>
            </a:extLst>
          </p:cNvPr>
          <p:cNvSpPr>
            <a:spLocks xmlns:a="http://schemas.openxmlformats.org/drawingml/2006/main" noGrp="1"/>
          </p:cNvSpPr>
          <p:nvPr/>
        </p:nvSpPr>
        <p:spPr>
          <a:xfrm xmlns:a="http://schemas.openxmlformats.org/drawingml/2006/main">
            <a:off x="533400" y="54673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Add Selected Interactions</a:t>
            </a:r>
          </a:p>
        </p:txBody>
      </p:sp>
      <p:sp>
        <p:nvSpPr>
          <p:cNvPr id="65" name="">
            <a:extLst xmlns:a="http://schemas.openxmlformats.org/drawingml/2006/main">
              <a:ext uri="{FF2B5EF4-FFF2-40B4-BE49-F238E27FC236}">
                <a16:creationId xmlns:a16="http://schemas.microsoft.com/office/drawing/2014/main" id="{CD512BBE-D8C8-4BF9-AC01-E54F4451BF2E}"/>
              </a:ext>
            </a:extLst>
          </p:cNvPr>
          <p:cNvSpPr>
            <a:spLocks xmlns:a="http://schemas.openxmlformats.org/drawingml/2006/main" noGrp="1"/>
          </p:cNvSpPr>
          <p:nvPr/>
        </p:nvSpPr>
        <p:spPr>
          <a:xfrm xmlns:a="http://schemas.openxmlformats.org/drawingml/2006/main">
            <a:off x="2438400" y="53911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6" name="">
            <a:extLst xmlns:a="http://schemas.openxmlformats.org/drawingml/2006/main">
              <a:ext uri="{FF2B5EF4-FFF2-40B4-BE49-F238E27FC236}">
                <a16:creationId xmlns:a16="http://schemas.microsoft.com/office/drawing/2014/main" id="{7679E48E-9F29-4BB6-AFF4-BD54BCBBFC9E}"/>
              </a:ext>
            </a:extLst>
          </p:cNvPr>
          <p:cNvSpPr>
            <a:spLocks xmlns:a="http://schemas.openxmlformats.org/drawingml/2006/main" noGrp="1"/>
          </p:cNvSpPr>
          <p:nvPr/>
        </p:nvSpPr>
        <p:spPr>
          <a:xfrm xmlns:a="http://schemas.openxmlformats.org/drawingml/2006/main">
            <a:off x="2533650" y="54673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+0.0003</a:t>
            </a:r>
          </a:p>
        </p:txBody>
      </p:sp>
      <p:sp>
        <p:nvSpPr>
          <p:cNvPr id="67" name="">
            <a:extLst xmlns:a="http://schemas.openxmlformats.org/drawingml/2006/main">
              <a:ext uri="{FF2B5EF4-FFF2-40B4-BE49-F238E27FC236}">
                <a16:creationId xmlns:a16="http://schemas.microsoft.com/office/drawing/2014/main" id="{9747E809-1B6D-4EE7-992C-B57D0780B886}"/>
              </a:ext>
            </a:extLst>
          </p:cNvPr>
          <p:cNvSpPr>
            <a:spLocks xmlns:a="http://schemas.openxmlformats.org/drawingml/2006/main" noGrp="1"/>
          </p:cNvSpPr>
          <p:nvPr/>
        </p:nvSpPr>
        <p:spPr>
          <a:xfrm xmlns:a="http://schemas.openxmlformats.org/drawingml/2006/main">
            <a:off x="4552950" y="5391150"/>
            <a:ext cx="17716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8" name="">
            <a:extLst xmlns:a="http://schemas.openxmlformats.org/drawingml/2006/main">
              <a:ext uri="{FF2B5EF4-FFF2-40B4-BE49-F238E27FC236}">
                <a16:creationId xmlns:a16="http://schemas.microsoft.com/office/drawing/2014/main" id="{FC2E8E1F-F773-4BD2-806C-C7E92EC74FB7}"/>
              </a:ext>
            </a:extLst>
          </p:cNvPr>
          <p:cNvSpPr>
            <a:spLocks xmlns:a="http://schemas.openxmlformats.org/drawingml/2006/main" noGrp="1"/>
          </p:cNvSpPr>
          <p:nvPr/>
        </p:nvSpPr>
        <p:spPr>
          <a:xfrm xmlns:a="http://schemas.openxmlformats.org/drawingml/2006/main">
            <a:off x="4648200" y="5467350"/>
            <a:ext cx="1581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i="0">
                <a:solidFill>
                  <a:srgbClr val="0B0F14"/>
                </a:solidFill>
                <a:latin typeface="Helvetica Neue"/>
                <a:ea typeface="Helvetica Neue"/>
                <a:cs typeface="Helvetica Neue"/>
              </a:defRPr>
            </a:pPr>
            <a:r>
              <a:rPr sz="1275" b="0" i="0">
                <a:solidFill>
                  <a:srgbClr val="0B0F14"/>
                </a:solidFill>
                <a:latin typeface="Helvetica Neue"/>
                <a:ea typeface="Helvetica Neue"/>
                <a:cs typeface="Helvetica Neue"/>
              </a:rPr>
              <a:t>-0.0013 to +0.0020</a:t>
            </a:r>
          </a:p>
        </p:txBody>
      </p:sp>
      <p:sp>
        <p:nvSpPr>
          <p:cNvPr id="69" name="">
            <a:extLst xmlns:a="http://schemas.openxmlformats.org/drawingml/2006/main">
              <a:ext uri="{FF2B5EF4-FFF2-40B4-BE49-F238E27FC236}">
                <a16:creationId xmlns:a16="http://schemas.microsoft.com/office/drawing/2014/main" id="{BA3329F1-72E4-4420-946E-421C9C60DD84}"/>
              </a:ext>
            </a:extLst>
          </p:cNvPr>
          <p:cNvSpPr>
            <a:spLocks xmlns:a="http://schemas.openxmlformats.org/drawingml/2006/main" noGrp="1"/>
          </p:cNvSpPr>
          <p:nvPr/>
        </p:nvSpPr>
        <p:spPr>
          <a:xfrm xmlns:a="http://schemas.openxmlformats.org/drawingml/2006/main">
            <a:off x="6324600" y="5391150"/>
            <a:ext cx="26098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0" name="">
            <a:extLst xmlns:a="http://schemas.openxmlformats.org/drawingml/2006/main">
              <a:ext uri="{FF2B5EF4-FFF2-40B4-BE49-F238E27FC236}">
                <a16:creationId xmlns:a16="http://schemas.microsoft.com/office/drawing/2014/main" id="{F3F1B980-2684-4F6A-9337-1FEBDE41D45A}"/>
              </a:ext>
            </a:extLst>
          </p:cNvPr>
          <p:cNvSpPr>
            <a:spLocks xmlns:a="http://schemas.openxmlformats.org/drawingml/2006/main" noGrp="1"/>
          </p:cNvSpPr>
          <p:nvPr/>
        </p:nvSpPr>
        <p:spPr>
          <a:xfrm xmlns:a="http://schemas.openxmlformats.org/drawingml/2006/main">
            <a:off x="6419850" y="5467350"/>
            <a:ext cx="241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i="0">
                <a:solidFill>
                  <a:srgbClr val="0B0F14"/>
                </a:solidFill>
                <a:latin typeface="Helvetica Neue"/>
                <a:ea typeface="Helvetica Neue"/>
                <a:cs typeface="Helvetica Neue"/>
              </a:defRPr>
            </a:pPr>
            <a:r>
              <a:rPr sz="1275" b="1" i="0">
                <a:solidFill>
                  <a:srgbClr val="0B0F14"/>
                </a:solidFill>
                <a:latin typeface="Helvetica Neue"/>
                <a:ea typeface="Helvetica Neue"/>
                <a:cs typeface="Helvetica Neue"/>
              </a:rPr>
              <a:t>No Stable Gain</a:t>
            </a:r>
          </a:p>
        </p:txBody>
      </p:sp>
      <p:sp>
        <p:nvSpPr>
          <p:cNvPr id="71" name="">
            <a:extLst xmlns:a="http://schemas.openxmlformats.org/drawingml/2006/main">
              <a:ext uri="{FF2B5EF4-FFF2-40B4-BE49-F238E27FC236}">
                <a16:creationId xmlns:a16="http://schemas.microsoft.com/office/drawing/2014/main" id="{ED60F585-1BCE-4169-9A76-B0755EC1F0EF}"/>
              </a:ext>
            </a:extLst>
          </p:cNvPr>
          <p:cNvSpPr>
            <a:spLocks xmlns:a="http://schemas.openxmlformats.org/drawingml/2006/main" noGrp="1"/>
          </p:cNvSpPr>
          <p:nvPr/>
        </p:nvSpPr>
        <p:spPr>
          <a:xfrm xmlns:a="http://schemas.openxmlformats.org/drawingml/2006/main">
            <a:off x="8934450" y="5391150"/>
            <a:ext cx="28194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2" name="">
            <a:extLst xmlns:a="http://schemas.openxmlformats.org/drawingml/2006/main">
              <a:ext uri="{FF2B5EF4-FFF2-40B4-BE49-F238E27FC236}">
                <a16:creationId xmlns:a16="http://schemas.microsoft.com/office/drawing/2014/main" id="{4C6B8CBF-0BBE-45F4-AF11-D3C57BC8B4DF}"/>
              </a:ext>
            </a:extLst>
          </p:cNvPr>
          <p:cNvSpPr>
            <a:spLocks xmlns:a="http://schemas.openxmlformats.org/drawingml/2006/main" noGrp="1"/>
          </p:cNvSpPr>
          <p:nvPr/>
        </p:nvSpPr>
        <p:spPr>
          <a:xfrm xmlns:a="http://schemas.openxmlformats.org/drawingml/2006/main">
            <a:off x="9029700" y="5467350"/>
            <a:ext cx="2628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Interaction hypotheses may matter locally, not as a global block.</a:t>
            </a:r>
          </a:p>
        </p:txBody>
      </p:sp>
    </p:spTree>
    <p:extLst>
      <p:ext uri="{BB962C8B-B14F-4D97-AF65-F5344CB8AC3E}">
        <p14:creationId xmlns:p14="http://schemas.microsoft.com/office/powerpoint/2010/main" val="5222807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7386AE4-9022-42D3-86FE-066C0D0E86E0}"/>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What Ligand-Only Physics Added</a:t>
            </a:r>
          </a:p>
        </p:txBody>
      </p:sp>
      <p:cxnSp>
        <p:nvCxnSpPr>
          <p:cNvPr id="20"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56c6cd1475b486b"/>
          <a:stretch xmlns:a="http://schemas.openxmlformats.org/drawingml/2006/main"/>
        </p:blipFill>
        <p:spPr>
          <a:xfrm xmlns:a="http://schemas.openxmlformats.org/drawingml/2006/main">
            <a:off x="438150" y="1311441"/>
            <a:ext cx="7010400" cy="488281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D8BD7E-2DE4-44F0-8CD7-E7B4DFCC15DC}"/>
              </a:ext>
            </a:extLst>
          </p:cNvPr>
          <p:cNvSpPr>
            <a:spLocks xmlns:a="http://schemas.openxmlformats.org/drawingml/2006/main" noGrp="1"/>
          </p:cNvSpPr>
          <p:nvPr/>
        </p:nvSpPr>
        <p:spPr>
          <a:xfrm xmlns:a="http://schemas.openxmlformats.org/drawingml/2006/main">
            <a:off x="7734300" y="1276350"/>
            <a:ext cx="4000500" cy="1314450"/>
          </a:xfrm>
          <a:prstGeom xmlns:a="http://schemas.openxmlformats.org/drawingml/2006/main" prst="roundRect">
            <a:avLst>
              <a:gd name="adj" fmla="val 8696"/>
            </a:avLst>
          </a:prstGeom>
          <a:solidFill xmlns:a="http://schemas.openxmlformats.org/drawingml/2006/main">
            <a:srgbClr val="F1EDFF"/>
          </a:solidFill>
          <a:ln xmlns:a="http://schemas.openxmlformats.org/drawingml/2006/main" w="9525">
            <a:solidFill>
              <a:srgbClr val="F1EDFF"/>
            </a:solidFill>
            <a:prstDash val="solid"/>
          </a:ln>
        </p:spPr>
      </p:sp>
      <p:sp>
        <p:nvSpPr>
          <p:cNvPr id="5" name="">
            <a:extLst xmlns:a="http://schemas.openxmlformats.org/drawingml/2006/main">
              <a:ext uri="{FF2B5EF4-FFF2-40B4-BE49-F238E27FC236}">
                <a16:creationId xmlns:a16="http://schemas.microsoft.com/office/drawing/2014/main" id="{1DC00475-EDDF-4EF6-AFA6-4B81CA4A2535}"/>
              </a:ext>
            </a:extLst>
          </p:cNvPr>
          <p:cNvSpPr>
            <a:spLocks xmlns:a="http://schemas.openxmlformats.org/drawingml/2006/main" noGrp="1"/>
          </p:cNvSpPr>
          <p:nvPr/>
        </p:nvSpPr>
        <p:spPr>
          <a:xfrm xmlns:a="http://schemas.openxmlformats.org/drawingml/2006/main">
            <a:off x="7981950" y="1485900"/>
            <a:ext cx="350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i="0">
                <a:solidFill>
                  <a:srgbClr val="7057C7"/>
                </a:solidFill>
                <a:latin typeface="Helvetica Neue"/>
                <a:ea typeface="Helvetica Neue"/>
                <a:cs typeface="Helvetica Neue"/>
              </a:defRPr>
            </a:pPr>
            <a:r>
              <a:rPr sz="2700" b="1" i="0">
                <a:solidFill>
                  <a:srgbClr val="7057C7"/>
                </a:solidFill>
                <a:latin typeface="Helvetica Neue"/>
                <a:ea typeface="Helvetica Neue"/>
                <a:cs typeface="Helvetica Neue"/>
              </a:rPr>
              <a:t>24 Conformers</a:t>
            </a:r>
          </a:p>
        </p:txBody>
      </p:sp>
      <p:sp>
        <p:nvSpPr>
          <p:cNvPr id="6" name="">
            <a:extLst xmlns:a="http://schemas.openxmlformats.org/drawingml/2006/main">
              <a:ext uri="{FF2B5EF4-FFF2-40B4-BE49-F238E27FC236}">
                <a16:creationId xmlns:a16="http://schemas.microsoft.com/office/drawing/2014/main" id="{15ECA99C-1C0F-4C76-8043-0B1BEE4155A6}"/>
              </a:ext>
            </a:extLst>
          </p:cNvPr>
          <p:cNvSpPr>
            <a:spLocks xmlns:a="http://schemas.openxmlformats.org/drawingml/2006/main" noGrp="1"/>
          </p:cNvSpPr>
          <p:nvPr/>
        </p:nvSpPr>
        <p:spPr>
          <a:xfrm xmlns:a="http://schemas.openxmlformats.org/drawingml/2006/main">
            <a:off x="7981950" y="2019300"/>
            <a:ext cx="3505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91"/>
          </a:bodyPr>
          <a:lstStyle xmlns:a="http://schemas.openxmlformats.org/drawingml/2006/main"/>
          <a:p xmlns:a="http://schemas.openxmlformats.org/drawingml/2006/main">
            <a:pPr algn="l">
              <a:buNone/>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Fresh conformer surface across 24,901 quantitative structures</a:t>
            </a:r>
          </a:p>
        </p:txBody>
      </p:sp>
      <p:sp>
        <p:nvSpPr>
          <p:cNvPr id="7" name="">
            <a:extLst xmlns:a="http://schemas.openxmlformats.org/drawingml/2006/main">
              <a:ext uri="{FF2B5EF4-FFF2-40B4-BE49-F238E27FC236}">
                <a16:creationId xmlns:a16="http://schemas.microsoft.com/office/drawing/2014/main" id="{352F6585-47DF-4382-A71C-689E769BE228}"/>
              </a:ext>
            </a:extLst>
          </p:cNvPr>
          <p:cNvSpPr>
            <a:spLocks xmlns:a="http://schemas.openxmlformats.org/drawingml/2006/main" noGrp="1"/>
          </p:cNvSpPr>
          <p:nvPr/>
        </p:nvSpPr>
        <p:spPr>
          <a:xfrm xmlns:a="http://schemas.openxmlformats.org/drawingml/2006/main">
            <a:off x="7734300" y="2800350"/>
            <a:ext cx="4000500" cy="1314450"/>
          </a:xfrm>
          <a:prstGeom xmlns:a="http://schemas.openxmlformats.org/drawingml/2006/main" prst="roundRect">
            <a:avLst>
              <a:gd name="adj" fmla="val 8696"/>
            </a:avLst>
          </a:prstGeom>
          <a:solidFill xmlns:a="http://schemas.openxmlformats.org/drawingml/2006/main">
            <a:srgbClr val="FCECEC"/>
          </a:solidFill>
          <a:ln xmlns:a="http://schemas.openxmlformats.org/drawingml/2006/main" w="9525">
            <a:solidFill>
              <a:srgbClr val="FCECEC"/>
            </a:solidFill>
            <a:prstDash val="solid"/>
          </a:ln>
        </p:spPr>
      </p:sp>
      <p:sp>
        <p:nvSpPr>
          <p:cNvPr id="8" name="">
            <a:extLst xmlns:a="http://schemas.openxmlformats.org/drawingml/2006/main">
              <a:ext uri="{FF2B5EF4-FFF2-40B4-BE49-F238E27FC236}">
                <a16:creationId xmlns:a16="http://schemas.microsoft.com/office/drawing/2014/main" id="{859C9813-3688-4C9F-8F11-DC96F8E5E603}"/>
              </a:ext>
            </a:extLst>
          </p:cNvPr>
          <p:cNvSpPr>
            <a:spLocks xmlns:a="http://schemas.openxmlformats.org/drawingml/2006/main" noGrp="1"/>
          </p:cNvSpPr>
          <p:nvPr/>
        </p:nvSpPr>
        <p:spPr>
          <a:xfrm xmlns:a="http://schemas.openxmlformats.org/drawingml/2006/main">
            <a:off x="7981950" y="3009900"/>
            <a:ext cx="350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B84040"/>
                </a:solidFill>
                <a:latin typeface="Helvetica Neue"/>
                <a:ea typeface="Helvetica Neue"/>
                <a:cs typeface="Helvetica Neue"/>
              </a:defRPr>
            </a:pPr>
            <a:r>
              <a:rPr sz="2550" b="1" i="0">
                <a:solidFill>
                  <a:srgbClr val="B84040"/>
                </a:solidFill>
                <a:latin typeface="Helvetica Neue"/>
                <a:ea typeface="Helvetica Neue"/>
                <a:cs typeface="Helvetica Neue"/>
              </a:rPr>
              <a:t>No Aggregate Gain</a:t>
            </a:r>
          </a:p>
        </p:txBody>
      </p:sp>
      <p:sp>
        <p:nvSpPr>
          <p:cNvPr id="9" name="">
            <a:extLst xmlns:a="http://schemas.openxmlformats.org/drawingml/2006/main">
              <a:ext uri="{FF2B5EF4-FFF2-40B4-BE49-F238E27FC236}">
                <a16:creationId xmlns:a16="http://schemas.microsoft.com/office/drawing/2014/main" id="{C9F76353-2B3C-410A-BF86-55A0302514CC}"/>
              </a:ext>
            </a:extLst>
          </p:cNvPr>
          <p:cNvSpPr>
            <a:spLocks xmlns:a="http://schemas.openxmlformats.org/drawingml/2006/main" noGrp="1"/>
          </p:cNvSpPr>
          <p:nvPr/>
        </p:nvSpPr>
        <p:spPr>
          <a:xfrm xmlns:a="http://schemas.openxmlformats.org/drawingml/2006/main">
            <a:off x="7981950" y="3543300"/>
            <a:ext cx="350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636"/>
          </a:bodyPr>
          <a:lstStyle xmlns:a="http://schemas.openxmlformats.org/drawingml/2006/main"/>
          <a:p xmlns:a="http://schemas.openxmlformats.org/drawingml/2006/main">
            <a:pPr algn="l">
              <a:buNone/>
              <a:defRPr sz="1350" b="1" i="0">
                <a:solidFill>
                  <a:srgbClr val="0B0F14"/>
                </a:solidFill>
                <a:latin typeface="Helvetica Neue"/>
                <a:ea typeface="Helvetica Neue"/>
                <a:cs typeface="Helvetica Neue"/>
              </a:defRPr>
            </a:pPr>
            <a:r>
              <a:rPr sz="1350" b="1" i="0">
                <a:solidFill>
                  <a:srgbClr val="0B0F14"/>
                </a:solidFill>
                <a:latin typeface="Helvetica Neue"/>
                <a:ea typeface="Helvetica Neue"/>
                <a:cs typeface="Helvetica Neue"/>
              </a:rPr>
              <a:t>Shape, WHIM, energy, flexibility, and charge-contact blocks were unstable or redundant</a:t>
            </a:r>
          </a:p>
        </p:txBody>
      </p:sp>
      <p:sp>
        <p:nvSpPr>
          <p:cNvPr id="10" name="">
            <a:extLst xmlns:a="http://schemas.openxmlformats.org/drawingml/2006/main">
              <a:ext uri="{FF2B5EF4-FFF2-40B4-BE49-F238E27FC236}">
                <a16:creationId xmlns:a16="http://schemas.microsoft.com/office/drawing/2014/main" id="{16C604A0-23A3-412F-93F1-F25FE3E5A5DE}"/>
              </a:ext>
            </a:extLst>
          </p:cNvPr>
          <p:cNvSpPr>
            <a:spLocks xmlns:a="http://schemas.openxmlformats.org/drawingml/2006/main" noGrp="1"/>
          </p:cNvSpPr>
          <p:nvPr/>
        </p:nvSpPr>
        <p:spPr>
          <a:xfrm xmlns:a="http://schemas.openxmlformats.org/drawingml/2006/main">
            <a:off x="7734300" y="4324350"/>
            <a:ext cx="4000500" cy="1619250"/>
          </a:xfrm>
          <a:prstGeom xmlns:a="http://schemas.openxmlformats.org/drawingml/2006/main" prst="roundRect">
            <a:avLst>
              <a:gd name="adj" fmla="val 7059"/>
            </a:avLst>
          </a:prstGeom>
          <a:solidFill xmlns:a="http://schemas.openxmlformats.org/drawingml/2006/main">
            <a:srgbClr val="E9F7F1"/>
          </a:solidFill>
          <a:ln xmlns:a="http://schemas.openxmlformats.org/drawingml/2006/main" w="9525">
            <a:solidFill>
              <a:srgbClr val="E9F7F1"/>
            </a:solidFill>
            <a:prstDash val="solid"/>
          </a:ln>
        </p:spPr>
      </p:sp>
      <p:sp>
        <p:nvSpPr>
          <p:cNvPr id="11" name="">
            <a:extLst xmlns:a="http://schemas.openxmlformats.org/drawingml/2006/main">
              <a:ext uri="{FF2B5EF4-FFF2-40B4-BE49-F238E27FC236}">
                <a16:creationId xmlns:a16="http://schemas.microsoft.com/office/drawing/2014/main" id="{A4DD6040-5496-4E96-87B0-F29F72806CB3}"/>
              </a:ext>
            </a:extLst>
          </p:cNvPr>
          <p:cNvSpPr>
            <a:spLocks xmlns:a="http://schemas.openxmlformats.org/drawingml/2006/main" noGrp="1"/>
          </p:cNvSpPr>
          <p:nvPr/>
        </p:nvSpPr>
        <p:spPr>
          <a:xfrm xmlns:a="http://schemas.openxmlformats.org/drawingml/2006/main">
            <a:off x="7981950" y="45529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Scientific Interpretation</a:t>
            </a:r>
          </a:p>
        </p:txBody>
      </p:sp>
      <p:sp>
        <p:nvSpPr>
          <p:cNvPr id="12" name="">
            <a:extLst xmlns:a="http://schemas.openxmlformats.org/drawingml/2006/main">
              <a:ext uri="{FF2B5EF4-FFF2-40B4-BE49-F238E27FC236}">
                <a16:creationId xmlns:a16="http://schemas.microsoft.com/office/drawing/2014/main" id="{9DF69A45-2A5E-4A3E-9BDE-A5C51D41CCEF}"/>
              </a:ext>
            </a:extLst>
          </p:cNvPr>
          <p:cNvSpPr>
            <a:spLocks xmlns:a="http://schemas.openxmlformats.org/drawingml/2006/main" noGrp="1"/>
          </p:cNvSpPr>
          <p:nvPr/>
        </p:nvSpPr>
        <p:spPr>
          <a:xfrm xmlns:a="http://schemas.openxmlformats.org/drawingml/2006/main">
            <a:off x="7981950" y="5010150"/>
            <a:ext cx="3505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912"/>
          </a:bodyPr>
          <a:lstStyle xmlns:a="http://schemas.openxmlformats.org/drawingml/2006/main"/>
          <a:p xmlns:a="http://schemas.openxmlformats.org/drawingml/2006/main">
            <a:pPr algn="l">
              <a:buNone/>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The negative result narrows the next experiment: improve microstate, receptor-state, membrane, and assay context instead of adding more generic ligand descriptors.</a:t>
            </a:r>
          </a:p>
        </p:txBody>
      </p:sp>
    </p:spTree>
    <p:extLst>
      <p:ext uri="{BB962C8B-B14F-4D97-AF65-F5344CB8AC3E}">
        <p14:creationId xmlns:p14="http://schemas.microsoft.com/office/powerpoint/2010/main" val="628209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290359-8A1C-42AC-8481-8E85CBEF2309}"/>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Applicability Domain Defines Reliability</a:t>
            </a:r>
          </a:p>
        </p:txBody>
      </p:sp>
      <p:cxnSp>
        <p:nvCxnSpPr>
          <p:cNvPr id="23"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33a2013a98e432b"/>
          <a:stretch xmlns:a="http://schemas.openxmlformats.org/drawingml/2006/main"/>
        </p:blipFill>
        <p:spPr>
          <a:xfrm xmlns:a="http://schemas.openxmlformats.org/drawingml/2006/main">
            <a:off x="438150" y="1337166"/>
            <a:ext cx="7124700" cy="471706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06F948-1376-4160-8980-10D9B3632DF0}"/>
              </a:ext>
            </a:extLst>
          </p:cNvPr>
          <p:cNvSpPr>
            <a:spLocks xmlns:a="http://schemas.openxmlformats.org/drawingml/2006/main" noGrp="1"/>
          </p:cNvSpPr>
          <p:nvPr/>
        </p:nvSpPr>
        <p:spPr>
          <a:xfrm xmlns:a="http://schemas.openxmlformats.org/drawingml/2006/main">
            <a:off x="7848600" y="1276350"/>
            <a:ext cx="1828800" cy="1390650"/>
          </a:xfrm>
          <a:prstGeom xmlns:a="http://schemas.openxmlformats.org/drawingml/2006/main" prst="roundRect">
            <a:avLst>
              <a:gd name="adj" fmla="val 8219"/>
            </a:avLst>
          </a:prstGeom>
          <a:solidFill xmlns:a="http://schemas.openxmlformats.org/drawingml/2006/main">
            <a:srgbClr val="E9F7F1"/>
          </a:solidFill>
          <a:ln xmlns:a="http://schemas.openxmlformats.org/drawingml/2006/main" w="9525">
            <a:solidFill>
              <a:srgbClr val="E9F7F1"/>
            </a:solidFill>
            <a:prstDash val="solid"/>
          </a:ln>
        </p:spPr>
      </p:sp>
      <p:sp>
        <p:nvSpPr>
          <p:cNvPr id="5" name="">
            <a:extLst xmlns:a="http://schemas.openxmlformats.org/drawingml/2006/main">
              <a:ext uri="{FF2B5EF4-FFF2-40B4-BE49-F238E27FC236}">
                <a16:creationId xmlns:a16="http://schemas.microsoft.com/office/drawing/2014/main" id="{2E48C5B2-7FC1-4B62-A386-B41F7066FFE7}"/>
              </a:ext>
            </a:extLst>
          </p:cNvPr>
          <p:cNvSpPr>
            <a:spLocks xmlns:a="http://schemas.openxmlformats.org/drawingml/2006/main" noGrp="1"/>
          </p:cNvSpPr>
          <p:nvPr/>
        </p:nvSpPr>
        <p:spPr>
          <a:xfrm xmlns:a="http://schemas.openxmlformats.org/drawingml/2006/main">
            <a:off x="8039100" y="14478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0.379</a:t>
            </a:r>
          </a:p>
        </p:txBody>
      </p:sp>
      <p:sp>
        <p:nvSpPr>
          <p:cNvPr id="6" name="">
            <a:extLst xmlns:a="http://schemas.openxmlformats.org/drawingml/2006/main">
              <a:ext uri="{FF2B5EF4-FFF2-40B4-BE49-F238E27FC236}">
                <a16:creationId xmlns:a16="http://schemas.microsoft.com/office/drawing/2014/main" id="{8DB3827B-2EE4-47B8-B3DE-A9481FF7E9CF}"/>
              </a:ext>
            </a:extLst>
          </p:cNvPr>
          <p:cNvSpPr>
            <a:spLocks xmlns:a="http://schemas.openxmlformats.org/drawingml/2006/main" noGrp="1"/>
          </p:cNvSpPr>
          <p:nvPr/>
        </p:nvSpPr>
        <p:spPr>
          <a:xfrm xmlns:a="http://schemas.openxmlformats.org/drawingml/2006/main">
            <a:off x="8039100" y="2057400"/>
            <a:ext cx="1447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In-Domain MAE</a:t>
            </a:r>
          </a:p>
        </p:txBody>
      </p:sp>
      <p:sp>
        <p:nvSpPr>
          <p:cNvPr id="7" name="">
            <a:extLst xmlns:a="http://schemas.openxmlformats.org/drawingml/2006/main">
              <a:ext uri="{FF2B5EF4-FFF2-40B4-BE49-F238E27FC236}">
                <a16:creationId xmlns:a16="http://schemas.microsoft.com/office/drawing/2014/main" id="{3FDB1F63-7A37-48FA-A659-BE9E44751AFF}"/>
              </a:ext>
            </a:extLst>
          </p:cNvPr>
          <p:cNvSpPr>
            <a:spLocks xmlns:a="http://schemas.openxmlformats.org/drawingml/2006/main" noGrp="1"/>
          </p:cNvSpPr>
          <p:nvPr/>
        </p:nvSpPr>
        <p:spPr>
          <a:xfrm xmlns:a="http://schemas.openxmlformats.org/drawingml/2006/main">
            <a:off x="9867900" y="1276350"/>
            <a:ext cx="1866900" cy="1390650"/>
          </a:xfrm>
          <a:prstGeom xmlns:a="http://schemas.openxmlformats.org/drawingml/2006/main" prst="roundRect">
            <a:avLst>
              <a:gd name="adj" fmla="val 8219"/>
            </a:avLst>
          </a:prstGeom>
          <a:solidFill xmlns:a="http://schemas.openxmlformats.org/drawingml/2006/main">
            <a:srgbClr val="FCECEC"/>
          </a:solidFill>
          <a:ln xmlns:a="http://schemas.openxmlformats.org/drawingml/2006/main" w="9525">
            <a:solidFill>
              <a:srgbClr val="FCECEC"/>
            </a:solidFill>
            <a:prstDash val="solid"/>
          </a:ln>
        </p:spPr>
      </p:sp>
      <p:sp>
        <p:nvSpPr>
          <p:cNvPr id="8" name="">
            <a:extLst xmlns:a="http://schemas.openxmlformats.org/drawingml/2006/main">
              <a:ext uri="{FF2B5EF4-FFF2-40B4-BE49-F238E27FC236}">
                <a16:creationId xmlns:a16="http://schemas.microsoft.com/office/drawing/2014/main" id="{7B6DCA2C-B6B1-4F45-9EB8-FE815DD70A0E}"/>
              </a:ext>
            </a:extLst>
          </p:cNvPr>
          <p:cNvSpPr>
            <a:spLocks xmlns:a="http://schemas.openxmlformats.org/drawingml/2006/main" noGrp="1"/>
          </p:cNvSpPr>
          <p:nvPr/>
        </p:nvSpPr>
        <p:spPr>
          <a:xfrm xmlns:a="http://schemas.openxmlformats.org/drawingml/2006/main">
            <a:off x="10058400" y="1447800"/>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B84040"/>
                </a:solidFill>
                <a:latin typeface="Helvetica Neue"/>
                <a:ea typeface="Helvetica Neue"/>
                <a:cs typeface="Helvetica Neue"/>
              </a:defRPr>
            </a:pPr>
            <a:r>
              <a:rPr sz="3375" b="1" i="0">
                <a:solidFill>
                  <a:srgbClr val="B84040"/>
                </a:solidFill>
                <a:latin typeface="Helvetica Neue"/>
                <a:ea typeface="Helvetica Neue"/>
                <a:cs typeface="Helvetica Neue"/>
              </a:rPr>
              <a:t>0.560</a:t>
            </a:r>
          </a:p>
        </p:txBody>
      </p:sp>
      <p:sp>
        <p:nvSpPr>
          <p:cNvPr id="9" name="">
            <a:extLst xmlns:a="http://schemas.openxmlformats.org/drawingml/2006/main">
              <a:ext uri="{FF2B5EF4-FFF2-40B4-BE49-F238E27FC236}">
                <a16:creationId xmlns:a16="http://schemas.microsoft.com/office/drawing/2014/main" id="{9333DD82-19DF-431C-8A63-96194DCF70BC}"/>
              </a:ext>
            </a:extLst>
          </p:cNvPr>
          <p:cNvSpPr>
            <a:spLocks xmlns:a="http://schemas.openxmlformats.org/drawingml/2006/main" noGrp="1"/>
          </p:cNvSpPr>
          <p:nvPr/>
        </p:nvSpPr>
        <p:spPr>
          <a:xfrm xmlns:a="http://schemas.openxmlformats.org/drawingml/2006/main">
            <a:off x="10058400" y="20574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Flagged MAE</a:t>
            </a:r>
          </a:p>
        </p:txBody>
      </p:sp>
      <p:sp>
        <p:nvSpPr>
          <p:cNvPr id="10" name="">
            <a:extLst xmlns:a="http://schemas.openxmlformats.org/drawingml/2006/main">
              <a:ext uri="{FF2B5EF4-FFF2-40B4-BE49-F238E27FC236}">
                <a16:creationId xmlns:a16="http://schemas.microsoft.com/office/drawing/2014/main" id="{AFFF292C-4753-4453-BD0E-DBEA30311053}"/>
              </a:ext>
            </a:extLst>
          </p:cNvPr>
          <p:cNvSpPr>
            <a:spLocks xmlns:a="http://schemas.openxmlformats.org/drawingml/2006/main" noGrp="1"/>
          </p:cNvSpPr>
          <p:nvPr/>
        </p:nvSpPr>
        <p:spPr>
          <a:xfrm xmlns:a="http://schemas.openxmlformats.org/drawingml/2006/main">
            <a:off x="7848600" y="2895600"/>
            <a:ext cx="3886200" cy="1409700"/>
          </a:xfrm>
          <a:prstGeom xmlns:a="http://schemas.openxmlformats.org/drawingml/2006/main" prst="roundRect">
            <a:avLst>
              <a:gd name="adj" fmla="val 8108"/>
            </a:avLst>
          </a:prstGeom>
          <a:solidFill xmlns:a="http://schemas.openxmlformats.org/drawingml/2006/main">
            <a:srgbClr val="EAF2FF"/>
          </a:solidFill>
          <a:ln xmlns:a="http://schemas.openxmlformats.org/drawingml/2006/main" w="9525">
            <a:solidFill>
              <a:srgbClr val="EAF2FF"/>
            </a:solidFill>
            <a:prstDash val="solid"/>
          </a:ln>
        </p:spPr>
      </p:sp>
      <p:sp>
        <p:nvSpPr>
          <p:cNvPr id="11" name="">
            <a:extLst xmlns:a="http://schemas.openxmlformats.org/drawingml/2006/main">
              <a:ext uri="{FF2B5EF4-FFF2-40B4-BE49-F238E27FC236}">
                <a16:creationId xmlns:a16="http://schemas.microsoft.com/office/drawing/2014/main" id="{21695802-7328-4D4F-A813-7FF389E360F7}"/>
              </a:ext>
            </a:extLst>
          </p:cNvPr>
          <p:cNvSpPr>
            <a:spLocks xmlns:a="http://schemas.openxmlformats.org/drawingml/2006/main" noGrp="1"/>
          </p:cNvSpPr>
          <p:nvPr/>
        </p:nvSpPr>
        <p:spPr>
          <a:xfrm xmlns:a="http://schemas.openxmlformats.org/drawingml/2006/main">
            <a:off x="8039100" y="3067050"/>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91.3%</a:t>
            </a:r>
          </a:p>
        </p:txBody>
      </p:sp>
      <p:sp>
        <p:nvSpPr>
          <p:cNvPr id="12" name="">
            <a:extLst xmlns:a="http://schemas.openxmlformats.org/drawingml/2006/main">
              <a:ext uri="{FF2B5EF4-FFF2-40B4-BE49-F238E27FC236}">
                <a16:creationId xmlns:a16="http://schemas.microsoft.com/office/drawing/2014/main" id="{4817AB1E-C3CB-47E6-967E-18B645417081}"/>
              </a:ext>
            </a:extLst>
          </p:cNvPr>
          <p:cNvSpPr>
            <a:spLocks xmlns:a="http://schemas.openxmlformats.org/drawingml/2006/main" noGrp="1"/>
          </p:cNvSpPr>
          <p:nvPr/>
        </p:nvSpPr>
        <p:spPr>
          <a:xfrm xmlns:a="http://schemas.openxmlformats.org/drawingml/2006/main">
            <a:off x="8039100" y="3676650"/>
            <a:ext cx="3505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Coverage of the Nominal 90% Interval</a:t>
            </a:r>
          </a:p>
        </p:txBody>
      </p:sp>
      <p:sp>
        <p:nvSpPr>
          <p:cNvPr id="13" name="">
            <a:extLst xmlns:a="http://schemas.openxmlformats.org/drawingml/2006/main">
              <a:ext uri="{FF2B5EF4-FFF2-40B4-BE49-F238E27FC236}">
                <a16:creationId xmlns:a16="http://schemas.microsoft.com/office/drawing/2014/main" id="{9E40C2B6-CCE5-443F-B2F7-4409BE69A2A6}"/>
              </a:ext>
            </a:extLst>
          </p:cNvPr>
          <p:cNvSpPr>
            <a:spLocks xmlns:a="http://schemas.openxmlformats.org/drawingml/2006/main" noGrp="1"/>
          </p:cNvSpPr>
          <p:nvPr/>
        </p:nvSpPr>
        <p:spPr>
          <a:xfrm xmlns:a="http://schemas.openxmlformats.org/drawingml/2006/main">
            <a:off x="7848600" y="4552950"/>
            <a:ext cx="3886200" cy="1371600"/>
          </a:xfrm>
          <a:prstGeom xmlns:a="http://schemas.openxmlformats.org/drawingml/2006/main" prst="roundRect">
            <a:avLst>
              <a:gd name="adj" fmla="val 8333"/>
            </a:avLst>
          </a:prstGeom>
          <a:solidFill xmlns:a="http://schemas.openxmlformats.org/drawingml/2006/main">
            <a:srgbClr val="F2F4F7"/>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9C42D4C4-046F-48B9-B1F8-6865E97C6E20}"/>
              </a:ext>
            </a:extLst>
          </p:cNvPr>
          <p:cNvSpPr>
            <a:spLocks xmlns:a="http://schemas.openxmlformats.org/drawingml/2006/main" noGrp="1"/>
          </p:cNvSpPr>
          <p:nvPr/>
        </p:nvSpPr>
        <p:spPr>
          <a:xfrm xmlns:a="http://schemas.openxmlformats.org/drawingml/2006/main">
            <a:off x="8077200" y="4762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i="0">
                <a:solidFill>
                  <a:srgbClr val="1E63D5"/>
                </a:solidFill>
                <a:latin typeface="Helvetica Neue"/>
                <a:ea typeface="Helvetica Neue"/>
                <a:cs typeface="Helvetica Neue"/>
              </a:defRPr>
            </a:pPr>
            <a:r>
              <a:rPr sz="1875" b="1" i="0">
                <a:solidFill>
                  <a:srgbClr val="1E63D5"/>
                </a:solidFill>
                <a:latin typeface="Helvetica Neue"/>
                <a:ea typeface="Helvetica Neue"/>
                <a:cs typeface="Helvetica Neue"/>
              </a:rPr>
              <a:t>Operational Rule</a:t>
            </a:r>
          </a:p>
        </p:txBody>
      </p:sp>
      <p:sp>
        <p:nvSpPr>
          <p:cNvPr id="15" name="">
            <a:extLst xmlns:a="http://schemas.openxmlformats.org/drawingml/2006/main">
              <a:ext uri="{FF2B5EF4-FFF2-40B4-BE49-F238E27FC236}">
                <a16:creationId xmlns:a16="http://schemas.microsoft.com/office/drawing/2014/main" id="{905F7F3A-0EF8-4CE2-8448-705D9BD46DF8}"/>
              </a:ext>
            </a:extLst>
          </p:cNvPr>
          <p:cNvSpPr>
            <a:spLocks xmlns:a="http://schemas.openxmlformats.org/drawingml/2006/main" noGrp="1"/>
          </p:cNvSpPr>
          <p:nvPr/>
        </p:nvSpPr>
        <p:spPr>
          <a:xfrm xmlns:a="http://schemas.openxmlformats.org/drawingml/2006/main">
            <a:off x="8077200" y="52197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643"/>
          </a:bodyPr>
          <a:lstStyle xmlns:a="http://schemas.openxmlformats.org/drawingml/2006/main"/>
          <a:p xmlns:a="http://schemas.openxmlformats.org/drawingml/2006/main">
            <a:pPr algn="l">
              <a:buNone/>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Report the prediction together with the label-blind domain flag. Interval width alone was not a useful error ranking.</a:t>
            </a:r>
          </a:p>
        </p:txBody>
      </p:sp>
    </p:spTree>
    <p:extLst>
      <p:ext uri="{BB962C8B-B14F-4D97-AF65-F5344CB8AC3E}">
        <p14:creationId xmlns:p14="http://schemas.microsoft.com/office/powerpoint/2010/main" val="14352288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361EC4-57E9-489E-9981-2372ABF46F74}"/>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Remaining Errors Are Structured</a:t>
            </a:r>
          </a:p>
        </p:txBody>
      </p:sp>
      <p:cxnSp>
        <p:nvCxnSpPr>
          <p:cNvPr id="22"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b8bb95e53ba4f3b"/>
          <a:stretch xmlns:a="http://schemas.openxmlformats.org/drawingml/2006/main"/>
        </p:blipFill>
        <p:spPr>
          <a:xfrm xmlns:a="http://schemas.openxmlformats.org/drawingml/2006/main">
            <a:off x="438150" y="1355139"/>
            <a:ext cx="7562850" cy="477637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108A42-1374-49EE-A85E-E8904E14529B}"/>
              </a:ext>
            </a:extLst>
          </p:cNvPr>
          <p:cNvSpPr>
            <a:spLocks xmlns:a="http://schemas.openxmlformats.org/drawingml/2006/main" noGrp="1"/>
          </p:cNvSpPr>
          <p:nvPr/>
        </p:nvSpPr>
        <p:spPr>
          <a:xfrm xmlns:a="http://schemas.openxmlformats.org/drawingml/2006/main">
            <a:off x="8267700" y="1295400"/>
            <a:ext cx="3467100" cy="1143000"/>
          </a:xfrm>
          <a:prstGeom xmlns:a="http://schemas.openxmlformats.org/drawingml/2006/main" prst="roundRect">
            <a:avLst>
              <a:gd name="adj" fmla="val 10000"/>
            </a:avLst>
          </a:prstGeom>
          <a:solidFill xmlns:a="http://schemas.openxmlformats.org/drawingml/2006/main">
            <a:srgbClr val="FCECEC"/>
          </a:solidFill>
          <a:ln xmlns:a="http://schemas.openxmlformats.org/drawingml/2006/main" w="9525">
            <a:solidFill>
              <a:srgbClr val="FCECEC"/>
            </a:solidFill>
            <a:prstDash val="solid"/>
          </a:ln>
        </p:spPr>
      </p:sp>
      <p:sp>
        <p:nvSpPr>
          <p:cNvPr id="5" name="">
            <a:extLst xmlns:a="http://schemas.openxmlformats.org/drawingml/2006/main">
              <a:ext uri="{FF2B5EF4-FFF2-40B4-BE49-F238E27FC236}">
                <a16:creationId xmlns:a16="http://schemas.microsoft.com/office/drawing/2014/main" id="{8ACFC05F-E4A6-4048-9323-6E0D0C640B2F}"/>
              </a:ext>
            </a:extLst>
          </p:cNvPr>
          <p:cNvSpPr>
            <a:spLocks xmlns:a="http://schemas.openxmlformats.org/drawingml/2006/main" noGrp="1"/>
          </p:cNvSpPr>
          <p:nvPr/>
        </p:nvSpPr>
        <p:spPr>
          <a:xfrm xmlns:a="http://schemas.openxmlformats.org/drawingml/2006/main">
            <a:off x="8477250" y="1466850"/>
            <a:ext cx="1085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150" b="1" i="0">
                <a:solidFill>
                  <a:srgbClr val="B84040"/>
                </a:solidFill>
                <a:latin typeface="Helvetica Neue"/>
                <a:ea typeface="Helvetica Neue"/>
                <a:cs typeface="Helvetica Neue"/>
              </a:defRPr>
            </a:pPr>
            <a:r>
              <a:rPr sz="3150" b="1" i="0">
                <a:solidFill>
                  <a:srgbClr val="B84040"/>
                </a:solidFill>
                <a:latin typeface="Helvetica Neue"/>
                <a:ea typeface="Helvetica Neue"/>
                <a:cs typeface="Helvetica Neue"/>
              </a:rPr>
              <a:t>1.046</a:t>
            </a:r>
          </a:p>
        </p:txBody>
      </p:sp>
      <p:sp>
        <p:nvSpPr>
          <p:cNvPr id="6" name="">
            <a:extLst xmlns:a="http://schemas.openxmlformats.org/drawingml/2006/main">
              <a:ext uri="{FF2B5EF4-FFF2-40B4-BE49-F238E27FC236}">
                <a16:creationId xmlns:a16="http://schemas.microsoft.com/office/drawing/2014/main" id="{E2E9EF63-0E48-46E3-A01E-479D57B880E2}"/>
              </a:ext>
            </a:extLst>
          </p:cNvPr>
          <p:cNvSpPr>
            <a:spLocks xmlns:a="http://schemas.openxmlformats.org/drawingml/2006/main" noGrp="1"/>
          </p:cNvSpPr>
          <p:nvPr/>
        </p:nvSpPr>
        <p:spPr>
          <a:xfrm xmlns:a="http://schemas.openxmlformats.org/drawingml/2006/main">
            <a:off x="9658350" y="1524000"/>
            <a:ext cx="1847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MAE With Replicate Spread Above 1 Log</a:t>
            </a:r>
          </a:p>
        </p:txBody>
      </p:sp>
      <p:sp>
        <p:nvSpPr>
          <p:cNvPr id="7" name="">
            <a:extLst xmlns:a="http://schemas.openxmlformats.org/drawingml/2006/main">
              <a:ext uri="{FF2B5EF4-FFF2-40B4-BE49-F238E27FC236}">
                <a16:creationId xmlns:a16="http://schemas.microsoft.com/office/drawing/2014/main" id="{420A3802-2AC7-499C-8090-BD19CAFDE95E}"/>
              </a:ext>
            </a:extLst>
          </p:cNvPr>
          <p:cNvSpPr>
            <a:spLocks xmlns:a="http://schemas.openxmlformats.org/drawingml/2006/main" noGrp="1"/>
          </p:cNvSpPr>
          <p:nvPr/>
        </p:nvSpPr>
        <p:spPr>
          <a:xfrm xmlns:a="http://schemas.openxmlformats.org/drawingml/2006/main">
            <a:off x="8267700" y="2647950"/>
            <a:ext cx="3467100" cy="1143000"/>
          </a:xfrm>
          <a:prstGeom xmlns:a="http://schemas.openxmlformats.org/drawingml/2006/main" prst="roundRect">
            <a:avLst>
              <a:gd name="adj" fmla="val 10000"/>
            </a:avLst>
          </a:prstGeom>
          <a:solidFill xmlns:a="http://schemas.openxmlformats.org/drawingml/2006/main">
            <a:srgbClr val="FFF2E8"/>
          </a:solidFill>
          <a:ln xmlns:a="http://schemas.openxmlformats.org/drawingml/2006/main" w="9525">
            <a:solidFill>
              <a:srgbClr val="FFF2E8"/>
            </a:solidFill>
            <a:prstDash val="solid"/>
          </a:ln>
        </p:spPr>
      </p:sp>
      <p:sp>
        <p:nvSpPr>
          <p:cNvPr id="8" name="">
            <a:extLst xmlns:a="http://schemas.openxmlformats.org/drawingml/2006/main">
              <a:ext uri="{FF2B5EF4-FFF2-40B4-BE49-F238E27FC236}">
                <a16:creationId xmlns:a16="http://schemas.microsoft.com/office/drawing/2014/main" id="{CF794773-5A8F-416A-9D02-9E9437AF3925}"/>
              </a:ext>
            </a:extLst>
          </p:cNvPr>
          <p:cNvSpPr>
            <a:spLocks xmlns:a="http://schemas.openxmlformats.org/drawingml/2006/main" noGrp="1"/>
          </p:cNvSpPr>
          <p:nvPr/>
        </p:nvSpPr>
        <p:spPr>
          <a:xfrm xmlns:a="http://schemas.openxmlformats.org/drawingml/2006/main">
            <a:off x="8477250" y="2819400"/>
            <a:ext cx="1085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150" b="1" i="0">
                <a:solidFill>
                  <a:srgbClr val="C96A18"/>
                </a:solidFill>
                <a:latin typeface="Helvetica Neue"/>
                <a:ea typeface="Helvetica Neue"/>
                <a:cs typeface="Helvetica Neue"/>
              </a:defRPr>
            </a:pPr>
            <a:r>
              <a:rPr sz="3150" b="1" i="0">
                <a:solidFill>
                  <a:srgbClr val="C96A18"/>
                </a:solidFill>
                <a:latin typeface="Helvetica Neue"/>
                <a:ea typeface="Helvetica Neue"/>
                <a:cs typeface="Helvetica Neue"/>
              </a:rPr>
              <a:t>0.518</a:t>
            </a:r>
          </a:p>
        </p:txBody>
      </p:sp>
      <p:sp>
        <p:nvSpPr>
          <p:cNvPr id="9" name="">
            <a:extLst xmlns:a="http://schemas.openxmlformats.org/drawingml/2006/main">
              <a:ext uri="{FF2B5EF4-FFF2-40B4-BE49-F238E27FC236}">
                <a16:creationId xmlns:a16="http://schemas.microsoft.com/office/drawing/2014/main" id="{DB963CD4-42F7-4C06-BF1B-AB6183E4447E}"/>
              </a:ext>
            </a:extLst>
          </p:cNvPr>
          <p:cNvSpPr>
            <a:spLocks xmlns:a="http://schemas.openxmlformats.org/drawingml/2006/main" noGrp="1"/>
          </p:cNvSpPr>
          <p:nvPr/>
        </p:nvSpPr>
        <p:spPr>
          <a:xfrm xmlns:a="http://schemas.openxmlformats.org/drawingml/2006/main">
            <a:off x="9658350" y="2876550"/>
            <a:ext cx="1847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MAE At 700 Da Or Higher</a:t>
            </a:r>
          </a:p>
        </p:txBody>
      </p:sp>
      <p:sp>
        <p:nvSpPr>
          <p:cNvPr id="10" name="">
            <a:extLst xmlns:a="http://schemas.openxmlformats.org/drawingml/2006/main">
              <a:ext uri="{FF2B5EF4-FFF2-40B4-BE49-F238E27FC236}">
                <a16:creationId xmlns:a16="http://schemas.microsoft.com/office/drawing/2014/main" id="{B8ED1054-7BA1-41E9-B28B-02DB7B4C4F92}"/>
              </a:ext>
            </a:extLst>
          </p:cNvPr>
          <p:cNvSpPr>
            <a:spLocks xmlns:a="http://schemas.openxmlformats.org/drawingml/2006/main" noGrp="1"/>
          </p:cNvSpPr>
          <p:nvPr/>
        </p:nvSpPr>
        <p:spPr>
          <a:xfrm xmlns:a="http://schemas.openxmlformats.org/drawingml/2006/main">
            <a:off x="8267700" y="4000500"/>
            <a:ext cx="3467100" cy="1143000"/>
          </a:xfrm>
          <a:prstGeom xmlns:a="http://schemas.openxmlformats.org/drawingml/2006/main" prst="roundRect">
            <a:avLst>
              <a:gd name="adj" fmla="val 10000"/>
            </a:avLst>
          </a:prstGeom>
          <a:solidFill xmlns:a="http://schemas.openxmlformats.org/drawingml/2006/main">
            <a:srgbClr val="EAF2FF"/>
          </a:solidFill>
          <a:ln xmlns:a="http://schemas.openxmlformats.org/drawingml/2006/main" w="9525">
            <a:solidFill>
              <a:srgbClr val="EAF2FF"/>
            </a:solidFill>
            <a:prstDash val="solid"/>
          </a:ln>
        </p:spPr>
      </p:sp>
      <p:sp>
        <p:nvSpPr>
          <p:cNvPr id="11" name="">
            <a:extLst xmlns:a="http://schemas.openxmlformats.org/drawingml/2006/main">
              <a:ext uri="{FF2B5EF4-FFF2-40B4-BE49-F238E27FC236}">
                <a16:creationId xmlns:a16="http://schemas.microsoft.com/office/drawing/2014/main" id="{A056F15E-AE5E-48EF-9433-E0B53DFD244B}"/>
              </a:ext>
            </a:extLst>
          </p:cNvPr>
          <p:cNvSpPr>
            <a:spLocks xmlns:a="http://schemas.openxmlformats.org/drawingml/2006/main" noGrp="1"/>
          </p:cNvSpPr>
          <p:nvPr/>
        </p:nvSpPr>
        <p:spPr>
          <a:xfrm xmlns:a="http://schemas.openxmlformats.org/drawingml/2006/main">
            <a:off x="8477250" y="4171950"/>
            <a:ext cx="1085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150" b="1" i="0">
                <a:solidFill>
                  <a:srgbClr val="1E63D5"/>
                </a:solidFill>
                <a:latin typeface="Helvetica Neue"/>
                <a:ea typeface="Helvetica Neue"/>
                <a:cs typeface="Helvetica Neue"/>
              </a:defRPr>
            </a:pPr>
            <a:r>
              <a:rPr sz="3150" b="1" i="0">
                <a:solidFill>
                  <a:srgbClr val="1E63D5"/>
                </a:solidFill>
                <a:latin typeface="Helvetica Neue"/>
                <a:ea typeface="Helvetica Neue"/>
                <a:cs typeface="Helvetica Neue"/>
              </a:rPr>
              <a:t>0.560</a:t>
            </a:r>
          </a:p>
        </p:txBody>
      </p:sp>
      <p:sp>
        <p:nvSpPr>
          <p:cNvPr id="12" name="">
            <a:extLst xmlns:a="http://schemas.openxmlformats.org/drawingml/2006/main">
              <a:ext uri="{FF2B5EF4-FFF2-40B4-BE49-F238E27FC236}">
                <a16:creationId xmlns:a16="http://schemas.microsoft.com/office/drawing/2014/main" id="{7C39B2E5-3276-4F3C-91DB-1445B40CDFAF}"/>
              </a:ext>
            </a:extLst>
          </p:cNvPr>
          <p:cNvSpPr>
            <a:spLocks xmlns:a="http://schemas.openxmlformats.org/drawingml/2006/main" noGrp="1"/>
          </p:cNvSpPr>
          <p:nvPr/>
        </p:nvSpPr>
        <p:spPr>
          <a:xfrm xmlns:a="http://schemas.openxmlformats.org/drawingml/2006/main">
            <a:off x="9658350" y="4229100"/>
            <a:ext cx="1847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MAE In Flagged Extrapolation</a:t>
            </a:r>
          </a:p>
        </p:txBody>
      </p:sp>
      <p:sp>
        <p:nvSpPr>
          <p:cNvPr id="13" name="">
            <a:extLst xmlns:a="http://schemas.openxmlformats.org/drawingml/2006/main">
              <a:ext uri="{FF2B5EF4-FFF2-40B4-BE49-F238E27FC236}">
                <a16:creationId xmlns:a16="http://schemas.microsoft.com/office/drawing/2014/main" id="{86926DDE-B672-4B6C-A55C-A3B09F29F5B8}"/>
              </a:ext>
            </a:extLst>
          </p:cNvPr>
          <p:cNvSpPr>
            <a:spLocks xmlns:a="http://schemas.openxmlformats.org/drawingml/2006/main" noGrp="1"/>
          </p:cNvSpPr>
          <p:nvPr/>
        </p:nvSpPr>
        <p:spPr>
          <a:xfrm xmlns:a="http://schemas.openxmlformats.org/drawingml/2006/main">
            <a:off x="8267700" y="5353050"/>
            <a:ext cx="3467100" cy="819150"/>
          </a:xfrm>
          <a:prstGeom xmlns:a="http://schemas.openxmlformats.org/drawingml/2006/main" prst="roundRect">
            <a:avLst>
              <a:gd name="adj" fmla="val 13953"/>
            </a:avLst>
          </a:prstGeom>
          <a:solidFill xmlns:a="http://schemas.openxmlformats.org/drawingml/2006/main">
            <a:srgbClr val="F2F4F7"/>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4956166B-0CBA-484D-B672-0FAC84B7F1EB}"/>
              </a:ext>
            </a:extLst>
          </p:cNvPr>
          <p:cNvSpPr>
            <a:spLocks xmlns:a="http://schemas.openxmlformats.org/drawingml/2006/main" noGrp="1"/>
          </p:cNvSpPr>
          <p:nvPr/>
        </p:nvSpPr>
        <p:spPr>
          <a:xfrm xmlns:a="http://schemas.openxmlformats.org/drawingml/2006/main">
            <a:off x="8477250" y="55626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52"/>
          </a:bodyPr>
          <a:lstStyle xmlns:a="http://schemas.openxmlformats.org/drawingml/2006/main"/>
          <a:p xmlns:a="http://schemas.openxmlformats.org/drawingml/2006/main">
            <a:pPr algn="ctr">
              <a:buNone/>
              <a:defRPr sz="1650" b="1" i="0">
                <a:solidFill>
                  <a:srgbClr val="16805A"/>
                </a:solidFill>
                <a:latin typeface="Helvetica Neue"/>
                <a:ea typeface="Helvetica Neue"/>
                <a:cs typeface="Helvetica Neue"/>
              </a:defRPr>
            </a:pPr>
            <a:r>
              <a:rPr sz="1650" b="1" i="0">
                <a:solidFill>
                  <a:srgbClr val="16805A"/>
                </a:solidFill>
                <a:latin typeface="Helvetica Neue"/>
                <a:ea typeface="Helvetica Neue"/>
                <a:cs typeface="Helvetica Neue"/>
              </a:rPr>
              <a:t>500 To 700 Da Remains Competitive</a:t>
            </a:r>
          </a:p>
        </p:txBody>
      </p:sp>
    </p:spTree>
    <p:extLst>
      <p:ext uri="{BB962C8B-B14F-4D97-AF65-F5344CB8AC3E}">
        <p14:creationId xmlns:p14="http://schemas.microsoft.com/office/powerpoint/2010/main" val="14356621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65F8C2-9905-49F4-A37D-3DD47E8F7AF3}"/>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Local Analogs Improve Covered Chemistry</a:t>
            </a:r>
          </a:p>
        </p:txBody>
      </p:sp>
      <p:cxnSp>
        <p:nvCxnSpPr>
          <p:cNvPr id="23"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1456abacea3436b"/>
          <a:stretch xmlns:a="http://schemas.openxmlformats.org/drawingml/2006/main"/>
        </p:blipFill>
        <p:spPr>
          <a:xfrm xmlns:a="http://schemas.openxmlformats.org/drawingml/2006/main">
            <a:off x="438150" y="1387879"/>
            <a:ext cx="7086600" cy="46918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D097D6A-62CB-4101-8252-D25CEE5FF473}"/>
              </a:ext>
            </a:extLst>
          </p:cNvPr>
          <p:cNvSpPr>
            <a:spLocks xmlns:a="http://schemas.openxmlformats.org/drawingml/2006/main" noGrp="1"/>
          </p:cNvSpPr>
          <p:nvPr/>
        </p:nvSpPr>
        <p:spPr>
          <a:xfrm xmlns:a="http://schemas.openxmlformats.org/drawingml/2006/main">
            <a:off x="7810500" y="1276350"/>
            <a:ext cx="1809750" cy="1390650"/>
          </a:xfrm>
          <a:prstGeom xmlns:a="http://schemas.openxmlformats.org/drawingml/2006/main" prst="roundRect">
            <a:avLst>
              <a:gd name="adj" fmla="val 8219"/>
            </a:avLst>
          </a:prstGeom>
          <a:solidFill xmlns:a="http://schemas.openxmlformats.org/drawingml/2006/main">
            <a:srgbClr val="EAF2FF"/>
          </a:solidFill>
          <a:ln xmlns:a="http://schemas.openxmlformats.org/drawingml/2006/main" w="9525">
            <a:solidFill>
              <a:srgbClr val="EAF2FF"/>
            </a:solidFill>
            <a:prstDash val="solid"/>
          </a:ln>
        </p:spPr>
      </p:sp>
      <p:sp>
        <p:nvSpPr>
          <p:cNvPr id="5" name="">
            <a:extLst xmlns:a="http://schemas.openxmlformats.org/drawingml/2006/main">
              <a:ext uri="{FF2B5EF4-FFF2-40B4-BE49-F238E27FC236}">
                <a16:creationId xmlns:a16="http://schemas.microsoft.com/office/drawing/2014/main" id="{D35CD72E-24E3-4FA0-96F3-0E90D10A6D0C}"/>
              </a:ext>
            </a:extLst>
          </p:cNvPr>
          <p:cNvSpPr>
            <a:spLocks xmlns:a="http://schemas.openxmlformats.org/drawingml/2006/main" noGrp="1"/>
          </p:cNvSpPr>
          <p:nvPr/>
        </p:nvSpPr>
        <p:spPr>
          <a:xfrm xmlns:a="http://schemas.openxmlformats.org/drawingml/2006/main">
            <a:off x="8001000" y="1447800"/>
            <a:ext cx="1428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E63D5"/>
                </a:solidFill>
                <a:latin typeface="Helvetica Neue"/>
                <a:ea typeface="Helvetica Neue"/>
                <a:cs typeface="Helvetica Neue"/>
              </a:defRPr>
            </a:pPr>
            <a:r>
              <a:rPr sz="3375" b="1" i="0">
                <a:solidFill>
                  <a:srgbClr val="1E63D5"/>
                </a:solidFill>
                <a:latin typeface="Helvetica Neue"/>
                <a:ea typeface="Helvetica Neue"/>
                <a:cs typeface="Helvetica Neue"/>
              </a:rPr>
              <a:t>41.7%</a:t>
            </a:r>
          </a:p>
        </p:txBody>
      </p:sp>
      <p:sp>
        <p:nvSpPr>
          <p:cNvPr id="6" name="">
            <a:extLst xmlns:a="http://schemas.openxmlformats.org/drawingml/2006/main">
              <a:ext uri="{FF2B5EF4-FFF2-40B4-BE49-F238E27FC236}">
                <a16:creationId xmlns:a16="http://schemas.microsoft.com/office/drawing/2014/main" id="{1C0A9733-2F2B-45B7-81BC-A6CFBA72459B}"/>
              </a:ext>
            </a:extLst>
          </p:cNvPr>
          <p:cNvSpPr>
            <a:spLocks xmlns:a="http://schemas.openxmlformats.org/drawingml/2006/main" noGrp="1"/>
          </p:cNvSpPr>
          <p:nvPr/>
        </p:nvSpPr>
        <p:spPr>
          <a:xfrm xmlns:a="http://schemas.openxmlformats.org/drawingml/2006/main">
            <a:off x="8001000" y="205740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Structures With Analog Support</a:t>
            </a:r>
          </a:p>
        </p:txBody>
      </p:sp>
      <p:sp>
        <p:nvSpPr>
          <p:cNvPr id="7" name="">
            <a:extLst xmlns:a="http://schemas.openxmlformats.org/drawingml/2006/main">
              <a:ext uri="{FF2B5EF4-FFF2-40B4-BE49-F238E27FC236}">
                <a16:creationId xmlns:a16="http://schemas.microsoft.com/office/drawing/2014/main" id="{56E00631-3C0C-4283-A81D-95D2F4333041}"/>
              </a:ext>
            </a:extLst>
          </p:cNvPr>
          <p:cNvSpPr>
            <a:spLocks xmlns:a="http://schemas.openxmlformats.org/drawingml/2006/main" noGrp="1"/>
          </p:cNvSpPr>
          <p:nvPr/>
        </p:nvSpPr>
        <p:spPr>
          <a:xfrm xmlns:a="http://schemas.openxmlformats.org/drawingml/2006/main">
            <a:off x="9810750" y="1276350"/>
            <a:ext cx="1924050" cy="1390650"/>
          </a:xfrm>
          <a:prstGeom xmlns:a="http://schemas.openxmlformats.org/drawingml/2006/main" prst="roundRect">
            <a:avLst>
              <a:gd name="adj" fmla="val 8219"/>
            </a:avLst>
          </a:prstGeom>
          <a:solidFill xmlns:a="http://schemas.openxmlformats.org/drawingml/2006/main">
            <a:srgbClr val="E9F7F1"/>
          </a:solidFill>
          <a:ln xmlns:a="http://schemas.openxmlformats.org/drawingml/2006/main" w="9525">
            <a:solidFill>
              <a:srgbClr val="E9F7F1"/>
            </a:solidFill>
            <a:prstDash val="solid"/>
          </a:ln>
        </p:spPr>
      </p:sp>
      <p:sp>
        <p:nvSpPr>
          <p:cNvPr id="8" name="">
            <a:extLst xmlns:a="http://schemas.openxmlformats.org/drawingml/2006/main">
              <a:ext uri="{FF2B5EF4-FFF2-40B4-BE49-F238E27FC236}">
                <a16:creationId xmlns:a16="http://schemas.microsoft.com/office/drawing/2014/main" id="{BC535743-DB27-4137-9478-C7FB779A10F1}"/>
              </a:ext>
            </a:extLst>
          </p:cNvPr>
          <p:cNvSpPr>
            <a:spLocks xmlns:a="http://schemas.openxmlformats.org/drawingml/2006/main" noGrp="1"/>
          </p:cNvSpPr>
          <p:nvPr/>
        </p:nvSpPr>
        <p:spPr>
          <a:xfrm xmlns:a="http://schemas.openxmlformats.org/drawingml/2006/main">
            <a:off x="10001250" y="144780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75" b="1" i="0">
                <a:solidFill>
                  <a:srgbClr val="16805A"/>
                </a:solidFill>
                <a:latin typeface="Helvetica Neue"/>
                <a:ea typeface="Helvetica Neue"/>
                <a:cs typeface="Helvetica Neue"/>
              </a:defRPr>
            </a:pPr>
            <a:r>
              <a:rPr sz="3375" b="1" i="0">
                <a:solidFill>
                  <a:srgbClr val="16805A"/>
                </a:solidFill>
                <a:latin typeface="Helvetica Neue"/>
                <a:ea typeface="Helvetica Neue"/>
                <a:cs typeface="Helvetica Neue"/>
              </a:rPr>
              <a:t>7,847</a:t>
            </a:r>
          </a:p>
        </p:txBody>
      </p:sp>
      <p:sp>
        <p:nvSpPr>
          <p:cNvPr id="9" name="">
            <a:extLst xmlns:a="http://schemas.openxmlformats.org/drawingml/2006/main">
              <a:ext uri="{FF2B5EF4-FFF2-40B4-BE49-F238E27FC236}">
                <a16:creationId xmlns:a16="http://schemas.microsoft.com/office/drawing/2014/main" id="{D64DF734-AEB6-4181-A715-FCB6B3A963DA}"/>
              </a:ext>
            </a:extLst>
          </p:cNvPr>
          <p:cNvSpPr>
            <a:spLocks xmlns:a="http://schemas.openxmlformats.org/drawingml/2006/main" noGrp="1"/>
          </p:cNvSpPr>
          <p:nvPr/>
        </p:nvSpPr>
        <p:spPr>
          <a:xfrm xmlns:a="http://schemas.openxmlformats.org/drawingml/2006/main">
            <a:off x="10001250" y="20574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Supported Structures</a:t>
            </a:r>
          </a:p>
        </p:txBody>
      </p:sp>
      <p:sp>
        <p:nvSpPr>
          <p:cNvPr id="10" name="">
            <a:extLst xmlns:a="http://schemas.openxmlformats.org/drawingml/2006/main">
              <a:ext uri="{FF2B5EF4-FFF2-40B4-BE49-F238E27FC236}">
                <a16:creationId xmlns:a16="http://schemas.microsoft.com/office/drawing/2014/main" id="{D14C5928-837A-4564-B9B7-292F834CFC9F}"/>
              </a:ext>
            </a:extLst>
          </p:cNvPr>
          <p:cNvSpPr>
            <a:spLocks xmlns:a="http://schemas.openxmlformats.org/drawingml/2006/main" noGrp="1"/>
          </p:cNvSpPr>
          <p:nvPr/>
        </p:nvSpPr>
        <p:spPr>
          <a:xfrm xmlns:a="http://schemas.openxmlformats.org/drawingml/2006/main">
            <a:off x="7810500" y="2895600"/>
            <a:ext cx="3924300" cy="1390650"/>
          </a:xfrm>
          <a:prstGeom xmlns:a="http://schemas.openxmlformats.org/drawingml/2006/main" prst="roundRect">
            <a:avLst>
              <a:gd name="adj" fmla="val 8219"/>
            </a:avLst>
          </a:prstGeom>
          <a:solidFill xmlns:a="http://schemas.openxmlformats.org/drawingml/2006/main">
            <a:srgbClr val="E9F7F1"/>
          </a:solidFill>
          <a:ln xmlns:a="http://schemas.openxmlformats.org/drawingml/2006/main" w="9525">
            <a:solidFill>
              <a:srgbClr val="E9F7F1"/>
            </a:solidFill>
            <a:prstDash val="solid"/>
          </a:ln>
        </p:spPr>
      </p:sp>
      <p:sp>
        <p:nvSpPr>
          <p:cNvPr id="11" name="">
            <a:extLst xmlns:a="http://schemas.openxmlformats.org/drawingml/2006/main">
              <a:ext uri="{FF2B5EF4-FFF2-40B4-BE49-F238E27FC236}">
                <a16:creationId xmlns:a16="http://schemas.microsoft.com/office/drawing/2014/main" id="{E1B4CD35-48D2-4563-B2B7-0BBDA800E3A0}"/>
              </a:ext>
            </a:extLst>
          </p:cNvPr>
          <p:cNvSpPr>
            <a:spLocks xmlns:a="http://schemas.openxmlformats.org/drawingml/2006/main" noGrp="1"/>
          </p:cNvSpPr>
          <p:nvPr/>
        </p:nvSpPr>
        <p:spPr>
          <a:xfrm xmlns:a="http://schemas.openxmlformats.org/drawingml/2006/main">
            <a:off x="8039100" y="3124200"/>
            <a:ext cx="3467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16805A"/>
                </a:solidFill>
                <a:latin typeface="Helvetica Neue"/>
                <a:ea typeface="Helvetica Neue"/>
                <a:cs typeface="Helvetica Neue"/>
              </a:defRPr>
            </a:pPr>
            <a:r>
              <a:rPr sz="2325" b="1" i="0">
                <a:solidFill>
                  <a:srgbClr val="16805A"/>
                </a:solidFill>
                <a:latin typeface="Helvetica Neue"/>
                <a:ea typeface="Helvetica Neue"/>
                <a:cs typeface="Helvetica Neue"/>
              </a:rPr>
              <a:t>0.400 To 0.381 MAE</a:t>
            </a:r>
          </a:p>
        </p:txBody>
      </p:sp>
      <p:sp>
        <p:nvSpPr>
          <p:cNvPr id="12" name="">
            <a:extLst xmlns:a="http://schemas.openxmlformats.org/drawingml/2006/main">
              <a:ext uri="{FF2B5EF4-FFF2-40B4-BE49-F238E27FC236}">
                <a16:creationId xmlns:a16="http://schemas.microsoft.com/office/drawing/2014/main" id="{A7E966B5-F956-4B3E-99F5-ABFEC44D85D6}"/>
              </a:ext>
            </a:extLst>
          </p:cNvPr>
          <p:cNvSpPr>
            <a:spLocks xmlns:a="http://schemas.openxmlformats.org/drawingml/2006/main" noGrp="1"/>
          </p:cNvSpPr>
          <p:nvPr/>
        </p:nvSpPr>
        <p:spPr>
          <a:xfrm xmlns:a="http://schemas.openxmlformats.org/drawingml/2006/main">
            <a:off x="8039100" y="3657600"/>
            <a:ext cx="3467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i="0">
                <a:solidFill>
                  <a:srgbClr val="0B0F14"/>
                </a:solidFill>
                <a:latin typeface="Helvetica Neue"/>
                <a:ea typeface="Helvetica Neue"/>
                <a:cs typeface="Helvetica Neue"/>
              </a:defRPr>
            </a:pPr>
            <a:r>
              <a:rPr sz="1425" b="1" i="0">
                <a:solidFill>
                  <a:srgbClr val="0B0F14"/>
                </a:solidFill>
                <a:latin typeface="Helvetica Neue"/>
                <a:ea typeface="Helvetica Neue"/>
                <a:cs typeface="Helvetica Neue"/>
              </a:rPr>
              <a:t>Broad anchor to analog-assisted prediction on supported structures</a:t>
            </a:r>
          </a:p>
        </p:txBody>
      </p:sp>
      <p:sp>
        <p:nvSpPr>
          <p:cNvPr id="13" name="">
            <a:extLst xmlns:a="http://schemas.openxmlformats.org/drawingml/2006/main">
              <a:ext uri="{FF2B5EF4-FFF2-40B4-BE49-F238E27FC236}">
                <a16:creationId xmlns:a16="http://schemas.microsoft.com/office/drawing/2014/main" id="{36068B4D-251D-4613-8986-7F4CDA74E126}"/>
              </a:ext>
            </a:extLst>
          </p:cNvPr>
          <p:cNvSpPr>
            <a:spLocks xmlns:a="http://schemas.openxmlformats.org/drawingml/2006/main" noGrp="1"/>
          </p:cNvSpPr>
          <p:nvPr/>
        </p:nvSpPr>
        <p:spPr>
          <a:xfrm xmlns:a="http://schemas.openxmlformats.org/drawingml/2006/main">
            <a:off x="7810500" y="4533900"/>
            <a:ext cx="3924300" cy="1409700"/>
          </a:xfrm>
          <a:prstGeom xmlns:a="http://schemas.openxmlformats.org/drawingml/2006/main" prst="roundRect">
            <a:avLst>
              <a:gd name="adj" fmla="val 8108"/>
            </a:avLst>
          </a:prstGeom>
          <a:solidFill xmlns:a="http://schemas.openxmlformats.org/drawingml/2006/main">
            <a:srgbClr val="FFF2E8"/>
          </a:solidFill>
          <a:ln xmlns:a="http://schemas.openxmlformats.org/drawingml/2006/main" w="9525">
            <a:solidFill>
              <a:srgbClr val="FFF2E8"/>
            </a:solidFill>
            <a:prstDash val="solid"/>
          </a:ln>
        </p:spPr>
      </p:sp>
      <p:sp>
        <p:nvSpPr>
          <p:cNvPr id="14" name="">
            <a:extLst xmlns:a="http://schemas.openxmlformats.org/drawingml/2006/main">
              <a:ext uri="{FF2B5EF4-FFF2-40B4-BE49-F238E27FC236}">
                <a16:creationId xmlns:a16="http://schemas.microsoft.com/office/drawing/2014/main" id="{4B15F951-817E-4DC0-82E2-A1B527BA5A7A}"/>
              </a:ext>
            </a:extLst>
          </p:cNvPr>
          <p:cNvSpPr>
            <a:spLocks xmlns:a="http://schemas.openxmlformats.org/drawingml/2006/main" noGrp="1"/>
          </p:cNvSpPr>
          <p:nvPr/>
        </p:nvSpPr>
        <p:spPr>
          <a:xfrm xmlns:a="http://schemas.openxmlformats.org/drawingml/2006/main">
            <a:off x="8039100" y="4762500"/>
            <a:ext cx="3467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67"/>
          </a:bodyPr>
          <a:lstStyle xmlns:a="http://schemas.openxmlformats.org/drawingml/2006/main"/>
          <a:p xmlns:a="http://schemas.openxmlformats.org/drawingml/2006/main">
            <a:pPr algn="l">
              <a:buNone/>
              <a:defRPr sz="1725" b="1" i="0">
                <a:solidFill>
                  <a:srgbClr val="C96A18"/>
                </a:solidFill>
                <a:latin typeface="Helvetica Neue"/>
                <a:ea typeface="Helvetica Neue"/>
                <a:cs typeface="Helvetica Neue"/>
              </a:defRPr>
            </a:pPr>
            <a:r>
              <a:rPr sz="1725" b="1" i="0">
                <a:solidFill>
                  <a:srgbClr val="C96A18"/>
                </a:solidFill>
                <a:latin typeface="Helvetica Neue"/>
                <a:ea typeface="Helvetica Neue"/>
                <a:cs typeface="Helvetica Neue"/>
              </a:rPr>
              <a:t>Activity-Cliff Direction Remains Weak</a:t>
            </a:r>
          </a:p>
        </p:txBody>
      </p:sp>
      <p:sp>
        <p:nvSpPr>
          <p:cNvPr id="15" name="">
            <a:extLst xmlns:a="http://schemas.openxmlformats.org/drawingml/2006/main">
              <a:ext uri="{FF2B5EF4-FFF2-40B4-BE49-F238E27FC236}">
                <a16:creationId xmlns:a16="http://schemas.microsoft.com/office/drawing/2014/main" id="{1006C758-5965-49E5-B83F-0DCA056FA0AF}"/>
              </a:ext>
            </a:extLst>
          </p:cNvPr>
          <p:cNvSpPr>
            <a:spLocks xmlns:a="http://schemas.openxmlformats.org/drawingml/2006/main" noGrp="1"/>
          </p:cNvSpPr>
          <p:nvPr/>
        </p:nvSpPr>
        <p:spPr>
          <a:xfrm xmlns:a="http://schemas.openxmlformats.org/drawingml/2006/main">
            <a:off x="8039100" y="5219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82"/>
          </a:bodyPr>
          <a:lstStyle xmlns:a="http://schemas.openxmlformats.org/drawingml/2006/main"/>
          <a:p xmlns:a="http://schemas.openxmlformats.org/drawingml/2006/main">
            <a:pPr algn="l">
              <a:buNone/>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Use local analogs as a supported specialist, not as causal transformation rules.</a:t>
            </a:r>
          </a:p>
        </p:txBody>
      </p:sp>
    </p:spTree>
    <p:extLst>
      <p:ext uri="{BB962C8B-B14F-4D97-AF65-F5344CB8AC3E}">
        <p14:creationId xmlns:p14="http://schemas.microsoft.com/office/powerpoint/2010/main" val="7165494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DD9941A2-4B74-4D20-899E-602EAB5B3476}"/>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Published Competitors Use Different Evidence Surfaces</a:t>
            </a:r>
          </a:p>
        </p:txBody>
      </p:sp>
      <p:cxnSp>
        <p:nvCxnSpPr>
          <p:cNvPr id="92"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B7DA76F4-DAB6-4787-8C2F-85F40DD13B96}"/>
              </a:ext>
            </a:extLst>
          </p:cNvPr>
          <p:cNvSpPr>
            <a:spLocks xmlns:a="http://schemas.openxmlformats.org/drawingml/2006/main" noGrp="1"/>
          </p:cNvSpPr>
          <p:nvPr/>
        </p:nvSpPr>
        <p:spPr>
          <a:xfrm xmlns:a="http://schemas.openxmlformats.org/drawingml/2006/main">
            <a:off x="438150" y="1219200"/>
            <a:ext cx="13525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4" name="">
            <a:extLst xmlns:a="http://schemas.openxmlformats.org/drawingml/2006/main">
              <a:ext uri="{FF2B5EF4-FFF2-40B4-BE49-F238E27FC236}">
                <a16:creationId xmlns:a16="http://schemas.microsoft.com/office/drawing/2014/main" id="{18026DCC-1177-4E6F-9136-3800FED0E9B4}"/>
              </a:ext>
            </a:extLst>
          </p:cNvPr>
          <p:cNvSpPr>
            <a:spLocks xmlns:a="http://schemas.openxmlformats.org/drawingml/2006/main" noGrp="1"/>
          </p:cNvSpPr>
          <p:nvPr/>
        </p:nvSpPr>
        <p:spPr>
          <a:xfrm xmlns:a="http://schemas.openxmlformats.org/drawingml/2006/main">
            <a:off x="533400" y="129540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Tool and Task</a:t>
            </a:r>
          </a:p>
        </p:txBody>
      </p:sp>
      <p:sp>
        <p:nvSpPr>
          <p:cNvPr id="5" name="">
            <a:extLst xmlns:a="http://schemas.openxmlformats.org/drawingml/2006/main">
              <a:ext uri="{FF2B5EF4-FFF2-40B4-BE49-F238E27FC236}">
                <a16:creationId xmlns:a16="http://schemas.microsoft.com/office/drawing/2014/main" id="{858B7E95-E5E3-48FF-A5AC-6A2C41E755D5}"/>
              </a:ext>
            </a:extLst>
          </p:cNvPr>
          <p:cNvSpPr>
            <a:spLocks xmlns:a="http://schemas.openxmlformats.org/drawingml/2006/main" noGrp="1"/>
          </p:cNvSpPr>
          <p:nvPr/>
        </p:nvSpPr>
        <p:spPr>
          <a:xfrm xmlns:a="http://schemas.openxmlformats.org/drawingml/2006/main">
            <a:off x="1790700" y="1219200"/>
            <a:ext cx="15049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6" name="">
            <a:extLst xmlns:a="http://schemas.openxmlformats.org/drawingml/2006/main">
              <a:ext uri="{FF2B5EF4-FFF2-40B4-BE49-F238E27FC236}">
                <a16:creationId xmlns:a16="http://schemas.microsoft.com/office/drawing/2014/main" id="{B3DF110F-7C08-4BCF-88BD-DF2337CB9941}"/>
              </a:ext>
            </a:extLst>
          </p:cNvPr>
          <p:cNvSpPr>
            <a:spLocks xmlns:a="http://schemas.openxmlformats.org/drawingml/2006/main" noGrp="1"/>
          </p:cNvSpPr>
          <p:nvPr/>
        </p:nvSpPr>
        <p:spPr>
          <a:xfrm xmlns:a="http://schemas.openxmlformats.org/drawingml/2006/main">
            <a:off x="1885950" y="129540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Labeled Data</a:t>
            </a:r>
          </a:p>
        </p:txBody>
      </p:sp>
      <p:sp>
        <p:nvSpPr>
          <p:cNvPr id="7" name="">
            <a:extLst xmlns:a="http://schemas.openxmlformats.org/drawingml/2006/main">
              <a:ext uri="{FF2B5EF4-FFF2-40B4-BE49-F238E27FC236}">
                <a16:creationId xmlns:a16="http://schemas.microsoft.com/office/drawing/2014/main" id="{22D78015-BD76-45E8-88CD-5FEB146365E0}"/>
              </a:ext>
            </a:extLst>
          </p:cNvPr>
          <p:cNvSpPr>
            <a:spLocks xmlns:a="http://schemas.openxmlformats.org/drawingml/2006/main" noGrp="1"/>
          </p:cNvSpPr>
          <p:nvPr/>
        </p:nvSpPr>
        <p:spPr>
          <a:xfrm xmlns:a="http://schemas.openxmlformats.org/drawingml/2006/main">
            <a:off x="3295650" y="1219200"/>
            <a:ext cx="20002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8" name="">
            <a:extLst xmlns:a="http://schemas.openxmlformats.org/drawingml/2006/main">
              <a:ext uri="{FF2B5EF4-FFF2-40B4-BE49-F238E27FC236}">
                <a16:creationId xmlns:a16="http://schemas.microsoft.com/office/drawing/2014/main" id="{E0B7F6BF-25D3-4C41-B3CD-FDFE9A2D7812}"/>
              </a:ext>
            </a:extLst>
          </p:cNvPr>
          <p:cNvSpPr>
            <a:spLocks xmlns:a="http://schemas.openxmlformats.org/drawingml/2006/main" noGrp="1"/>
          </p:cNvSpPr>
          <p:nvPr/>
        </p:nvSpPr>
        <p:spPr>
          <a:xfrm xmlns:a="http://schemas.openxmlformats.org/drawingml/2006/main">
            <a:off x="3390900" y="12954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Publicized Result</a:t>
            </a:r>
          </a:p>
        </p:txBody>
      </p:sp>
      <p:sp>
        <p:nvSpPr>
          <p:cNvPr id="9" name="">
            <a:extLst xmlns:a="http://schemas.openxmlformats.org/drawingml/2006/main">
              <a:ext uri="{FF2B5EF4-FFF2-40B4-BE49-F238E27FC236}">
                <a16:creationId xmlns:a16="http://schemas.microsoft.com/office/drawing/2014/main" id="{199F495B-50DF-470A-AC9D-51A4B5BEADED}"/>
              </a:ext>
            </a:extLst>
          </p:cNvPr>
          <p:cNvSpPr>
            <a:spLocks xmlns:a="http://schemas.openxmlformats.org/drawingml/2006/main" noGrp="1"/>
          </p:cNvSpPr>
          <p:nvPr/>
        </p:nvSpPr>
        <p:spPr>
          <a:xfrm xmlns:a="http://schemas.openxmlformats.org/drawingml/2006/main">
            <a:off x="5295900" y="1219200"/>
            <a:ext cx="21145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0" name="">
            <a:extLst xmlns:a="http://schemas.openxmlformats.org/drawingml/2006/main">
              <a:ext uri="{FF2B5EF4-FFF2-40B4-BE49-F238E27FC236}">
                <a16:creationId xmlns:a16="http://schemas.microsoft.com/office/drawing/2014/main" id="{E850C8EC-041A-455D-B626-5B9D00B8AAEE}"/>
              </a:ext>
            </a:extLst>
          </p:cNvPr>
          <p:cNvSpPr>
            <a:spLocks xmlns:a="http://schemas.openxmlformats.org/drawingml/2006/main" noGrp="1"/>
          </p:cNvSpPr>
          <p:nvPr/>
        </p:nvSpPr>
        <p:spPr>
          <a:xfrm xmlns:a="http://schemas.openxmlformats.org/drawingml/2006/main">
            <a:off x="5391150" y="12954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Benchmark Tailoring</a:t>
            </a:r>
          </a:p>
        </p:txBody>
      </p:sp>
      <p:sp>
        <p:nvSpPr>
          <p:cNvPr id="11" name="">
            <a:extLst xmlns:a="http://schemas.openxmlformats.org/drawingml/2006/main">
              <a:ext uri="{FF2B5EF4-FFF2-40B4-BE49-F238E27FC236}">
                <a16:creationId xmlns:a16="http://schemas.microsoft.com/office/drawing/2014/main" id="{8B3354AD-13A8-40F5-9DB4-4AE1671174E0}"/>
              </a:ext>
            </a:extLst>
          </p:cNvPr>
          <p:cNvSpPr>
            <a:spLocks xmlns:a="http://schemas.openxmlformats.org/drawingml/2006/main" noGrp="1"/>
          </p:cNvSpPr>
          <p:nvPr/>
        </p:nvSpPr>
        <p:spPr>
          <a:xfrm xmlns:a="http://schemas.openxmlformats.org/drawingml/2006/main">
            <a:off x="7410450" y="1219200"/>
            <a:ext cx="201930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2" name="">
            <a:extLst xmlns:a="http://schemas.openxmlformats.org/drawingml/2006/main">
              <a:ext uri="{FF2B5EF4-FFF2-40B4-BE49-F238E27FC236}">
                <a16:creationId xmlns:a16="http://schemas.microsoft.com/office/drawing/2014/main" id="{83AF7D02-D388-43AD-9951-82A7900E8AAD}"/>
              </a:ext>
            </a:extLst>
          </p:cNvPr>
          <p:cNvSpPr>
            <a:spLocks xmlns:a="http://schemas.openxmlformats.org/drawingml/2006/main" noGrp="1"/>
          </p:cNvSpPr>
          <p:nvPr/>
        </p:nvSpPr>
        <p:spPr>
          <a:xfrm xmlns:a="http://schemas.openxmlformats.org/drawingml/2006/main">
            <a:off x="7505700" y="1295400"/>
            <a:ext cx="1828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Features</a:t>
            </a:r>
          </a:p>
        </p:txBody>
      </p:sp>
      <p:sp>
        <p:nvSpPr>
          <p:cNvPr id="13" name="">
            <a:extLst xmlns:a="http://schemas.openxmlformats.org/drawingml/2006/main">
              <a:ext uri="{FF2B5EF4-FFF2-40B4-BE49-F238E27FC236}">
                <a16:creationId xmlns:a16="http://schemas.microsoft.com/office/drawing/2014/main" id="{214E7DD8-5879-498A-9651-9EC51F84ED44}"/>
              </a:ext>
            </a:extLst>
          </p:cNvPr>
          <p:cNvSpPr>
            <a:spLocks xmlns:a="http://schemas.openxmlformats.org/drawingml/2006/main" noGrp="1"/>
          </p:cNvSpPr>
          <p:nvPr/>
        </p:nvSpPr>
        <p:spPr>
          <a:xfrm xmlns:a="http://schemas.openxmlformats.org/drawingml/2006/main">
            <a:off x="9429750" y="1219200"/>
            <a:ext cx="2305050" cy="552450"/>
          </a:xfrm>
          <a:prstGeom xmlns:a="http://schemas.openxmlformats.org/drawingml/2006/main" prst="rect">
            <a:avLst/>
          </a:prstGeom>
          <a:solidFill xmlns:a="http://schemas.openxmlformats.org/drawingml/2006/main">
            <a:srgbClr val="0B0F14"/>
          </a:solidFill>
          <a:ln xmlns:a="http://schemas.openxmlformats.org/drawingml/2006/main" w="9525">
            <a:solidFill>
              <a:srgbClr val="D6DAE0"/>
            </a:solidFill>
            <a:prstDash val="solid"/>
          </a:ln>
        </p:spPr>
      </p:sp>
      <p:sp>
        <p:nvSpPr>
          <p:cNvPr id="14" name="">
            <a:extLst xmlns:a="http://schemas.openxmlformats.org/drawingml/2006/main">
              <a:ext uri="{FF2B5EF4-FFF2-40B4-BE49-F238E27FC236}">
                <a16:creationId xmlns:a16="http://schemas.microsoft.com/office/drawing/2014/main" id="{CFF08EE2-C7AB-4E66-B59E-02CB4C0E1704}"/>
              </a:ext>
            </a:extLst>
          </p:cNvPr>
          <p:cNvSpPr>
            <a:spLocks xmlns:a="http://schemas.openxmlformats.org/drawingml/2006/main" noGrp="1"/>
          </p:cNvSpPr>
          <p:nvPr/>
        </p:nvSpPr>
        <p:spPr>
          <a:xfrm xmlns:a="http://schemas.openxmlformats.org/drawingml/2006/main">
            <a:off x="9525000" y="1295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Real-World Limitation</a:t>
            </a:r>
          </a:p>
        </p:txBody>
      </p:sp>
      <p:sp>
        <p:nvSpPr>
          <p:cNvPr id="15" name="">
            <a:extLst xmlns:a="http://schemas.openxmlformats.org/drawingml/2006/main">
              <a:ext uri="{FF2B5EF4-FFF2-40B4-BE49-F238E27FC236}">
                <a16:creationId xmlns:a16="http://schemas.microsoft.com/office/drawing/2014/main" id="{14AFAC77-35AE-4E19-AF1A-B299F6D0371E}"/>
              </a:ext>
            </a:extLst>
          </p:cNvPr>
          <p:cNvSpPr>
            <a:spLocks xmlns:a="http://schemas.openxmlformats.org/drawingml/2006/main" noGrp="1"/>
          </p:cNvSpPr>
          <p:nvPr/>
        </p:nvSpPr>
        <p:spPr>
          <a:xfrm xmlns:a="http://schemas.openxmlformats.org/drawingml/2006/main">
            <a:off x="438150" y="1771650"/>
            <a:ext cx="13525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6" name="">
            <a:extLst xmlns:a="http://schemas.openxmlformats.org/drawingml/2006/main">
              <a:ext uri="{FF2B5EF4-FFF2-40B4-BE49-F238E27FC236}">
                <a16:creationId xmlns:a16="http://schemas.microsoft.com/office/drawing/2014/main" id="{BBEA9177-BFC9-4C99-A09E-4DD427807A82}"/>
              </a:ext>
            </a:extLst>
          </p:cNvPr>
          <p:cNvSpPr>
            <a:spLocks xmlns:a="http://schemas.openxmlformats.org/drawingml/2006/main" noGrp="1"/>
          </p:cNvSpPr>
          <p:nvPr/>
        </p:nvSpPr>
        <p:spPr>
          <a:xfrm xmlns:a="http://schemas.openxmlformats.org/drawingml/2006/main">
            <a:off x="533400" y="1847850"/>
            <a:ext cx="1162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Our Platform</a:t>
            </a:r>
          </a:p>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Continuous pIC50</a:t>
            </a:r>
          </a:p>
        </p:txBody>
      </p:sp>
      <p:sp>
        <p:nvSpPr>
          <p:cNvPr id="17" name="">
            <a:extLst xmlns:a="http://schemas.openxmlformats.org/drawingml/2006/main">
              <a:ext uri="{FF2B5EF4-FFF2-40B4-BE49-F238E27FC236}">
                <a16:creationId xmlns:a16="http://schemas.microsoft.com/office/drawing/2014/main" id="{1070F230-A7B6-46FF-A789-9EA41D9B6CB2}"/>
              </a:ext>
            </a:extLst>
          </p:cNvPr>
          <p:cNvSpPr>
            <a:spLocks xmlns:a="http://schemas.openxmlformats.org/drawingml/2006/main" noGrp="1"/>
          </p:cNvSpPr>
          <p:nvPr/>
        </p:nvSpPr>
        <p:spPr>
          <a:xfrm xmlns:a="http://schemas.openxmlformats.org/drawingml/2006/main">
            <a:off x="1790700" y="1771650"/>
            <a:ext cx="15049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18" name="">
            <a:extLst xmlns:a="http://schemas.openxmlformats.org/drawingml/2006/main">
              <a:ext uri="{FF2B5EF4-FFF2-40B4-BE49-F238E27FC236}">
                <a16:creationId xmlns:a16="http://schemas.microsoft.com/office/drawing/2014/main" id="{09E5BE4F-2653-4B6D-A236-B7617DB9FEFD}"/>
              </a:ext>
            </a:extLst>
          </p:cNvPr>
          <p:cNvSpPr>
            <a:spLocks xmlns:a="http://schemas.openxmlformats.org/drawingml/2006/main" noGrp="1"/>
          </p:cNvSpPr>
          <p:nvPr/>
        </p:nvSpPr>
        <p:spPr>
          <a:xfrm xmlns:a="http://schemas.openxmlformats.org/drawingml/2006/main">
            <a:off x="1885950" y="1847850"/>
            <a:ext cx="1314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18,801</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structures</a:t>
            </a:r>
          </a:p>
        </p:txBody>
      </p:sp>
      <p:sp>
        <p:nvSpPr>
          <p:cNvPr id="19" name="">
            <a:extLst xmlns:a="http://schemas.openxmlformats.org/drawingml/2006/main">
              <a:ext uri="{FF2B5EF4-FFF2-40B4-BE49-F238E27FC236}">
                <a16:creationId xmlns:a16="http://schemas.microsoft.com/office/drawing/2014/main" id="{D0A23235-A17B-4A0F-8D5B-71B77BDFB150}"/>
              </a:ext>
            </a:extLst>
          </p:cNvPr>
          <p:cNvSpPr>
            <a:spLocks xmlns:a="http://schemas.openxmlformats.org/drawingml/2006/main" noGrp="1"/>
          </p:cNvSpPr>
          <p:nvPr/>
        </p:nvSpPr>
        <p:spPr>
          <a:xfrm xmlns:a="http://schemas.openxmlformats.org/drawingml/2006/main">
            <a:off x="3295650" y="1771650"/>
            <a:ext cx="20002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0" name="">
            <a:extLst xmlns:a="http://schemas.openxmlformats.org/drawingml/2006/main">
              <a:ext uri="{FF2B5EF4-FFF2-40B4-BE49-F238E27FC236}">
                <a16:creationId xmlns:a16="http://schemas.microsoft.com/office/drawing/2014/main" id="{F99349C7-FD30-4DB5-9FAC-A27DCEB97AED}"/>
              </a:ext>
            </a:extLst>
          </p:cNvPr>
          <p:cNvSpPr>
            <a:spLocks xmlns:a="http://schemas.openxmlformats.org/drawingml/2006/main" noGrp="1"/>
          </p:cNvSpPr>
          <p:nvPr/>
        </p:nvSpPr>
        <p:spPr>
          <a:xfrm xmlns:a="http://schemas.openxmlformats.org/drawingml/2006/main">
            <a:off x="3390900" y="18478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1E63D5"/>
                </a:solidFill>
                <a:latin typeface="Helvetica Neue"/>
                <a:ea typeface="Helvetica Neue"/>
                <a:cs typeface="Helvetica Neue"/>
              </a:defRPr>
            </a:pPr>
            <a:r>
              <a:rPr sz="1200" b="1" i="0">
                <a:solidFill>
                  <a:srgbClr val="1E63D5"/>
                </a:solidFill>
                <a:latin typeface="Helvetica Neue"/>
                <a:ea typeface="Helvetica Neue"/>
                <a:cs typeface="Helvetica Neue"/>
              </a:rPr>
              <a:t>0.4328 MAE</a:t>
            </a:r>
          </a:p>
          <a:p xmlns:a="http://schemas.openxmlformats.org/drawingml/2006/main">
            <a:pPr algn="l">
              <a:buNone/>
              <a:defRPr sz="1200" b="1" i="0">
                <a:solidFill>
                  <a:srgbClr val="1E63D5"/>
                </a:solidFill>
                <a:latin typeface="Helvetica Neue"/>
                <a:ea typeface="Helvetica Neue"/>
                <a:cs typeface="Helvetica Neue"/>
              </a:defRPr>
            </a:pPr>
            <a:r>
              <a:rPr sz="1200" b="1" i="0">
                <a:solidFill>
                  <a:srgbClr val="1E63D5"/>
                </a:solidFill>
                <a:latin typeface="Helvetica Neue"/>
                <a:ea typeface="Helvetica Neue"/>
                <a:cs typeface="Helvetica Neue"/>
              </a:rPr>
              <a:t>Nested scaffold</a:t>
            </a:r>
          </a:p>
        </p:txBody>
      </p:sp>
      <p:sp>
        <p:nvSpPr>
          <p:cNvPr id="21" name="">
            <a:extLst xmlns:a="http://schemas.openxmlformats.org/drawingml/2006/main">
              <a:ext uri="{FF2B5EF4-FFF2-40B4-BE49-F238E27FC236}">
                <a16:creationId xmlns:a16="http://schemas.microsoft.com/office/drawing/2014/main" id="{A1FADF45-B1EA-4DBB-AFC9-61E94F9679F2}"/>
              </a:ext>
            </a:extLst>
          </p:cNvPr>
          <p:cNvSpPr>
            <a:spLocks xmlns:a="http://schemas.openxmlformats.org/drawingml/2006/main" noGrp="1"/>
          </p:cNvSpPr>
          <p:nvPr/>
        </p:nvSpPr>
        <p:spPr>
          <a:xfrm xmlns:a="http://schemas.openxmlformats.org/drawingml/2006/main">
            <a:off x="5295900" y="1771650"/>
            <a:ext cx="21145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2" name="">
            <a:extLst xmlns:a="http://schemas.openxmlformats.org/drawingml/2006/main">
              <a:ext uri="{FF2B5EF4-FFF2-40B4-BE49-F238E27FC236}">
                <a16:creationId xmlns:a16="http://schemas.microsoft.com/office/drawing/2014/main" id="{24ECF8C6-EE18-4CBB-BFBA-D1FEC113C7FB}"/>
              </a:ext>
            </a:extLst>
          </p:cNvPr>
          <p:cNvSpPr>
            <a:spLocks xmlns:a="http://schemas.openxmlformats.org/drawingml/2006/main" noGrp="1"/>
          </p:cNvSpPr>
          <p:nvPr/>
        </p:nvSpPr>
        <p:spPr>
          <a:xfrm xmlns:a="http://schemas.openxmlformats.org/drawingml/2006/main">
            <a:off x="5391150" y="18478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Low</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Structure collapse; sealed outcomes</a:t>
            </a:r>
          </a:p>
        </p:txBody>
      </p:sp>
      <p:sp>
        <p:nvSpPr>
          <p:cNvPr id="23" name="">
            <a:extLst xmlns:a="http://schemas.openxmlformats.org/drawingml/2006/main">
              <a:ext uri="{FF2B5EF4-FFF2-40B4-BE49-F238E27FC236}">
                <a16:creationId xmlns:a16="http://schemas.microsoft.com/office/drawing/2014/main" id="{384D2981-A801-4B53-A5EC-45E532BD0558}"/>
              </a:ext>
            </a:extLst>
          </p:cNvPr>
          <p:cNvSpPr>
            <a:spLocks xmlns:a="http://schemas.openxmlformats.org/drawingml/2006/main" noGrp="1"/>
          </p:cNvSpPr>
          <p:nvPr/>
        </p:nvSpPr>
        <p:spPr>
          <a:xfrm xmlns:a="http://schemas.openxmlformats.org/drawingml/2006/main">
            <a:off x="7410450" y="1771650"/>
            <a:ext cx="201930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4" name="">
            <a:extLst xmlns:a="http://schemas.openxmlformats.org/drawingml/2006/main">
              <a:ext uri="{FF2B5EF4-FFF2-40B4-BE49-F238E27FC236}">
                <a16:creationId xmlns:a16="http://schemas.microsoft.com/office/drawing/2014/main" id="{19BDE4BA-3FE4-455A-92A8-16FC78F05001}"/>
              </a:ext>
            </a:extLst>
          </p:cNvPr>
          <p:cNvSpPr>
            <a:spLocks xmlns:a="http://schemas.openxmlformats.org/drawingml/2006/main" noGrp="1"/>
          </p:cNvSpPr>
          <p:nvPr/>
        </p:nvSpPr>
        <p:spPr>
          <a:xfrm xmlns:a="http://schemas.openxmlformats.org/drawingml/2006/main">
            <a:off x="7505700" y="1847850"/>
            <a:ext cx="182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RDKit2D, Morgan, specialists, domain flag</a:t>
            </a:r>
          </a:p>
        </p:txBody>
      </p:sp>
      <p:sp>
        <p:nvSpPr>
          <p:cNvPr id="25" name="">
            <a:extLst xmlns:a="http://schemas.openxmlformats.org/drawingml/2006/main">
              <a:ext uri="{FF2B5EF4-FFF2-40B4-BE49-F238E27FC236}">
                <a16:creationId xmlns:a16="http://schemas.microsoft.com/office/drawing/2014/main" id="{6C6B5590-4D8F-4195-A71A-6F34D670F742}"/>
              </a:ext>
            </a:extLst>
          </p:cNvPr>
          <p:cNvSpPr>
            <a:spLocks xmlns:a="http://schemas.openxmlformats.org/drawingml/2006/main" noGrp="1"/>
          </p:cNvSpPr>
          <p:nvPr/>
        </p:nvSpPr>
        <p:spPr>
          <a:xfrm xmlns:a="http://schemas.openxmlformats.org/drawingml/2006/main">
            <a:off x="9429750" y="1771650"/>
            <a:ext cx="2305050" cy="723900"/>
          </a:xfrm>
          <a:prstGeom xmlns:a="http://schemas.openxmlformats.org/drawingml/2006/main" prst="rect">
            <a:avLst/>
          </a:prstGeom>
          <a:solidFill xmlns:a="http://schemas.openxmlformats.org/drawingml/2006/main">
            <a:srgbClr val="EAF2FF"/>
          </a:solidFill>
          <a:ln xmlns:a="http://schemas.openxmlformats.org/drawingml/2006/main" w="9525">
            <a:solidFill>
              <a:srgbClr val="D6DAE0"/>
            </a:solidFill>
            <a:prstDash val="solid"/>
          </a:ln>
        </p:spPr>
      </p:sp>
      <p:sp>
        <p:nvSpPr>
          <p:cNvPr id="26" name="">
            <a:extLst xmlns:a="http://schemas.openxmlformats.org/drawingml/2006/main">
              <a:ext uri="{FF2B5EF4-FFF2-40B4-BE49-F238E27FC236}">
                <a16:creationId xmlns:a16="http://schemas.microsoft.com/office/drawing/2014/main" id="{DF0661CD-A547-4006-9B2F-EC91FDE6E337}"/>
              </a:ext>
            </a:extLst>
          </p:cNvPr>
          <p:cNvSpPr>
            <a:spLocks xmlns:a="http://schemas.openxmlformats.org/drawingml/2006/main" noGrp="1"/>
          </p:cNvSpPr>
          <p:nvPr/>
        </p:nvSpPr>
        <p:spPr>
          <a:xfrm xmlns:a="http://schemas.openxmlformats.org/drawingml/2006/main">
            <a:off x="9525000" y="184785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Internal only; WT-or-unspecified; external series still needed</a:t>
            </a:r>
          </a:p>
        </p:txBody>
      </p:sp>
      <p:sp>
        <p:nvSpPr>
          <p:cNvPr id="27" name="">
            <a:extLst xmlns:a="http://schemas.openxmlformats.org/drawingml/2006/main">
              <a:ext uri="{FF2B5EF4-FFF2-40B4-BE49-F238E27FC236}">
                <a16:creationId xmlns:a16="http://schemas.microsoft.com/office/drawing/2014/main" id="{9CF50EB5-EED8-41B7-AE49-587EF82B8396}"/>
              </a:ext>
            </a:extLst>
          </p:cNvPr>
          <p:cNvSpPr>
            <a:spLocks xmlns:a="http://schemas.openxmlformats.org/drawingml/2006/main" noGrp="1"/>
          </p:cNvSpPr>
          <p:nvPr/>
        </p:nvSpPr>
        <p:spPr>
          <a:xfrm xmlns:a="http://schemas.openxmlformats.org/drawingml/2006/main">
            <a:off x="438150" y="3219450"/>
            <a:ext cx="1352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28" name="">
            <a:extLst xmlns:a="http://schemas.openxmlformats.org/drawingml/2006/main">
              <a:ext uri="{FF2B5EF4-FFF2-40B4-BE49-F238E27FC236}">
                <a16:creationId xmlns:a16="http://schemas.microsoft.com/office/drawing/2014/main" id="{AD0167FC-F7D5-4EB5-878A-46C3E841C4D9}"/>
              </a:ext>
            </a:extLst>
          </p:cNvPr>
          <p:cNvSpPr>
            <a:spLocks xmlns:a="http://schemas.openxmlformats.org/drawingml/2006/main" noGrp="1"/>
          </p:cNvSpPr>
          <p:nvPr/>
        </p:nvSpPr>
        <p:spPr>
          <a:xfrm xmlns:a="http://schemas.openxmlformats.org/drawingml/2006/main">
            <a:off x="533400" y="3295650"/>
            <a:ext cx="1162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Pred-hERG 5.0</a:t>
            </a:r>
          </a:p>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Regression</a:t>
            </a:r>
          </a:p>
        </p:txBody>
      </p:sp>
      <p:sp>
        <p:nvSpPr>
          <p:cNvPr id="29" name="">
            <a:extLst xmlns:a="http://schemas.openxmlformats.org/drawingml/2006/main">
              <a:ext uri="{FF2B5EF4-FFF2-40B4-BE49-F238E27FC236}">
                <a16:creationId xmlns:a16="http://schemas.microsoft.com/office/drawing/2014/main" id="{7AC23851-CC22-403A-AC4E-EBF0CCE92B3F}"/>
              </a:ext>
            </a:extLst>
          </p:cNvPr>
          <p:cNvSpPr>
            <a:spLocks xmlns:a="http://schemas.openxmlformats.org/drawingml/2006/main" noGrp="1"/>
          </p:cNvSpPr>
          <p:nvPr/>
        </p:nvSpPr>
        <p:spPr>
          <a:xfrm xmlns:a="http://schemas.openxmlformats.org/drawingml/2006/main">
            <a:off x="1790700" y="3219450"/>
            <a:ext cx="15049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0" name="">
            <a:extLst xmlns:a="http://schemas.openxmlformats.org/drawingml/2006/main">
              <a:ext uri="{FF2B5EF4-FFF2-40B4-BE49-F238E27FC236}">
                <a16:creationId xmlns:a16="http://schemas.microsoft.com/office/drawing/2014/main" id="{863EF8F2-55EA-403E-8CD5-830AD22B2DFD}"/>
              </a:ext>
            </a:extLst>
          </p:cNvPr>
          <p:cNvSpPr>
            <a:spLocks xmlns:a="http://schemas.openxmlformats.org/drawingml/2006/main" noGrp="1"/>
          </p:cNvSpPr>
          <p:nvPr/>
        </p:nvSpPr>
        <p:spPr>
          <a:xfrm xmlns:a="http://schemas.openxmlformats.org/drawingml/2006/main">
            <a:off x="1885950" y="3295650"/>
            <a:ext cx="1314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7,609</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records</a:t>
            </a:r>
          </a:p>
        </p:txBody>
      </p:sp>
      <p:sp>
        <p:nvSpPr>
          <p:cNvPr id="31" name="">
            <a:extLst xmlns:a="http://schemas.openxmlformats.org/drawingml/2006/main">
              <a:ext uri="{FF2B5EF4-FFF2-40B4-BE49-F238E27FC236}">
                <a16:creationId xmlns:a16="http://schemas.microsoft.com/office/drawing/2014/main" id="{4EC1EFB0-B87F-4B3B-96AA-A2B910BFC9C2}"/>
              </a:ext>
            </a:extLst>
          </p:cNvPr>
          <p:cNvSpPr>
            <a:spLocks xmlns:a="http://schemas.openxmlformats.org/drawingml/2006/main" noGrp="1"/>
          </p:cNvSpPr>
          <p:nvPr/>
        </p:nvSpPr>
        <p:spPr>
          <a:xfrm xmlns:a="http://schemas.openxmlformats.org/drawingml/2006/main">
            <a:off x="3295650" y="32194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2" name="">
            <a:extLst xmlns:a="http://schemas.openxmlformats.org/drawingml/2006/main">
              <a:ext uri="{FF2B5EF4-FFF2-40B4-BE49-F238E27FC236}">
                <a16:creationId xmlns:a16="http://schemas.microsoft.com/office/drawing/2014/main" id="{87D4A7F9-D87C-4AA3-A511-6479ABE55B76}"/>
              </a:ext>
            </a:extLst>
          </p:cNvPr>
          <p:cNvSpPr>
            <a:spLocks xmlns:a="http://schemas.openxmlformats.org/drawingml/2006/main" noGrp="1"/>
          </p:cNvSpPr>
          <p:nvPr/>
        </p:nvSpPr>
        <p:spPr>
          <a:xfrm xmlns:a="http://schemas.openxmlformats.org/drawingml/2006/main">
            <a:off x="3390900" y="32956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0.35 MAE</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0.44 RMSE</a:t>
            </a:r>
          </a:p>
        </p:txBody>
      </p:sp>
      <p:sp>
        <p:nvSpPr>
          <p:cNvPr id="33" name="">
            <a:extLst xmlns:a="http://schemas.openxmlformats.org/drawingml/2006/main">
              <a:ext uri="{FF2B5EF4-FFF2-40B4-BE49-F238E27FC236}">
                <a16:creationId xmlns:a16="http://schemas.microsoft.com/office/drawing/2014/main" id="{1F291876-48FD-4D11-91D4-5360E9A0465A}"/>
              </a:ext>
            </a:extLst>
          </p:cNvPr>
          <p:cNvSpPr>
            <a:spLocks xmlns:a="http://schemas.openxmlformats.org/drawingml/2006/main" noGrp="1"/>
          </p:cNvSpPr>
          <p:nvPr/>
        </p:nvSpPr>
        <p:spPr>
          <a:xfrm xmlns:a="http://schemas.openxmlformats.org/drawingml/2006/main">
            <a:off x="5295900" y="32194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4" name="">
            <a:extLst xmlns:a="http://schemas.openxmlformats.org/drawingml/2006/main">
              <a:ext uri="{FF2B5EF4-FFF2-40B4-BE49-F238E27FC236}">
                <a16:creationId xmlns:a16="http://schemas.microsoft.com/office/drawing/2014/main" id="{849B55CE-44A9-4120-90C9-F0BA34FA184E}"/>
              </a:ext>
            </a:extLst>
          </p:cNvPr>
          <p:cNvSpPr>
            <a:spLocks xmlns:a="http://schemas.openxmlformats.org/drawingml/2006/main" noGrp="1"/>
          </p:cNvSpPr>
          <p:nvPr/>
        </p:nvSpPr>
        <p:spPr>
          <a:xfrm xmlns:a="http://schemas.openxmlformats.org/drawingml/2006/main">
            <a:off x="5391150" y="32956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High</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Task curation; random 80/20 split</a:t>
            </a:r>
          </a:p>
        </p:txBody>
      </p:sp>
      <p:sp>
        <p:nvSpPr>
          <p:cNvPr id="35" name="">
            <a:extLst xmlns:a="http://schemas.openxmlformats.org/drawingml/2006/main">
              <a:ext uri="{FF2B5EF4-FFF2-40B4-BE49-F238E27FC236}">
                <a16:creationId xmlns:a16="http://schemas.microsoft.com/office/drawing/2014/main" id="{5BE49805-3452-45EF-952F-66D0F0B201E2}"/>
              </a:ext>
            </a:extLst>
          </p:cNvPr>
          <p:cNvSpPr>
            <a:spLocks xmlns:a="http://schemas.openxmlformats.org/drawingml/2006/main" noGrp="1"/>
          </p:cNvSpPr>
          <p:nvPr/>
        </p:nvSpPr>
        <p:spPr>
          <a:xfrm xmlns:a="http://schemas.openxmlformats.org/drawingml/2006/main">
            <a:off x="7410450" y="3219450"/>
            <a:ext cx="20193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6" name="">
            <a:extLst xmlns:a="http://schemas.openxmlformats.org/drawingml/2006/main">
              <a:ext uri="{FF2B5EF4-FFF2-40B4-BE49-F238E27FC236}">
                <a16:creationId xmlns:a16="http://schemas.microsoft.com/office/drawing/2014/main" id="{F07A74B3-A4AC-478B-8706-A345286F3076}"/>
              </a:ext>
            </a:extLst>
          </p:cNvPr>
          <p:cNvSpPr>
            <a:spLocks xmlns:a="http://schemas.openxmlformats.org/drawingml/2006/main" noGrp="1"/>
          </p:cNvSpPr>
          <p:nvPr/>
        </p:nvSpPr>
        <p:spPr>
          <a:xfrm xmlns:a="http://schemas.openxmlformats.org/drawingml/2006/main">
            <a:off x="7505700" y="3295650"/>
            <a:ext cx="182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ECFP, FCFP, SVM, consensus</a:t>
            </a:r>
          </a:p>
        </p:txBody>
      </p:sp>
      <p:sp>
        <p:nvSpPr>
          <p:cNvPr id="37" name="">
            <a:extLst xmlns:a="http://schemas.openxmlformats.org/drawingml/2006/main">
              <a:ext uri="{FF2B5EF4-FFF2-40B4-BE49-F238E27FC236}">
                <a16:creationId xmlns:a16="http://schemas.microsoft.com/office/drawing/2014/main" id="{01A2A8C0-023A-4B70-BB9D-222DEEF3BA04}"/>
              </a:ext>
            </a:extLst>
          </p:cNvPr>
          <p:cNvSpPr>
            <a:spLocks xmlns:a="http://schemas.openxmlformats.org/drawingml/2006/main" noGrp="1"/>
          </p:cNvSpPr>
          <p:nvPr/>
        </p:nvSpPr>
        <p:spPr>
          <a:xfrm xmlns:a="http://schemas.openxmlformats.org/drawingml/2006/main">
            <a:off x="9429750" y="3219450"/>
            <a:ext cx="23050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38" name="">
            <a:extLst xmlns:a="http://schemas.openxmlformats.org/drawingml/2006/main">
              <a:ext uri="{FF2B5EF4-FFF2-40B4-BE49-F238E27FC236}">
                <a16:creationId xmlns:a16="http://schemas.microsoft.com/office/drawing/2014/main" id="{0D43B2A4-F22A-4208-BA0E-D7D2E566D5EA}"/>
              </a:ext>
            </a:extLst>
          </p:cNvPr>
          <p:cNvSpPr>
            <a:spLocks xmlns:a="http://schemas.openxmlformats.org/drawingml/2006/main" noGrp="1"/>
          </p:cNvSpPr>
          <p:nvPr/>
        </p:nvSpPr>
        <p:spPr>
          <a:xfrm xmlns:a="http://schemas.openxmlformats.org/drawingml/2006/main">
            <a:off x="9525000" y="329565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Random split; pooled assay types; current repository lacks full assets</a:t>
            </a:r>
          </a:p>
        </p:txBody>
      </p:sp>
      <p:sp>
        <p:nvSpPr>
          <p:cNvPr id="39" name="">
            <a:extLst xmlns:a="http://schemas.openxmlformats.org/drawingml/2006/main">
              <a:ext uri="{FF2B5EF4-FFF2-40B4-BE49-F238E27FC236}">
                <a16:creationId xmlns:a16="http://schemas.microsoft.com/office/drawing/2014/main" id="{56F9AD76-80DC-496D-971B-CC09BBFA9E2F}"/>
              </a:ext>
            </a:extLst>
          </p:cNvPr>
          <p:cNvSpPr>
            <a:spLocks xmlns:a="http://schemas.openxmlformats.org/drawingml/2006/main" noGrp="1"/>
          </p:cNvSpPr>
          <p:nvPr/>
        </p:nvSpPr>
        <p:spPr>
          <a:xfrm xmlns:a="http://schemas.openxmlformats.org/drawingml/2006/main">
            <a:off x="438150" y="3943350"/>
            <a:ext cx="1352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0" name="">
            <a:extLst xmlns:a="http://schemas.openxmlformats.org/drawingml/2006/main">
              <a:ext uri="{FF2B5EF4-FFF2-40B4-BE49-F238E27FC236}">
                <a16:creationId xmlns:a16="http://schemas.microsoft.com/office/drawing/2014/main" id="{D73F57E6-CBF3-4222-BC21-4963815E83EE}"/>
              </a:ext>
            </a:extLst>
          </p:cNvPr>
          <p:cNvSpPr>
            <a:spLocks xmlns:a="http://schemas.openxmlformats.org/drawingml/2006/main" noGrp="1"/>
          </p:cNvSpPr>
          <p:nvPr/>
        </p:nvSpPr>
        <p:spPr>
          <a:xfrm xmlns:a="http://schemas.openxmlformats.org/drawingml/2006/main">
            <a:off x="533400" y="4019550"/>
            <a:ext cx="1162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hERGBoost</a:t>
            </a:r>
          </a:p>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Regression</a:t>
            </a:r>
          </a:p>
        </p:txBody>
      </p:sp>
      <p:sp>
        <p:nvSpPr>
          <p:cNvPr id="41" name="">
            <a:extLst xmlns:a="http://schemas.openxmlformats.org/drawingml/2006/main">
              <a:ext uri="{FF2B5EF4-FFF2-40B4-BE49-F238E27FC236}">
                <a16:creationId xmlns:a16="http://schemas.microsoft.com/office/drawing/2014/main" id="{E9C463E9-8807-4055-9E43-5008E5FCEA60}"/>
              </a:ext>
            </a:extLst>
          </p:cNvPr>
          <p:cNvSpPr>
            <a:spLocks xmlns:a="http://schemas.openxmlformats.org/drawingml/2006/main" noGrp="1"/>
          </p:cNvSpPr>
          <p:nvPr/>
        </p:nvSpPr>
        <p:spPr>
          <a:xfrm xmlns:a="http://schemas.openxmlformats.org/drawingml/2006/main">
            <a:off x="1790700" y="3943350"/>
            <a:ext cx="15049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2" name="">
            <a:extLst xmlns:a="http://schemas.openxmlformats.org/drawingml/2006/main">
              <a:ext uri="{FF2B5EF4-FFF2-40B4-BE49-F238E27FC236}">
                <a16:creationId xmlns:a16="http://schemas.microsoft.com/office/drawing/2014/main" id="{C34F9206-DA0B-4C0D-ABF6-4D04D3624708}"/>
              </a:ext>
            </a:extLst>
          </p:cNvPr>
          <p:cNvSpPr>
            <a:spLocks xmlns:a="http://schemas.openxmlformats.org/drawingml/2006/main" noGrp="1"/>
          </p:cNvSpPr>
          <p:nvPr/>
        </p:nvSpPr>
        <p:spPr>
          <a:xfrm xmlns:a="http://schemas.openxmlformats.org/drawingml/2006/main">
            <a:off x="1885950" y="4019550"/>
            <a:ext cx="1314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10,798</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molecules</a:t>
            </a:r>
          </a:p>
        </p:txBody>
      </p:sp>
      <p:sp>
        <p:nvSpPr>
          <p:cNvPr id="43" name="">
            <a:extLst xmlns:a="http://schemas.openxmlformats.org/drawingml/2006/main">
              <a:ext uri="{FF2B5EF4-FFF2-40B4-BE49-F238E27FC236}">
                <a16:creationId xmlns:a16="http://schemas.microsoft.com/office/drawing/2014/main" id="{0A97D39D-C0B1-41C9-8DD6-8FB406230E90}"/>
              </a:ext>
            </a:extLst>
          </p:cNvPr>
          <p:cNvSpPr>
            <a:spLocks xmlns:a="http://schemas.openxmlformats.org/drawingml/2006/main" noGrp="1"/>
          </p:cNvSpPr>
          <p:nvPr/>
        </p:nvSpPr>
        <p:spPr>
          <a:xfrm xmlns:a="http://schemas.openxmlformats.org/drawingml/2006/main">
            <a:off x="3295650" y="39433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4" name="">
            <a:extLst xmlns:a="http://schemas.openxmlformats.org/drawingml/2006/main">
              <a:ext uri="{FF2B5EF4-FFF2-40B4-BE49-F238E27FC236}">
                <a16:creationId xmlns:a16="http://schemas.microsoft.com/office/drawing/2014/main" id="{E54C92B6-BC98-49A2-9C94-0EDC7A825970}"/>
              </a:ext>
            </a:extLst>
          </p:cNvPr>
          <p:cNvSpPr>
            <a:spLocks xmlns:a="http://schemas.openxmlformats.org/drawingml/2006/main" noGrp="1"/>
          </p:cNvSpPr>
          <p:nvPr/>
        </p:nvSpPr>
        <p:spPr>
          <a:xfrm xmlns:a="http://schemas.openxmlformats.org/drawingml/2006/main">
            <a:off x="3390900" y="40195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0.438 MAE</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External n=706</a:t>
            </a:r>
          </a:p>
        </p:txBody>
      </p:sp>
      <p:sp>
        <p:nvSpPr>
          <p:cNvPr id="45" name="">
            <a:extLst xmlns:a="http://schemas.openxmlformats.org/drawingml/2006/main">
              <a:ext uri="{FF2B5EF4-FFF2-40B4-BE49-F238E27FC236}">
                <a16:creationId xmlns:a16="http://schemas.microsoft.com/office/drawing/2014/main" id="{1F8BECAE-E298-48B6-8EC6-D52D2901AE0D}"/>
              </a:ext>
            </a:extLst>
          </p:cNvPr>
          <p:cNvSpPr>
            <a:spLocks xmlns:a="http://schemas.openxmlformats.org/drawingml/2006/main" noGrp="1"/>
          </p:cNvSpPr>
          <p:nvPr/>
        </p:nvSpPr>
        <p:spPr>
          <a:xfrm xmlns:a="http://schemas.openxmlformats.org/drawingml/2006/main">
            <a:off x="5295900" y="39433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6" name="">
            <a:extLst xmlns:a="http://schemas.openxmlformats.org/drawingml/2006/main">
              <a:ext uri="{FF2B5EF4-FFF2-40B4-BE49-F238E27FC236}">
                <a16:creationId xmlns:a16="http://schemas.microsoft.com/office/drawing/2014/main" id="{B6C4545F-6A4B-47C1-B3B7-61BDA578336D}"/>
              </a:ext>
            </a:extLst>
          </p:cNvPr>
          <p:cNvSpPr>
            <a:spLocks xmlns:a="http://schemas.openxmlformats.org/drawingml/2006/main" noGrp="1"/>
          </p:cNvSpPr>
          <p:nvPr/>
        </p:nvSpPr>
        <p:spPr>
          <a:xfrm xmlns:a="http://schemas.openxmlformats.org/drawingml/2006/main">
            <a:off x="5391150" y="40195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Moderate</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External set; grouping policy unclear</a:t>
            </a:r>
          </a:p>
        </p:txBody>
      </p:sp>
      <p:sp>
        <p:nvSpPr>
          <p:cNvPr id="47" name="">
            <a:extLst xmlns:a="http://schemas.openxmlformats.org/drawingml/2006/main">
              <a:ext uri="{FF2B5EF4-FFF2-40B4-BE49-F238E27FC236}">
                <a16:creationId xmlns:a16="http://schemas.microsoft.com/office/drawing/2014/main" id="{5D2B7A2A-9A85-4ED0-911B-26A43E1A2888}"/>
              </a:ext>
            </a:extLst>
          </p:cNvPr>
          <p:cNvSpPr>
            <a:spLocks xmlns:a="http://schemas.openxmlformats.org/drawingml/2006/main" noGrp="1"/>
          </p:cNvSpPr>
          <p:nvPr/>
        </p:nvSpPr>
        <p:spPr>
          <a:xfrm xmlns:a="http://schemas.openxmlformats.org/drawingml/2006/main">
            <a:off x="7410450" y="3943350"/>
            <a:ext cx="20193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48" name="">
            <a:extLst xmlns:a="http://schemas.openxmlformats.org/drawingml/2006/main">
              <a:ext uri="{FF2B5EF4-FFF2-40B4-BE49-F238E27FC236}">
                <a16:creationId xmlns:a16="http://schemas.microsoft.com/office/drawing/2014/main" id="{50B99B16-F66F-401B-8E3E-D6BA30695EDA}"/>
              </a:ext>
            </a:extLst>
          </p:cNvPr>
          <p:cNvSpPr>
            <a:spLocks xmlns:a="http://schemas.openxmlformats.org/drawingml/2006/main" noGrp="1"/>
          </p:cNvSpPr>
          <p:nvPr/>
        </p:nvSpPr>
        <p:spPr>
          <a:xfrm xmlns:a="http://schemas.openxmlformats.org/drawingml/2006/main">
            <a:off x="7505700" y="4019550"/>
            <a:ext cx="182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Descriptors, fingerprints, XGBoost</a:t>
            </a:r>
          </a:p>
        </p:txBody>
      </p:sp>
      <p:sp>
        <p:nvSpPr>
          <p:cNvPr id="49" name="">
            <a:extLst xmlns:a="http://schemas.openxmlformats.org/drawingml/2006/main">
              <a:ext uri="{FF2B5EF4-FFF2-40B4-BE49-F238E27FC236}">
                <a16:creationId xmlns:a16="http://schemas.microsoft.com/office/drawing/2014/main" id="{2F5D11F5-B907-4155-8469-6427A12918A5}"/>
              </a:ext>
            </a:extLst>
          </p:cNvPr>
          <p:cNvSpPr>
            <a:spLocks xmlns:a="http://schemas.openxmlformats.org/drawingml/2006/main" noGrp="1"/>
          </p:cNvSpPr>
          <p:nvPr/>
        </p:nvSpPr>
        <p:spPr>
          <a:xfrm xmlns:a="http://schemas.openxmlformats.org/drawingml/2006/main">
            <a:off x="9429750" y="3943350"/>
            <a:ext cx="23050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0" name="">
            <a:extLst xmlns:a="http://schemas.openxmlformats.org/drawingml/2006/main">
              <a:ext uri="{FF2B5EF4-FFF2-40B4-BE49-F238E27FC236}">
                <a16:creationId xmlns:a16="http://schemas.microsoft.com/office/drawing/2014/main" id="{365AABB8-5E3A-40D3-AE8A-DF76139486A2}"/>
              </a:ext>
            </a:extLst>
          </p:cNvPr>
          <p:cNvSpPr>
            <a:spLocks xmlns:a="http://schemas.openxmlformats.org/drawingml/2006/main" noGrp="1"/>
          </p:cNvSpPr>
          <p:nvPr/>
        </p:nvSpPr>
        <p:spPr>
          <a:xfrm xmlns:a="http://schemas.openxmlformats.org/drawingml/2006/main">
            <a:off x="9525000" y="401955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External R2 0.394; extreme-potency RMSE 1.154</a:t>
            </a:r>
          </a:p>
        </p:txBody>
      </p:sp>
      <p:sp>
        <p:nvSpPr>
          <p:cNvPr id="51" name="">
            <a:extLst xmlns:a="http://schemas.openxmlformats.org/drawingml/2006/main">
              <a:ext uri="{FF2B5EF4-FFF2-40B4-BE49-F238E27FC236}">
                <a16:creationId xmlns:a16="http://schemas.microsoft.com/office/drawing/2014/main" id="{76BC8420-31AD-40D1-A2AF-7553053D99DF}"/>
              </a:ext>
            </a:extLst>
          </p:cNvPr>
          <p:cNvSpPr>
            <a:spLocks xmlns:a="http://schemas.openxmlformats.org/drawingml/2006/main" noGrp="1"/>
          </p:cNvSpPr>
          <p:nvPr/>
        </p:nvSpPr>
        <p:spPr>
          <a:xfrm xmlns:a="http://schemas.openxmlformats.org/drawingml/2006/main">
            <a:off x="438150" y="4667250"/>
            <a:ext cx="1352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2" name="">
            <a:extLst xmlns:a="http://schemas.openxmlformats.org/drawingml/2006/main">
              <a:ext uri="{FF2B5EF4-FFF2-40B4-BE49-F238E27FC236}">
                <a16:creationId xmlns:a16="http://schemas.microsoft.com/office/drawing/2014/main" id="{32F38B8D-F768-48C0-BE46-E4D24969884C}"/>
              </a:ext>
            </a:extLst>
          </p:cNvPr>
          <p:cNvSpPr>
            <a:spLocks xmlns:a="http://schemas.openxmlformats.org/drawingml/2006/main" noGrp="1"/>
          </p:cNvSpPr>
          <p:nvPr/>
        </p:nvSpPr>
        <p:spPr>
          <a:xfrm xmlns:a="http://schemas.openxmlformats.org/drawingml/2006/main">
            <a:off x="533400" y="4743450"/>
            <a:ext cx="1162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HERGAI</a:t>
            </a:r>
          </a:p>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Binary at 20 µM</a:t>
            </a:r>
          </a:p>
        </p:txBody>
      </p:sp>
      <p:sp>
        <p:nvSpPr>
          <p:cNvPr id="53" name="">
            <a:extLst xmlns:a="http://schemas.openxmlformats.org/drawingml/2006/main">
              <a:ext uri="{FF2B5EF4-FFF2-40B4-BE49-F238E27FC236}">
                <a16:creationId xmlns:a16="http://schemas.microsoft.com/office/drawing/2014/main" id="{BB821F88-FF48-4225-8144-767F5A3A9602}"/>
              </a:ext>
            </a:extLst>
          </p:cNvPr>
          <p:cNvSpPr>
            <a:spLocks xmlns:a="http://schemas.openxmlformats.org/drawingml/2006/main" noGrp="1"/>
          </p:cNvSpPr>
          <p:nvPr/>
        </p:nvSpPr>
        <p:spPr>
          <a:xfrm xmlns:a="http://schemas.openxmlformats.org/drawingml/2006/main">
            <a:off x="1790700" y="4667250"/>
            <a:ext cx="15049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4" name="">
            <a:extLst xmlns:a="http://schemas.openxmlformats.org/drawingml/2006/main">
              <a:ext uri="{FF2B5EF4-FFF2-40B4-BE49-F238E27FC236}">
                <a16:creationId xmlns:a16="http://schemas.microsoft.com/office/drawing/2014/main" id="{FE51000A-9295-49EB-82A8-DDC037EC128C}"/>
              </a:ext>
            </a:extLst>
          </p:cNvPr>
          <p:cNvSpPr>
            <a:spLocks xmlns:a="http://schemas.openxmlformats.org/drawingml/2006/main" noGrp="1"/>
          </p:cNvSpPr>
          <p:nvPr/>
        </p:nvSpPr>
        <p:spPr>
          <a:xfrm xmlns:a="http://schemas.openxmlformats.org/drawingml/2006/main">
            <a:off x="1885950" y="4743450"/>
            <a:ext cx="1314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299,927</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0.65% active</a:t>
            </a:r>
          </a:p>
        </p:txBody>
      </p:sp>
      <p:sp>
        <p:nvSpPr>
          <p:cNvPr id="55" name="">
            <a:extLst xmlns:a="http://schemas.openxmlformats.org/drawingml/2006/main">
              <a:ext uri="{FF2B5EF4-FFF2-40B4-BE49-F238E27FC236}">
                <a16:creationId xmlns:a16="http://schemas.microsoft.com/office/drawing/2014/main" id="{8B4DE704-D33A-482F-A6D5-F739C5D68A34}"/>
              </a:ext>
            </a:extLst>
          </p:cNvPr>
          <p:cNvSpPr>
            <a:spLocks xmlns:a="http://schemas.openxmlformats.org/drawingml/2006/main" noGrp="1"/>
          </p:cNvSpPr>
          <p:nvPr/>
        </p:nvSpPr>
        <p:spPr>
          <a:xfrm xmlns:a="http://schemas.openxmlformats.org/drawingml/2006/main">
            <a:off x="3295650" y="46672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6" name="">
            <a:extLst xmlns:a="http://schemas.openxmlformats.org/drawingml/2006/main">
              <a:ext uri="{FF2B5EF4-FFF2-40B4-BE49-F238E27FC236}">
                <a16:creationId xmlns:a16="http://schemas.microsoft.com/office/drawing/2014/main" id="{F14D92AB-2051-45D7-BD09-387DDA377666}"/>
              </a:ext>
            </a:extLst>
          </p:cNvPr>
          <p:cNvSpPr>
            <a:spLocks xmlns:a="http://schemas.openxmlformats.org/drawingml/2006/main" noGrp="1"/>
          </p:cNvSpPr>
          <p:nvPr/>
        </p:nvSpPr>
        <p:spPr>
          <a:xfrm xmlns:a="http://schemas.openxmlformats.org/drawingml/2006/main">
            <a:off x="3390900" y="47434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86.4% recall</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AUC 0.863</a:t>
            </a:r>
          </a:p>
        </p:txBody>
      </p:sp>
      <p:sp>
        <p:nvSpPr>
          <p:cNvPr id="57" name="">
            <a:extLst xmlns:a="http://schemas.openxmlformats.org/drawingml/2006/main">
              <a:ext uri="{FF2B5EF4-FFF2-40B4-BE49-F238E27FC236}">
                <a16:creationId xmlns:a16="http://schemas.microsoft.com/office/drawing/2014/main" id="{99019E02-239E-4798-AAEA-6EEB6E37FD10}"/>
              </a:ext>
            </a:extLst>
          </p:cNvPr>
          <p:cNvSpPr>
            <a:spLocks xmlns:a="http://schemas.openxmlformats.org/drawingml/2006/main" noGrp="1"/>
          </p:cNvSpPr>
          <p:nvPr/>
        </p:nvSpPr>
        <p:spPr>
          <a:xfrm xmlns:a="http://schemas.openxmlformats.org/drawingml/2006/main">
            <a:off x="5295900" y="46672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58" name="">
            <a:extLst xmlns:a="http://schemas.openxmlformats.org/drawingml/2006/main">
              <a:ext uri="{FF2B5EF4-FFF2-40B4-BE49-F238E27FC236}">
                <a16:creationId xmlns:a16="http://schemas.microsoft.com/office/drawing/2014/main" id="{D7ACE2DD-0D19-4BA1-8643-E6D5D8796BC6}"/>
              </a:ext>
            </a:extLst>
          </p:cNvPr>
          <p:cNvSpPr>
            <a:spLocks xmlns:a="http://schemas.openxmlformats.org/drawingml/2006/main" noGrp="1"/>
          </p:cNvSpPr>
          <p:nvPr/>
        </p:nvSpPr>
        <p:spPr>
          <a:xfrm xmlns:a="http://schemas.openxmlformats.org/drawingml/2006/main">
            <a:off x="5391150" y="47434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High</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Extreme imbalance; pose selection</a:t>
            </a:r>
          </a:p>
        </p:txBody>
      </p:sp>
      <p:sp>
        <p:nvSpPr>
          <p:cNvPr id="59" name="">
            <a:extLst xmlns:a="http://schemas.openxmlformats.org/drawingml/2006/main">
              <a:ext uri="{FF2B5EF4-FFF2-40B4-BE49-F238E27FC236}">
                <a16:creationId xmlns:a16="http://schemas.microsoft.com/office/drawing/2014/main" id="{9BAB26F4-7BEB-4432-9655-F32DB0DC074B}"/>
              </a:ext>
            </a:extLst>
          </p:cNvPr>
          <p:cNvSpPr>
            <a:spLocks xmlns:a="http://schemas.openxmlformats.org/drawingml/2006/main" noGrp="1"/>
          </p:cNvSpPr>
          <p:nvPr/>
        </p:nvSpPr>
        <p:spPr>
          <a:xfrm xmlns:a="http://schemas.openxmlformats.org/drawingml/2006/main">
            <a:off x="7410450" y="4667250"/>
            <a:ext cx="20193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0" name="">
            <a:extLst xmlns:a="http://schemas.openxmlformats.org/drawingml/2006/main">
              <a:ext uri="{FF2B5EF4-FFF2-40B4-BE49-F238E27FC236}">
                <a16:creationId xmlns:a16="http://schemas.microsoft.com/office/drawing/2014/main" id="{FA09D029-B2CA-4A11-AFBD-47FFA17CF565}"/>
              </a:ext>
            </a:extLst>
          </p:cNvPr>
          <p:cNvSpPr>
            <a:spLocks xmlns:a="http://schemas.openxmlformats.org/drawingml/2006/main" noGrp="1"/>
          </p:cNvSpPr>
          <p:nvPr/>
        </p:nvSpPr>
        <p:spPr>
          <a:xfrm xmlns:a="http://schemas.openxmlformats.org/drawingml/2006/main">
            <a:off x="7505700" y="4743450"/>
            <a:ext cx="182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Docking PLEC, RF, XGB, DNN stack</a:t>
            </a:r>
          </a:p>
        </p:txBody>
      </p:sp>
      <p:sp>
        <p:nvSpPr>
          <p:cNvPr id="61" name="">
            <a:extLst xmlns:a="http://schemas.openxmlformats.org/drawingml/2006/main">
              <a:ext uri="{FF2B5EF4-FFF2-40B4-BE49-F238E27FC236}">
                <a16:creationId xmlns:a16="http://schemas.microsoft.com/office/drawing/2014/main" id="{B1970177-9216-49E4-A11E-E55B4FBE5056}"/>
              </a:ext>
            </a:extLst>
          </p:cNvPr>
          <p:cNvSpPr>
            <a:spLocks xmlns:a="http://schemas.openxmlformats.org/drawingml/2006/main" noGrp="1"/>
          </p:cNvSpPr>
          <p:nvPr/>
        </p:nvSpPr>
        <p:spPr>
          <a:xfrm xmlns:a="http://schemas.openxmlformats.org/drawingml/2006/main">
            <a:off x="9429750" y="4667250"/>
            <a:ext cx="23050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2" name="">
            <a:extLst xmlns:a="http://schemas.openxmlformats.org/drawingml/2006/main">
              <a:ext uri="{FF2B5EF4-FFF2-40B4-BE49-F238E27FC236}">
                <a16:creationId xmlns:a16="http://schemas.microsoft.com/office/drawing/2014/main" id="{57D1CC7D-7D1D-4B31-B3AF-6D1483A2409F}"/>
              </a:ext>
            </a:extLst>
          </p:cNvPr>
          <p:cNvSpPr>
            <a:spLocks xmlns:a="http://schemas.openxmlformats.org/drawingml/2006/main" noGrp="1"/>
          </p:cNvSpPr>
          <p:nvPr/>
        </p:nvSpPr>
        <p:spPr>
          <a:xfrm xmlns:a="http://schemas.openxmlformats.org/drawingml/2006/main">
            <a:off x="9525000" y="474345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Binary screening task; asymmetric active and negative evidence</a:t>
            </a:r>
          </a:p>
        </p:txBody>
      </p:sp>
      <p:sp>
        <p:nvSpPr>
          <p:cNvPr id="63" name="">
            <a:extLst xmlns:a="http://schemas.openxmlformats.org/drawingml/2006/main">
              <a:ext uri="{FF2B5EF4-FFF2-40B4-BE49-F238E27FC236}">
                <a16:creationId xmlns:a16="http://schemas.microsoft.com/office/drawing/2014/main" id="{473FA3D4-1D28-4284-83AD-AB6DB59E7A04}"/>
              </a:ext>
            </a:extLst>
          </p:cNvPr>
          <p:cNvSpPr>
            <a:spLocks xmlns:a="http://schemas.openxmlformats.org/drawingml/2006/main" noGrp="1"/>
          </p:cNvSpPr>
          <p:nvPr/>
        </p:nvSpPr>
        <p:spPr>
          <a:xfrm xmlns:a="http://schemas.openxmlformats.org/drawingml/2006/main">
            <a:off x="438150" y="5391150"/>
            <a:ext cx="1352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4" name="">
            <a:extLst xmlns:a="http://schemas.openxmlformats.org/drawingml/2006/main">
              <a:ext uri="{FF2B5EF4-FFF2-40B4-BE49-F238E27FC236}">
                <a16:creationId xmlns:a16="http://schemas.microsoft.com/office/drawing/2014/main" id="{BAD16D61-7A4C-4BD3-BA53-116E43EC5109}"/>
              </a:ext>
            </a:extLst>
          </p:cNvPr>
          <p:cNvSpPr>
            <a:spLocks xmlns:a="http://schemas.openxmlformats.org/drawingml/2006/main" noGrp="1"/>
          </p:cNvSpPr>
          <p:nvPr/>
        </p:nvSpPr>
        <p:spPr>
          <a:xfrm xmlns:a="http://schemas.openxmlformats.org/drawingml/2006/main">
            <a:off x="533400" y="5467350"/>
            <a:ext cx="1162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XGB-ISE</a:t>
            </a:r>
          </a:p>
          <a:p xmlns:a="http://schemas.openxmlformats.org/drawingml/2006/main">
            <a:pPr algn="l">
              <a:buNone/>
              <a:defRPr sz="1200" b="1" i="0">
                <a:solidFill>
                  <a:srgbClr val="0B0F14"/>
                </a:solidFill>
                <a:latin typeface="Helvetica Neue"/>
                <a:ea typeface="Helvetica Neue"/>
                <a:cs typeface="Helvetica Neue"/>
              </a:defRPr>
            </a:pPr>
            <a:r>
              <a:rPr sz="1200" b="1" i="0">
                <a:solidFill>
                  <a:srgbClr val="0B0F14"/>
                </a:solidFill>
                <a:latin typeface="Helvetica Neue"/>
                <a:ea typeface="Helvetica Neue"/>
                <a:cs typeface="Helvetica Neue"/>
              </a:rPr>
              <a:t>Binary at 10 µM</a:t>
            </a:r>
          </a:p>
        </p:txBody>
      </p:sp>
      <p:sp>
        <p:nvSpPr>
          <p:cNvPr id="65" name="">
            <a:extLst xmlns:a="http://schemas.openxmlformats.org/drawingml/2006/main">
              <a:ext uri="{FF2B5EF4-FFF2-40B4-BE49-F238E27FC236}">
                <a16:creationId xmlns:a16="http://schemas.microsoft.com/office/drawing/2014/main" id="{082A03CB-C028-4034-A7E9-6B501AFD7412}"/>
              </a:ext>
            </a:extLst>
          </p:cNvPr>
          <p:cNvSpPr>
            <a:spLocks xmlns:a="http://schemas.openxmlformats.org/drawingml/2006/main" noGrp="1"/>
          </p:cNvSpPr>
          <p:nvPr/>
        </p:nvSpPr>
        <p:spPr>
          <a:xfrm xmlns:a="http://schemas.openxmlformats.org/drawingml/2006/main">
            <a:off x="1790700" y="5391150"/>
            <a:ext cx="15049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6" name="">
            <a:extLst xmlns:a="http://schemas.openxmlformats.org/drawingml/2006/main">
              <a:ext uri="{FF2B5EF4-FFF2-40B4-BE49-F238E27FC236}">
                <a16:creationId xmlns:a16="http://schemas.microsoft.com/office/drawing/2014/main" id="{6E1A10A8-109E-4C3F-99E3-9BCB23FEEBE3}"/>
              </a:ext>
            </a:extLst>
          </p:cNvPr>
          <p:cNvSpPr>
            <a:spLocks xmlns:a="http://schemas.openxmlformats.org/drawingml/2006/main" noGrp="1"/>
          </p:cNvSpPr>
          <p:nvPr/>
        </p:nvSpPr>
        <p:spPr>
          <a:xfrm xmlns:a="http://schemas.openxmlformats.org/drawingml/2006/main">
            <a:off x="1885950" y="5467350"/>
            <a:ext cx="1314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290,731</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molecules</a:t>
            </a:r>
          </a:p>
        </p:txBody>
      </p:sp>
      <p:sp>
        <p:nvSpPr>
          <p:cNvPr id="67" name="">
            <a:extLst xmlns:a="http://schemas.openxmlformats.org/drawingml/2006/main">
              <a:ext uri="{FF2B5EF4-FFF2-40B4-BE49-F238E27FC236}">
                <a16:creationId xmlns:a16="http://schemas.microsoft.com/office/drawing/2014/main" id="{E24BE718-05CE-4B61-871E-FB90FE096033}"/>
              </a:ext>
            </a:extLst>
          </p:cNvPr>
          <p:cNvSpPr>
            <a:spLocks xmlns:a="http://schemas.openxmlformats.org/drawingml/2006/main" noGrp="1"/>
          </p:cNvSpPr>
          <p:nvPr/>
        </p:nvSpPr>
        <p:spPr>
          <a:xfrm xmlns:a="http://schemas.openxmlformats.org/drawingml/2006/main">
            <a:off x="3295650" y="5391150"/>
            <a:ext cx="20002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68" name="">
            <a:extLst xmlns:a="http://schemas.openxmlformats.org/drawingml/2006/main">
              <a:ext uri="{FF2B5EF4-FFF2-40B4-BE49-F238E27FC236}">
                <a16:creationId xmlns:a16="http://schemas.microsoft.com/office/drawing/2014/main" id="{1D066E45-5B45-47FF-982D-24E3839AFE8C}"/>
              </a:ext>
            </a:extLst>
          </p:cNvPr>
          <p:cNvSpPr>
            <a:spLocks xmlns:a="http://schemas.openxmlformats.org/drawingml/2006/main" noGrp="1"/>
          </p:cNvSpPr>
          <p:nvPr/>
        </p:nvSpPr>
        <p:spPr>
          <a:xfrm xmlns:a="http://schemas.openxmlformats.org/drawingml/2006/main">
            <a:off x="3390900" y="54673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MCC 0.72</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Selected strata</a:t>
            </a:r>
          </a:p>
        </p:txBody>
      </p:sp>
      <p:sp>
        <p:nvSpPr>
          <p:cNvPr id="69" name="">
            <a:extLst xmlns:a="http://schemas.openxmlformats.org/drawingml/2006/main">
              <a:ext uri="{FF2B5EF4-FFF2-40B4-BE49-F238E27FC236}">
                <a16:creationId xmlns:a16="http://schemas.microsoft.com/office/drawing/2014/main" id="{F845D147-6A22-432E-87C3-9F83AF794DE7}"/>
              </a:ext>
            </a:extLst>
          </p:cNvPr>
          <p:cNvSpPr>
            <a:spLocks xmlns:a="http://schemas.openxmlformats.org/drawingml/2006/main" noGrp="1"/>
          </p:cNvSpPr>
          <p:nvPr/>
        </p:nvSpPr>
        <p:spPr>
          <a:xfrm xmlns:a="http://schemas.openxmlformats.org/drawingml/2006/main">
            <a:off x="5295900" y="5391150"/>
            <a:ext cx="21145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0" name="">
            <a:extLst xmlns:a="http://schemas.openxmlformats.org/drawingml/2006/main">
              <a:ext uri="{FF2B5EF4-FFF2-40B4-BE49-F238E27FC236}">
                <a16:creationId xmlns:a16="http://schemas.microsoft.com/office/drawing/2014/main" id="{DD286ACC-9E81-462B-8C33-6975269FDC9F}"/>
              </a:ext>
            </a:extLst>
          </p:cNvPr>
          <p:cNvSpPr>
            <a:spLocks xmlns:a="http://schemas.openxmlformats.org/drawingml/2006/main" noGrp="1"/>
          </p:cNvSpPr>
          <p:nvPr/>
        </p:nvSpPr>
        <p:spPr>
          <a:xfrm xmlns:a="http://schemas.openxmlformats.org/drawingml/2006/main">
            <a:off x="5391150" y="54673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Very High</a:t>
            </a:r>
          </a:p>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Best result covers 64% of external set</a:t>
            </a:r>
          </a:p>
        </p:txBody>
      </p:sp>
      <p:sp>
        <p:nvSpPr>
          <p:cNvPr id="71" name="">
            <a:extLst xmlns:a="http://schemas.openxmlformats.org/drawingml/2006/main">
              <a:ext uri="{FF2B5EF4-FFF2-40B4-BE49-F238E27FC236}">
                <a16:creationId xmlns:a16="http://schemas.microsoft.com/office/drawing/2014/main" id="{A8345500-5075-4026-83C3-5DC623263605}"/>
              </a:ext>
            </a:extLst>
          </p:cNvPr>
          <p:cNvSpPr>
            <a:spLocks xmlns:a="http://schemas.openxmlformats.org/drawingml/2006/main" noGrp="1"/>
          </p:cNvSpPr>
          <p:nvPr/>
        </p:nvSpPr>
        <p:spPr>
          <a:xfrm xmlns:a="http://schemas.openxmlformats.org/drawingml/2006/main">
            <a:off x="7410450" y="5391150"/>
            <a:ext cx="201930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2" name="">
            <a:extLst xmlns:a="http://schemas.openxmlformats.org/drawingml/2006/main">
              <a:ext uri="{FF2B5EF4-FFF2-40B4-BE49-F238E27FC236}">
                <a16:creationId xmlns:a16="http://schemas.microsoft.com/office/drawing/2014/main" id="{A8EE72F5-E872-47CF-9D2B-1B1F5CCB7BD3}"/>
              </a:ext>
            </a:extLst>
          </p:cNvPr>
          <p:cNvSpPr>
            <a:spLocks xmlns:a="http://schemas.openxmlformats.org/drawingml/2006/main" noGrp="1"/>
          </p:cNvSpPr>
          <p:nvPr/>
        </p:nvSpPr>
        <p:spPr>
          <a:xfrm xmlns:a="http://schemas.openxmlformats.org/drawingml/2006/main">
            <a:off x="7505700" y="5467350"/>
            <a:ext cx="182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Selected descriptors, balanced XGB ensemble</a:t>
            </a:r>
          </a:p>
        </p:txBody>
      </p:sp>
      <p:sp>
        <p:nvSpPr>
          <p:cNvPr id="73" name="">
            <a:extLst xmlns:a="http://schemas.openxmlformats.org/drawingml/2006/main">
              <a:ext uri="{FF2B5EF4-FFF2-40B4-BE49-F238E27FC236}">
                <a16:creationId xmlns:a16="http://schemas.microsoft.com/office/drawing/2014/main" id="{C0988CE4-9DAB-4E6B-98EF-0770889EF6B7}"/>
              </a:ext>
            </a:extLst>
          </p:cNvPr>
          <p:cNvSpPr>
            <a:spLocks xmlns:a="http://schemas.openxmlformats.org/drawingml/2006/main" noGrp="1"/>
          </p:cNvSpPr>
          <p:nvPr/>
        </p:nvSpPr>
        <p:spPr>
          <a:xfrm xmlns:a="http://schemas.openxmlformats.org/drawingml/2006/main">
            <a:off x="9429750" y="5391150"/>
            <a:ext cx="2305050" cy="723900"/>
          </a:xfrm>
          <a:prstGeom xmlns:a="http://schemas.openxmlformats.org/drawingml/2006/main" prst="rect">
            <a:avLst/>
          </a:prstGeom>
          <a:solidFill xmlns:a="http://schemas.openxmlformats.org/drawingml/2006/main">
            <a:srgbClr val="F2F4F7"/>
          </a:solidFill>
          <a:ln xmlns:a="http://schemas.openxmlformats.org/drawingml/2006/main" w="9525">
            <a:solidFill>
              <a:srgbClr val="D6DAE0"/>
            </a:solidFill>
            <a:prstDash val="solid"/>
          </a:ln>
        </p:spPr>
      </p:sp>
      <p:sp>
        <p:nvSpPr>
          <p:cNvPr id="74" name="">
            <a:extLst xmlns:a="http://schemas.openxmlformats.org/drawingml/2006/main">
              <a:ext uri="{FF2B5EF4-FFF2-40B4-BE49-F238E27FC236}">
                <a16:creationId xmlns:a16="http://schemas.microsoft.com/office/drawing/2014/main" id="{3CF8C131-7AC8-44F2-9C18-B423F7F581C7}"/>
              </a:ext>
            </a:extLst>
          </p:cNvPr>
          <p:cNvSpPr>
            <a:spLocks xmlns:a="http://schemas.openxmlformats.org/drawingml/2006/main" noGrp="1"/>
          </p:cNvSpPr>
          <p:nvPr/>
        </p:nvSpPr>
        <p:spPr>
          <a:xfrm xmlns:a="http://schemas.openxmlformats.org/drawingml/2006/main">
            <a:off x="9525000" y="546735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0" i="0">
                <a:solidFill>
                  <a:srgbClr val="0B0F14"/>
                </a:solidFill>
                <a:latin typeface="Helvetica Neue"/>
                <a:ea typeface="Helvetica Neue"/>
                <a:cs typeface="Helvetica Neue"/>
              </a:defRPr>
            </a:pPr>
            <a:r>
              <a:rPr sz="1200" b="0" i="0">
                <a:solidFill>
                  <a:srgbClr val="0B0F14"/>
                </a:solidFill>
                <a:latin typeface="Helvetica Neue"/>
                <a:ea typeface="Helvetica Neue"/>
                <a:cs typeface="Helvetica Neue"/>
              </a:rPr>
              <a:t>Coverage selection and pooled HTS labels limit broad deployment</a:t>
            </a:r>
          </a:p>
        </p:txBody>
      </p:sp>
      <p:sp>
        <p:nvSpPr>
          <p:cNvPr id="79" name="sun-2026-cell-1">
            <a:extLst xmlns:a="http://schemas.openxmlformats.org/drawingml/2006/main">
              <a:ext uri="{FF2B5EF4-FFF2-40B4-BE49-F238E27FC236}">
                <a16:creationId xmlns:a16="http://schemas.microsoft.com/office/drawing/2014/main" id="{E3CB07B6-E108-4912-9F6E-E39E4D3E2B51}"/>
              </a:ext>
            </a:extLst>
          </p:cNvPr>
          <p:cNvSpPr>
            <a:spLocks xmlns:a="http://schemas.openxmlformats.org/drawingml/2006/main" noGrp="1"/>
          </p:cNvSpPr>
          <p:nvPr/>
        </p:nvSpPr>
        <p:spPr>
          <a:xfrm xmlns:a="http://schemas.openxmlformats.org/drawingml/2006/main">
            <a:off x="438150" y="2495550"/>
            <a:ext cx="1352550" cy="723900"/>
          </a:xfrm>
          <a:prstGeom xmlns:a="http://schemas.openxmlformats.org/drawingml/2006/main" prst="rect">
            <a:avLst/>
          </a:prstGeom>
          <a:solidFill xmlns:a="http://schemas.openxmlformats.org/drawingml/2006/main">
            <a:srgbClr val="FFF1F1"/>
          </a:solidFill>
          <a:ln xmlns:a="http://schemas.openxmlformats.org/drawingml/2006/main" w="9525">
            <a:solidFill>
              <a:srgbClr val="D6DAE0"/>
            </a:solidFill>
            <a:prstDash val="solid"/>
          </a:ln>
        </p:spPr>
      </p:sp>
      <p:sp>
        <p:nvSpPr>
          <p:cNvPr id="80" name="sun-2026-text-1">
            <a:extLst xmlns:a="http://schemas.openxmlformats.org/drawingml/2006/main">
              <a:ext uri="{FF2B5EF4-FFF2-40B4-BE49-F238E27FC236}">
                <a16:creationId xmlns:a16="http://schemas.microsoft.com/office/drawing/2014/main" id="{29182A86-90AD-4113-B667-09CC13F891F8}"/>
              </a:ext>
            </a:extLst>
          </p:cNvPr>
          <p:cNvSpPr>
            <a:spLocks xmlns:a="http://schemas.openxmlformats.org/drawingml/2006/main" noGrp="1"/>
          </p:cNvSpPr>
          <p:nvPr/>
        </p:nvSpPr>
        <p:spPr>
          <a:xfrm xmlns:a="http://schemas.openxmlformats.org/drawingml/2006/main">
            <a:off x="533400" y="2571750"/>
            <a:ext cx="1162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0B0F14"/>
                </a:solidFill>
                <a:latin typeface="Helvetica Neue"/>
                <a:ea typeface="Helvetica Neue"/>
                <a:cs typeface="Helvetica Neue"/>
              </a:defRPr>
            </a:pPr>
            <a:r>
              <a:rPr sz="1200" b="1">
                <a:solidFill>
                  <a:srgbClr val="0B0F14"/>
                </a:solidFill>
                <a:latin typeface="Helvetica Neue"/>
                <a:ea typeface="Helvetica Neue"/>
                <a:cs typeface="Helvetica Neue"/>
              </a:rPr>
              <a:t>Sun et al. 2026</a:t>
            </a:r>
          </a:p>
          <a:p xmlns:a="http://schemas.openxmlformats.org/drawingml/2006/main">
            <a:pPr algn="l">
              <a:defRPr sz="1200" b="1">
                <a:solidFill>
                  <a:srgbClr val="0B0F14"/>
                </a:solidFill>
                <a:latin typeface="Helvetica Neue"/>
                <a:ea typeface="Helvetica Neue"/>
                <a:cs typeface="Helvetica Neue"/>
              </a:defRPr>
            </a:pPr>
            <a:r>
              <a:rPr sz="1200" b="1">
                <a:solidFill>
                  <a:srgbClr val="0B0F14"/>
                </a:solidFill>
                <a:latin typeface="Helvetica Neue"/>
                <a:ea typeface="Helvetica Neue"/>
                <a:cs typeface="Helvetica Neue"/>
              </a:rPr>
              <a:t>Regression</a:t>
            </a:r>
          </a:p>
        </p:txBody>
      </p:sp>
      <p:sp>
        <p:nvSpPr>
          <p:cNvPr id="81" name="sun-2026-cell-2">
            <a:extLst xmlns:a="http://schemas.openxmlformats.org/drawingml/2006/main">
              <a:ext uri="{FF2B5EF4-FFF2-40B4-BE49-F238E27FC236}">
                <a16:creationId xmlns:a16="http://schemas.microsoft.com/office/drawing/2014/main" id="{CC0E67FA-2447-4F50-8BE3-14D2BF39886E}"/>
              </a:ext>
            </a:extLst>
          </p:cNvPr>
          <p:cNvSpPr>
            <a:spLocks xmlns:a="http://schemas.openxmlformats.org/drawingml/2006/main" noGrp="1"/>
          </p:cNvSpPr>
          <p:nvPr/>
        </p:nvSpPr>
        <p:spPr>
          <a:xfrm xmlns:a="http://schemas.openxmlformats.org/drawingml/2006/main">
            <a:off x="1790700" y="2495550"/>
            <a:ext cx="1504950" cy="723900"/>
          </a:xfrm>
          <a:prstGeom xmlns:a="http://schemas.openxmlformats.org/drawingml/2006/main" prst="rect">
            <a:avLst/>
          </a:prstGeom>
          <a:solidFill xmlns:a="http://schemas.openxmlformats.org/drawingml/2006/main">
            <a:srgbClr val="FFF1F1"/>
          </a:solidFill>
          <a:ln xmlns:a="http://schemas.openxmlformats.org/drawingml/2006/main" w="9525">
            <a:solidFill>
              <a:srgbClr val="D6DAE0"/>
            </a:solidFill>
            <a:prstDash val="solid"/>
          </a:ln>
        </p:spPr>
      </p:sp>
      <p:sp>
        <p:nvSpPr>
          <p:cNvPr id="82" name="sun-2026-text-2">
            <a:extLst xmlns:a="http://schemas.openxmlformats.org/drawingml/2006/main">
              <a:ext uri="{FF2B5EF4-FFF2-40B4-BE49-F238E27FC236}">
                <a16:creationId xmlns:a16="http://schemas.microsoft.com/office/drawing/2014/main" id="{8E404EA3-D7F6-448A-9CBB-CEA8E99778CB}"/>
              </a:ext>
            </a:extLst>
          </p:cNvPr>
          <p:cNvSpPr>
            <a:spLocks xmlns:a="http://schemas.openxmlformats.org/drawingml/2006/main" noGrp="1"/>
          </p:cNvSpPr>
          <p:nvPr/>
        </p:nvSpPr>
        <p:spPr>
          <a:xfrm xmlns:a="http://schemas.openxmlformats.org/drawingml/2006/main">
            <a:off x="1885950" y="2571750"/>
            <a:ext cx="1314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0B0F14"/>
                </a:solidFill>
                <a:latin typeface="Helvetica Neue"/>
                <a:ea typeface="Helvetica Neue"/>
                <a:cs typeface="Helvetica Neue"/>
              </a:defRPr>
            </a:pPr>
            <a:r>
              <a:rPr sz="1200" b="0">
                <a:solidFill>
                  <a:srgbClr val="0B0F14"/>
                </a:solidFill>
                <a:latin typeface="Helvetica Neue"/>
                <a:ea typeface="Helvetica Neue"/>
                <a:cs typeface="Helvetica Neue"/>
              </a:rPr>
              <a:t>7,772 train</a:t>
            </a:r>
          </a:p>
          <a:p xmlns:a="http://schemas.openxmlformats.org/drawingml/2006/main">
            <a:pPr algn="l">
              <a:defRPr sz="1200" b="0">
                <a:solidFill>
                  <a:srgbClr val="0B0F14"/>
                </a:solidFill>
                <a:latin typeface="Helvetica Neue"/>
                <a:ea typeface="Helvetica Neue"/>
                <a:cs typeface="Helvetica Neue"/>
              </a:defRPr>
            </a:pPr>
            <a:r>
              <a:rPr sz="1200" b="0">
                <a:solidFill>
                  <a:srgbClr val="0B0F14"/>
                </a:solidFill>
                <a:latin typeface="Helvetica Neue"/>
                <a:ea typeface="Helvetica Neue"/>
                <a:cs typeface="Helvetica Neue"/>
              </a:rPr>
              <a:t>1,097 external unique</a:t>
            </a:r>
          </a:p>
        </p:txBody>
      </p:sp>
      <p:sp>
        <p:nvSpPr>
          <p:cNvPr id="83" name="sun-2026-cell-3">
            <a:extLst xmlns:a="http://schemas.openxmlformats.org/drawingml/2006/main">
              <a:ext uri="{FF2B5EF4-FFF2-40B4-BE49-F238E27FC236}">
                <a16:creationId xmlns:a16="http://schemas.microsoft.com/office/drawing/2014/main" id="{2E8E7F3C-DC50-480E-9912-A2751C8B807B}"/>
              </a:ext>
            </a:extLst>
          </p:cNvPr>
          <p:cNvSpPr>
            <a:spLocks xmlns:a="http://schemas.openxmlformats.org/drawingml/2006/main" noGrp="1"/>
          </p:cNvSpPr>
          <p:nvPr/>
        </p:nvSpPr>
        <p:spPr>
          <a:xfrm xmlns:a="http://schemas.openxmlformats.org/drawingml/2006/main">
            <a:off x="3295650" y="2495550"/>
            <a:ext cx="2000250" cy="723900"/>
          </a:xfrm>
          <a:prstGeom xmlns:a="http://schemas.openxmlformats.org/drawingml/2006/main" prst="rect">
            <a:avLst/>
          </a:prstGeom>
          <a:solidFill xmlns:a="http://schemas.openxmlformats.org/drawingml/2006/main">
            <a:srgbClr val="FFF1F1"/>
          </a:solidFill>
          <a:ln xmlns:a="http://schemas.openxmlformats.org/drawingml/2006/main" w="9525">
            <a:solidFill>
              <a:srgbClr val="D6DAE0"/>
            </a:solidFill>
            <a:prstDash val="solid"/>
          </a:ln>
        </p:spPr>
      </p:sp>
      <p:sp>
        <p:nvSpPr>
          <p:cNvPr id="84" name="sun-2026-text-3">
            <a:extLst xmlns:a="http://schemas.openxmlformats.org/drawingml/2006/main">
              <a:ext uri="{FF2B5EF4-FFF2-40B4-BE49-F238E27FC236}">
                <a16:creationId xmlns:a16="http://schemas.microsoft.com/office/drawing/2014/main" id="{6654B625-4F7C-4715-B721-5EF2FB30C066}"/>
              </a:ext>
            </a:extLst>
          </p:cNvPr>
          <p:cNvSpPr>
            <a:spLocks xmlns:a="http://schemas.openxmlformats.org/drawingml/2006/main" noGrp="1"/>
          </p:cNvSpPr>
          <p:nvPr/>
        </p:nvSpPr>
        <p:spPr>
          <a:xfrm xmlns:a="http://schemas.openxmlformats.org/drawingml/2006/main">
            <a:off x="3390900" y="25717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B42318"/>
                </a:solidFill>
                <a:latin typeface="Helvetica Neue"/>
                <a:ea typeface="Helvetica Neue"/>
                <a:cs typeface="Helvetica Neue"/>
              </a:defRPr>
            </a:pPr>
            <a:r>
              <a:rPr sz="1200" b="1">
                <a:solidFill>
                  <a:srgbClr val="B42318"/>
                </a:solidFill>
                <a:latin typeface="Helvetica Neue"/>
                <a:ea typeface="Helvetica Neue"/>
                <a:cs typeface="Helvetica Neue"/>
              </a:rPr>
              <a:t>0.383 internal MAE</a:t>
            </a:r>
          </a:p>
          <a:p xmlns:a="http://schemas.openxmlformats.org/drawingml/2006/main">
            <a:pPr algn="l">
              <a:defRPr sz="1200" b="1">
                <a:solidFill>
                  <a:srgbClr val="B42318"/>
                </a:solidFill>
                <a:latin typeface="Helvetica Neue"/>
                <a:ea typeface="Helvetica Neue"/>
                <a:cs typeface="Helvetica Neue"/>
              </a:defRPr>
            </a:pPr>
            <a:r>
              <a:rPr sz="1200" b="1">
                <a:solidFill>
                  <a:srgbClr val="B42318"/>
                </a:solidFill>
                <a:latin typeface="Helvetica Neue"/>
                <a:ea typeface="Helvetica Neue"/>
                <a:cs typeface="Helvetica Neue"/>
              </a:rPr>
              <a:t>0.50 corrected external</a:t>
            </a:r>
          </a:p>
        </p:txBody>
      </p:sp>
      <p:sp>
        <p:nvSpPr>
          <p:cNvPr id="85" name="sun-2026-cell-4">
            <a:extLst xmlns:a="http://schemas.openxmlformats.org/drawingml/2006/main">
              <a:ext uri="{FF2B5EF4-FFF2-40B4-BE49-F238E27FC236}">
                <a16:creationId xmlns:a16="http://schemas.microsoft.com/office/drawing/2014/main" id="{C74AD465-B555-4621-BF55-A088A269A536}"/>
              </a:ext>
            </a:extLst>
          </p:cNvPr>
          <p:cNvSpPr>
            <a:spLocks xmlns:a="http://schemas.openxmlformats.org/drawingml/2006/main" noGrp="1"/>
          </p:cNvSpPr>
          <p:nvPr/>
        </p:nvSpPr>
        <p:spPr>
          <a:xfrm xmlns:a="http://schemas.openxmlformats.org/drawingml/2006/main">
            <a:off x="5295900" y="2495550"/>
            <a:ext cx="2114550" cy="723900"/>
          </a:xfrm>
          <a:prstGeom xmlns:a="http://schemas.openxmlformats.org/drawingml/2006/main" prst="rect">
            <a:avLst/>
          </a:prstGeom>
          <a:solidFill xmlns:a="http://schemas.openxmlformats.org/drawingml/2006/main">
            <a:srgbClr val="FDE2E2"/>
          </a:solidFill>
          <a:ln xmlns:a="http://schemas.openxmlformats.org/drawingml/2006/main" w="9525">
            <a:solidFill>
              <a:srgbClr val="D6DAE0"/>
            </a:solidFill>
            <a:prstDash val="solid"/>
          </a:ln>
        </p:spPr>
      </p:sp>
      <p:sp>
        <p:nvSpPr>
          <p:cNvPr id="86" name="sun-2026-text-4">
            <a:extLst xmlns:a="http://schemas.openxmlformats.org/drawingml/2006/main">
              <a:ext uri="{FF2B5EF4-FFF2-40B4-BE49-F238E27FC236}">
                <a16:creationId xmlns:a16="http://schemas.microsoft.com/office/drawing/2014/main" id="{D045A64C-6B47-4E76-8069-F115F393CBFF}"/>
              </a:ext>
            </a:extLst>
          </p:cNvPr>
          <p:cNvSpPr>
            <a:spLocks xmlns:a="http://schemas.openxmlformats.org/drawingml/2006/main" noGrp="1"/>
          </p:cNvSpPr>
          <p:nvPr/>
        </p:nvSpPr>
        <p:spPr>
          <a:xfrm xmlns:a="http://schemas.openxmlformats.org/drawingml/2006/main">
            <a:off x="5391150" y="2571750"/>
            <a:ext cx="1924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0B0F14"/>
                </a:solidFill>
                <a:latin typeface="Helvetica Neue"/>
                <a:ea typeface="Helvetica Neue"/>
                <a:cs typeface="Helvetica Neue"/>
              </a:defRPr>
            </a:pPr>
            <a:r>
              <a:rPr sz="1200" b="1">
                <a:solidFill>
                  <a:srgbClr val="B42318"/>
                </a:solidFill>
                <a:latin typeface="Helvetica Neue"/>
                <a:ea typeface="Helvetica Neue"/>
                <a:cs typeface="Helvetica Neue"/>
              </a:rPr>
              <a:t>High</a:t>
            </a:r>
          </a:p>
          <a:p xmlns:a="http://schemas.openxmlformats.org/drawingml/2006/main">
            <a:pPr algn="l">
              <a:defRPr sz="1200" b="0">
                <a:solidFill>
                  <a:srgbClr val="0B0F14"/>
                </a:solidFill>
                <a:latin typeface="Helvetica Neue"/>
                <a:ea typeface="Helvetica Neue"/>
                <a:cs typeface="Helvetica Neue"/>
              </a:defRPr>
            </a:pPr>
            <a:r>
              <a:rPr sz="1200" b="0">
                <a:solidFill>
                  <a:srgbClr val="0B0F14"/>
                </a:solidFill>
                <a:latin typeface="Helvetica Neue"/>
                <a:ea typeface="Helvetica Neue"/>
                <a:cs typeface="Helvetica Neue"/>
              </a:rPr>
              <a:t>Random split; 10 external values corrected</a:t>
            </a:r>
          </a:p>
        </p:txBody>
      </p:sp>
      <p:sp>
        <p:nvSpPr>
          <p:cNvPr id="87" name="sun-2026-cell-5">
            <a:extLst xmlns:a="http://schemas.openxmlformats.org/drawingml/2006/main">
              <a:ext uri="{FF2B5EF4-FFF2-40B4-BE49-F238E27FC236}">
                <a16:creationId xmlns:a16="http://schemas.microsoft.com/office/drawing/2014/main" id="{261CCDF4-F500-4660-995F-AC99287250D0}"/>
              </a:ext>
            </a:extLst>
          </p:cNvPr>
          <p:cNvSpPr>
            <a:spLocks xmlns:a="http://schemas.openxmlformats.org/drawingml/2006/main" noGrp="1"/>
          </p:cNvSpPr>
          <p:nvPr/>
        </p:nvSpPr>
        <p:spPr>
          <a:xfrm xmlns:a="http://schemas.openxmlformats.org/drawingml/2006/main">
            <a:off x="7410450" y="2495550"/>
            <a:ext cx="2019300" cy="723900"/>
          </a:xfrm>
          <a:prstGeom xmlns:a="http://schemas.openxmlformats.org/drawingml/2006/main" prst="rect">
            <a:avLst/>
          </a:prstGeom>
          <a:solidFill xmlns:a="http://schemas.openxmlformats.org/drawingml/2006/main">
            <a:srgbClr val="FFF1F1"/>
          </a:solidFill>
          <a:ln xmlns:a="http://schemas.openxmlformats.org/drawingml/2006/main" w="9525">
            <a:solidFill>
              <a:srgbClr val="D6DAE0"/>
            </a:solidFill>
            <a:prstDash val="solid"/>
          </a:ln>
        </p:spPr>
      </p:sp>
      <p:sp>
        <p:nvSpPr>
          <p:cNvPr id="88" name="sun-2026-text-5">
            <a:extLst xmlns:a="http://schemas.openxmlformats.org/drawingml/2006/main">
              <a:ext uri="{FF2B5EF4-FFF2-40B4-BE49-F238E27FC236}">
                <a16:creationId xmlns:a16="http://schemas.microsoft.com/office/drawing/2014/main" id="{F0E2C639-4C24-42AE-B453-FB7293BB9723}"/>
              </a:ext>
            </a:extLst>
          </p:cNvPr>
          <p:cNvSpPr>
            <a:spLocks xmlns:a="http://schemas.openxmlformats.org/drawingml/2006/main" noGrp="1"/>
          </p:cNvSpPr>
          <p:nvPr/>
        </p:nvSpPr>
        <p:spPr>
          <a:xfrm xmlns:a="http://schemas.openxmlformats.org/drawingml/2006/main">
            <a:off x="7505700" y="2571750"/>
            <a:ext cx="182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0B0F14"/>
                </a:solidFill>
                <a:latin typeface="Helvetica Neue"/>
                <a:ea typeface="Helvetica Neue"/>
                <a:cs typeface="Helvetica Neue"/>
              </a:defRPr>
            </a:pPr>
            <a:r>
              <a:rPr sz="1200" b="0">
                <a:solidFill>
                  <a:srgbClr val="0B0F14"/>
                </a:solidFill>
                <a:latin typeface="Helvetica Neue"/>
                <a:ea typeface="Helvetica Neue"/>
                <a:cs typeface="Helvetica Neue"/>
              </a:rPr>
              <a:t>Atom-type counts, correction factors, RBF-SVR</a:t>
            </a:r>
          </a:p>
        </p:txBody>
      </p:sp>
      <p:sp>
        <p:nvSpPr>
          <p:cNvPr id="89" name="sun-2026-cell-6">
            <a:extLst xmlns:a="http://schemas.openxmlformats.org/drawingml/2006/main">
              <a:ext uri="{FF2B5EF4-FFF2-40B4-BE49-F238E27FC236}">
                <a16:creationId xmlns:a16="http://schemas.microsoft.com/office/drawing/2014/main" id="{5318344E-949E-45FE-90C7-6415277D7640}"/>
              </a:ext>
            </a:extLst>
          </p:cNvPr>
          <p:cNvSpPr>
            <a:spLocks xmlns:a="http://schemas.openxmlformats.org/drawingml/2006/main" noGrp="1"/>
          </p:cNvSpPr>
          <p:nvPr/>
        </p:nvSpPr>
        <p:spPr>
          <a:xfrm xmlns:a="http://schemas.openxmlformats.org/drawingml/2006/main">
            <a:off x="9429750" y="2495550"/>
            <a:ext cx="2305050" cy="723900"/>
          </a:xfrm>
          <a:prstGeom xmlns:a="http://schemas.openxmlformats.org/drawingml/2006/main" prst="rect">
            <a:avLst/>
          </a:prstGeom>
          <a:solidFill xmlns:a="http://schemas.openxmlformats.org/drawingml/2006/main">
            <a:srgbClr val="FDE2E2"/>
          </a:solidFill>
          <a:ln xmlns:a="http://schemas.openxmlformats.org/drawingml/2006/main" w="9525">
            <a:solidFill>
              <a:srgbClr val="D6DAE0"/>
            </a:solidFill>
            <a:prstDash val="solid"/>
          </a:ln>
        </p:spPr>
      </p:sp>
      <p:sp>
        <p:nvSpPr>
          <p:cNvPr id="90" name="sun-2026-text-6">
            <a:extLst xmlns:a="http://schemas.openxmlformats.org/drawingml/2006/main">
              <a:ext uri="{FF2B5EF4-FFF2-40B4-BE49-F238E27FC236}">
                <a16:creationId xmlns:a16="http://schemas.microsoft.com/office/drawing/2014/main" id="{407DE606-598B-4EE6-BF58-F5860A641B07}"/>
              </a:ext>
            </a:extLst>
          </p:cNvPr>
          <p:cNvSpPr>
            <a:spLocks xmlns:a="http://schemas.openxmlformats.org/drawingml/2006/main" noGrp="1"/>
          </p:cNvSpPr>
          <p:nvPr/>
        </p:nvSpPr>
        <p:spPr>
          <a:xfrm xmlns:a="http://schemas.openxmlformats.org/drawingml/2006/main">
            <a:off x="9525000" y="257175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0B0F14"/>
                </a:solidFill>
                <a:latin typeface="Helvetica Neue"/>
                <a:ea typeface="Helvetica Neue"/>
                <a:cs typeface="Helvetica Neue"/>
              </a:defRPr>
            </a:pPr>
            <a:r>
              <a:rPr sz="1200" b="0">
                <a:solidFill>
                  <a:srgbClr val="7A271A"/>
                </a:solidFill>
                <a:latin typeface="Helvetica Neue"/>
                <a:ea typeface="Helvetica Neue"/>
                <a:cs typeface="Helvetica Neue"/>
              </a:rPr>
              <a:t>MW 200–600; external conflicts; incomplete feature generator</a:t>
            </a:r>
          </a:p>
        </p:txBody>
      </p:sp>
    </p:spTree>
    <p:extLst>
      <p:ext uri="{BB962C8B-B14F-4D97-AF65-F5344CB8AC3E}">
        <p14:creationId xmlns:p14="http://schemas.microsoft.com/office/powerpoint/2010/main" val="20836805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7CFCE3-4D24-4722-B2E7-C88E939F2ACA}"/>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Accuracy and Safety Require Separate Operating Modes</a:t>
            </a:r>
          </a:p>
        </p:txBody>
      </p:sp>
      <p:cxnSp>
        <p:nvCxnSpPr>
          <p:cNvPr id="22"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500DAAF1-4D95-4596-835B-E2093DDE1255}"/>
              </a:ext>
            </a:extLst>
          </p:cNvPr>
          <p:cNvSpPr>
            <a:spLocks xmlns:a="http://schemas.openxmlformats.org/drawingml/2006/main" noGrp="1"/>
          </p:cNvSpPr>
          <p:nvPr/>
        </p:nvSpPr>
        <p:spPr>
          <a:xfrm xmlns:a="http://schemas.openxmlformats.org/drawingml/2006/main">
            <a:off x="438150" y="1276350"/>
            <a:ext cx="5391150" cy="4533900"/>
          </a:xfrm>
          <a:prstGeom xmlns:a="http://schemas.openxmlformats.org/drawingml/2006/main" prst="roundRect">
            <a:avLst>
              <a:gd name="adj" fmla="val 3361"/>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A74C4258-CC91-4214-B766-FFA5DCA119C8}"/>
              </a:ext>
            </a:extLst>
          </p:cNvPr>
          <p:cNvSpPr>
            <a:spLocks xmlns:a="http://schemas.openxmlformats.org/drawingml/2006/main" noGrp="1"/>
          </p:cNvSpPr>
          <p:nvPr/>
        </p:nvSpPr>
        <p:spPr>
          <a:xfrm xmlns:a="http://schemas.openxmlformats.org/drawingml/2006/main">
            <a:off x="742950" y="1600200"/>
            <a:ext cx="478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1E63D5"/>
                </a:solidFill>
                <a:latin typeface="Helvetica Neue"/>
                <a:ea typeface="Helvetica Neue"/>
                <a:cs typeface="Helvetica Neue"/>
              </a:defRPr>
            </a:pPr>
            <a:r>
              <a:rPr sz="2250" b="1" i="0">
                <a:solidFill>
                  <a:srgbClr val="1E63D5"/>
                </a:solidFill>
                <a:latin typeface="Helvetica Neue"/>
                <a:ea typeface="Helvetica Neue"/>
                <a:cs typeface="Helvetica Neue"/>
              </a:rPr>
              <a:t>Global Accuracy Model</a:t>
            </a:r>
          </a:p>
        </p:txBody>
      </p:sp>
      <p:sp>
        <p:nvSpPr>
          <p:cNvPr id="5" name="">
            <a:extLst xmlns:a="http://schemas.openxmlformats.org/drawingml/2006/main">
              <a:ext uri="{FF2B5EF4-FFF2-40B4-BE49-F238E27FC236}">
                <a16:creationId xmlns:a16="http://schemas.microsoft.com/office/drawing/2014/main" id="{00571E8D-A06B-4287-9660-B776F78A1D49}"/>
              </a:ext>
            </a:extLst>
          </p:cNvPr>
          <p:cNvSpPr>
            <a:spLocks xmlns:a="http://schemas.openxmlformats.org/drawingml/2006/main" noGrp="1"/>
          </p:cNvSpPr>
          <p:nvPr/>
        </p:nvSpPr>
        <p:spPr>
          <a:xfrm xmlns:a="http://schemas.openxmlformats.org/drawingml/2006/main">
            <a:off x="742950" y="24003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650" b="1" i="0">
                <a:solidFill>
                  <a:srgbClr val="1E63D5"/>
                </a:solidFill>
                <a:latin typeface="Helvetica Neue"/>
                <a:ea typeface="Helvetica Neue"/>
                <a:cs typeface="Helvetica Neue"/>
              </a:defRPr>
            </a:pPr>
            <a:r>
              <a:rPr sz="4650" b="1" i="0">
                <a:solidFill>
                  <a:srgbClr val="1E63D5"/>
                </a:solidFill>
                <a:latin typeface="Helvetica Neue"/>
                <a:ea typeface="Helvetica Neue"/>
                <a:cs typeface="Helvetica Neue"/>
              </a:rPr>
              <a:t>0.433</a:t>
            </a:r>
          </a:p>
        </p:txBody>
      </p:sp>
      <p:sp>
        <p:nvSpPr>
          <p:cNvPr id="6" name="">
            <a:extLst xmlns:a="http://schemas.openxmlformats.org/drawingml/2006/main">
              <a:ext uri="{FF2B5EF4-FFF2-40B4-BE49-F238E27FC236}">
                <a16:creationId xmlns:a16="http://schemas.microsoft.com/office/drawing/2014/main" id="{427F69AA-F114-4AF9-8047-A444A945E056}"/>
              </a:ext>
            </a:extLst>
          </p:cNvPr>
          <p:cNvSpPr>
            <a:spLocks xmlns:a="http://schemas.openxmlformats.org/drawingml/2006/main" noGrp="1"/>
          </p:cNvSpPr>
          <p:nvPr/>
        </p:nvSpPr>
        <p:spPr>
          <a:xfrm xmlns:a="http://schemas.openxmlformats.org/drawingml/2006/main">
            <a:off x="742950" y="3257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Global MAE</a:t>
            </a:r>
          </a:p>
        </p:txBody>
      </p:sp>
      <p:sp>
        <p:nvSpPr>
          <p:cNvPr id="7" name="">
            <a:extLst xmlns:a="http://schemas.openxmlformats.org/drawingml/2006/main">
              <a:ext uri="{FF2B5EF4-FFF2-40B4-BE49-F238E27FC236}">
                <a16:creationId xmlns:a16="http://schemas.microsoft.com/office/drawing/2014/main" id="{B5E49B3E-F2E7-4BD0-8934-3601D5E71401}"/>
              </a:ext>
            </a:extLst>
          </p:cNvPr>
          <p:cNvSpPr>
            <a:spLocks xmlns:a="http://schemas.openxmlformats.org/drawingml/2006/main" noGrp="1"/>
          </p:cNvSpPr>
          <p:nvPr/>
        </p:nvSpPr>
        <p:spPr>
          <a:xfrm xmlns:a="http://schemas.openxmlformats.org/drawingml/2006/main">
            <a:off x="3238500" y="24003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650" b="1" i="0">
                <a:solidFill>
                  <a:srgbClr val="B84040"/>
                </a:solidFill>
                <a:latin typeface="Helvetica Neue"/>
                <a:ea typeface="Helvetica Neue"/>
                <a:cs typeface="Helvetica Neue"/>
              </a:defRPr>
            </a:pPr>
            <a:r>
              <a:rPr sz="4650" b="1" i="0">
                <a:solidFill>
                  <a:srgbClr val="B84040"/>
                </a:solidFill>
                <a:latin typeface="Helvetica Neue"/>
                <a:ea typeface="Helvetica Neue"/>
                <a:cs typeface="Helvetica Neue"/>
              </a:rPr>
              <a:t>1.425</a:t>
            </a:r>
          </a:p>
        </p:txBody>
      </p:sp>
      <p:sp>
        <p:nvSpPr>
          <p:cNvPr id="8" name="">
            <a:extLst xmlns:a="http://schemas.openxmlformats.org/drawingml/2006/main">
              <a:ext uri="{FF2B5EF4-FFF2-40B4-BE49-F238E27FC236}">
                <a16:creationId xmlns:a16="http://schemas.microsoft.com/office/drawing/2014/main" id="{46CE0A05-3A06-4709-AE50-483F3709D323}"/>
              </a:ext>
            </a:extLst>
          </p:cNvPr>
          <p:cNvSpPr>
            <a:spLocks xmlns:a="http://schemas.openxmlformats.org/drawingml/2006/main" noGrp="1"/>
          </p:cNvSpPr>
          <p:nvPr/>
        </p:nvSpPr>
        <p:spPr>
          <a:xfrm xmlns:a="http://schemas.openxmlformats.org/drawingml/2006/main">
            <a:off x="3238500" y="3257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Tail MAE</a:t>
            </a:r>
          </a:p>
        </p:txBody>
      </p:sp>
      <p:sp>
        <p:nvSpPr>
          <p:cNvPr id="9" name="">
            <a:extLst xmlns:a="http://schemas.openxmlformats.org/drawingml/2006/main">
              <a:ext uri="{FF2B5EF4-FFF2-40B4-BE49-F238E27FC236}">
                <a16:creationId xmlns:a16="http://schemas.microsoft.com/office/drawing/2014/main" id="{CBF2AA28-F203-4B3D-85F9-3F6E11840CA4}"/>
              </a:ext>
            </a:extLst>
          </p:cNvPr>
          <p:cNvSpPr>
            <a:spLocks xmlns:a="http://schemas.openxmlformats.org/drawingml/2006/main" noGrp="1"/>
          </p:cNvSpPr>
          <p:nvPr/>
        </p:nvSpPr>
        <p:spPr>
          <a:xfrm xmlns:a="http://schemas.openxmlformats.org/drawingml/2006/main">
            <a:off x="742950" y="4324350"/>
            <a:ext cx="459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Best default for broad continuous potency prediction</a:t>
            </a:r>
          </a:p>
        </p:txBody>
      </p:sp>
      <p:sp>
        <p:nvSpPr>
          <p:cNvPr id="10" name="">
            <a:extLst xmlns:a="http://schemas.openxmlformats.org/drawingml/2006/main">
              <a:ext uri="{FF2B5EF4-FFF2-40B4-BE49-F238E27FC236}">
                <a16:creationId xmlns:a16="http://schemas.microsoft.com/office/drawing/2014/main" id="{F2410387-9B96-423E-BEB8-13242247C5A2}"/>
              </a:ext>
            </a:extLst>
          </p:cNvPr>
          <p:cNvSpPr>
            <a:spLocks xmlns:a="http://schemas.openxmlformats.org/drawingml/2006/main" noGrp="1"/>
          </p:cNvSpPr>
          <p:nvPr/>
        </p:nvSpPr>
        <p:spPr>
          <a:xfrm xmlns:a="http://schemas.openxmlformats.org/drawingml/2006/main">
            <a:off x="6076950" y="1276350"/>
            <a:ext cx="5657850" cy="4533900"/>
          </a:xfrm>
          <a:prstGeom xmlns:a="http://schemas.openxmlformats.org/drawingml/2006/main" prst="roundRect">
            <a:avLst>
              <a:gd name="adj" fmla="val 3361"/>
            </a:avLst>
          </a:prstGeom>
          <a:solidFill xmlns:a="http://schemas.openxmlformats.org/drawingml/2006/main">
            <a:srgbClr val="FFF2E8"/>
          </a:solidFill>
          <a:ln xmlns:a="http://schemas.openxmlformats.org/drawingml/2006/main" w="9525">
            <a:solidFill>
              <a:srgbClr val="FFF2E8"/>
            </a:solidFill>
            <a:prstDash val="solid"/>
          </a:ln>
        </p:spPr>
      </p:sp>
      <p:sp>
        <p:nvSpPr>
          <p:cNvPr id="11" name="">
            <a:extLst xmlns:a="http://schemas.openxmlformats.org/drawingml/2006/main">
              <a:ext uri="{FF2B5EF4-FFF2-40B4-BE49-F238E27FC236}">
                <a16:creationId xmlns:a16="http://schemas.microsoft.com/office/drawing/2014/main" id="{0FA5D453-621A-40FE-9BB0-A351E1F47E40}"/>
              </a:ext>
            </a:extLst>
          </p:cNvPr>
          <p:cNvSpPr>
            <a:spLocks xmlns:a="http://schemas.openxmlformats.org/drawingml/2006/main" noGrp="1"/>
          </p:cNvSpPr>
          <p:nvPr/>
        </p:nvSpPr>
        <p:spPr>
          <a:xfrm xmlns:a="http://schemas.openxmlformats.org/drawingml/2006/main">
            <a:off x="6381750" y="160020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C96A18"/>
                </a:solidFill>
                <a:latin typeface="Helvetica Neue"/>
                <a:ea typeface="Helvetica Neue"/>
                <a:cs typeface="Helvetica Neue"/>
              </a:defRPr>
            </a:pPr>
            <a:r>
              <a:rPr sz="2250" b="1" i="0">
                <a:solidFill>
                  <a:srgbClr val="C96A18"/>
                </a:solidFill>
                <a:latin typeface="Helvetica Neue"/>
                <a:ea typeface="Helvetica Neue"/>
                <a:cs typeface="Helvetica Neue"/>
              </a:rPr>
              <a:t>Safety and Tail Model</a:t>
            </a:r>
          </a:p>
        </p:txBody>
      </p:sp>
      <p:sp>
        <p:nvSpPr>
          <p:cNvPr id="12" name="">
            <a:extLst xmlns:a="http://schemas.openxmlformats.org/drawingml/2006/main">
              <a:ext uri="{FF2B5EF4-FFF2-40B4-BE49-F238E27FC236}">
                <a16:creationId xmlns:a16="http://schemas.microsoft.com/office/drawing/2014/main" id="{FDCCF3CE-B974-4C17-B3B8-32AA0F6F45C5}"/>
              </a:ext>
            </a:extLst>
          </p:cNvPr>
          <p:cNvSpPr>
            <a:spLocks xmlns:a="http://schemas.openxmlformats.org/drawingml/2006/main" noGrp="1"/>
          </p:cNvSpPr>
          <p:nvPr/>
        </p:nvSpPr>
        <p:spPr>
          <a:xfrm xmlns:a="http://schemas.openxmlformats.org/drawingml/2006/main">
            <a:off x="6381750" y="240030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650" b="1" i="0">
                <a:solidFill>
                  <a:srgbClr val="B84040"/>
                </a:solidFill>
                <a:latin typeface="Helvetica Neue"/>
                <a:ea typeface="Helvetica Neue"/>
                <a:cs typeface="Helvetica Neue"/>
              </a:defRPr>
            </a:pPr>
            <a:r>
              <a:rPr sz="4650" b="1" i="0">
                <a:solidFill>
                  <a:srgbClr val="B84040"/>
                </a:solidFill>
                <a:latin typeface="Helvetica Neue"/>
                <a:ea typeface="Helvetica Neue"/>
                <a:cs typeface="Helvetica Neue"/>
              </a:rPr>
              <a:t>+0.011</a:t>
            </a:r>
          </a:p>
        </p:txBody>
      </p:sp>
      <p:sp>
        <p:nvSpPr>
          <p:cNvPr id="13" name="">
            <a:extLst xmlns:a="http://schemas.openxmlformats.org/drawingml/2006/main">
              <a:ext uri="{FF2B5EF4-FFF2-40B4-BE49-F238E27FC236}">
                <a16:creationId xmlns:a16="http://schemas.microsoft.com/office/drawing/2014/main" id="{CF1EDE37-5EB6-45A7-AF80-EF5AEDB2588D}"/>
              </a:ext>
            </a:extLst>
          </p:cNvPr>
          <p:cNvSpPr>
            <a:spLocks xmlns:a="http://schemas.openxmlformats.org/drawingml/2006/main" noGrp="1"/>
          </p:cNvSpPr>
          <p:nvPr/>
        </p:nvSpPr>
        <p:spPr>
          <a:xfrm xmlns:a="http://schemas.openxmlformats.org/drawingml/2006/main">
            <a:off x="6381750" y="32575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Global MAE Cost</a:t>
            </a:r>
          </a:p>
        </p:txBody>
      </p:sp>
      <p:sp>
        <p:nvSpPr>
          <p:cNvPr id="14" name="">
            <a:extLst xmlns:a="http://schemas.openxmlformats.org/drawingml/2006/main">
              <a:ext uri="{FF2B5EF4-FFF2-40B4-BE49-F238E27FC236}">
                <a16:creationId xmlns:a16="http://schemas.microsoft.com/office/drawing/2014/main" id="{4C00767B-B386-41F5-A777-0CC1359354D3}"/>
              </a:ext>
            </a:extLst>
          </p:cNvPr>
          <p:cNvSpPr>
            <a:spLocks xmlns:a="http://schemas.openxmlformats.org/drawingml/2006/main" noGrp="1"/>
          </p:cNvSpPr>
          <p:nvPr/>
        </p:nvSpPr>
        <p:spPr>
          <a:xfrm xmlns:a="http://schemas.openxmlformats.org/drawingml/2006/main">
            <a:off x="8953500" y="240030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650" b="1" i="0">
                <a:solidFill>
                  <a:srgbClr val="16805A"/>
                </a:solidFill>
                <a:latin typeface="Helvetica Neue"/>
                <a:ea typeface="Helvetica Neue"/>
                <a:cs typeface="Helvetica Neue"/>
              </a:defRPr>
            </a:pPr>
            <a:r>
              <a:rPr sz="4650" b="1" i="0">
                <a:solidFill>
                  <a:srgbClr val="16805A"/>
                </a:solidFill>
                <a:latin typeface="Helvetica Neue"/>
                <a:ea typeface="Helvetica Neue"/>
                <a:cs typeface="Helvetica Neue"/>
              </a:rPr>
              <a:t>1.354</a:t>
            </a:r>
          </a:p>
        </p:txBody>
      </p:sp>
      <p:sp>
        <p:nvSpPr>
          <p:cNvPr id="15" name="">
            <a:extLst xmlns:a="http://schemas.openxmlformats.org/drawingml/2006/main">
              <a:ext uri="{FF2B5EF4-FFF2-40B4-BE49-F238E27FC236}">
                <a16:creationId xmlns:a16="http://schemas.microsoft.com/office/drawing/2014/main" id="{FCD238ED-46A3-4362-BCD8-ED070902A867}"/>
              </a:ext>
            </a:extLst>
          </p:cNvPr>
          <p:cNvSpPr>
            <a:spLocks xmlns:a="http://schemas.openxmlformats.org/drawingml/2006/main" noGrp="1"/>
          </p:cNvSpPr>
          <p:nvPr/>
        </p:nvSpPr>
        <p:spPr>
          <a:xfrm xmlns:a="http://schemas.openxmlformats.org/drawingml/2006/main">
            <a:off x="8953500" y="32575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0B0F14"/>
                </a:solidFill>
                <a:latin typeface="Helvetica Neue"/>
                <a:ea typeface="Helvetica Neue"/>
                <a:cs typeface="Helvetica Neue"/>
              </a:defRPr>
            </a:pPr>
            <a:r>
              <a:rPr sz="1650" b="1" i="0">
                <a:solidFill>
                  <a:srgbClr val="0B0F14"/>
                </a:solidFill>
                <a:latin typeface="Helvetica Neue"/>
                <a:ea typeface="Helvetica Neue"/>
                <a:cs typeface="Helvetica Neue"/>
              </a:rPr>
              <a:t>Tail MAE</a:t>
            </a:r>
          </a:p>
        </p:txBody>
      </p:sp>
      <p:sp>
        <p:nvSpPr>
          <p:cNvPr id="16" name="">
            <a:extLst xmlns:a="http://schemas.openxmlformats.org/drawingml/2006/main">
              <a:ext uri="{FF2B5EF4-FFF2-40B4-BE49-F238E27FC236}">
                <a16:creationId xmlns:a16="http://schemas.microsoft.com/office/drawing/2014/main" id="{F663154D-44CB-4E6E-830E-DF04B68FAADC}"/>
              </a:ext>
            </a:extLst>
          </p:cNvPr>
          <p:cNvSpPr>
            <a:spLocks xmlns:a="http://schemas.openxmlformats.org/drawingml/2006/main" noGrp="1"/>
          </p:cNvSpPr>
          <p:nvPr/>
        </p:nvSpPr>
        <p:spPr>
          <a:xfrm xmlns:a="http://schemas.openxmlformats.org/drawingml/2006/main">
            <a:off x="6381750" y="432435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0B0F14"/>
                </a:solidFill>
                <a:latin typeface="Helvetica Neue"/>
                <a:ea typeface="Helvetica Neue"/>
                <a:cs typeface="Helvetica Neue"/>
              </a:defRPr>
            </a:pPr>
            <a:r>
              <a:rPr sz="1725" b="1" i="0">
                <a:solidFill>
                  <a:srgbClr val="0B0F14"/>
                </a:solidFill>
                <a:latin typeface="Helvetica Neue"/>
                <a:ea typeface="Helvetica Neue"/>
                <a:cs typeface="Helvetica Neue"/>
              </a:rPr>
              <a:t>Better balance at potency extremes; worse average error</a:t>
            </a:r>
          </a:p>
        </p:txBody>
      </p:sp>
    </p:spTree>
    <p:extLst>
      <p:ext uri="{BB962C8B-B14F-4D97-AF65-F5344CB8AC3E}">
        <p14:creationId xmlns:p14="http://schemas.microsoft.com/office/powerpoint/2010/main" val="4882059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2D5EC70-2C4A-4A14-9954-F99036726A17}"/>
              </a:ext>
            </a:extLst>
          </p:cNvPr>
          <p:cNvSpPr>
            <a:spLocks xmlns:a="http://schemas.openxmlformats.org/drawingml/2006/main" noGrp="1"/>
          </p:cNvSpPr>
          <p:nvPr/>
        </p:nvSpPr>
        <p:spPr>
          <a:xfrm xmlns:a="http://schemas.openxmlformats.org/drawingml/2006/main">
            <a:off x="438150" y="323850"/>
            <a:ext cx="11315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Recommended Next Experiments</a:t>
            </a:r>
          </a:p>
        </p:txBody>
      </p:sp>
      <p:cxnSp>
        <p:nvCxnSpPr>
          <p:cNvPr id="28" name=""/>
          <p:cNvCxnSpPr/>
          <p:nvPr/>
        </p:nvCxnSpPr>
        <p:spPr>
          <a:xfrm xmlns:a="http://schemas.openxmlformats.org/drawingml/2006/main">
            <a:off x="438150" y="1028700"/>
            <a:ext cx="11315700" cy="0"/>
          </a:xfrm>
          <a:prstGeom xmlns:a="http://schemas.openxmlformats.org/drawingml/2006/main" prst="straightConnector1">
            <a:avLst/>
          </a:prstGeom>
          <a:ln xmlns:a="http://schemas.openxmlformats.org/drawingml/2006/main" w="9525">
            <a:solidFill>
              <a:srgbClr val="D6DAE0"/>
            </a:solidFill>
            <a:prstDash val="solid"/>
          </a:ln>
        </p:spPr>
      </p:cxnSp>
      <p:sp>
        <p:nvSpPr>
          <p:cNvPr id="3" name="">
            <a:extLst xmlns:a="http://schemas.openxmlformats.org/drawingml/2006/main">
              <a:ext uri="{FF2B5EF4-FFF2-40B4-BE49-F238E27FC236}">
                <a16:creationId xmlns:a16="http://schemas.microsoft.com/office/drawing/2014/main" id="{AB830735-E770-461E-A53A-112C13EAE5B6}"/>
              </a:ext>
            </a:extLst>
          </p:cNvPr>
          <p:cNvSpPr>
            <a:spLocks xmlns:a="http://schemas.openxmlformats.org/drawingml/2006/main" noGrp="1"/>
          </p:cNvSpPr>
          <p:nvPr/>
        </p:nvSpPr>
        <p:spPr>
          <a:xfrm xmlns:a="http://schemas.openxmlformats.org/drawingml/2006/main">
            <a:off x="438150" y="1257300"/>
            <a:ext cx="11296650" cy="1047750"/>
          </a:xfrm>
          <a:prstGeom xmlns:a="http://schemas.openxmlformats.org/drawingml/2006/main" prst="roundRect">
            <a:avLst>
              <a:gd name="adj" fmla="val 10909"/>
            </a:avLst>
          </a:prstGeom>
          <a:solidFill xmlns:a="http://schemas.openxmlformats.org/drawingml/2006/main">
            <a:srgbClr val="EAF2FF"/>
          </a:solidFill>
          <a:ln xmlns:a="http://schemas.openxmlformats.org/drawingml/2006/main" w="9525">
            <a:solidFill>
              <a:srgbClr val="EAF2FF"/>
            </a:solidFill>
            <a:prstDash val="solid"/>
          </a:ln>
        </p:spPr>
      </p:sp>
      <p:sp>
        <p:nvSpPr>
          <p:cNvPr id="4" name="">
            <a:extLst xmlns:a="http://schemas.openxmlformats.org/drawingml/2006/main">
              <a:ext uri="{FF2B5EF4-FFF2-40B4-BE49-F238E27FC236}">
                <a16:creationId xmlns:a16="http://schemas.microsoft.com/office/drawing/2014/main" id="{4AE632CD-EAF8-458E-9594-C7BD8DC5A111}"/>
              </a:ext>
            </a:extLst>
          </p:cNvPr>
          <p:cNvSpPr>
            <a:spLocks xmlns:a="http://schemas.openxmlformats.org/drawingml/2006/main" noGrp="1"/>
          </p:cNvSpPr>
          <p:nvPr/>
        </p:nvSpPr>
        <p:spPr>
          <a:xfrm xmlns:a="http://schemas.openxmlformats.org/drawingml/2006/main">
            <a:off x="647700" y="14859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000" b="1" i="0">
                <a:solidFill>
                  <a:srgbClr val="1E63D5"/>
                </a:solidFill>
                <a:latin typeface="Helvetica Neue"/>
                <a:ea typeface="Helvetica Neue"/>
                <a:cs typeface="Helvetica Neue"/>
              </a:defRPr>
            </a:pPr>
            <a:r>
              <a:rPr sz="3000" b="1" i="0">
                <a:solidFill>
                  <a:srgbClr val="1E63D5"/>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470B86CF-A061-4E90-B1D0-858E9D0A0097}"/>
              </a:ext>
            </a:extLst>
          </p:cNvPr>
          <p:cNvSpPr>
            <a:spLocks xmlns:a="http://schemas.openxmlformats.org/drawingml/2006/main" noGrp="1"/>
          </p:cNvSpPr>
          <p:nvPr/>
        </p:nvSpPr>
        <p:spPr>
          <a:xfrm xmlns:a="http://schemas.openxmlformats.org/drawingml/2006/main">
            <a:off x="1390650" y="1428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E63D5"/>
                </a:solidFill>
                <a:latin typeface="Helvetica Neue"/>
                <a:ea typeface="Helvetica Neue"/>
                <a:cs typeface="Helvetica Neue"/>
              </a:defRPr>
            </a:pPr>
            <a:r>
              <a:rPr sz="1800" b="1" i="0">
                <a:solidFill>
                  <a:srgbClr val="1E63D5"/>
                </a:solidFill>
                <a:latin typeface="Helvetica Neue"/>
                <a:ea typeface="Helvetica Neue"/>
                <a:cs typeface="Helvetica Neue"/>
              </a:rPr>
              <a:t>External Functional Series</a:t>
            </a:r>
          </a:p>
        </p:txBody>
      </p:sp>
      <p:sp>
        <p:nvSpPr>
          <p:cNvPr id="6" name="">
            <a:extLst xmlns:a="http://schemas.openxmlformats.org/drawingml/2006/main">
              <a:ext uri="{FF2B5EF4-FFF2-40B4-BE49-F238E27FC236}">
                <a16:creationId xmlns:a16="http://schemas.microsoft.com/office/drawing/2014/main" id="{0B2CF40C-3BF7-403A-84E2-900731905590}"/>
              </a:ext>
            </a:extLst>
          </p:cNvPr>
          <p:cNvSpPr>
            <a:spLocks xmlns:a="http://schemas.openxmlformats.org/drawingml/2006/main" noGrp="1"/>
          </p:cNvSpPr>
          <p:nvPr/>
        </p:nvSpPr>
        <p:spPr>
          <a:xfrm xmlns:a="http://schemas.openxmlformats.org/drawingml/2006/main">
            <a:off x="1390650" y="18097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buNone/>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Freeze an explicit human-WT patch-clamp series and evaluate once.</a:t>
            </a:r>
          </a:p>
        </p:txBody>
      </p:sp>
      <p:sp>
        <p:nvSpPr>
          <p:cNvPr id="7" name="">
            <a:extLst xmlns:a="http://schemas.openxmlformats.org/drawingml/2006/main">
              <a:ext uri="{FF2B5EF4-FFF2-40B4-BE49-F238E27FC236}">
                <a16:creationId xmlns:a16="http://schemas.microsoft.com/office/drawing/2014/main" id="{046C0D38-16C7-45AD-B2E4-D2D7BD43007E}"/>
              </a:ext>
            </a:extLst>
          </p:cNvPr>
          <p:cNvSpPr>
            <a:spLocks xmlns:a="http://schemas.openxmlformats.org/drawingml/2006/main" noGrp="1"/>
          </p:cNvSpPr>
          <p:nvPr/>
        </p:nvSpPr>
        <p:spPr>
          <a:xfrm xmlns:a="http://schemas.openxmlformats.org/drawingml/2006/main">
            <a:off x="5905500" y="14859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Tests real-world transfer and ends the internal-metric debate.</a:t>
            </a:r>
          </a:p>
        </p:txBody>
      </p:sp>
      <p:sp>
        <p:nvSpPr>
          <p:cNvPr id="8" name="">
            <a:extLst xmlns:a="http://schemas.openxmlformats.org/drawingml/2006/main">
              <a:ext uri="{FF2B5EF4-FFF2-40B4-BE49-F238E27FC236}">
                <a16:creationId xmlns:a16="http://schemas.microsoft.com/office/drawing/2014/main" id="{0F40897E-75A1-4DCE-880C-B73C440B98E2}"/>
              </a:ext>
            </a:extLst>
          </p:cNvPr>
          <p:cNvSpPr>
            <a:spLocks xmlns:a="http://schemas.openxmlformats.org/drawingml/2006/main" noGrp="1"/>
          </p:cNvSpPr>
          <p:nvPr/>
        </p:nvSpPr>
        <p:spPr>
          <a:xfrm xmlns:a="http://schemas.openxmlformats.org/drawingml/2006/main">
            <a:off x="438150" y="2514600"/>
            <a:ext cx="11296650" cy="1047750"/>
          </a:xfrm>
          <a:prstGeom xmlns:a="http://schemas.openxmlformats.org/drawingml/2006/main" prst="roundRect">
            <a:avLst>
              <a:gd name="adj" fmla="val 10909"/>
            </a:avLst>
          </a:prstGeom>
          <a:solidFill xmlns:a="http://schemas.openxmlformats.org/drawingml/2006/main">
            <a:srgbClr val="E9F7F1"/>
          </a:solidFill>
          <a:ln xmlns:a="http://schemas.openxmlformats.org/drawingml/2006/main" w="9525">
            <a:solidFill>
              <a:srgbClr val="E9F7F1"/>
            </a:solidFill>
            <a:prstDash val="solid"/>
          </a:ln>
        </p:spPr>
      </p:sp>
      <p:sp>
        <p:nvSpPr>
          <p:cNvPr id="9" name="">
            <a:extLst xmlns:a="http://schemas.openxmlformats.org/drawingml/2006/main">
              <a:ext uri="{FF2B5EF4-FFF2-40B4-BE49-F238E27FC236}">
                <a16:creationId xmlns:a16="http://schemas.microsoft.com/office/drawing/2014/main" id="{0142A244-CA02-4768-954E-B990A0FCAD99}"/>
              </a:ext>
            </a:extLst>
          </p:cNvPr>
          <p:cNvSpPr>
            <a:spLocks xmlns:a="http://schemas.openxmlformats.org/drawingml/2006/main" noGrp="1"/>
          </p:cNvSpPr>
          <p:nvPr/>
        </p:nvSpPr>
        <p:spPr>
          <a:xfrm xmlns:a="http://schemas.openxmlformats.org/drawingml/2006/main">
            <a:off x="647700" y="27432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000" b="1" i="0">
                <a:solidFill>
                  <a:srgbClr val="16805A"/>
                </a:solidFill>
                <a:latin typeface="Helvetica Neue"/>
                <a:ea typeface="Helvetica Neue"/>
                <a:cs typeface="Helvetica Neue"/>
              </a:defRPr>
            </a:pPr>
            <a:r>
              <a:rPr sz="3000" b="1" i="0">
                <a:solidFill>
                  <a:srgbClr val="16805A"/>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52A9AC01-B6CD-450B-9803-681F180A1FEE}"/>
              </a:ext>
            </a:extLst>
          </p:cNvPr>
          <p:cNvSpPr>
            <a:spLocks xmlns:a="http://schemas.openxmlformats.org/drawingml/2006/main" noGrp="1"/>
          </p:cNvSpPr>
          <p:nvPr/>
        </p:nvSpPr>
        <p:spPr>
          <a:xfrm xmlns:a="http://schemas.openxmlformats.org/drawingml/2006/main">
            <a:off x="1390650" y="2686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6805A"/>
                </a:solidFill>
                <a:latin typeface="Helvetica Neue"/>
                <a:ea typeface="Helvetica Neue"/>
                <a:cs typeface="Helvetica Neue"/>
              </a:defRPr>
            </a:pPr>
            <a:r>
              <a:rPr sz="1800" b="1" i="0">
                <a:solidFill>
                  <a:srgbClr val="16805A"/>
                </a:solidFill>
                <a:latin typeface="Helvetica Neue"/>
                <a:ea typeface="Helvetica Neue"/>
                <a:cs typeface="Helvetica Neue"/>
              </a:rPr>
              <a:t>Measurement Model</a:t>
            </a:r>
          </a:p>
        </p:txBody>
      </p:sp>
      <p:sp>
        <p:nvSpPr>
          <p:cNvPr id="11" name="">
            <a:extLst xmlns:a="http://schemas.openxmlformats.org/drawingml/2006/main">
              <a:ext uri="{FF2B5EF4-FFF2-40B4-BE49-F238E27FC236}">
                <a16:creationId xmlns:a16="http://schemas.microsoft.com/office/drawing/2014/main" id="{784FC071-1493-47C7-9F47-0C1F72FC31BE}"/>
              </a:ext>
            </a:extLst>
          </p:cNvPr>
          <p:cNvSpPr>
            <a:spLocks xmlns:a="http://schemas.openxmlformats.org/drawingml/2006/main" noGrp="1"/>
          </p:cNvSpPr>
          <p:nvPr/>
        </p:nvSpPr>
        <p:spPr>
          <a:xfrm xmlns:a="http://schemas.openxmlformats.org/drawingml/2006/main">
            <a:off x="1390650" y="30670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buNone/>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Adjudicate construct, modality, source, cell system, and protocol context.</a:t>
            </a:r>
          </a:p>
        </p:txBody>
      </p:sp>
      <p:sp>
        <p:nvSpPr>
          <p:cNvPr id="12" name="">
            <a:extLst xmlns:a="http://schemas.openxmlformats.org/drawingml/2006/main">
              <a:ext uri="{FF2B5EF4-FFF2-40B4-BE49-F238E27FC236}">
                <a16:creationId xmlns:a16="http://schemas.microsoft.com/office/drawing/2014/main" id="{BDC9C104-E93C-46A2-ACE4-4603C543BACE}"/>
              </a:ext>
            </a:extLst>
          </p:cNvPr>
          <p:cNvSpPr>
            <a:spLocks xmlns:a="http://schemas.openxmlformats.org/drawingml/2006/main" noGrp="1"/>
          </p:cNvSpPr>
          <p:nvPr/>
        </p:nvSpPr>
        <p:spPr>
          <a:xfrm xmlns:a="http://schemas.openxmlformats.org/drawingml/2006/main">
            <a:off x="5905500" y="27432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Separates chemistry error from assay and label error.</a:t>
            </a:r>
          </a:p>
        </p:txBody>
      </p:sp>
      <p:sp>
        <p:nvSpPr>
          <p:cNvPr id="13" name="">
            <a:extLst xmlns:a="http://schemas.openxmlformats.org/drawingml/2006/main">
              <a:ext uri="{FF2B5EF4-FFF2-40B4-BE49-F238E27FC236}">
                <a16:creationId xmlns:a16="http://schemas.microsoft.com/office/drawing/2014/main" id="{853AB621-ABCB-46E4-9D15-581325CB9810}"/>
              </a:ext>
            </a:extLst>
          </p:cNvPr>
          <p:cNvSpPr>
            <a:spLocks xmlns:a="http://schemas.openxmlformats.org/drawingml/2006/main" noGrp="1"/>
          </p:cNvSpPr>
          <p:nvPr/>
        </p:nvSpPr>
        <p:spPr>
          <a:xfrm xmlns:a="http://schemas.openxmlformats.org/drawingml/2006/main">
            <a:off x="438150" y="3771900"/>
            <a:ext cx="11296650" cy="1047750"/>
          </a:xfrm>
          <a:prstGeom xmlns:a="http://schemas.openxmlformats.org/drawingml/2006/main" prst="roundRect">
            <a:avLst>
              <a:gd name="adj" fmla="val 10909"/>
            </a:avLst>
          </a:prstGeom>
          <a:solidFill xmlns:a="http://schemas.openxmlformats.org/drawingml/2006/main">
            <a:srgbClr val="FFF2E8"/>
          </a:solidFill>
          <a:ln xmlns:a="http://schemas.openxmlformats.org/drawingml/2006/main" w="9525">
            <a:solidFill>
              <a:srgbClr val="FFF2E8"/>
            </a:solidFill>
            <a:prstDash val="solid"/>
          </a:ln>
        </p:spPr>
      </p:sp>
      <p:sp>
        <p:nvSpPr>
          <p:cNvPr id="14" name="">
            <a:extLst xmlns:a="http://schemas.openxmlformats.org/drawingml/2006/main">
              <a:ext uri="{FF2B5EF4-FFF2-40B4-BE49-F238E27FC236}">
                <a16:creationId xmlns:a16="http://schemas.microsoft.com/office/drawing/2014/main" id="{CDD91880-1FC9-4A22-A17C-00BE27510101}"/>
              </a:ext>
            </a:extLst>
          </p:cNvPr>
          <p:cNvSpPr>
            <a:spLocks xmlns:a="http://schemas.openxmlformats.org/drawingml/2006/main" noGrp="1"/>
          </p:cNvSpPr>
          <p:nvPr/>
        </p:nvSpPr>
        <p:spPr>
          <a:xfrm xmlns:a="http://schemas.openxmlformats.org/drawingml/2006/main">
            <a:off x="647700" y="40005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000" b="1" i="0">
                <a:solidFill>
                  <a:srgbClr val="C96A18"/>
                </a:solidFill>
                <a:latin typeface="Helvetica Neue"/>
                <a:ea typeface="Helvetica Neue"/>
                <a:cs typeface="Helvetica Neue"/>
              </a:defRPr>
            </a:pPr>
            <a:r>
              <a:rPr sz="3000" b="1" i="0">
                <a:solidFill>
                  <a:srgbClr val="C96A18"/>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D6ED7C92-8234-4F28-84BB-A1C4CADA9A77}"/>
              </a:ext>
            </a:extLst>
          </p:cNvPr>
          <p:cNvSpPr>
            <a:spLocks xmlns:a="http://schemas.openxmlformats.org/drawingml/2006/main" noGrp="1"/>
          </p:cNvSpPr>
          <p:nvPr/>
        </p:nvSpPr>
        <p:spPr>
          <a:xfrm xmlns:a="http://schemas.openxmlformats.org/drawingml/2006/main">
            <a:off x="1390650" y="3943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C96A18"/>
                </a:solidFill>
                <a:latin typeface="Helvetica Neue"/>
                <a:ea typeface="Helvetica Neue"/>
                <a:cs typeface="Helvetica Neue"/>
              </a:defRPr>
            </a:pPr>
            <a:r>
              <a:rPr sz="1800" b="1" i="0">
                <a:solidFill>
                  <a:srgbClr val="C96A18"/>
                </a:solidFill>
                <a:latin typeface="Helvetica Neue"/>
                <a:ea typeface="Helvetica Neue"/>
                <a:cs typeface="Helvetica Neue"/>
              </a:rPr>
              <a:t>Activity-Cliff Specialist</a:t>
            </a:r>
          </a:p>
        </p:txBody>
      </p:sp>
      <p:sp>
        <p:nvSpPr>
          <p:cNvPr id="16" name="">
            <a:extLst xmlns:a="http://schemas.openxmlformats.org/drawingml/2006/main">
              <a:ext uri="{FF2B5EF4-FFF2-40B4-BE49-F238E27FC236}">
                <a16:creationId xmlns:a16="http://schemas.microsoft.com/office/drawing/2014/main" id="{71A6F288-E05E-4236-A3C8-518538F28471}"/>
              </a:ext>
            </a:extLst>
          </p:cNvPr>
          <p:cNvSpPr>
            <a:spLocks xmlns:a="http://schemas.openxmlformats.org/drawingml/2006/main" noGrp="1"/>
          </p:cNvSpPr>
          <p:nvPr/>
        </p:nvSpPr>
        <p:spPr>
          <a:xfrm xmlns:a="http://schemas.openxmlformats.org/drawingml/2006/main">
            <a:off x="1390650" y="43243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buNone/>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Acquire matched pairs in the highest-error and highest-value chemical series.</a:t>
            </a:r>
          </a:p>
        </p:txBody>
      </p:sp>
      <p:sp>
        <p:nvSpPr>
          <p:cNvPr id="17" name="">
            <a:extLst xmlns:a="http://schemas.openxmlformats.org/drawingml/2006/main">
              <a:ext uri="{FF2B5EF4-FFF2-40B4-BE49-F238E27FC236}">
                <a16:creationId xmlns:a16="http://schemas.microsoft.com/office/drawing/2014/main" id="{F04CFD2D-0A8A-4D2E-A4BB-1E1F218AAFF4}"/>
              </a:ext>
            </a:extLst>
          </p:cNvPr>
          <p:cNvSpPr>
            <a:spLocks xmlns:a="http://schemas.openxmlformats.org/drawingml/2006/main" noGrp="1"/>
          </p:cNvSpPr>
          <p:nvPr/>
        </p:nvSpPr>
        <p:spPr>
          <a:xfrm xmlns:a="http://schemas.openxmlformats.org/drawingml/2006/main">
            <a:off x="5905500" y="40005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Targets the 41.7% analog-supported domain where local models already help.</a:t>
            </a:r>
          </a:p>
        </p:txBody>
      </p:sp>
      <p:sp>
        <p:nvSpPr>
          <p:cNvPr id="18" name="">
            <a:extLst xmlns:a="http://schemas.openxmlformats.org/drawingml/2006/main">
              <a:ext uri="{FF2B5EF4-FFF2-40B4-BE49-F238E27FC236}">
                <a16:creationId xmlns:a16="http://schemas.microsoft.com/office/drawing/2014/main" id="{29497842-BE7A-4A36-A95F-A09E39B1CC24}"/>
              </a:ext>
            </a:extLst>
          </p:cNvPr>
          <p:cNvSpPr>
            <a:spLocks xmlns:a="http://schemas.openxmlformats.org/drawingml/2006/main" noGrp="1"/>
          </p:cNvSpPr>
          <p:nvPr/>
        </p:nvSpPr>
        <p:spPr>
          <a:xfrm xmlns:a="http://schemas.openxmlformats.org/drawingml/2006/main">
            <a:off x="438150" y="5029200"/>
            <a:ext cx="11296650" cy="1047750"/>
          </a:xfrm>
          <a:prstGeom xmlns:a="http://schemas.openxmlformats.org/drawingml/2006/main" prst="roundRect">
            <a:avLst>
              <a:gd name="adj" fmla="val 10909"/>
            </a:avLst>
          </a:prstGeom>
          <a:solidFill xmlns:a="http://schemas.openxmlformats.org/drawingml/2006/main">
            <a:srgbClr val="FCECEC"/>
          </a:solidFill>
          <a:ln xmlns:a="http://schemas.openxmlformats.org/drawingml/2006/main" w="9525">
            <a:solidFill>
              <a:srgbClr val="FCECEC"/>
            </a:solidFill>
            <a:prstDash val="solid"/>
          </a:ln>
        </p:spPr>
      </p:sp>
      <p:sp>
        <p:nvSpPr>
          <p:cNvPr id="19" name="">
            <a:extLst xmlns:a="http://schemas.openxmlformats.org/drawingml/2006/main">
              <a:ext uri="{FF2B5EF4-FFF2-40B4-BE49-F238E27FC236}">
                <a16:creationId xmlns:a16="http://schemas.microsoft.com/office/drawing/2014/main" id="{FF2AF54F-5E93-4D91-A92B-2C7FFC1C1A46}"/>
              </a:ext>
            </a:extLst>
          </p:cNvPr>
          <p:cNvSpPr>
            <a:spLocks xmlns:a="http://schemas.openxmlformats.org/drawingml/2006/main" noGrp="1"/>
          </p:cNvSpPr>
          <p:nvPr/>
        </p:nvSpPr>
        <p:spPr>
          <a:xfrm xmlns:a="http://schemas.openxmlformats.org/drawingml/2006/main">
            <a:off x="647700" y="5257800"/>
            <a:ext cx="53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000" b="1" i="0">
                <a:solidFill>
                  <a:srgbClr val="B84040"/>
                </a:solidFill>
                <a:latin typeface="Helvetica Neue"/>
                <a:ea typeface="Helvetica Neue"/>
                <a:cs typeface="Helvetica Neue"/>
              </a:defRPr>
            </a:pPr>
            <a:r>
              <a:rPr sz="3000" b="1" i="0">
                <a:solidFill>
                  <a:srgbClr val="B84040"/>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35833520-C692-4B9D-9B16-F69AE39B67D9}"/>
              </a:ext>
            </a:extLst>
          </p:cNvPr>
          <p:cNvSpPr>
            <a:spLocks xmlns:a="http://schemas.openxmlformats.org/drawingml/2006/main" noGrp="1"/>
          </p:cNvSpPr>
          <p:nvPr/>
        </p:nvSpPr>
        <p:spPr>
          <a:xfrm xmlns:a="http://schemas.openxmlformats.org/drawingml/2006/main">
            <a:off x="1390650" y="5200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627"/>
          </a:bodyPr>
          <a:lstStyle xmlns:a="http://schemas.openxmlformats.org/drawingml/2006/main"/>
          <a:p xmlns:a="http://schemas.openxmlformats.org/drawingml/2006/main">
            <a:pPr algn="l">
              <a:buNone/>
              <a:defRPr sz="1800" b="1" i="0">
                <a:solidFill>
                  <a:srgbClr val="B84040"/>
                </a:solidFill>
                <a:latin typeface="Helvetica Neue"/>
                <a:ea typeface="Helvetica Neue"/>
                <a:cs typeface="Helvetica Neue"/>
              </a:defRPr>
            </a:pPr>
            <a:r>
              <a:rPr sz="1800" b="1" i="0">
                <a:solidFill>
                  <a:srgbClr val="B84040"/>
                </a:solidFill>
                <a:latin typeface="Helvetica Neue"/>
                <a:ea typeface="Helvetica Neue"/>
                <a:cs typeface="Helvetica Neue"/>
              </a:rPr>
              <a:t>Receptor and Microstate Physics</a:t>
            </a:r>
          </a:p>
        </p:txBody>
      </p:sp>
      <p:sp>
        <p:nvSpPr>
          <p:cNvPr id="21" name="">
            <a:extLst xmlns:a="http://schemas.openxmlformats.org/drawingml/2006/main">
              <a:ext uri="{FF2B5EF4-FFF2-40B4-BE49-F238E27FC236}">
                <a16:creationId xmlns:a16="http://schemas.microsoft.com/office/drawing/2014/main" id="{54D55815-9E81-4E15-9E5B-403D7C8260CA}"/>
              </a:ext>
            </a:extLst>
          </p:cNvPr>
          <p:cNvSpPr>
            <a:spLocks xmlns:a="http://schemas.openxmlformats.org/drawingml/2006/main" noGrp="1"/>
          </p:cNvSpPr>
          <p:nvPr/>
        </p:nvSpPr>
        <p:spPr>
          <a:xfrm xmlns:a="http://schemas.openxmlformats.org/drawingml/2006/main">
            <a:off x="1390650" y="55816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buNone/>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Prepare receptor states, ligand microstates, membrane context, and pinned software.</a:t>
            </a:r>
          </a:p>
        </p:txBody>
      </p:sp>
      <p:sp>
        <p:nvSpPr>
          <p:cNvPr id="22" name="">
            <a:extLst xmlns:a="http://schemas.openxmlformats.org/drawingml/2006/main">
              <a:ext uri="{FF2B5EF4-FFF2-40B4-BE49-F238E27FC236}">
                <a16:creationId xmlns:a16="http://schemas.microsoft.com/office/drawing/2014/main" id="{4BB436C6-C46C-4C1B-9D17-47D831613687}"/>
              </a:ext>
            </a:extLst>
          </p:cNvPr>
          <p:cNvSpPr>
            <a:spLocks xmlns:a="http://schemas.openxmlformats.org/drawingml/2006/main" noGrp="1"/>
          </p:cNvSpPr>
          <p:nvPr/>
        </p:nvSpPr>
        <p:spPr>
          <a:xfrm xmlns:a="http://schemas.openxmlformats.org/drawingml/2006/main">
            <a:off x="5905500" y="5257800"/>
            <a:ext cx="5467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Tests physics that the ligand-only conformer campaign could not represent.</a:t>
            </a:r>
          </a:p>
        </p:txBody>
      </p:sp>
    </p:spTree>
    <p:extLst>
      <p:ext uri="{BB962C8B-B14F-4D97-AF65-F5344CB8AC3E}">
        <p14:creationId xmlns:p14="http://schemas.microsoft.com/office/powerpoint/2010/main" val="21035702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2026-08-18T02:52:58.9480000Z</dcterms:created>
  <dcterms:modified xsi:type="dcterms:W3CDTF">2026-08-18T02:52:58.9480000Z</dcterms:modified>
</coreProperties>
</file>